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Lst>
  <p:sldIdLst>
    <p:sldId id="256" r:id="rId3"/>
    <p:sldId id="257" r:id="rId4"/>
    <p:sldId id="277" r:id="rId5"/>
    <p:sldId id="283" r:id="rId6"/>
    <p:sldId id="284" r:id="rId7"/>
    <p:sldId id="285" r:id="rId8"/>
    <p:sldId id="286" r:id="rId9"/>
    <p:sldId id="288" r:id="rId10"/>
    <p:sldId id="287" r:id="rId11"/>
    <p:sldId id="289" r:id="rId12"/>
    <p:sldId id="290" r:id="rId13"/>
    <p:sldId id="292" r:id="rId14"/>
    <p:sldId id="291" r:id="rId15"/>
    <p:sldId id="293" r:id="rId16"/>
    <p:sldId id="294" r:id="rId17"/>
    <p:sldId id="295" r:id="rId18"/>
    <p:sldId id="296" r:id="rId19"/>
    <p:sldId id="297" r:id="rId20"/>
    <p:sldId id="298" r:id="rId21"/>
    <p:sldId id="299" r:id="rId22"/>
    <p:sldId id="300" r:id="rId23"/>
    <p:sldId id="301" r:id="rId24"/>
    <p:sldId id="302"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686"/>
  </p:normalViewPr>
  <p:slideViewPr>
    <p:cSldViewPr snapToGrid="0">
      <p:cViewPr varScale="1">
        <p:scale>
          <a:sx n="90" d="100"/>
          <a:sy n="90" d="100"/>
        </p:scale>
        <p:origin x="43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882" y="2308881"/>
            <a:ext cx="10852237" cy="899167"/>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925" y="3565525"/>
            <a:ext cx="10852150" cy="801370"/>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882" y="581225"/>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925" y="1508125"/>
            <a:ext cx="10852150" cy="4749165"/>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40105" y="727710"/>
            <a:ext cx="3931920" cy="1115060"/>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8420" y="727710"/>
            <a:ext cx="6172200" cy="5403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40105" y="2239645"/>
            <a:ext cx="3931920" cy="3891915"/>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925" y="5605145"/>
            <a:ext cx="10852150" cy="558165"/>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925" y="641350"/>
            <a:ext cx="10852150" cy="455612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6445" cy="68681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95" y="565150"/>
            <a:ext cx="5400040" cy="57277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7770" y="565150"/>
            <a:ext cx="5400040" cy="57277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882" y="623591"/>
            <a:ext cx="10852237" cy="899167"/>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B78F3DB-CEF8-4DD4-8E4A-F0628DCBE644}" type="datetimeFigureOut">
              <a:rPr lang="zh-CN" altLang="en-US" smtClean="0"/>
              <a:t>2026/5/9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C307C6-FA7C-4D4E-9E80-039A033D7CB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B78F3DB-CEF8-4DD4-8E4A-F0628DCBE644}" type="datetimeFigureOut">
              <a:rPr lang="zh-CN" altLang="en-US" smtClean="0"/>
              <a:t>2026/5/9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C307C6-FA7C-4D4E-9E80-039A033D7CB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9B78F3DB-CEF8-4DD4-8E4A-F0628DCBE644}" type="datetimeFigureOut">
              <a:rPr lang="zh-CN" altLang="en-US" smtClean="0"/>
              <a:t>2026/5/9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C307C6-FA7C-4D4E-9E80-039A033D7CB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B78F3DB-CEF8-4DD4-8E4A-F0628DCBE644}" type="datetimeFigureOut">
              <a:rPr lang="zh-CN" altLang="en-US" smtClean="0"/>
              <a:t>2026/5/9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C307C6-FA7C-4D4E-9E80-039A033D7CBB}"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B78F3DB-CEF8-4DD4-8E4A-F0628DCBE644}" type="datetimeFigureOut">
              <a:rPr lang="zh-CN" altLang="en-US" smtClean="0"/>
              <a:t>2026/5/9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1C307C6-FA7C-4D4E-9E80-039A033D7CBB}"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B78F3DB-CEF8-4DD4-8E4A-F0628DCBE644}" type="datetimeFigureOut">
              <a:rPr lang="zh-CN" altLang="en-US" smtClean="0"/>
              <a:t>2026/5/9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1C307C6-FA7C-4D4E-9E80-039A033D7CBB}"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B78F3DB-CEF8-4DD4-8E4A-F0628DCBE644}" type="datetimeFigureOut">
              <a:rPr lang="zh-CN" altLang="en-US" smtClean="0"/>
              <a:t>2026/5/9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1C307C6-FA7C-4D4E-9E80-039A033D7CBB}"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B78F3DB-CEF8-4DD4-8E4A-F0628DCBE644}" type="datetimeFigureOut">
              <a:rPr lang="zh-CN" altLang="en-US" smtClean="0"/>
              <a:t>2026/5/9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C307C6-FA7C-4D4E-9E80-039A033D7CBB}"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B78F3DB-CEF8-4DD4-8E4A-F0628DCBE644}" type="datetimeFigureOut">
              <a:rPr lang="zh-CN" altLang="en-US" smtClean="0"/>
              <a:t>2026/5/9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C307C6-FA7C-4D4E-9E80-039A033D7CBB}"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B78F3DB-CEF8-4DD4-8E4A-F0628DCBE644}" type="datetimeFigureOut">
              <a:rPr lang="zh-CN" altLang="en-US" smtClean="0"/>
              <a:t>2026/5/9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C307C6-FA7C-4D4E-9E80-039A033D7CBB}"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B78F3DB-CEF8-4DD4-8E4A-F0628DCBE644}" type="datetimeFigureOut">
              <a:rPr lang="zh-CN" altLang="en-US" smtClean="0"/>
              <a:t>2026/5/9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C307C6-FA7C-4D4E-9E80-039A033D7CB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image" Target="../media/image1.png"/><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2026/5/9</a:t>
            </a:fld>
            <a:endParaRPr lang="zh-CN" altLang="en-US"/>
          </a:p>
        </p:txBody>
      </p:sp>
      <p:sp>
        <p:nvSpPr>
          <p:cNvPr id="5" name="页脚占位符 4"/>
          <p:cNvSpPr>
            <a:spLocks noGrp="1"/>
          </p:cNvSpPr>
          <p:nvPr>
            <p:ph type="ftr" sz="quarter" idx="3"/>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hasCustomPrompt="1"/>
          </p:nvPr>
        </p:nvSpPr>
        <p:spPr>
          <a:xfrm>
            <a:off x="669882" y="581225"/>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669925" y="1508125"/>
            <a:ext cx="10852150" cy="4749165"/>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78F3DB-CEF8-4DD4-8E4A-F0628DCBE644}" type="datetimeFigureOut">
              <a:rPr lang="zh-CN" altLang="en-US" smtClean="0"/>
              <a:t>2026/5/9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C307C6-FA7C-4D4E-9E80-039A033D7CBB}" type="slidenum">
              <a:rPr lang="zh-CN" altLang="en-US" smtClean="0"/>
              <a:t>‹#›</a:t>
            </a:fld>
            <a:endParaRPr lang="zh-CN" altLang="en-US"/>
          </a:p>
        </p:txBody>
      </p:sp>
      <p:pic>
        <p:nvPicPr>
          <p:cNvPr id="7" name="图片 6"/>
          <p:cNvPicPr>
            <a:picLocks noChangeAspect="1"/>
          </p:cNvPicPr>
          <p:nvPr userDrawn="1"/>
        </p:nvPicPr>
        <p:blipFill>
          <a:blip r:embed="rId13"/>
          <a:stretch>
            <a:fillRect/>
          </a:stretch>
        </p:blipFill>
        <p:spPr>
          <a:xfrm>
            <a:off x="10975521" y="73331"/>
            <a:ext cx="1216479" cy="1216479"/>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962525" y="1764047"/>
            <a:ext cx="9593179" cy="2387600"/>
          </a:xfrm>
        </p:spPr>
        <p:txBody>
          <a:bodyPr/>
          <a:lstStyle/>
          <a:p>
            <a:pPr algn="dist"/>
            <a:r>
              <a:rPr lang="en-US" altLang="zh-CN" dirty="0">
                <a:latin typeface="微软雅黑" panose="020B0503020204020204" pitchFamily="34" charset="-122"/>
                <a:ea typeface="微软雅黑" panose="020B0503020204020204" pitchFamily="34" charset="-122"/>
              </a:rPr>
              <a:t>YOLO</a:t>
            </a:r>
            <a:r>
              <a:rPr lang="zh-CN" altLang="en-US" dirty="0">
                <a:latin typeface="微软雅黑" panose="020B0503020204020204" pitchFamily="34" charset="-122"/>
                <a:ea typeface="微软雅黑" panose="020B0503020204020204" pitchFamily="34" charset="-122"/>
              </a:rPr>
              <a:t>卷积层的</a:t>
            </a:r>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仿真</a:t>
            </a:r>
          </a:p>
        </p:txBody>
      </p:sp>
      <p:sp>
        <p:nvSpPr>
          <p:cNvPr id="4" name="文本框 3"/>
          <p:cNvSpPr txBox="1"/>
          <p:nvPr/>
        </p:nvSpPr>
        <p:spPr>
          <a:xfrm>
            <a:off x="10668000" y="6232124"/>
            <a:ext cx="2556769" cy="369332"/>
          </a:xfrm>
          <a:prstGeom prst="rect">
            <a:avLst/>
          </a:prstGeom>
          <a:noFill/>
        </p:spPr>
        <p:txBody>
          <a:bodyPr wrap="square" rtlCol="0">
            <a:spAutoFit/>
          </a:bodyPr>
          <a:lstStyle/>
          <a:p>
            <a:r>
              <a:rPr lang="en-US" altLang="zh-CN" dirty="0"/>
              <a:t>2026</a:t>
            </a:r>
            <a:r>
              <a:rPr lang="zh-CN" altLang="en-US" dirty="0"/>
              <a:t>年</a:t>
            </a:r>
            <a:r>
              <a:rPr lang="en-US" altLang="zh-CN" dirty="0"/>
              <a:t>5</a:t>
            </a:r>
            <a:r>
              <a:rPr lang="zh-CN" altLang="en-US" dirty="0"/>
              <a:t>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目录</a:t>
            </a:r>
          </a:p>
        </p:txBody>
      </p:sp>
      <p:sp>
        <p:nvSpPr>
          <p:cNvPr id="3" name="内容占位符 2"/>
          <p:cNvSpPr>
            <a:spLocks noGrp="1"/>
          </p:cNvSpPr>
          <p:nvPr>
            <p:ph idx="1"/>
          </p:nvPr>
        </p:nvSpPr>
        <p:spPr/>
        <p:txBody>
          <a:bodyPr/>
          <a:lstStyle/>
          <a:p>
            <a:pPr marL="0" indent="0">
              <a:buNone/>
            </a:pP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一、</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程序在</a:t>
            </a:r>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的开发和仿真原理</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二、</a:t>
            </a:r>
            <a:r>
              <a:rPr lang="en-US" altLang="zh-CN" dirty="0">
                <a:latin typeface="微软雅黑" panose="020B0503020204020204" pitchFamily="34" charset="-122"/>
                <a:ea typeface="微软雅黑" panose="020B0503020204020204" pitchFamily="34" charset="-122"/>
              </a:rPr>
              <a:t>YOLO</a:t>
            </a:r>
            <a:r>
              <a:rPr lang="zh-CN" altLang="en-US" dirty="0">
                <a:latin typeface="微软雅黑" panose="020B0503020204020204" pitchFamily="34" charset="-122"/>
                <a:ea typeface="微软雅黑" panose="020B0503020204020204" pitchFamily="34" charset="-122"/>
              </a:rPr>
              <a:t>卷积层在</a:t>
            </a:r>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的仿真过程</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三、</a:t>
            </a:r>
            <a:r>
              <a:rPr lang="en-US" altLang="zh-CN" dirty="0">
                <a:latin typeface="微软雅黑" panose="020B0503020204020204" pitchFamily="34" charset="-122"/>
                <a:ea typeface="微软雅黑" panose="020B0503020204020204" pitchFamily="34" charset="-122"/>
              </a:rPr>
              <a:t>YOLO</a:t>
            </a:r>
            <a:r>
              <a:rPr lang="zh-CN" altLang="en-US" dirty="0">
                <a:latin typeface="微软雅黑" panose="020B0503020204020204" pitchFamily="34" charset="-122"/>
                <a:ea typeface="微软雅黑" panose="020B0503020204020204" pitchFamily="34" charset="-122"/>
              </a:rPr>
              <a:t>卷积层在</a:t>
            </a:r>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仿真的性能监测</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一、</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程序在</a:t>
            </a:r>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的仿真流程</a:t>
            </a:r>
          </a:p>
        </p:txBody>
      </p:sp>
      <p:sp>
        <p:nvSpPr>
          <p:cNvPr id="3" name="内容占位符 2"/>
          <p:cNvSpPr>
            <a:spLocks noGrp="1"/>
          </p:cNvSpPr>
          <p:nvPr>
            <p:ph idx="1"/>
          </p:nvPr>
        </p:nvSpPr>
        <p:spPr>
          <a:xfrm>
            <a:off x="838199" y="1825625"/>
            <a:ext cx="11198469" cy="4882906"/>
          </a:xfrm>
        </p:spPr>
        <p:txBody>
          <a:bodyPr/>
          <a:lstStyle/>
          <a:p>
            <a:r>
              <a:rPr lang="zh-CN" altLang="en-US" dirty="0">
                <a:latin typeface="微软雅黑" panose="020B0503020204020204" pitchFamily="34" charset="-122"/>
                <a:ea typeface="微软雅黑" panose="020B0503020204020204" pitchFamily="34" charset="-122"/>
              </a:rPr>
              <a:t>编译和链接阶段</a:t>
            </a:r>
            <a:endParaRPr lang="en-US" altLang="zh-CN" dirty="0">
              <a:latin typeface="微软雅黑" panose="020B0503020204020204" pitchFamily="34" charset="-122"/>
              <a:ea typeface="微软雅黑" panose="020B0503020204020204" pitchFamily="34" charset="-122"/>
            </a:endParaRPr>
          </a:p>
          <a:p>
            <a:pPr marL="457200" lvl="1" indent="0">
              <a:lnSpc>
                <a:spcPct val="130000"/>
              </a:lnSpc>
              <a:buNone/>
            </a:pPr>
            <a:r>
              <a:rPr lang="zh-CN" altLang="en-US" dirty="0">
                <a:latin typeface="微软雅黑" panose="020B0503020204020204" pitchFamily="34" charset="-122"/>
                <a:ea typeface="微软雅黑" panose="020B0503020204020204" pitchFamily="34" charset="-122"/>
              </a:rPr>
              <a:t>从</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源码生成可执行文件的过程常常被笼统地称为编译。但严格地讲，该过程应当包含多个步骤。分别为：</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zh-CN" altLang="en-US" dirty="0">
                <a:latin typeface="微软雅黑" panose="020B0503020204020204" pitchFamily="34" charset="-122"/>
                <a:ea typeface="微软雅黑" panose="020B0503020204020204" pitchFamily="34" charset="-122"/>
              </a:rPr>
              <a:t>预处理</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cpp</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编译器解析源码中的预处理操作，生成</a:t>
            </a:r>
            <a:r>
              <a:rPr lang="en-US" altLang="zh-CN" dirty="0">
                <a:latin typeface="微软雅黑" panose="020B0503020204020204" pitchFamily="34" charset="-122"/>
                <a:ea typeface="微软雅黑" panose="020B0503020204020204" pitchFamily="34" charset="-122"/>
              </a:rPr>
              <a:t>ASCII</a:t>
            </a:r>
            <a:r>
              <a:rPr lang="zh-CN" altLang="en-US" dirty="0">
                <a:latin typeface="微软雅黑" panose="020B0503020204020204" pitchFamily="34" charset="-122"/>
                <a:ea typeface="微软雅黑" panose="020B0503020204020204" pitchFamily="34" charset="-122"/>
              </a:rPr>
              <a:t>码中间文件</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a:t>
            </a:r>
          </a:p>
          <a:p>
            <a:pPr lvl="1">
              <a:lnSpc>
                <a:spcPct val="130000"/>
              </a:lnSpc>
            </a:pPr>
            <a:r>
              <a:rPr lang="zh-CN" altLang="en-US" dirty="0">
                <a:latin typeface="微软雅黑" panose="020B0503020204020204" pitchFamily="34" charset="-122"/>
                <a:ea typeface="微软雅黑" panose="020B0503020204020204" pitchFamily="34" charset="-122"/>
              </a:rPr>
              <a:t>编译</a:t>
            </a:r>
            <a:r>
              <a:rPr lang="en-US" altLang="zh-CN" dirty="0">
                <a:latin typeface="微软雅黑" panose="020B0503020204020204" pitchFamily="34" charset="-122"/>
                <a:ea typeface="微软雅黑" panose="020B0503020204020204" pitchFamily="34" charset="-122"/>
              </a:rPr>
              <a:t>(cc1)	</a:t>
            </a:r>
            <a:r>
              <a:rPr lang="zh-CN" altLang="en-US" dirty="0">
                <a:latin typeface="微软雅黑" panose="020B0503020204020204" pitchFamily="34" charset="-122"/>
                <a:ea typeface="微软雅黑" panose="020B0503020204020204" pitchFamily="34" charset="-122"/>
              </a:rPr>
              <a:t>编译器执行编译过程，将</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i</a:t>
            </a:r>
            <a:r>
              <a:rPr lang="zh-CN" altLang="en-US" dirty="0">
                <a:latin typeface="微软雅黑" panose="020B0503020204020204" pitchFamily="34" charset="-122"/>
                <a:ea typeface="微软雅黑" panose="020B0503020204020204" pitchFamily="34" charset="-122"/>
              </a:rPr>
              <a:t>文件翻译成</a:t>
            </a:r>
            <a:r>
              <a:rPr lang="en-US" altLang="zh-CN" dirty="0">
                <a:latin typeface="微软雅黑" panose="020B0503020204020204" pitchFamily="34" charset="-122"/>
                <a:ea typeface="微软雅黑" panose="020B0503020204020204" pitchFamily="34" charset="-122"/>
              </a:rPr>
              <a:t>ASCII</a:t>
            </a:r>
            <a:r>
              <a:rPr lang="zh-CN" altLang="en-US" dirty="0">
                <a:latin typeface="微软雅黑" panose="020B0503020204020204" pitchFamily="34" charset="-122"/>
                <a:ea typeface="微软雅黑" panose="020B0503020204020204" pitchFamily="34" charset="-122"/>
              </a:rPr>
              <a:t>码汇编语言文件</a:t>
            </a:r>
            <a:r>
              <a:rPr lang="en-US" altLang="zh-CN" dirty="0">
                <a:latin typeface="微软雅黑" panose="020B0503020204020204" pitchFamily="34" charset="-122"/>
                <a:ea typeface="微软雅黑" panose="020B0503020204020204" pitchFamily="34" charset="-122"/>
              </a:rPr>
              <a:t>(.s)</a:t>
            </a:r>
          </a:p>
          <a:p>
            <a:pPr lvl="1">
              <a:lnSpc>
                <a:spcPct val="130000"/>
              </a:lnSpc>
            </a:pPr>
            <a:r>
              <a:rPr lang="zh-CN" altLang="en-US" dirty="0">
                <a:latin typeface="微软雅黑" panose="020B0503020204020204" pitchFamily="34" charset="-122"/>
                <a:ea typeface="微软雅黑" panose="020B0503020204020204" pitchFamily="34" charset="-122"/>
              </a:rPr>
              <a:t>汇编</a:t>
            </a:r>
            <a:r>
              <a:rPr lang="en-US" altLang="zh-CN" dirty="0">
                <a:latin typeface="微软雅黑" panose="020B0503020204020204" pitchFamily="34" charset="-122"/>
                <a:ea typeface="微软雅黑" panose="020B0503020204020204" pitchFamily="34" charset="-122"/>
              </a:rPr>
              <a:t>(as)		</a:t>
            </a:r>
            <a:r>
              <a:rPr lang="zh-CN" altLang="en-US" dirty="0">
                <a:latin typeface="微软雅黑" panose="020B0503020204020204" pitchFamily="34" charset="-122"/>
                <a:ea typeface="微软雅黑" panose="020B0503020204020204" pitchFamily="34" charset="-122"/>
              </a:rPr>
              <a:t>汇编器将</a:t>
            </a:r>
            <a:r>
              <a:rPr lang="en-US" altLang="zh-CN" dirty="0">
                <a:latin typeface="微软雅黑" panose="020B0503020204020204" pitchFamily="34" charset="-122"/>
                <a:ea typeface="微软雅黑" panose="020B0503020204020204" pitchFamily="34" charset="-122"/>
              </a:rPr>
              <a:t>.s</a:t>
            </a:r>
            <a:r>
              <a:rPr lang="zh-CN" altLang="en-US" dirty="0">
                <a:latin typeface="微软雅黑" panose="020B0503020204020204" pitchFamily="34" charset="-122"/>
                <a:ea typeface="微软雅黑" panose="020B0503020204020204" pitchFamily="34" charset="-122"/>
              </a:rPr>
              <a:t>文件翻译成可重定位目标文件</a:t>
            </a:r>
            <a:r>
              <a:rPr lang="en-US" altLang="zh-CN" dirty="0">
                <a:latin typeface="微软雅黑" panose="020B0503020204020204" pitchFamily="34" charset="-122"/>
                <a:ea typeface="微软雅黑" panose="020B0503020204020204" pitchFamily="34" charset="-122"/>
              </a:rPr>
              <a:t>(.o)</a:t>
            </a:r>
          </a:p>
          <a:p>
            <a:pPr lvl="1">
              <a:lnSpc>
                <a:spcPct val="130000"/>
              </a:lnSpc>
            </a:pPr>
            <a:r>
              <a:rPr lang="zh-CN" altLang="en-US" dirty="0">
                <a:latin typeface="微软雅黑" panose="020B0503020204020204" pitchFamily="34" charset="-122"/>
                <a:ea typeface="微软雅黑" panose="020B0503020204020204" pitchFamily="34" charset="-122"/>
              </a:rPr>
              <a:t>链接</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ld</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链接器将不同的</a:t>
            </a:r>
            <a:r>
              <a:rPr lang="en-US" altLang="zh-CN" dirty="0">
                <a:latin typeface="微软雅黑" panose="020B0503020204020204" pitchFamily="34" charset="-122"/>
                <a:ea typeface="微软雅黑" panose="020B0503020204020204" pitchFamily="34" charset="-122"/>
              </a:rPr>
              <a:t>.o</a:t>
            </a:r>
            <a:r>
              <a:rPr lang="zh-CN" altLang="en-US" dirty="0">
                <a:latin typeface="微软雅黑" panose="020B0503020204020204" pitchFamily="34" charset="-122"/>
                <a:ea typeface="微软雅黑" panose="020B0503020204020204" pitchFamily="34" charset="-122"/>
              </a:rPr>
              <a:t>文件组合起来，创建可执行目标文件</a:t>
            </a:r>
            <a:endParaRPr lang="en-US" altLang="zh-CN" dirty="0">
              <a:latin typeface="微软雅黑" panose="020B0503020204020204" pitchFamily="34" charset="-122"/>
              <a:ea typeface="微软雅黑" panose="020B0503020204020204" pitchFamily="34" charset="-122"/>
            </a:endParaRPr>
          </a:p>
          <a:p>
            <a:pPr marL="457200" lvl="1" indent="0">
              <a:lnSpc>
                <a:spcPct val="130000"/>
              </a:lnSpc>
              <a:buNone/>
            </a:pPr>
            <a:r>
              <a:rPr lang="zh-CN" altLang="en-US" dirty="0">
                <a:latin typeface="微软雅黑" panose="020B0503020204020204" pitchFamily="34" charset="-122"/>
                <a:ea typeface="微软雅黑" panose="020B0503020204020204" pitchFamily="34" charset="-122"/>
              </a:rPr>
              <a:t>可以将</a:t>
            </a:r>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的</a:t>
            </a:r>
            <a:r>
              <a:rPr lang="en-US" altLang="zh-CN" dirty="0" err="1">
                <a:latin typeface="微软雅黑" panose="020B0503020204020204" pitchFamily="34" charset="-122"/>
                <a:ea typeface="微软雅黑" panose="020B0503020204020204" pitchFamily="34" charset="-122"/>
              </a:rPr>
              <a:t>gcc</a:t>
            </a:r>
            <a:r>
              <a:rPr lang="zh-CN" altLang="en-US" dirty="0">
                <a:latin typeface="微软雅黑" panose="020B0503020204020204" pitchFamily="34" charset="-122"/>
                <a:ea typeface="微软雅黑" panose="020B0503020204020204" pitchFamily="34" charset="-122"/>
              </a:rPr>
              <a:t>工具链视为上述工具的一个封装，它既可以单独执行其中的某个步骤，也可以一次性完成所有工作，直接从</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源码生成可执行文件。</a:t>
            </a:r>
            <a:endParaRPr lang="en-US" altLang="zh-CN" dirty="0">
              <a:latin typeface="微软雅黑" panose="020B0503020204020204" pitchFamily="34" charset="-122"/>
              <a:ea typeface="微软雅黑" panose="020B0503020204020204" pitchFamily="34" charset="-122"/>
            </a:endParaRPr>
          </a:p>
          <a:p>
            <a:pPr marL="457200" lvl="1" indent="0">
              <a:lnSpc>
                <a:spcPct val="130000"/>
              </a:lnSpc>
              <a:buNone/>
            </a:pP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编译参数</a:t>
            </a:r>
          </a:p>
        </p:txBody>
      </p:sp>
      <p:sp>
        <p:nvSpPr>
          <p:cNvPr id="3" name="内容占位符 2"/>
          <p:cNvSpPr>
            <a:spLocks noGrp="1"/>
          </p:cNvSpPr>
          <p:nvPr>
            <p:ph idx="1"/>
          </p:nvPr>
        </p:nvSpPr>
        <p:spPr>
          <a:xfrm>
            <a:off x="838199" y="1825625"/>
            <a:ext cx="11198469" cy="4882906"/>
          </a:xfrm>
        </p:spPr>
        <p:txBody>
          <a:bodyPr>
            <a:normAutofit/>
          </a:bodyPr>
          <a:lstStyle/>
          <a:p>
            <a:pPr>
              <a:lnSpc>
                <a:spcPct val="130000"/>
              </a:lnSpc>
            </a:pPr>
            <a:r>
              <a:rPr lang="zh-CN" altLang="en-US" dirty="0">
                <a:latin typeface="微软雅黑" panose="020B0503020204020204" pitchFamily="34" charset="-122"/>
                <a:ea typeface="微软雅黑" panose="020B0503020204020204" pitchFamily="34" charset="-122"/>
              </a:rPr>
              <a:t>观察位于</a:t>
            </a:r>
            <a:r>
              <a:rPr lang="en-US" altLang="zh-CN" dirty="0">
                <a:latin typeface="微软雅黑" panose="020B0503020204020204" pitchFamily="34" charset="-122"/>
                <a:ea typeface="微软雅黑" panose="020B0503020204020204" pitchFamily="34" charset="-122"/>
              </a:rPr>
              <a:t>./lib</a:t>
            </a:r>
            <a:r>
              <a:rPr lang="zh-CN" altLang="en-US" dirty="0">
                <a:latin typeface="微软雅黑" panose="020B0503020204020204" pitchFamily="34" charset="-122"/>
                <a:ea typeface="微软雅黑" panose="020B0503020204020204" pitchFamily="34" charset="-122"/>
              </a:rPr>
              <a:t>下的</a:t>
            </a:r>
            <a:r>
              <a:rPr lang="en-US" altLang="zh-CN" dirty="0" err="1">
                <a:latin typeface="微软雅黑" panose="020B0503020204020204" pitchFamily="34" charset="-122"/>
                <a:ea typeface="微软雅黑" panose="020B0503020204020204" pitchFamily="34" charset="-122"/>
              </a:rPr>
              <a:t>Makefile</a:t>
            </a:r>
            <a:r>
              <a:rPr lang="zh-CN" altLang="en-US" dirty="0">
                <a:latin typeface="微软雅黑" panose="020B0503020204020204" pitchFamily="34" charset="-122"/>
                <a:ea typeface="微软雅黑" panose="020B0503020204020204" pitchFamily="34" charset="-122"/>
              </a:rPr>
              <a:t>文件可以查看</a:t>
            </a:r>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平台为源码设置的编译规则。其中平台默认使用部分的</a:t>
            </a:r>
            <a:r>
              <a:rPr lang="en-US" altLang="zh-CN" dirty="0">
                <a:latin typeface="微软雅黑" panose="020B0503020204020204" pitchFamily="34" charset="-122"/>
                <a:ea typeface="微软雅黑" panose="020B0503020204020204" pitchFamily="34" charset="-122"/>
              </a:rPr>
              <a:t>CFLAGS</a:t>
            </a:r>
            <a:r>
              <a:rPr lang="zh-CN" altLang="en-US" dirty="0">
                <a:latin typeface="微软雅黑" panose="020B0503020204020204" pitchFamily="34" charset="-122"/>
                <a:ea typeface="微软雅黑" panose="020B0503020204020204" pitchFamily="34" charset="-122"/>
              </a:rPr>
              <a:t>说明如下：</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en-US" altLang="zh-CN" dirty="0">
                <a:latin typeface="微软雅黑" panose="020B0503020204020204" pitchFamily="34" charset="-122"/>
                <a:ea typeface="微软雅黑" panose="020B0503020204020204" pitchFamily="34" charset="-122"/>
              </a:rPr>
              <a:t>-march=rv64gcvxcki	  </a:t>
            </a:r>
            <a:r>
              <a:rPr lang="zh-CN" altLang="en-US" dirty="0">
                <a:latin typeface="微软雅黑" panose="020B0503020204020204" pitchFamily="34" charset="-122"/>
                <a:ea typeface="微软雅黑" panose="020B0503020204020204" pitchFamily="34" charset="-122"/>
              </a:rPr>
              <a:t>指定指令集架构</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funroll</a:t>
            </a:r>
            <a:r>
              <a:rPr lang="en-US" altLang="zh-CN" dirty="0">
                <a:latin typeface="微软雅黑" panose="020B0503020204020204" pitchFamily="34" charset="-122"/>
                <a:ea typeface="微软雅黑" panose="020B0503020204020204" pitchFamily="34" charset="-122"/>
              </a:rPr>
              <a:t>-all-loops	   </a:t>
            </a:r>
            <a:r>
              <a:rPr lang="zh-CN" altLang="en-US" dirty="0">
                <a:latin typeface="微软雅黑" panose="020B0503020204020204" pitchFamily="34" charset="-122"/>
                <a:ea typeface="微软雅黑" panose="020B0503020204020204" pitchFamily="34" charset="-122"/>
              </a:rPr>
              <a:t>尽可能执行循环展开以优化程序性能</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finline</a:t>
            </a:r>
            <a:r>
              <a:rPr lang="en-US" altLang="zh-CN" dirty="0">
                <a:latin typeface="微软雅黑" panose="020B0503020204020204" pitchFamily="34" charset="-122"/>
                <a:ea typeface="微软雅黑" panose="020B0503020204020204" pitchFamily="34" charset="-122"/>
              </a:rPr>
              <a:t>-limit=500	   </a:t>
            </a:r>
            <a:r>
              <a:rPr lang="zh-CN" altLang="en-US" dirty="0">
                <a:latin typeface="微软雅黑" panose="020B0503020204020204" pitchFamily="34" charset="-122"/>
                <a:ea typeface="微软雅黑" panose="020B0503020204020204" pitchFamily="34" charset="-122"/>
              </a:rPr>
              <a:t>决定函数调用是否会被编译器优化为内联函数的伪指</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令长度界限，在本实验中，出于指令统计的需要，会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对其进行修改</a:t>
            </a:r>
            <a:endParaRPr lang="en-US" altLang="zh-CN" dirty="0">
              <a:latin typeface="微软雅黑" panose="020B0503020204020204" pitchFamily="34" charset="-122"/>
              <a:ea typeface="微软雅黑" panose="020B0503020204020204" pitchFamily="34" charset="-122"/>
            </a:endParaRPr>
          </a:p>
          <a:p>
            <a:pPr marL="457200" lvl="1" indent="0">
              <a:lnSpc>
                <a:spcPct val="130000"/>
              </a:lnSpc>
              <a:buNone/>
            </a:pPr>
            <a:endParaRPr lang="en-US" altLang="zh-CN" dirty="0">
              <a:latin typeface="微软雅黑" panose="020B0503020204020204" pitchFamily="34" charset="-122"/>
              <a:ea typeface="微软雅黑" panose="020B0503020204020204" pitchFamily="34" charset="-122"/>
            </a:endParaRPr>
          </a:p>
          <a:p>
            <a:pPr marL="457200" lvl="1" indent="0">
              <a:lnSpc>
                <a:spcPct val="130000"/>
              </a:lnSpc>
              <a:buNone/>
            </a:pP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87522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编译参数</a:t>
            </a:r>
          </a:p>
        </p:txBody>
      </p:sp>
      <p:sp>
        <p:nvSpPr>
          <p:cNvPr id="3" name="内容占位符 2"/>
          <p:cNvSpPr>
            <a:spLocks noGrp="1"/>
          </p:cNvSpPr>
          <p:nvPr>
            <p:ph idx="1"/>
          </p:nvPr>
        </p:nvSpPr>
        <p:spPr>
          <a:xfrm>
            <a:off x="838199" y="1825625"/>
            <a:ext cx="11198469" cy="4882906"/>
          </a:xfrm>
        </p:spPr>
        <p:txBody>
          <a:bodyPr>
            <a:normAutofit/>
          </a:bodyPr>
          <a:lstStyle/>
          <a:p>
            <a:pPr>
              <a:lnSpc>
                <a:spcPct val="130000"/>
              </a:lnSpc>
            </a:pPr>
            <a:r>
              <a:rPr lang="zh-CN" altLang="en-US" dirty="0">
                <a:latin typeface="微软雅黑" panose="020B0503020204020204" pitchFamily="34" charset="-122"/>
                <a:ea typeface="微软雅黑" panose="020B0503020204020204" pitchFamily="34" charset="-122"/>
              </a:rPr>
              <a:t>观察位于</a:t>
            </a:r>
            <a:r>
              <a:rPr lang="en-US" altLang="zh-CN" dirty="0">
                <a:latin typeface="微软雅黑" panose="020B0503020204020204" pitchFamily="34" charset="-122"/>
                <a:ea typeface="微软雅黑" panose="020B0503020204020204" pitchFamily="34" charset="-122"/>
              </a:rPr>
              <a:t>./lib</a:t>
            </a:r>
            <a:r>
              <a:rPr lang="zh-CN" altLang="en-US" dirty="0">
                <a:latin typeface="微软雅黑" panose="020B0503020204020204" pitchFamily="34" charset="-122"/>
                <a:ea typeface="微软雅黑" panose="020B0503020204020204" pitchFamily="34" charset="-122"/>
              </a:rPr>
              <a:t>下的</a:t>
            </a:r>
            <a:r>
              <a:rPr lang="en-US" altLang="zh-CN" dirty="0" err="1">
                <a:latin typeface="微软雅黑" panose="020B0503020204020204" pitchFamily="34" charset="-122"/>
                <a:ea typeface="微软雅黑" panose="020B0503020204020204" pitchFamily="34" charset="-122"/>
              </a:rPr>
              <a:t>Makefile</a:t>
            </a:r>
            <a:r>
              <a:rPr lang="zh-CN" altLang="en-US" dirty="0">
                <a:latin typeface="微软雅黑" panose="020B0503020204020204" pitchFamily="34" charset="-122"/>
                <a:ea typeface="微软雅黑" panose="020B0503020204020204" pitchFamily="34" charset="-122"/>
              </a:rPr>
              <a:t>文件可以查看</a:t>
            </a:r>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平台为源码设置的编译规则。其中平台默认使用部分的</a:t>
            </a:r>
            <a:r>
              <a:rPr lang="en-US" altLang="zh-CN" dirty="0">
                <a:latin typeface="微软雅黑" panose="020B0503020204020204" pitchFamily="34" charset="-122"/>
                <a:ea typeface="微软雅黑" panose="020B0503020204020204" pitchFamily="34" charset="-122"/>
              </a:rPr>
              <a:t>CFLAGS</a:t>
            </a:r>
            <a:r>
              <a:rPr lang="zh-CN" altLang="en-US" dirty="0">
                <a:latin typeface="微软雅黑" panose="020B0503020204020204" pitchFamily="34" charset="-122"/>
                <a:ea typeface="微软雅黑" panose="020B0503020204020204" pitchFamily="34" charset="-122"/>
              </a:rPr>
              <a:t>说明如下：</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en-US" altLang="zh-CN" dirty="0">
                <a:latin typeface="微软雅黑" panose="020B0503020204020204" pitchFamily="34" charset="-122"/>
                <a:ea typeface="微软雅黑" panose="020B0503020204020204" pitchFamily="34" charset="-122"/>
              </a:rPr>
              <a:t>-static	</a:t>
            </a:r>
            <a:r>
              <a:rPr lang="zh-CN" altLang="en-US" dirty="0">
                <a:latin typeface="微软雅黑" panose="020B0503020204020204" pitchFamily="34" charset="-122"/>
                <a:ea typeface="微软雅黑" panose="020B0503020204020204" pitchFamily="34" charset="-122"/>
              </a:rPr>
              <a:t>使用静态编译，开启这个选项后，所有相关的函数库均为被显式地编</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译进生成的文件中，而不会产生动态链接</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en-US" altLang="zh-CN" dirty="0">
                <a:latin typeface="微软雅黑" panose="020B0503020204020204" pitchFamily="34" charset="-122"/>
                <a:ea typeface="微软雅黑" panose="020B0503020204020204" pitchFamily="34" charset="-122"/>
              </a:rPr>
              <a:t>-O2	</a:t>
            </a:r>
            <a:r>
              <a:rPr lang="zh-CN" altLang="en-US" dirty="0">
                <a:latin typeface="微软雅黑" panose="020B0503020204020204" pitchFamily="34" charset="-122"/>
                <a:ea typeface="微软雅黑" panose="020B0503020204020204" pitchFamily="34" charset="-122"/>
              </a:rPr>
              <a:t>编译器使用的优化等级，它实际上代表了一系列优化开关的组合。对</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于平台当前定制的工具链，建议不要贸然更改这个优化等级，其他等</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级偶尔会导致程序工作不正常。</a:t>
            </a:r>
            <a:r>
              <a:rPr lang="en-US" altLang="zh-CN" dirty="0">
                <a:latin typeface="微软雅黑" panose="020B0503020204020204" pitchFamily="34" charset="-122"/>
                <a:ea typeface="微软雅黑" panose="020B0503020204020204" pitchFamily="34" charset="-122"/>
              </a:rPr>
              <a:t>	</a:t>
            </a:r>
          </a:p>
          <a:p>
            <a:pPr marL="457200" lvl="1" indent="0">
              <a:lnSpc>
                <a:spcPct val="130000"/>
              </a:lnSpc>
              <a:buNone/>
            </a:pPr>
            <a:endParaRPr lang="en-US" altLang="zh-CN" dirty="0">
              <a:latin typeface="微软雅黑" panose="020B0503020204020204" pitchFamily="34" charset="-122"/>
              <a:ea typeface="微软雅黑" panose="020B0503020204020204" pitchFamily="34" charset="-122"/>
            </a:endParaRPr>
          </a:p>
          <a:p>
            <a:pPr marL="457200" lvl="1" indent="0">
              <a:lnSpc>
                <a:spcPct val="130000"/>
              </a:lnSpc>
              <a:buNone/>
            </a:pP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66636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编译参数</a:t>
            </a:r>
          </a:p>
        </p:txBody>
      </p:sp>
      <p:sp>
        <p:nvSpPr>
          <p:cNvPr id="3" name="内容占位符 2"/>
          <p:cNvSpPr>
            <a:spLocks noGrp="1"/>
          </p:cNvSpPr>
          <p:nvPr>
            <p:ph idx="1"/>
          </p:nvPr>
        </p:nvSpPr>
        <p:spPr>
          <a:xfrm>
            <a:off x="838199" y="1825625"/>
            <a:ext cx="11198469" cy="4882906"/>
          </a:xfrm>
        </p:spPr>
        <p:txBody>
          <a:bodyPr>
            <a:normAutofit/>
          </a:bodyPr>
          <a:lstStyle/>
          <a:p>
            <a:r>
              <a:rPr lang="zh-CN" altLang="en-US" dirty="0">
                <a:latin typeface="微软雅黑" panose="020B0503020204020204" pitchFamily="34" charset="-122"/>
                <a:ea typeface="微软雅黑" panose="020B0503020204020204" pitchFamily="34" charset="-122"/>
              </a:rPr>
              <a:t>对于本实验而言，由于后续监测程序指令调用情况的需要，需对</a:t>
            </a:r>
            <a:r>
              <a:rPr lang="en-US" altLang="zh-CN" dirty="0" err="1">
                <a:latin typeface="微软雅黑" panose="020B0503020204020204" pitchFamily="34" charset="-122"/>
                <a:ea typeface="微软雅黑" panose="020B0503020204020204" pitchFamily="34" charset="-122"/>
              </a:rPr>
              <a:t>Makefile</a:t>
            </a:r>
            <a:r>
              <a:rPr lang="zh-CN" altLang="en-US" dirty="0">
                <a:latin typeface="微软雅黑" panose="020B0503020204020204" pitchFamily="34" charset="-122"/>
                <a:ea typeface="微软雅黑" panose="020B0503020204020204" pitchFamily="34" charset="-122"/>
              </a:rPr>
              <a:t>中的</a:t>
            </a:r>
            <a:r>
              <a:rPr lang="en-US" altLang="zh-CN" dirty="0">
                <a:latin typeface="微软雅黑" panose="020B0503020204020204" pitchFamily="34" charset="-122"/>
                <a:ea typeface="微软雅黑" panose="020B0503020204020204" pitchFamily="34" charset="-122"/>
              </a:rPr>
              <a:t>CFLAGS</a:t>
            </a:r>
            <a:r>
              <a:rPr lang="zh-CN" altLang="en-US" dirty="0">
                <a:latin typeface="微软雅黑" panose="020B0503020204020204" pitchFamily="34" charset="-122"/>
                <a:ea typeface="微软雅黑" panose="020B0503020204020204" pitchFamily="34" charset="-122"/>
              </a:rPr>
              <a:t>增加以下选项：</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fno</a:t>
            </a:r>
            <a:r>
              <a:rPr lang="en-US" altLang="zh-CN" dirty="0">
                <a:latin typeface="微软雅黑" panose="020B0503020204020204" pitchFamily="34" charset="-122"/>
                <a:ea typeface="微软雅黑" panose="020B0503020204020204" pitchFamily="34" charset="-122"/>
              </a:rPr>
              <a:t>-inline	</a:t>
            </a:r>
            <a:r>
              <a:rPr lang="zh-CN" altLang="en-US" dirty="0">
                <a:latin typeface="微软雅黑" panose="020B0503020204020204" pitchFamily="34" charset="-122"/>
                <a:ea typeface="微软雅黑" panose="020B0503020204020204" pitchFamily="34" charset="-122"/>
              </a:rPr>
              <a:t>阻止编译器对函数调用进行内联优化</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en-US" altLang="zh-CN" dirty="0">
                <a:latin typeface="微软雅黑" panose="020B0503020204020204" pitchFamily="34" charset="-122"/>
                <a:ea typeface="微软雅黑" panose="020B0503020204020204" pitchFamily="34" charset="-122"/>
              </a:rPr>
              <a:t>-g		</a:t>
            </a:r>
            <a:r>
              <a:rPr lang="zh-CN" altLang="en-US" dirty="0">
                <a:latin typeface="微软雅黑" panose="020B0503020204020204" pitchFamily="34" charset="-122"/>
                <a:ea typeface="微软雅黑" panose="020B0503020204020204" pitchFamily="34" charset="-122"/>
              </a:rPr>
              <a:t>这是一个调试时常用的选项，它会额外地在可重定向目标文件</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ELF</a:t>
            </a:r>
            <a:r>
              <a:rPr lang="zh-CN" altLang="en-US" dirty="0">
                <a:latin typeface="微软雅黑" panose="020B0503020204020204" pitchFamily="34" charset="-122"/>
                <a:ea typeface="微软雅黑" panose="020B0503020204020204" pitchFamily="34" charset="-122"/>
              </a:rPr>
              <a:t>）当中添加一个调试符号表。同时，该选项本身也会潜</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在地影响编译器的某些优化开关，总体上使得编译更加严格。</a:t>
            </a:r>
            <a:endParaRPr lang="en-US" altLang="zh-CN" dirty="0">
              <a:latin typeface="微软雅黑" panose="020B0503020204020204" pitchFamily="34" charset="-122"/>
              <a:ea typeface="微软雅黑" panose="020B0503020204020204" pitchFamily="34" charset="-122"/>
            </a:endParaRPr>
          </a:p>
          <a:p>
            <a:pPr marL="457200" lvl="1" indent="0">
              <a:lnSpc>
                <a:spcPct val="130000"/>
              </a:lnSpc>
              <a:buNone/>
            </a:pPr>
            <a:r>
              <a:rPr lang="en-US" altLang="zh-CN" dirty="0" err="1">
                <a:latin typeface="微软雅黑" panose="020B0503020204020204" pitchFamily="34" charset="-122"/>
                <a:ea typeface="微软雅黑" panose="020B0503020204020204" pitchFamily="34" charset="-122"/>
              </a:rPr>
              <a:t>Makefile</a:t>
            </a:r>
            <a:r>
              <a:rPr lang="zh-CN" altLang="en-US" dirty="0">
                <a:latin typeface="微软雅黑" panose="020B0503020204020204" pitchFamily="34" charset="-122"/>
                <a:ea typeface="微软雅黑" panose="020B0503020204020204" pitchFamily="34" charset="-122"/>
              </a:rPr>
              <a:t>中的其余</a:t>
            </a:r>
            <a:r>
              <a:rPr lang="en-US" altLang="zh-CN" dirty="0">
                <a:latin typeface="微软雅黑" panose="020B0503020204020204" pitchFamily="34" charset="-122"/>
                <a:ea typeface="微软雅黑" panose="020B0503020204020204" pitchFamily="34" charset="-122"/>
              </a:rPr>
              <a:t>CFLAGS</a:t>
            </a:r>
            <a:r>
              <a:rPr lang="zh-CN" altLang="en-US" dirty="0">
                <a:latin typeface="微软雅黑" panose="020B0503020204020204" pitchFamily="34" charset="-122"/>
                <a:ea typeface="微软雅黑" panose="020B0503020204020204" pitchFamily="34" charset="-122"/>
              </a:rPr>
              <a:t>参数与编译中的高级优化有关，可自行参阅手册。</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93130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链接脚本和启动代码</a:t>
            </a:r>
          </a:p>
        </p:txBody>
      </p:sp>
      <p:sp>
        <p:nvSpPr>
          <p:cNvPr id="3" name="内容占位符 2"/>
          <p:cNvSpPr>
            <a:spLocks noGrp="1"/>
          </p:cNvSpPr>
          <p:nvPr>
            <p:ph idx="1"/>
          </p:nvPr>
        </p:nvSpPr>
        <p:spPr>
          <a:xfrm>
            <a:off x="838200" y="1825625"/>
            <a:ext cx="11172092" cy="4882906"/>
          </a:xfrm>
        </p:spPr>
        <p:txBody>
          <a:bodyPr>
            <a:normAutofit/>
          </a:bodyPr>
          <a:lstStyle/>
          <a:p>
            <a:r>
              <a:rPr lang="zh-CN" altLang="en-US" dirty="0">
                <a:latin typeface="微软雅黑" panose="020B0503020204020204" pitchFamily="34" charset="-122"/>
                <a:ea typeface="微软雅黑" panose="020B0503020204020204" pitchFamily="34" charset="-122"/>
              </a:rPr>
              <a:t>对于运行于操作系统的程序，用户通常不需要过多地关心链接和程序加载过程，因为操作系统会完成其中的绝大部分工作。但对于嵌入式开发，程序的链接和启动过程至关重要。</a:t>
            </a:r>
            <a:endParaRPr lang="en-US" altLang="zh-CN" dirty="0">
              <a:latin typeface="微软雅黑" panose="020B0503020204020204" pitchFamily="34" charset="-122"/>
              <a:ea typeface="微软雅黑" panose="020B0503020204020204" pitchFamily="34" charset="-122"/>
            </a:endParaRPr>
          </a:p>
          <a:p>
            <a:pPr marL="457200" lvl="1" indent="0">
              <a:lnSpc>
                <a:spcPct val="130000"/>
              </a:lnSpc>
              <a:buNone/>
            </a:pP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6506952" y="3294888"/>
            <a:ext cx="5262372" cy="3563112"/>
          </a:xfrm>
          <a:prstGeom prst="rect">
            <a:avLst/>
          </a:prstGeom>
        </p:spPr>
      </p:pic>
      <p:sp>
        <p:nvSpPr>
          <p:cNvPr id="6" name="文本框 5"/>
          <p:cNvSpPr txBox="1"/>
          <p:nvPr/>
        </p:nvSpPr>
        <p:spPr>
          <a:xfrm>
            <a:off x="1243290" y="3622430"/>
            <a:ext cx="4823402" cy="138499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在</a:t>
            </a:r>
            <a:r>
              <a:rPr lang="en-US" altLang="zh-CN" sz="2400" dirty="0">
                <a:latin typeface="微软雅黑" panose="020B0503020204020204" pitchFamily="34" charset="-122"/>
                <a:ea typeface="微软雅黑" panose="020B0503020204020204" pitchFamily="34" charset="-122"/>
              </a:rPr>
              <a:t>./lib/</a:t>
            </a:r>
            <a:r>
              <a:rPr lang="en-US" altLang="zh-CN" sz="2400" dirty="0" err="1">
                <a:latin typeface="微软雅黑" panose="020B0503020204020204" pitchFamily="34" charset="-122"/>
                <a:ea typeface="微软雅黑" panose="020B0503020204020204" pitchFamily="34" charset="-122"/>
              </a:rPr>
              <a:t>linker.lcf</a:t>
            </a:r>
            <a:r>
              <a:rPr lang="zh-CN" altLang="en-US" sz="2400" dirty="0">
                <a:latin typeface="微软雅黑" panose="020B0503020204020204" pitchFamily="34" charset="-122"/>
                <a:ea typeface="微软雅黑" panose="020B0503020204020204" pitchFamily="34" charset="-122"/>
              </a:rPr>
              <a:t>中包含</a:t>
            </a:r>
            <a:r>
              <a:rPr lang="en-US" altLang="zh-CN" sz="2400" dirty="0">
                <a:latin typeface="微软雅黑" panose="020B0503020204020204" pitchFamily="34" charset="-122"/>
                <a:ea typeface="微软雅黑" panose="020B0503020204020204" pitchFamily="34" charset="-122"/>
              </a:rPr>
              <a:t>SMART</a:t>
            </a:r>
            <a:r>
              <a:rPr lang="zh-CN" altLang="en-US" sz="2400" dirty="0">
                <a:latin typeface="微软雅黑" panose="020B0503020204020204" pitchFamily="34" charset="-122"/>
                <a:ea typeface="微软雅黑" panose="020B0503020204020204" pitchFamily="34" charset="-122"/>
              </a:rPr>
              <a:t>对程序各段数据的存放位置划分</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zh-CN" altLang="en-US" dirty="0"/>
          </a:p>
        </p:txBody>
      </p:sp>
    </p:spTree>
    <p:extLst>
      <p:ext uri="{BB962C8B-B14F-4D97-AF65-F5344CB8AC3E}">
        <p14:creationId xmlns:p14="http://schemas.microsoft.com/office/powerpoint/2010/main" val="2685118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链接脚本和启动代码</a:t>
            </a:r>
          </a:p>
        </p:txBody>
      </p:sp>
      <p:sp>
        <p:nvSpPr>
          <p:cNvPr id="3" name="内容占位符 2"/>
          <p:cNvSpPr>
            <a:spLocks noGrp="1"/>
          </p:cNvSpPr>
          <p:nvPr>
            <p:ph idx="1"/>
          </p:nvPr>
        </p:nvSpPr>
        <p:spPr>
          <a:xfrm>
            <a:off x="838200" y="1825625"/>
            <a:ext cx="5498432" cy="4882906"/>
          </a:xfrm>
        </p:spPr>
        <p:txBody>
          <a:bodyPr>
            <a:normAutofit fontScale="92500" lnSpcReduction="10000"/>
          </a:bodyPr>
          <a:lstStyle/>
          <a:p>
            <a:pPr lvl="1">
              <a:lnSpc>
                <a:spcPct val="130000"/>
              </a:lnSpc>
            </a:pPr>
            <a:r>
              <a:rPr lang="en-US" altLang="zh-CN" dirty="0">
                <a:latin typeface="微软雅黑" panose="020B0503020204020204" pitchFamily="34" charset="-122"/>
                <a:ea typeface="微软雅黑" panose="020B0503020204020204" pitchFamily="34" charset="-122"/>
              </a:rPr>
              <a:t>MEM1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0x0~0x40000</a:t>
            </a:r>
          </a:p>
          <a:p>
            <a:pPr lvl="2">
              <a:lnSpc>
                <a:spcPct val="130000"/>
              </a:lnSpc>
            </a:pPr>
            <a:r>
              <a:rPr lang="zh-CN" altLang="en-US" dirty="0">
                <a:latin typeface="微软雅黑" panose="020B0503020204020204" pitchFamily="34" charset="-122"/>
                <a:ea typeface="微软雅黑" panose="020B0503020204020204" pitchFamily="34" charset="-122"/>
              </a:rPr>
              <a:t>该段用于存放代码段和只读数据段，且</a:t>
            </a:r>
            <a:r>
              <a:rPr lang="en-US" altLang="zh-CN" dirty="0">
                <a:latin typeface="微软雅黑" panose="020B0503020204020204" pitchFamily="34" charset="-122"/>
                <a:ea typeface="微软雅黑" panose="020B0503020204020204" pitchFamily="34" charset="-122"/>
              </a:rPr>
              <a:t>MEM1</a:t>
            </a:r>
            <a:r>
              <a:rPr lang="zh-CN" altLang="en-US" dirty="0">
                <a:latin typeface="微软雅黑" panose="020B0503020204020204" pitchFamily="34" charset="-122"/>
                <a:ea typeface="微软雅黑" panose="020B0503020204020204" pitchFamily="34" charset="-122"/>
              </a:rPr>
              <a:t>的开头存放的是</a:t>
            </a:r>
            <a:r>
              <a:rPr lang="en-US" altLang="zh-CN" dirty="0">
                <a:latin typeface="微软雅黑" panose="020B0503020204020204" pitchFamily="34" charset="-122"/>
                <a:ea typeface="微软雅黑" panose="020B0503020204020204" pitchFamily="34" charset="-122"/>
              </a:rPr>
              <a:t>crt0.o</a:t>
            </a:r>
            <a:r>
              <a:rPr lang="zh-CN" altLang="en-US" dirty="0">
                <a:latin typeface="微软雅黑" panose="020B0503020204020204" pitchFamily="34" charset="-122"/>
                <a:ea typeface="微软雅黑" panose="020B0503020204020204" pitchFamily="34" charset="-122"/>
              </a:rPr>
              <a:t>当中的代码，</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的控制逻辑默认将从地址</a:t>
            </a:r>
            <a:r>
              <a:rPr lang="en-US" altLang="zh-CN" dirty="0">
                <a:latin typeface="微软雅黑" panose="020B0503020204020204" pitchFamily="34" charset="-122"/>
                <a:ea typeface="微软雅黑" panose="020B0503020204020204" pitchFamily="34" charset="-122"/>
              </a:rPr>
              <a:t>0x0</a:t>
            </a:r>
            <a:r>
              <a:rPr lang="zh-CN" altLang="en-US" dirty="0">
                <a:latin typeface="微软雅黑" panose="020B0503020204020204" pitchFamily="34" charset="-122"/>
                <a:ea typeface="微软雅黑" panose="020B0503020204020204" pitchFamily="34" charset="-122"/>
              </a:rPr>
              <a:t>开始顺次取指并执行，因此程序执行的起点即为</a:t>
            </a:r>
            <a:r>
              <a:rPr lang="en-US" altLang="zh-CN" dirty="0">
                <a:latin typeface="微软雅黑" panose="020B0503020204020204" pitchFamily="34" charset="-122"/>
                <a:ea typeface="微软雅黑" panose="020B0503020204020204" pitchFamily="34" charset="-122"/>
              </a:rPr>
              <a:t>crt0.s</a:t>
            </a:r>
            <a:r>
              <a:rPr lang="zh-CN" altLang="en-US" dirty="0">
                <a:latin typeface="微软雅黑" panose="020B0503020204020204" pitchFamily="34" charset="-122"/>
                <a:ea typeface="微软雅黑" panose="020B0503020204020204" pitchFamily="34" charset="-122"/>
              </a:rPr>
              <a:t>中的指令，这也是它被称为“启动代码”的原因。</a:t>
            </a:r>
            <a:endParaRPr lang="en-US" altLang="zh-CN" dirty="0">
              <a:latin typeface="微软雅黑" panose="020B0503020204020204" pitchFamily="34" charset="-122"/>
              <a:ea typeface="微软雅黑" panose="020B0503020204020204" pitchFamily="34" charset="-122"/>
            </a:endParaRPr>
          </a:p>
          <a:p>
            <a:pPr lvl="2">
              <a:lnSpc>
                <a:spcPct val="130000"/>
              </a:lnSpc>
            </a:pPr>
            <a:r>
              <a:rPr lang="zh-CN" altLang="en-US" dirty="0">
                <a:latin typeface="微软雅黑" panose="020B0503020204020204" pitchFamily="34" charset="-122"/>
                <a:ea typeface="微软雅黑" panose="020B0503020204020204" pitchFamily="34" charset="-122"/>
              </a:rPr>
              <a:t>该定义还预示了代码的最大规模，编译得到的代码段不可超出</a:t>
            </a:r>
            <a:r>
              <a:rPr lang="en-US" altLang="zh-CN" dirty="0">
                <a:latin typeface="微软雅黑" panose="020B0503020204020204" pitchFamily="34" charset="-122"/>
                <a:ea typeface="微软雅黑" panose="020B0503020204020204" pitchFamily="34" charset="-122"/>
              </a:rPr>
              <a:t>MEM1</a:t>
            </a:r>
            <a:r>
              <a:rPr lang="zh-CN" altLang="en-US" dirty="0">
                <a:latin typeface="微软雅黑" panose="020B0503020204020204" pitchFamily="34" charset="-122"/>
                <a:ea typeface="微软雅黑" panose="020B0503020204020204" pitchFamily="34" charset="-122"/>
              </a:rPr>
              <a:t>的范围。</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en-US" altLang="zh-CN" dirty="0">
                <a:latin typeface="微软雅黑" panose="020B0503020204020204" pitchFamily="34" charset="-122"/>
                <a:ea typeface="微软雅黑" panose="020B0503020204020204" pitchFamily="34" charset="-122"/>
              </a:rPr>
              <a:t>MEM2</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0x40000~0x100000</a:t>
            </a:r>
          </a:p>
          <a:p>
            <a:pPr lvl="2">
              <a:lnSpc>
                <a:spcPct val="130000"/>
              </a:lnSpc>
            </a:pPr>
            <a:r>
              <a:rPr lang="zh-CN" altLang="en-US" dirty="0">
                <a:latin typeface="微软雅黑" panose="020B0503020204020204" pitchFamily="34" charset="-122"/>
                <a:ea typeface="微软雅黑" panose="020B0503020204020204" pitchFamily="34" charset="-122"/>
              </a:rPr>
              <a:t>该段用于存放各种已初始化和未初始化的程序变量。</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6506952" y="3330057"/>
            <a:ext cx="5262372" cy="3563112"/>
          </a:xfrm>
          <a:prstGeom prst="rect">
            <a:avLst/>
          </a:prstGeom>
        </p:spPr>
      </p:pic>
    </p:spTree>
    <p:extLst>
      <p:ext uri="{BB962C8B-B14F-4D97-AF65-F5344CB8AC3E}">
        <p14:creationId xmlns:p14="http://schemas.microsoft.com/office/powerpoint/2010/main" val="2144301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启动代码的主要工作</a:t>
            </a:r>
          </a:p>
        </p:txBody>
      </p:sp>
      <p:sp>
        <p:nvSpPr>
          <p:cNvPr id="3" name="内容占位符 2"/>
          <p:cNvSpPr>
            <a:spLocks noGrp="1"/>
          </p:cNvSpPr>
          <p:nvPr>
            <p:ph idx="1"/>
          </p:nvPr>
        </p:nvSpPr>
        <p:spPr>
          <a:xfrm>
            <a:off x="838200" y="1825625"/>
            <a:ext cx="9782908" cy="4882906"/>
          </a:xfrm>
        </p:spPr>
        <p:txBody>
          <a:bodyPr>
            <a:normAutofit lnSpcReduction="10000"/>
          </a:bodyPr>
          <a:lstStyle/>
          <a:p>
            <a:pPr lvl="1">
              <a:lnSpc>
                <a:spcPct val="130000"/>
              </a:lnSpc>
            </a:pPr>
            <a:r>
              <a:rPr lang="zh-CN" altLang="en-US" sz="2800" dirty="0">
                <a:latin typeface="微软雅黑" panose="020B0503020204020204" pitchFamily="34" charset="-122"/>
                <a:ea typeface="微软雅黑" panose="020B0503020204020204" pitchFamily="34" charset="-122"/>
              </a:rPr>
              <a:t>启动代码</a:t>
            </a:r>
            <a:r>
              <a:rPr lang="en-US" altLang="zh-CN" sz="2800" dirty="0">
                <a:latin typeface="微软雅黑" panose="020B0503020204020204" pitchFamily="34" charset="-122"/>
                <a:ea typeface="微软雅黑" panose="020B0503020204020204" pitchFamily="34" charset="-122"/>
              </a:rPr>
              <a:t>./lib/crt0.s</a:t>
            </a:r>
            <a:r>
              <a:rPr lang="zh-CN" altLang="en-US" sz="2800" dirty="0">
                <a:latin typeface="微软雅黑" panose="020B0503020204020204" pitchFamily="34" charset="-122"/>
                <a:ea typeface="微软雅黑" panose="020B0503020204020204" pitchFamily="34" charset="-122"/>
              </a:rPr>
              <a:t>主要完成以下工作</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2">
              <a:lnSpc>
                <a:spcPct val="130000"/>
              </a:lnSpc>
            </a:pPr>
            <a:r>
              <a:rPr lang="zh-CN" altLang="zh-CN" sz="2400" dirty="0">
                <a:latin typeface="微软雅黑" panose="020B0503020204020204" pitchFamily="34" charset="-122"/>
                <a:ea typeface="微软雅黑" panose="020B0503020204020204" pitchFamily="34" charset="-122"/>
              </a:rPr>
              <a:t>各种硬件寄存器、栈指针和控制信息的初始化。在</a:t>
            </a:r>
            <a:r>
              <a:rPr lang="zh-CN" altLang="en-US" sz="2400" dirty="0">
                <a:latin typeface="微软雅黑" panose="020B0503020204020204" pitchFamily="34" charset="-122"/>
                <a:ea typeface="微软雅黑" panose="020B0503020204020204" pitchFamily="34" charset="-122"/>
              </a:rPr>
              <a:t>本实验中，为了启用</a:t>
            </a:r>
            <a:r>
              <a:rPr lang="en-US" altLang="zh-CN" sz="2400" dirty="0">
                <a:latin typeface="微软雅黑" panose="020B0503020204020204" pitchFamily="34" charset="-122"/>
                <a:ea typeface="微软雅黑" panose="020B0503020204020204" pitchFamily="34" charset="-122"/>
              </a:rPr>
              <a:t>PMU</a:t>
            </a:r>
            <a:r>
              <a:rPr lang="zh-CN" altLang="zh-CN" sz="2400" dirty="0">
                <a:latin typeface="微软雅黑" panose="020B0503020204020204" pitchFamily="34" charset="-122"/>
                <a:ea typeface="微软雅黑" panose="020B0503020204020204" pitchFamily="34" charset="-122"/>
              </a:rPr>
              <a:t>性能监测模块所需要</a:t>
            </a:r>
            <a:r>
              <a:rPr lang="zh-CN" altLang="en-US" sz="2400" dirty="0">
                <a:latin typeface="微软雅黑" panose="020B0503020204020204" pitchFamily="34" charset="-122"/>
                <a:ea typeface="微软雅黑" panose="020B0503020204020204" pitchFamily="34" charset="-122"/>
              </a:rPr>
              <a:t>进行</a:t>
            </a:r>
            <a:r>
              <a:rPr lang="zh-CN" altLang="zh-CN" sz="2400" dirty="0">
                <a:latin typeface="微软雅黑" panose="020B0503020204020204" pitchFamily="34" charset="-122"/>
                <a:ea typeface="微软雅黑" panose="020B0503020204020204" pitchFamily="34" charset="-122"/>
              </a:rPr>
              <a:t>的寄存器初始化也是在这个部分进行的。</a:t>
            </a:r>
            <a:endParaRPr lang="en-US" altLang="zh-CN" sz="2400" dirty="0">
              <a:latin typeface="微软雅黑" panose="020B0503020204020204" pitchFamily="34" charset="-122"/>
              <a:ea typeface="微软雅黑" panose="020B0503020204020204" pitchFamily="34" charset="-122"/>
            </a:endParaRPr>
          </a:p>
          <a:p>
            <a:pPr lvl="2">
              <a:lnSpc>
                <a:spcPct val="130000"/>
              </a:lnSpc>
            </a:pPr>
            <a:r>
              <a:rPr lang="zh-CN" altLang="en-US" sz="2400" dirty="0">
                <a:latin typeface="微软雅黑" panose="020B0503020204020204" pitchFamily="34" charset="-122"/>
                <a:ea typeface="微软雅黑" panose="020B0503020204020204" pitchFamily="34" charset="-122"/>
              </a:rPr>
              <a:t>初始化后，通过一条跳转指令进入用户编写的</a:t>
            </a:r>
            <a:r>
              <a:rPr lang="en-US" altLang="zh-CN" sz="2400" dirty="0">
                <a:latin typeface="微软雅黑" panose="020B0503020204020204" pitchFamily="34" charset="-122"/>
                <a:ea typeface="微软雅黑" panose="020B0503020204020204" pitchFamily="34" charset="-122"/>
              </a:rPr>
              <a:t>C</a:t>
            </a:r>
            <a:r>
              <a:rPr lang="zh-CN" altLang="en-US" sz="2400" dirty="0">
                <a:latin typeface="微软雅黑" panose="020B0503020204020204" pitchFamily="34" charset="-122"/>
                <a:ea typeface="微软雅黑" panose="020B0503020204020204" pitchFamily="34" charset="-122"/>
              </a:rPr>
              <a:t>程序主函数入口：</a:t>
            </a:r>
            <a:endParaRPr lang="en-US" altLang="zh-CN" sz="2400" dirty="0">
              <a:latin typeface="微软雅黑" panose="020B0503020204020204" pitchFamily="34" charset="-122"/>
              <a:ea typeface="微软雅黑" panose="020B0503020204020204" pitchFamily="34" charset="-122"/>
            </a:endParaRPr>
          </a:p>
          <a:p>
            <a:pPr marL="914400" lvl="2" indent="0" algn="ctr">
              <a:lnSpc>
                <a:spcPct val="130000"/>
              </a:lnSpc>
              <a:buNone/>
            </a:pPr>
            <a:r>
              <a:rPr lang="en-US" altLang="zh-CN" sz="2400" dirty="0" err="1">
                <a:latin typeface="Consolas" panose="020B0609020204030204" pitchFamily="49" charset="0"/>
              </a:rPr>
              <a:t>jal</a:t>
            </a:r>
            <a:r>
              <a:rPr lang="en-US" altLang="zh-CN" sz="2400" dirty="0">
                <a:latin typeface="Consolas" panose="020B0609020204030204" pitchFamily="49" charset="0"/>
              </a:rPr>
              <a:t> main</a:t>
            </a:r>
            <a:endParaRPr lang="en-US" altLang="zh-CN" sz="2800" dirty="0">
              <a:latin typeface="Consolas" panose="020B0609020204030204" pitchFamily="49" charset="0"/>
              <a:ea typeface="微软雅黑" panose="020B0503020204020204" pitchFamily="34" charset="-122"/>
            </a:endParaRPr>
          </a:p>
          <a:p>
            <a:pPr lvl="2">
              <a:lnSpc>
                <a:spcPct val="130000"/>
              </a:lnSpc>
            </a:pPr>
            <a:r>
              <a:rPr lang="en-US" altLang="zh-CN" sz="2400" dirty="0">
                <a:latin typeface="微软雅黑" panose="020B0503020204020204" pitchFamily="34" charset="-122"/>
                <a:ea typeface="微软雅黑" panose="020B0503020204020204" pitchFamily="34" charset="-122"/>
              </a:rPr>
              <a:t>main</a:t>
            </a:r>
            <a:r>
              <a:rPr lang="zh-CN" altLang="zh-CN" sz="2400" dirty="0">
                <a:latin typeface="微软雅黑" panose="020B0503020204020204" pitchFamily="34" charset="-122"/>
                <a:ea typeface="微软雅黑" panose="020B0503020204020204" pitchFamily="34" charset="-122"/>
              </a:rPr>
              <a:t>函数执行完毕或遭遇错误后，视程序的执行结果，控制将返回</a:t>
            </a:r>
            <a:r>
              <a:rPr lang="en-US" altLang="zh-CN" sz="2400" dirty="0">
                <a:latin typeface="微软雅黑" panose="020B0503020204020204" pitchFamily="34" charset="-122"/>
                <a:ea typeface="微软雅黑" panose="020B0503020204020204" pitchFamily="34" charset="-122"/>
              </a:rPr>
              <a:t>crt0</a:t>
            </a:r>
            <a:r>
              <a:rPr lang="zh-CN" altLang="zh-CN" sz="2400" dirty="0">
                <a:latin typeface="微软雅黑" panose="020B0503020204020204" pitchFamily="34" charset="-122"/>
                <a:ea typeface="微软雅黑" panose="020B0503020204020204" pitchFamily="34" charset="-122"/>
              </a:rPr>
              <a:t>文件中定义的</a:t>
            </a:r>
            <a:r>
              <a:rPr lang="en-US" altLang="zh-CN" sz="2400" dirty="0">
                <a:latin typeface="微软雅黑" panose="020B0503020204020204" pitchFamily="34" charset="-122"/>
                <a:ea typeface="微软雅黑" panose="020B0503020204020204" pitchFamily="34" charset="-122"/>
              </a:rPr>
              <a:t>_exit</a:t>
            </a:r>
            <a:r>
              <a:rPr lang="zh-CN" altLang="zh-CN" sz="2400" dirty="0">
                <a:latin typeface="微软雅黑" panose="020B0503020204020204" pitchFamily="34" charset="-122"/>
                <a:ea typeface="微软雅黑" panose="020B0503020204020204" pitchFamily="34" charset="-122"/>
              </a:rPr>
              <a:t>函数或</a:t>
            </a:r>
            <a:r>
              <a:rPr lang="en-US" altLang="zh-CN" sz="2400" dirty="0">
                <a:latin typeface="微软雅黑" panose="020B0503020204020204" pitchFamily="34" charset="-122"/>
                <a:ea typeface="微软雅黑" panose="020B0503020204020204" pitchFamily="34" charset="-122"/>
              </a:rPr>
              <a:t>_fail</a:t>
            </a:r>
            <a:r>
              <a:rPr lang="zh-CN" altLang="zh-CN" sz="2400" dirty="0">
                <a:latin typeface="微软雅黑" panose="020B0503020204020204" pitchFamily="34" charset="-122"/>
                <a:ea typeface="微软雅黑" panose="020B0503020204020204" pitchFamily="34" charset="-122"/>
              </a:rPr>
              <a:t>函数中，并将某个通用寄存器设置为一个特殊数值，而仿真文件</a:t>
            </a:r>
            <a:r>
              <a:rPr lang="en-US" altLang="zh-CN" sz="2400" dirty="0" err="1">
                <a:latin typeface="微软雅黑" panose="020B0503020204020204" pitchFamily="34" charset="-122"/>
                <a:ea typeface="微软雅黑" panose="020B0503020204020204" pitchFamily="34" charset="-122"/>
              </a:rPr>
              <a:t>tb.v</a:t>
            </a:r>
            <a:r>
              <a:rPr lang="zh-CN" altLang="zh-CN" sz="2400" dirty="0">
                <a:latin typeface="微软雅黑" panose="020B0503020204020204" pitchFamily="34" charset="-122"/>
                <a:ea typeface="微软雅黑" panose="020B0503020204020204" pitchFamily="34" charset="-122"/>
              </a:rPr>
              <a:t>在检测到这个特殊数值后，将打印信息并结束仿真。</a:t>
            </a:r>
          </a:p>
          <a:p>
            <a:pPr lvl="2">
              <a:lnSpc>
                <a:spcPct val="130000"/>
              </a:lnSpc>
            </a:pPr>
            <a:endParaRPr lang="en-US" altLang="zh-CN" sz="2400"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32064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Srec2vmem</a:t>
            </a:r>
            <a:r>
              <a:rPr lang="zh-CN" altLang="en-US" dirty="0">
                <a:latin typeface="微软雅黑" panose="020B0503020204020204" pitchFamily="34" charset="-122"/>
                <a:ea typeface="微软雅黑" panose="020B0503020204020204" pitchFamily="34" charset="-122"/>
              </a:rPr>
              <a:t>脚本</a:t>
            </a:r>
          </a:p>
        </p:txBody>
      </p:sp>
      <p:sp>
        <p:nvSpPr>
          <p:cNvPr id="3" name="内容占位符 2"/>
          <p:cNvSpPr>
            <a:spLocks noGrp="1"/>
          </p:cNvSpPr>
          <p:nvPr>
            <p:ph idx="1"/>
          </p:nvPr>
        </p:nvSpPr>
        <p:spPr>
          <a:xfrm>
            <a:off x="838200" y="1403595"/>
            <a:ext cx="9782908" cy="4882906"/>
          </a:xfrm>
        </p:spPr>
        <p:txBody>
          <a:bodyPr>
            <a:normAutofit/>
          </a:bodyPr>
          <a:lstStyle/>
          <a:p>
            <a:pPr lvl="1">
              <a:lnSpc>
                <a:spcPct val="130000"/>
              </a:lnSpc>
            </a:pPr>
            <a:r>
              <a:rPr lang="zh-CN" altLang="en-US" sz="2800" dirty="0">
                <a:latin typeface="微软雅黑" panose="020B0503020204020204" pitchFamily="34" charset="-122"/>
                <a:ea typeface="微软雅黑" panose="020B0503020204020204" pitchFamily="34" charset="-122"/>
              </a:rPr>
              <a:t>脚本功能</a:t>
            </a:r>
            <a:endParaRPr lang="en-US" altLang="zh-CN" dirty="0">
              <a:latin typeface="微软雅黑" panose="020B0503020204020204" pitchFamily="34" charset="-122"/>
              <a:ea typeface="微软雅黑" panose="020B0503020204020204" pitchFamily="34" charset="-122"/>
            </a:endParaRPr>
          </a:p>
          <a:p>
            <a:pPr lvl="2">
              <a:lnSpc>
                <a:spcPct val="130000"/>
              </a:lnSpc>
            </a:pPr>
            <a:r>
              <a:rPr lang="zh-CN" altLang="en-US" sz="2400" dirty="0">
                <a:latin typeface="微软雅黑" panose="020B0503020204020204" pitchFamily="34" charset="-122"/>
                <a:ea typeface="微软雅黑" panose="020B0503020204020204" pitchFamily="34" charset="-122"/>
              </a:rPr>
              <a:t>链接脚本</a:t>
            </a:r>
            <a:r>
              <a:rPr lang="en-US" altLang="zh-CN" sz="2400" dirty="0" err="1">
                <a:latin typeface="微软雅黑" panose="020B0503020204020204" pitchFamily="34" charset="-122"/>
                <a:ea typeface="微软雅黑" panose="020B0503020204020204" pitchFamily="34" charset="-122"/>
              </a:rPr>
              <a:t>linker.lcf</a:t>
            </a:r>
            <a:r>
              <a:rPr lang="zh-CN" altLang="en-US" sz="2400" dirty="0">
                <a:latin typeface="微软雅黑" panose="020B0503020204020204" pitchFamily="34" charset="-122"/>
                <a:ea typeface="微软雅黑" panose="020B0503020204020204" pitchFamily="34" charset="-122"/>
              </a:rPr>
              <a:t>指导了用户在程序运行时应当把可执行文件中的内容加载到内存中的什么位置。对于默认的链接脚本而言，</a:t>
            </a:r>
            <a:r>
              <a:rPr lang="en-US" altLang="zh-CN" sz="2400" dirty="0">
                <a:latin typeface="微软雅黑" panose="020B0503020204020204" pitchFamily="34" charset="-122"/>
                <a:ea typeface="微软雅黑" panose="020B0503020204020204" pitchFamily="34" charset="-122"/>
              </a:rPr>
              <a:t>MEM1</a:t>
            </a:r>
            <a:r>
              <a:rPr lang="zh-CN" altLang="en-US" sz="2400" dirty="0">
                <a:latin typeface="微软雅黑" panose="020B0503020204020204" pitchFamily="34" charset="-122"/>
                <a:ea typeface="微软雅黑" panose="020B0503020204020204" pitchFamily="34" charset="-122"/>
              </a:rPr>
              <a:t>对应的二进制数据应当加载到</a:t>
            </a:r>
            <a:r>
              <a:rPr lang="en-US" altLang="zh-CN" sz="2400" dirty="0">
                <a:latin typeface="微软雅黑" panose="020B0503020204020204" pitchFamily="34" charset="-122"/>
                <a:ea typeface="微软雅黑" panose="020B0503020204020204" pitchFamily="34" charset="-122"/>
              </a:rPr>
              <a:t>0x0</a:t>
            </a:r>
            <a:r>
              <a:rPr lang="zh-CN" altLang="en-US" sz="2400" dirty="0">
                <a:latin typeface="微软雅黑" panose="020B0503020204020204" pitchFamily="34" charset="-122"/>
                <a:ea typeface="微软雅黑" panose="020B0503020204020204" pitchFamily="34" charset="-122"/>
              </a:rPr>
              <a:t>起始的内存上，而</a:t>
            </a:r>
            <a:r>
              <a:rPr lang="en-US" altLang="zh-CN" sz="2400" dirty="0">
                <a:latin typeface="微软雅黑" panose="020B0503020204020204" pitchFamily="34" charset="-122"/>
                <a:ea typeface="微软雅黑" panose="020B0503020204020204" pitchFamily="34" charset="-122"/>
              </a:rPr>
              <a:t>MEM2</a:t>
            </a:r>
            <a:r>
              <a:rPr lang="zh-CN" altLang="en-US" sz="2400" dirty="0">
                <a:latin typeface="微软雅黑" panose="020B0503020204020204" pitchFamily="34" charset="-122"/>
                <a:ea typeface="微软雅黑" panose="020B0503020204020204" pitchFamily="34" charset="-122"/>
              </a:rPr>
              <a:t>对应的二进制数据应当加载倒</a:t>
            </a:r>
            <a:r>
              <a:rPr lang="en-US" altLang="zh-CN" sz="2400" dirty="0">
                <a:latin typeface="微软雅黑" panose="020B0503020204020204" pitchFamily="34" charset="-122"/>
                <a:ea typeface="微软雅黑" panose="020B0503020204020204" pitchFamily="34" charset="-122"/>
              </a:rPr>
              <a:t>0x40000</a:t>
            </a:r>
            <a:r>
              <a:rPr lang="zh-CN" altLang="en-US" sz="2400" dirty="0">
                <a:latin typeface="微软雅黑" panose="020B0503020204020204" pitchFamily="34" charset="-122"/>
                <a:ea typeface="微软雅黑" panose="020B0503020204020204" pitchFamily="34" charset="-122"/>
              </a:rPr>
              <a:t>起始的内存上。</a:t>
            </a:r>
            <a:endParaRPr lang="en-US" altLang="zh-CN" sz="2400" dirty="0">
              <a:latin typeface="微软雅黑" panose="020B0503020204020204" pitchFamily="34" charset="-122"/>
              <a:ea typeface="微软雅黑" panose="020B0503020204020204" pitchFamily="34" charset="-122"/>
            </a:endParaRPr>
          </a:p>
          <a:p>
            <a:pPr lvl="2">
              <a:lnSpc>
                <a:spcPct val="130000"/>
              </a:lnSpc>
            </a:pPr>
            <a:r>
              <a:rPr lang="en-US" altLang="zh-CN" sz="2400" dirty="0">
                <a:latin typeface="微软雅黑" panose="020B0503020204020204" pitchFamily="34" charset="-122"/>
                <a:ea typeface="微软雅黑" panose="020B0503020204020204" pitchFamily="34" charset="-122"/>
              </a:rPr>
              <a:t>SMART</a:t>
            </a:r>
            <a:r>
              <a:rPr lang="zh-CN" altLang="en-US" sz="2400" dirty="0">
                <a:latin typeface="微软雅黑" panose="020B0503020204020204" pitchFamily="34" charset="-122"/>
                <a:ea typeface="微软雅黑" panose="020B0503020204020204" pitchFamily="34" charset="-122"/>
              </a:rPr>
              <a:t>平台提供的</a:t>
            </a:r>
            <a:r>
              <a:rPr lang="en-US" altLang="zh-CN" sz="2400" dirty="0">
                <a:latin typeface="微软雅黑" panose="020B0503020204020204" pitchFamily="34" charset="-122"/>
                <a:ea typeface="微软雅黑" panose="020B0503020204020204" pitchFamily="34" charset="-122"/>
              </a:rPr>
              <a:t>CPU</a:t>
            </a:r>
            <a:r>
              <a:rPr lang="zh-CN" altLang="en-US" sz="2400" dirty="0">
                <a:latin typeface="微软雅黑" panose="020B0503020204020204" pitchFamily="34" charset="-122"/>
                <a:ea typeface="微软雅黑" panose="020B0503020204020204" pitchFamily="34" charset="-122"/>
              </a:rPr>
              <a:t>核、总线和内存等均为</a:t>
            </a:r>
            <a:r>
              <a:rPr lang="en-US" altLang="zh-CN" sz="2400" dirty="0">
                <a:latin typeface="微软雅黑" panose="020B0503020204020204" pitchFamily="34" charset="-122"/>
                <a:ea typeface="微软雅黑" panose="020B0503020204020204" pitchFamily="34" charset="-122"/>
              </a:rPr>
              <a:t>RTL</a:t>
            </a:r>
            <a:r>
              <a:rPr lang="zh-CN" altLang="en-US" sz="2400" dirty="0">
                <a:latin typeface="微软雅黑" panose="020B0503020204020204" pitchFamily="34" charset="-122"/>
                <a:ea typeface="微软雅黑" panose="020B0503020204020204" pitchFamily="34" charset="-122"/>
              </a:rPr>
              <a:t>模型，因此仿真时并非是把数据真正加载到了某个实际存在的硬件内存上，而是使用</a:t>
            </a:r>
            <a:r>
              <a:rPr lang="en-US" altLang="zh-CN" sz="2400" dirty="0">
                <a:latin typeface="微软雅黑" panose="020B0503020204020204" pitchFamily="34" charset="-122"/>
                <a:ea typeface="微软雅黑" panose="020B0503020204020204" pitchFamily="34" charset="-122"/>
              </a:rPr>
              <a:t>Verilog</a:t>
            </a:r>
            <a:r>
              <a:rPr lang="zh-CN" altLang="en-US" sz="2400" dirty="0">
                <a:latin typeface="微软雅黑" panose="020B0503020204020204" pitchFamily="34" charset="-122"/>
                <a:ea typeface="微软雅黑" panose="020B0503020204020204" pitchFamily="34" charset="-122"/>
              </a:rPr>
              <a:t>当中的</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readmemh</a:t>
            </a:r>
            <a:r>
              <a:rPr lang="zh-CN" altLang="en-US" sz="2400" dirty="0">
                <a:latin typeface="微软雅黑" panose="020B0503020204020204" pitchFamily="34" charset="-122"/>
                <a:ea typeface="微软雅黑" panose="020B0503020204020204" pitchFamily="34" charset="-122"/>
              </a:rPr>
              <a:t>任务将其初始化到一组寄存器模型上。</a:t>
            </a:r>
            <a:endParaRPr lang="zh-CN" altLang="zh-CN" sz="2400" dirty="0">
              <a:latin typeface="微软雅黑" panose="020B0503020204020204" pitchFamily="34" charset="-122"/>
              <a:ea typeface="微软雅黑" panose="020B0503020204020204" pitchFamily="34" charset="-122"/>
            </a:endParaRPr>
          </a:p>
          <a:p>
            <a:pPr lvl="2">
              <a:lnSpc>
                <a:spcPct val="130000"/>
              </a:lnSpc>
            </a:pPr>
            <a:endParaRPr lang="en-US" altLang="zh-CN" sz="2400"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2958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Srec2vmem</a:t>
            </a:r>
            <a:r>
              <a:rPr lang="zh-CN" altLang="en-US" dirty="0">
                <a:latin typeface="微软雅黑" panose="020B0503020204020204" pitchFamily="34" charset="-122"/>
                <a:ea typeface="微软雅黑" panose="020B0503020204020204" pitchFamily="34" charset="-122"/>
              </a:rPr>
              <a:t>脚本</a:t>
            </a:r>
          </a:p>
        </p:txBody>
      </p:sp>
      <p:sp>
        <p:nvSpPr>
          <p:cNvPr id="3" name="内容占位符 2"/>
          <p:cNvSpPr>
            <a:spLocks noGrp="1"/>
          </p:cNvSpPr>
          <p:nvPr>
            <p:ph idx="1"/>
          </p:nvPr>
        </p:nvSpPr>
        <p:spPr>
          <a:xfrm>
            <a:off x="838200" y="1403594"/>
            <a:ext cx="10178562" cy="4882906"/>
          </a:xfrm>
        </p:spPr>
        <p:txBody>
          <a:bodyPr>
            <a:normAutofit/>
          </a:bodyPr>
          <a:lstStyle/>
          <a:p>
            <a:pPr lvl="1">
              <a:lnSpc>
                <a:spcPct val="130000"/>
              </a:lnSpc>
            </a:pPr>
            <a:r>
              <a:rPr lang="zh-CN" altLang="en-US" sz="2800" dirty="0">
                <a:latin typeface="微软雅黑" panose="020B0503020204020204" pitchFamily="34" charset="-122"/>
                <a:ea typeface="微软雅黑" panose="020B0503020204020204" pitchFamily="34" charset="-122"/>
              </a:rPr>
              <a:t>脚本功能</a:t>
            </a:r>
            <a:endParaRPr lang="en-US" altLang="zh-CN" dirty="0">
              <a:latin typeface="微软雅黑" panose="020B0503020204020204" pitchFamily="34" charset="-122"/>
              <a:ea typeface="微软雅黑" panose="020B0503020204020204" pitchFamily="34" charset="-122"/>
            </a:endParaRPr>
          </a:p>
          <a:p>
            <a:pPr lvl="2">
              <a:lnSpc>
                <a:spcPct val="130000"/>
              </a:lnSpc>
            </a:pPr>
            <a:r>
              <a:rPr lang="zh-CN" altLang="en-US" sz="2400" dirty="0">
                <a:latin typeface="微软雅黑" panose="020B0503020204020204" pitchFamily="34" charset="-122"/>
                <a:ea typeface="微软雅黑" panose="020B0503020204020204" pitchFamily="34" charset="-122"/>
              </a:rPr>
              <a:t>该脚本将负责把编译得到的</a:t>
            </a:r>
            <a:r>
              <a:rPr lang="en-US" altLang="zh-CN" sz="2400" dirty="0">
                <a:latin typeface="微软雅黑" panose="020B0503020204020204" pitchFamily="34" charset="-122"/>
                <a:ea typeface="微软雅黑" panose="020B0503020204020204" pitchFamily="34" charset="-122"/>
              </a:rPr>
              <a:t>.hex</a:t>
            </a:r>
            <a:r>
              <a:rPr lang="zh-CN" altLang="en-US" sz="2400" dirty="0">
                <a:latin typeface="微软雅黑" panose="020B0503020204020204" pitchFamily="34" charset="-122"/>
                <a:ea typeface="微软雅黑" panose="020B0503020204020204" pitchFamily="34" charset="-122"/>
              </a:rPr>
              <a:t>文件拆分为两个</a:t>
            </a:r>
            <a:r>
              <a:rPr lang="en-US" altLang="zh-CN" sz="2400" dirty="0">
                <a:latin typeface="微软雅黑" panose="020B0503020204020204" pitchFamily="34" charset="-122"/>
                <a:ea typeface="微软雅黑" panose="020B0503020204020204" pitchFamily="34" charset="-122"/>
              </a:rPr>
              <a:t>ASCII</a:t>
            </a:r>
            <a:r>
              <a:rPr lang="zh-CN" altLang="en-US" sz="2400" dirty="0">
                <a:latin typeface="微软雅黑" panose="020B0503020204020204" pitchFamily="34" charset="-122"/>
                <a:ea typeface="微软雅黑" panose="020B0503020204020204" pitchFamily="34" charset="-122"/>
              </a:rPr>
              <a:t>文件</a:t>
            </a:r>
            <a:r>
              <a:rPr lang="en-US" altLang="zh-CN" sz="2400" dirty="0" err="1">
                <a:latin typeface="微软雅黑" panose="020B0503020204020204" pitchFamily="34" charset="-122"/>
                <a:ea typeface="微软雅黑" panose="020B0503020204020204" pitchFamily="34" charset="-122"/>
              </a:rPr>
              <a:t>inst.pat</a:t>
            </a:r>
            <a:r>
              <a:rPr lang="zh-CN" altLang="en-US" sz="2400" dirty="0">
                <a:latin typeface="微软雅黑" panose="020B0503020204020204" pitchFamily="34" charset="-122"/>
                <a:ea typeface="微软雅黑" panose="020B0503020204020204" pitchFamily="34" charset="-122"/>
              </a:rPr>
              <a:t>和</a:t>
            </a:r>
            <a:r>
              <a:rPr lang="en-US" altLang="zh-CN" sz="2400" dirty="0" err="1">
                <a:latin typeface="微软雅黑" panose="020B0503020204020204" pitchFamily="34" charset="-122"/>
                <a:ea typeface="微软雅黑" panose="020B0503020204020204" pitchFamily="34" charset="-122"/>
              </a:rPr>
              <a:t>data.pat</a:t>
            </a:r>
            <a:r>
              <a:rPr lang="zh-CN" altLang="en-US" sz="2400" dirty="0">
                <a:latin typeface="微软雅黑" panose="020B0503020204020204" pitchFamily="34" charset="-122"/>
                <a:ea typeface="微软雅黑" panose="020B0503020204020204" pitchFamily="34" charset="-122"/>
              </a:rPr>
              <a:t>，分别对应链接脚本中的</a:t>
            </a:r>
            <a:r>
              <a:rPr lang="en-US" altLang="zh-CN" sz="2400" dirty="0">
                <a:latin typeface="微软雅黑" panose="020B0503020204020204" pitchFamily="34" charset="-122"/>
                <a:ea typeface="微软雅黑" panose="020B0503020204020204" pitchFamily="34" charset="-122"/>
              </a:rPr>
              <a:t>MEM1</a:t>
            </a:r>
            <a:r>
              <a:rPr lang="zh-CN" altLang="en-US" sz="2400" dirty="0">
                <a:latin typeface="微软雅黑" panose="020B0503020204020204" pitchFamily="34" charset="-122"/>
                <a:ea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rPr>
              <a:t>MEM2</a:t>
            </a:r>
            <a:r>
              <a:rPr lang="zh-CN" altLang="en-US" sz="2400" dirty="0">
                <a:latin typeface="微软雅黑" panose="020B0503020204020204" pitchFamily="34" charset="-122"/>
                <a:ea typeface="微软雅黑" panose="020B0503020204020204" pitchFamily="34" charset="-122"/>
              </a:rPr>
              <a:t>。拆分后的文件将适合</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readmemh</a:t>
            </a:r>
            <a:r>
              <a:rPr lang="zh-CN" altLang="en-US" sz="2400" dirty="0">
                <a:latin typeface="微软雅黑" panose="020B0503020204020204" pitchFamily="34" charset="-122"/>
                <a:ea typeface="微软雅黑" panose="020B0503020204020204" pitchFamily="34" charset="-122"/>
              </a:rPr>
              <a:t>任务直接加载。以</a:t>
            </a:r>
            <a:r>
              <a:rPr lang="en-US" altLang="zh-CN" sz="2400" dirty="0" err="1">
                <a:latin typeface="微软雅黑" panose="020B0503020204020204" pitchFamily="34" charset="-122"/>
                <a:ea typeface="微软雅黑" panose="020B0503020204020204" pitchFamily="34" charset="-122"/>
              </a:rPr>
              <a:t>inst.pat</a:t>
            </a:r>
            <a:r>
              <a:rPr lang="zh-CN" altLang="en-US" sz="2400" dirty="0">
                <a:latin typeface="微软雅黑" panose="020B0503020204020204" pitchFamily="34" charset="-122"/>
                <a:ea typeface="微软雅黑" panose="020B0503020204020204" pitchFamily="34" charset="-122"/>
              </a:rPr>
              <a:t>的前几行为例：</a:t>
            </a:r>
            <a:endParaRPr lang="en-US" altLang="zh-CN" sz="2400" dirty="0">
              <a:latin typeface="微软雅黑" panose="020B0503020204020204" pitchFamily="34" charset="-122"/>
              <a:ea typeface="微软雅黑" panose="020B0503020204020204" pitchFamily="34" charset="-122"/>
            </a:endParaRPr>
          </a:p>
          <a:p>
            <a:pPr lvl="2">
              <a:lnSpc>
                <a:spcPct val="130000"/>
              </a:lnSpc>
            </a:pPr>
            <a:endParaRPr lang="zh-CN" altLang="zh-CN" sz="2400" dirty="0">
              <a:latin typeface="微软雅黑" panose="020B0503020204020204" pitchFamily="34" charset="-122"/>
              <a:ea typeface="微软雅黑" panose="020B0503020204020204" pitchFamily="34" charset="-122"/>
            </a:endParaRPr>
          </a:p>
          <a:p>
            <a:pPr marL="0" indent="0">
              <a:buNone/>
            </a:pPr>
            <a:endParaRPr lang="en-US" altLang="zh-CN" dirty="0">
              <a:latin typeface="微软雅黑" panose="020B0503020204020204" pitchFamily="34" charset="-122"/>
              <a:ea typeface="微软雅黑" panose="020B0503020204020204" pitchFamily="34" charset="-122"/>
            </a:endParaRPr>
          </a:p>
          <a:p>
            <a:pPr lvl="2"/>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后面的是以</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字节为寻址单位的偏移。数据每</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字节为一组，每行</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组，因此一行对应</a:t>
            </a:r>
            <a:r>
              <a:rPr lang="en-US" altLang="zh-CN" sz="2400" dirty="0">
                <a:latin typeface="微软雅黑" panose="020B0503020204020204" pitchFamily="34" charset="-122"/>
                <a:ea typeface="微软雅黑" panose="020B0503020204020204" pitchFamily="34" charset="-122"/>
              </a:rPr>
              <a:t>16</a:t>
            </a:r>
            <a:r>
              <a:rPr lang="zh-CN" altLang="en-US" sz="2400" dirty="0">
                <a:latin typeface="微软雅黑" panose="020B0503020204020204" pitchFamily="34" charset="-122"/>
                <a:ea typeface="微软雅黑" panose="020B0503020204020204" pitchFamily="34" charset="-122"/>
              </a:rPr>
              <a:t>个字节的数据（</a:t>
            </a:r>
            <a:r>
              <a:rPr lang="en-US" altLang="zh-CN" sz="2400" dirty="0">
                <a:latin typeface="微软雅黑" panose="020B0503020204020204" pitchFamily="34" charset="-122"/>
                <a:ea typeface="微软雅黑" panose="020B0503020204020204" pitchFamily="34" charset="-122"/>
              </a:rPr>
              <a:t>128</a:t>
            </a:r>
            <a:r>
              <a:rPr lang="zh-CN" altLang="en-US" sz="2400" dirty="0">
                <a:latin typeface="微软雅黑" panose="020B0503020204020204" pitchFamily="34" charset="-122"/>
                <a:ea typeface="微软雅黑" panose="020B0503020204020204" pitchFamily="34" charset="-122"/>
              </a:rPr>
              <a:t>位）。</a:t>
            </a:r>
            <a:endParaRPr lang="en-US" altLang="zh-CN" sz="2400" dirty="0">
              <a:latin typeface="微软雅黑" panose="020B0503020204020204" pitchFamily="34" charset="-122"/>
              <a:ea typeface="微软雅黑" panose="020B0503020204020204" pitchFamily="34" charset="-122"/>
            </a:endParaRPr>
          </a:p>
          <a:p>
            <a:pPr lvl="2"/>
            <a:r>
              <a:rPr lang="zh-CN" altLang="en-US" sz="2400" dirty="0">
                <a:latin typeface="微软雅黑" panose="020B0503020204020204" pitchFamily="34" charset="-122"/>
                <a:ea typeface="微软雅黑" panose="020B0503020204020204" pitchFamily="34" charset="-122"/>
              </a:rPr>
              <a:t>小端存储，因此上图当中的第一条</a:t>
            </a:r>
            <a:r>
              <a:rPr lang="en-US" altLang="zh-CN" sz="2400" dirty="0">
                <a:latin typeface="微软雅黑" panose="020B0503020204020204" pitchFamily="34" charset="-122"/>
                <a:ea typeface="微软雅黑" panose="020B0503020204020204" pitchFamily="34" charset="-122"/>
              </a:rPr>
              <a:t>32</a:t>
            </a:r>
            <a:r>
              <a:rPr lang="zh-CN" altLang="en-US" sz="2400" dirty="0">
                <a:latin typeface="微软雅黑" panose="020B0503020204020204" pitchFamily="34" charset="-122"/>
                <a:ea typeface="微软雅黑" panose="020B0503020204020204" pitchFamily="34" charset="-122"/>
              </a:rPr>
              <a:t>位</a:t>
            </a:r>
            <a:r>
              <a:rPr lang="en-US" altLang="zh-CN" sz="2400" dirty="0">
                <a:latin typeface="微软雅黑" panose="020B0503020204020204" pitchFamily="34" charset="-122"/>
                <a:ea typeface="微软雅黑" panose="020B0503020204020204" pitchFamily="34" charset="-122"/>
              </a:rPr>
              <a:t>RISCV</a:t>
            </a:r>
            <a:r>
              <a:rPr lang="zh-CN" altLang="en-US" sz="2400" dirty="0">
                <a:latin typeface="微软雅黑" panose="020B0503020204020204" pitchFamily="34" charset="-122"/>
                <a:ea typeface="微软雅黑" panose="020B0503020204020204" pitchFamily="34" charset="-122"/>
              </a:rPr>
              <a:t>指令的编码为：</a:t>
            </a:r>
            <a:r>
              <a:rPr lang="en-US" altLang="zh-CN" sz="2400" dirty="0">
                <a:latin typeface="微软雅黑" panose="020B0503020204020204" pitchFamily="34" charset="-122"/>
                <a:ea typeface="微软雅黑" panose="020B0503020204020204" pitchFamily="34" charset="-122"/>
              </a:rPr>
              <a:t>0x004001b7</a:t>
            </a:r>
            <a:r>
              <a:rPr lang="zh-CN" altLang="en-US" sz="2400" dirty="0">
                <a:latin typeface="微软雅黑" panose="020B0503020204020204" pitchFamily="34" charset="-122"/>
                <a:ea typeface="微软雅黑" panose="020B0503020204020204" pitchFamily="34" charset="-122"/>
              </a:rPr>
              <a:t>（即</a:t>
            </a:r>
            <a:r>
              <a:rPr lang="en-US" altLang="zh-CN" sz="2400" dirty="0" err="1">
                <a:latin typeface="微软雅黑" panose="020B0503020204020204" pitchFamily="34" charset="-122"/>
                <a:ea typeface="微软雅黑" panose="020B0503020204020204" pitchFamily="34" charset="-122"/>
              </a:rPr>
              <a:t>lui</a:t>
            </a:r>
            <a:r>
              <a:rPr lang="en-US" altLang="zh-CN" sz="2400" dirty="0">
                <a:latin typeface="微软雅黑" panose="020B0503020204020204" pitchFamily="34" charset="-122"/>
                <a:ea typeface="微软雅黑" panose="020B0503020204020204" pitchFamily="34" charset="-122"/>
              </a:rPr>
              <a:t>  </a:t>
            </a:r>
            <a:r>
              <a:rPr lang="en-US" altLang="zh-CN" sz="2400" dirty="0" err="1">
                <a:latin typeface="微软雅黑" panose="020B0503020204020204" pitchFamily="34" charset="-122"/>
                <a:ea typeface="微软雅黑" panose="020B0503020204020204" pitchFamily="34" charset="-122"/>
              </a:rPr>
              <a:t>gp</a:t>
            </a:r>
            <a:r>
              <a:rPr lang="en-US" altLang="zh-CN" sz="2400" dirty="0">
                <a:latin typeface="微软雅黑" panose="020B0503020204020204" pitchFamily="34" charset="-122"/>
                <a:ea typeface="微软雅黑" panose="020B0503020204020204" pitchFamily="34" charset="-122"/>
              </a:rPr>
              <a:t>, 0x400</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pic>
        <p:nvPicPr>
          <p:cNvPr id="4" name="图片 3"/>
          <p:cNvPicPr/>
          <p:nvPr/>
        </p:nvPicPr>
        <p:blipFill rotWithShape="1">
          <a:blip r:embed="rId2"/>
          <a:srcRect b="31215"/>
          <a:stretch/>
        </p:blipFill>
        <p:spPr>
          <a:xfrm>
            <a:off x="2124710" y="3593465"/>
            <a:ext cx="3971290" cy="772673"/>
          </a:xfrm>
          <a:prstGeom prst="rect">
            <a:avLst/>
          </a:prstGeom>
        </p:spPr>
      </p:pic>
    </p:spTree>
    <p:extLst>
      <p:ext uri="{BB962C8B-B14F-4D97-AF65-F5344CB8AC3E}">
        <p14:creationId xmlns:p14="http://schemas.microsoft.com/office/powerpoint/2010/main" val="2174268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latin typeface="微软雅黑" panose="020B0503020204020204" pitchFamily="34" charset="-122"/>
                <a:ea typeface="微软雅黑" panose="020B0503020204020204" pitchFamily="34" charset="-122"/>
              </a:rPr>
              <a:t>Testbench</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838200" y="1403594"/>
            <a:ext cx="10178562" cy="4882906"/>
          </a:xfrm>
        </p:spPr>
        <p:txBody>
          <a:bodyPr>
            <a:normAutofit/>
          </a:bodyPr>
          <a:lstStyle/>
          <a:p>
            <a:pPr lvl="1">
              <a:lnSpc>
                <a:spcPct val="130000"/>
              </a:lnSpc>
            </a:pPr>
            <a:r>
              <a:rPr lang="en-US" altLang="zh-CN" sz="2800" dirty="0" err="1">
                <a:latin typeface="微软雅黑" panose="020B0503020204020204" pitchFamily="34" charset="-122"/>
                <a:ea typeface="微软雅黑" panose="020B0503020204020204" pitchFamily="34" charset="-122"/>
              </a:rPr>
              <a:t>Testbench</a:t>
            </a:r>
            <a:r>
              <a:rPr lang="zh-CN" altLang="en-US" sz="2800" dirty="0">
                <a:latin typeface="微软雅黑" panose="020B0503020204020204" pitchFamily="34" charset="-122"/>
                <a:ea typeface="微软雅黑" panose="020B0503020204020204" pitchFamily="34" charset="-122"/>
              </a:rPr>
              <a:t>中的初始化过程</a:t>
            </a:r>
            <a:endParaRPr lang="en-US" altLang="zh-CN" dirty="0">
              <a:latin typeface="微软雅黑" panose="020B0503020204020204" pitchFamily="34" charset="-122"/>
              <a:ea typeface="微软雅黑" panose="020B0503020204020204" pitchFamily="34" charset="-122"/>
            </a:endParaRPr>
          </a:p>
          <a:p>
            <a:pPr lvl="2">
              <a:lnSpc>
                <a:spcPct val="130000"/>
              </a:lnSpc>
            </a:pP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tb</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tb.v</a:t>
            </a:r>
            <a:r>
              <a:rPr lang="zh-CN" altLang="en-US" sz="2400" dirty="0">
                <a:latin typeface="微软雅黑" panose="020B0503020204020204" pitchFamily="34" charset="-122"/>
                <a:ea typeface="微软雅黑" panose="020B0503020204020204" pitchFamily="34" charset="-122"/>
              </a:rPr>
              <a:t>包含以下宏定义：</a:t>
            </a:r>
            <a:endParaRPr lang="en-US" altLang="zh-CN" sz="2400" dirty="0">
              <a:latin typeface="微软雅黑" panose="020B0503020204020204" pitchFamily="34" charset="-122"/>
              <a:ea typeface="微软雅黑" panose="020B0503020204020204" pitchFamily="34" charset="-122"/>
            </a:endParaRPr>
          </a:p>
          <a:p>
            <a:pPr marL="914400" lvl="2" indent="0">
              <a:lnSpc>
                <a:spcPct val="130000"/>
              </a:lnSpc>
              <a:buNone/>
            </a:pPr>
            <a:r>
              <a:rPr lang="en-US" altLang="zh-CN" dirty="0">
                <a:latin typeface="Consolas" panose="020B0609020204030204" pitchFamily="49" charset="0"/>
              </a:rPr>
              <a:t>`define RTL_MEM	tb.x_soc.x_axi_slave128.x_f_spsram_large</a:t>
            </a:r>
          </a:p>
          <a:p>
            <a:pPr lvl="2" algn="just">
              <a:lnSpc>
                <a:spcPct val="130000"/>
              </a:lnSpc>
            </a:pP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x_f_spsram_large</a:t>
            </a:r>
            <a:r>
              <a:rPr lang="zh-CN" altLang="en-US" dirty="0">
                <a:latin typeface="微软雅黑" panose="020B0503020204020204" pitchFamily="34" charset="-122"/>
                <a:ea typeface="微软雅黑" panose="020B0503020204020204" pitchFamily="34" charset="-122"/>
              </a:rPr>
              <a:t>即模型使用的内存</a:t>
            </a:r>
            <a:r>
              <a:rPr lang="en-US" altLang="zh-CN" dirty="0">
                <a:latin typeface="微软雅黑" panose="020B0503020204020204" pitchFamily="34" charset="-122"/>
                <a:ea typeface="微软雅黑" panose="020B0503020204020204" pitchFamily="34" charset="-122"/>
              </a:rPr>
              <a:t>RTL</a:t>
            </a:r>
            <a:r>
              <a:rPr lang="zh-CN" altLang="en-US" dirty="0">
                <a:latin typeface="微软雅黑" panose="020B0503020204020204" pitchFamily="34" charset="-122"/>
                <a:ea typeface="微软雅黑" panose="020B0503020204020204" pitchFamily="34" charset="-122"/>
              </a:rPr>
              <a:t>模型。</a:t>
            </a:r>
            <a:endParaRPr lang="en-US" altLang="zh-CN" dirty="0">
              <a:latin typeface="微软雅黑" panose="020B0503020204020204" pitchFamily="34" charset="-122"/>
              <a:ea typeface="微软雅黑" panose="020B0503020204020204" pitchFamily="34" charset="-122"/>
            </a:endParaRPr>
          </a:p>
          <a:p>
            <a:pPr marL="914400" lvl="2" indent="0" algn="just">
              <a:lnSpc>
                <a:spcPct val="130000"/>
              </a:lnSpc>
              <a:buNone/>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其结构为：</a:t>
            </a:r>
            <a:endParaRPr lang="en-US" altLang="zh-CN" dirty="0">
              <a:latin typeface="微软雅黑" panose="020B0503020204020204" pitchFamily="34" charset="-122"/>
              <a:ea typeface="微软雅黑" panose="020B0503020204020204" pitchFamily="34" charset="-122"/>
            </a:endParaRPr>
          </a:p>
          <a:p>
            <a:pPr lvl="3" algn="just">
              <a:lnSpc>
                <a:spcPct val="130000"/>
              </a:lnSpc>
            </a:pPr>
            <a:endParaRPr lang="en-US" altLang="zh-CN" dirty="0">
              <a:latin typeface="微软雅黑" panose="020B0503020204020204" pitchFamily="34" charset="-122"/>
              <a:ea typeface="微软雅黑" panose="020B0503020204020204" pitchFamily="34" charset="-122"/>
            </a:endParaRPr>
          </a:p>
        </p:txBody>
      </p:sp>
      <p:pic>
        <p:nvPicPr>
          <p:cNvPr id="1026" name="Picture 2" descr="1-Page-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4263" y="3092691"/>
            <a:ext cx="4277091" cy="3519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7356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latin typeface="微软雅黑" panose="020B0503020204020204" pitchFamily="34" charset="-122"/>
                <a:ea typeface="微软雅黑" panose="020B0503020204020204" pitchFamily="34" charset="-122"/>
              </a:rPr>
              <a:t>Testbench</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838200" y="1403594"/>
            <a:ext cx="6457664" cy="4882906"/>
          </a:xfrm>
        </p:spPr>
        <p:txBody>
          <a:bodyPr>
            <a:normAutofit/>
          </a:bodyPr>
          <a:lstStyle/>
          <a:p>
            <a:pPr lvl="1">
              <a:lnSpc>
                <a:spcPct val="130000"/>
              </a:lnSpc>
            </a:pPr>
            <a:r>
              <a:rPr lang="en-US" altLang="zh-CN" dirty="0" err="1">
                <a:latin typeface="微软雅黑" panose="020B0503020204020204" pitchFamily="34" charset="-122"/>
                <a:ea typeface="微软雅黑" panose="020B0503020204020204" pitchFamily="34" charset="-122"/>
              </a:rPr>
              <a:t>Testbench</a:t>
            </a:r>
            <a:r>
              <a:rPr lang="zh-CN" altLang="en-US" dirty="0">
                <a:latin typeface="微软雅黑" panose="020B0503020204020204" pitchFamily="34" charset="-122"/>
                <a:ea typeface="微软雅黑" panose="020B0503020204020204" pitchFamily="34" charset="-122"/>
              </a:rPr>
              <a:t>中的初始化阶段</a:t>
            </a:r>
            <a:endParaRPr lang="en-US" altLang="zh-CN" dirty="0">
              <a:latin typeface="微软雅黑" panose="020B0503020204020204" pitchFamily="34" charset="-122"/>
              <a:ea typeface="微软雅黑" panose="020B0503020204020204" pitchFamily="34" charset="-122"/>
            </a:endParaRPr>
          </a:p>
          <a:p>
            <a:pPr lvl="2">
              <a:lnSpc>
                <a:spcPct val="130000"/>
              </a:lnSpc>
            </a:pPr>
            <a:r>
              <a:rPr lang="en-US" altLang="zh-CN" dirty="0" err="1">
                <a:latin typeface="微软雅黑" panose="020B0503020204020204" pitchFamily="34" charset="-122"/>
                <a:ea typeface="微软雅黑" panose="020B0503020204020204" pitchFamily="34" charset="-122"/>
              </a:rPr>
              <a:t>x_f_spsram_large</a:t>
            </a:r>
            <a:endParaRPr lang="en-US" altLang="zh-CN" dirty="0">
              <a:latin typeface="微软雅黑" panose="020B0503020204020204" pitchFamily="34" charset="-122"/>
              <a:ea typeface="微软雅黑" panose="020B0503020204020204" pitchFamily="34" charset="-122"/>
            </a:endParaRPr>
          </a:p>
          <a:p>
            <a:pPr lvl="3" algn="just">
              <a:lnSpc>
                <a:spcPct val="130000"/>
              </a:lnSpc>
            </a:pPr>
            <a:r>
              <a:rPr lang="zh-CN" altLang="en-US" dirty="0">
                <a:latin typeface="微软雅黑" panose="020B0503020204020204" pitchFamily="34" charset="-122"/>
                <a:ea typeface="微软雅黑" panose="020B0503020204020204" pitchFamily="34" charset="-122"/>
              </a:rPr>
              <a:t>每行</a:t>
            </a:r>
            <a:r>
              <a:rPr lang="en-US" altLang="zh-CN" dirty="0">
                <a:latin typeface="微软雅黑" panose="020B0503020204020204" pitchFamily="34" charset="-122"/>
                <a:ea typeface="微软雅黑" panose="020B0503020204020204" pitchFamily="34" charset="-122"/>
              </a:rPr>
              <a:t>16</a:t>
            </a:r>
            <a:r>
              <a:rPr lang="zh-CN" altLang="en-US" dirty="0">
                <a:latin typeface="微软雅黑" panose="020B0503020204020204" pitchFamily="34" charset="-122"/>
                <a:ea typeface="微软雅黑" panose="020B0503020204020204" pitchFamily="34" charset="-122"/>
              </a:rPr>
              <a:t>字节，</a:t>
            </a:r>
            <a:r>
              <a:rPr lang="en-US" altLang="zh-CN" dirty="0">
                <a:latin typeface="微软雅黑" panose="020B0503020204020204" pitchFamily="34" charset="-122"/>
                <a:ea typeface="微软雅黑" panose="020B0503020204020204" pitchFamily="34" charset="-122"/>
              </a:rPr>
              <a:t>ram0.mem[</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]~ram15.mem[</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a:t>
            </a:r>
          </a:p>
          <a:p>
            <a:pPr marL="1371600" lvl="3" indent="0" algn="just">
              <a:lnSpc>
                <a:spcPct val="130000"/>
              </a:lnSpc>
              <a:buNone/>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构成，由</a:t>
            </a:r>
            <a:r>
              <a:rPr lang="en-US" altLang="zh-CN" dirty="0">
                <a:latin typeface="微软雅黑" panose="020B0503020204020204" pitchFamily="34" charset="-122"/>
                <a:ea typeface="微软雅黑" panose="020B0503020204020204" pitchFamily="34" charset="-122"/>
              </a:rPr>
              <a:t>pc[3:0]</a:t>
            </a:r>
            <a:r>
              <a:rPr lang="zh-CN" altLang="en-US" dirty="0">
                <a:latin typeface="微软雅黑" panose="020B0503020204020204" pitchFamily="34" charset="-122"/>
                <a:ea typeface="微软雅黑" panose="020B0503020204020204" pitchFamily="34" charset="-122"/>
              </a:rPr>
              <a:t>寻址</a:t>
            </a:r>
            <a:endParaRPr lang="en-US" altLang="zh-CN" dirty="0">
              <a:latin typeface="微软雅黑" panose="020B0503020204020204" pitchFamily="34" charset="-122"/>
              <a:ea typeface="微软雅黑" panose="020B0503020204020204" pitchFamily="34" charset="-122"/>
            </a:endParaRPr>
          </a:p>
          <a:p>
            <a:pPr lvl="3" algn="just">
              <a:lnSpc>
                <a:spcPct val="130000"/>
              </a:lnSpc>
            </a:pPr>
            <a:r>
              <a:rPr lang="zh-CN" altLang="en-US" dirty="0">
                <a:latin typeface="微软雅黑" panose="020B0503020204020204" pitchFamily="34" charset="-122"/>
                <a:ea typeface="微软雅黑" panose="020B0503020204020204" pitchFamily="34" charset="-122"/>
              </a:rPr>
              <a:t>最大深度</a:t>
            </a:r>
            <a:r>
              <a:rPr lang="en-US" altLang="zh-CN" dirty="0">
                <a:latin typeface="微软雅黑" panose="020B0503020204020204" pitchFamily="34" charset="-122"/>
                <a:ea typeface="微软雅黑" panose="020B0503020204020204" pitchFamily="34" charset="-122"/>
              </a:rPr>
              <a:t>2^29</a:t>
            </a:r>
          </a:p>
          <a:p>
            <a:pPr lvl="2">
              <a:lnSpc>
                <a:spcPct val="130000"/>
              </a:lnSpc>
            </a:pPr>
            <a:endParaRPr lang="en-US" altLang="zh-CN" dirty="0">
              <a:latin typeface="微软雅黑" panose="020B0503020204020204" pitchFamily="34" charset="-122"/>
              <a:ea typeface="微软雅黑" panose="020B0503020204020204" pitchFamily="34" charset="-122"/>
            </a:endParaRPr>
          </a:p>
          <a:p>
            <a:pPr lvl="2">
              <a:lnSpc>
                <a:spcPct val="130000"/>
              </a:lnSpc>
            </a:pPr>
            <a:r>
              <a:rPr lang="zh-CN" altLang="en-US" dirty="0">
                <a:latin typeface="微软雅黑" panose="020B0503020204020204" pitchFamily="34" charset="-122"/>
                <a:ea typeface="微软雅黑" panose="020B0503020204020204" pitchFamily="34" charset="-122"/>
              </a:rPr>
              <a:t>已经找到内存的</a:t>
            </a:r>
            <a:r>
              <a:rPr lang="en-US" altLang="zh-CN" dirty="0">
                <a:latin typeface="微软雅黑" panose="020B0503020204020204" pitchFamily="34" charset="-122"/>
                <a:ea typeface="微软雅黑" panose="020B0503020204020204" pitchFamily="34" charset="-122"/>
              </a:rPr>
              <a:t>RTL</a:t>
            </a:r>
            <a:r>
              <a:rPr lang="zh-CN" altLang="en-US" dirty="0">
                <a:latin typeface="微软雅黑" panose="020B0503020204020204" pitchFamily="34" charset="-122"/>
                <a:ea typeface="微软雅黑" panose="020B0503020204020204" pitchFamily="34" charset="-122"/>
              </a:rPr>
              <a:t>模型在例化层次中的位置，</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tb</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tb.v</a:t>
            </a:r>
            <a:r>
              <a:rPr lang="zh-CN" altLang="en-US" dirty="0">
                <a:latin typeface="微软雅黑" panose="020B0503020204020204" pitchFamily="34" charset="-122"/>
                <a:ea typeface="微软雅黑" panose="020B0503020204020204" pitchFamily="34" charset="-122"/>
              </a:rPr>
              <a:t>可以直接通过一个</a:t>
            </a:r>
            <a:r>
              <a:rPr lang="en-US" altLang="zh-CN" dirty="0">
                <a:latin typeface="微软雅黑" panose="020B0503020204020204" pitchFamily="34" charset="-122"/>
                <a:ea typeface="微软雅黑" panose="020B0503020204020204" pitchFamily="34" charset="-122"/>
              </a:rPr>
              <a:t>initial</a:t>
            </a:r>
            <a:r>
              <a:rPr lang="zh-CN" altLang="en-US" dirty="0">
                <a:latin typeface="微软雅黑" panose="020B0503020204020204" pitchFamily="34" charset="-122"/>
                <a:ea typeface="微软雅黑" panose="020B0503020204020204" pitchFamily="34" charset="-122"/>
              </a:rPr>
              <a:t>过程将</a:t>
            </a:r>
            <a:r>
              <a:rPr lang="en-US" altLang="zh-CN" dirty="0" err="1">
                <a:latin typeface="微软雅黑" panose="020B0503020204020204" pitchFamily="34" charset="-122"/>
                <a:ea typeface="微软雅黑" panose="020B0503020204020204" pitchFamily="34" charset="-122"/>
              </a:rPr>
              <a:t>inst.pat</a:t>
            </a:r>
            <a:r>
              <a:rPr lang="zh-CN" altLang="en-US" dirty="0">
                <a:latin typeface="微软雅黑" panose="020B0503020204020204" pitchFamily="34" charset="-122"/>
                <a:ea typeface="微软雅黑" panose="020B0503020204020204" pitchFamily="34" charset="-122"/>
              </a:rPr>
              <a:t>和</a:t>
            </a:r>
            <a:r>
              <a:rPr lang="en-US" altLang="zh-CN" dirty="0" err="1">
                <a:latin typeface="微软雅黑" panose="020B0503020204020204" pitchFamily="34" charset="-122"/>
                <a:ea typeface="微软雅黑" panose="020B0503020204020204" pitchFamily="34" charset="-122"/>
              </a:rPr>
              <a:t>data.pat</a:t>
            </a:r>
            <a:r>
              <a:rPr lang="zh-CN" altLang="en-US" dirty="0">
                <a:latin typeface="微软雅黑" panose="020B0503020204020204" pitchFamily="34" charset="-122"/>
                <a:ea typeface="微软雅黑" panose="020B0503020204020204" pitchFamily="34" charset="-122"/>
              </a:rPr>
              <a:t>初始化到对应位置上</a:t>
            </a:r>
            <a:r>
              <a:rPr lang="en-US" altLang="zh-CN" dirty="0">
                <a:latin typeface="微软雅黑" panose="020B0503020204020204" pitchFamily="34" charset="-122"/>
                <a:ea typeface="微软雅黑" panose="020B0503020204020204" pitchFamily="34" charset="-122"/>
              </a:rPr>
              <a:t>.</a:t>
            </a:r>
          </a:p>
          <a:p>
            <a:pPr lvl="2">
              <a:lnSpc>
                <a:spcPct val="130000"/>
              </a:lnSpc>
            </a:pPr>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pic>
        <p:nvPicPr>
          <p:cNvPr id="5" name="Picture 2" descr="1-Page-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5864" y="1690688"/>
            <a:ext cx="4688053" cy="3857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0231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二、</a:t>
            </a:r>
            <a:r>
              <a:rPr lang="en-US" altLang="zh-CN" dirty="0">
                <a:latin typeface="微软雅黑" panose="020B0503020204020204" pitchFamily="34" charset="-122"/>
                <a:ea typeface="微软雅黑" panose="020B0503020204020204" pitchFamily="34" charset="-122"/>
              </a:rPr>
              <a:t>YOLO</a:t>
            </a:r>
            <a:r>
              <a:rPr lang="zh-CN" altLang="en-US" dirty="0">
                <a:latin typeface="微软雅黑" panose="020B0503020204020204" pitchFamily="34" charset="-122"/>
                <a:ea typeface="微软雅黑" panose="020B0503020204020204" pitchFamily="34" charset="-122"/>
              </a:rPr>
              <a:t>卷积层的</a:t>
            </a:r>
            <a:r>
              <a:rPr lang="en-US" altLang="zh-CN" dirty="0">
                <a:latin typeface="微软雅黑" panose="020B0503020204020204" pitchFamily="34" charset="-122"/>
                <a:ea typeface="微软雅黑" panose="020B0503020204020204" pitchFamily="34" charset="-122"/>
              </a:rPr>
              <a:t>SMART</a:t>
            </a:r>
            <a:r>
              <a:rPr lang="zh-CN" altLang="en-US" dirty="0">
                <a:latin typeface="微软雅黑" panose="020B0503020204020204" pitchFamily="34" charset="-122"/>
                <a:ea typeface="微软雅黑" panose="020B0503020204020204" pitchFamily="34" charset="-122"/>
              </a:rPr>
              <a:t>仿真</a:t>
            </a:r>
          </a:p>
        </p:txBody>
      </p:sp>
      <p:sp>
        <p:nvSpPr>
          <p:cNvPr id="3" name="内容占位符 2"/>
          <p:cNvSpPr>
            <a:spLocks noGrp="1"/>
          </p:cNvSpPr>
          <p:nvPr>
            <p:ph idx="1"/>
          </p:nvPr>
        </p:nvSpPr>
        <p:spPr>
          <a:xfrm>
            <a:off x="838199" y="1403594"/>
            <a:ext cx="9932377" cy="4882906"/>
          </a:xfrm>
        </p:spPr>
        <p:txBody>
          <a:bodyPr>
            <a:normAutofit/>
          </a:bodyPr>
          <a:lstStyle/>
          <a:p>
            <a:pPr lvl="1">
              <a:lnSpc>
                <a:spcPct val="130000"/>
              </a:lnSpc>
            </a:pPr>
            <a:r>
              <a:rPr lang="zh-CN" altLang="en-US" sz="2800" dirty="0">
                <a:latin typeface="微软雅黑" panose="020B0503020204020204" pitchFamily="34" charset="-122"/>
                <a:ea typeface="微软雅黑" panose="020B0503020204020204" pitchFamily="34" charset="-122"/>
              </a:rPr>
              <a:t>变量的初始化</a:t>
            </a:r>
            <a:endParaRPr lang="en-US" altLang="zh-CN" sz="2800" dirty="0">
              <a:latin typeface="微软雅黑" panose="020B0503020204020204" pitchFamily="34" charset="-122"/>
              <a:ea typeface="微软雅黑" panose="020B0503020204020204" pitchFamily="34" charset="-122"/>
            </a:endParaRPr>
          </a:p>
          <a:p>
            <a:pPr lvl="2">
              <a:lnSpc>
                <a:spcPct val="130000"/>
              </a:lnSpc>
            </a:pPr>
            <a:r>
              <a:rPr lang="zh-CN" altLang="en-US" sz="2400" dirty="0">
                <a:latin typeface="微软雅黑" panose="020B0503020204020204" pitchFamily="34" charset="-122"/>
                <a:ea typeface="微软雅黑" panose="020B0503020204020204" pitchFamily="34" charset="-122"/>
              </a:rPr>
              <a:t>嵌入式系统通常不直接支持</a:t>
            </a:r>
            <a:r>
              <a:rPr lang="en-US" altLang="zh-CN" sz="2400" dirty="0" err="1">
                <a:latin typeface="微软雅黑" panose="020B0503020204020204" pitchFamily="34" charset="-122"/>
                <a:ea typeface="微软雅黑" panose="020B0503020204020204" pitchFamily="34" charset="-122"/>
              </a:rPr>
              <a:t>scanf</a:t>
            </a:r>
            <a:r>
              <a:rPr lang="zh-CN" altLang="en-US" sz="2400" dirty="0">
                <a:latin typeface="微软雅黑" panose="020B0503020204020204" pitchFamily="34" charset="-122"/>
                <a:ea typeface="微软雅黑" panose="020B0503020204020204" pitchFamily="34" charset="-122"/>
              </a:rPr>
              <a:t>和</a:t>
            </a:r>
            <a:r>
              <a:rPr lang="en-US" altLang="zh-CN" sz="2400" dirty="0" err="1">
                <a:latin typeface="微软雅黑" panose="020B0503020204020204" pitchFamily="34" charset="-122"/>
                <a:ea typeface="微软雅黑" panose="020B0503020204020204" pitchFamily="34" charset="-122"/>
              </a:rPr>
              <a:t>fscanf</a:t>
            </a:r>
            <a:r>
              <a:rPr lang="zh-CN" altLang="en-US" sz="2400" dirty="0">
                <a:latin typeface="微软雅黑" panose="020B0503020204020204" pitchFamily="34" charset="-122"/>
                <a:ea typeface="微软雅黑" panose="020B0503020204020204" pitchFamily="34" charset="-122"/>
              </a:rPr>
              <a:t>函数，大批量数据的初始化通常有两种方案：</a:t>
            </a:r>
            <a:endParaRPr lang="en-US" altLang="zh-CN" sz="2400" dirty="0">
              <a:latin typeface="微软雅黑" panose="020B0503020204020204" pitchFamily="34" charset="-122"/>
              <a:ea typeface="微软雅黑" panose="020B0503020204020204" pitchFamily="34" charset="-122"/>
            </a:endParaRPr>
          </a:p>
          <a:p>
            <a:pPr lvl="3">
              <a:lnSpc>
                <a:spcPct val="130000"/>
              </a:lnSpc>
            </a:pPr>
            <a:r>
              <a:rPr lang="zh-CN" altLang="en-US" sz="2000" dirty="0">
                <a:latin typeface="微软雅黑" panose="020B0503020204020204" pitchFamily="34" charset="-122"/>
                <a:ea typeface="微软雅黑" panose="020B0503020204020204" pitchFamily="34" charset="-122"/>
              </a:rPr>
              <a:t>方案一：</a:t>
            </a:r>
            <a:r>
              <a:rPr lang="zh-CN" altLang="zh-CN" sz="2000" dirty="0">
                <a:latin typeface="微软雅黑" panose="020B0503020204020204" pitchFamily="34" charset="-122"/>
                <a:ea typeface="微软雅黑" panose="020B0503020204020204" pitchFamily="34" charset="-122"/>
              </a:rPr>
              <a:t>预先把要初始化的数据显式地存放进源码中，然后直接在代码内对变量赋值</a:t>
            </a:r>
            <a:r>
              <a:rPr lang="zh-CN" altLang="en-US" sz="2000" dirty="0">
                <a:latin typeface="微软雅黑" panose="020B0503020204020204" pitchFamily="34" charset="-122"/>
                <a:ea typeface="微软雅黑" panose="020B0503020204020204" pitchFamily="34" charset="-122"/>
              </a:rPr>
              <a:t>。这样编译器会自动在编译阶段把初始化数据分配到数据段，从而避免了数据从外部读入的问题。</a:t>
            </a:r>
            <a:endParaRPr lang="en-US" altLang="zh-CN" sz="2000" dirty="0">
              <a:latin typeface="微软雅黑" panose="020B0503020204020204" pitchFamily="34" charset="-122"/>
              <a:ea typeface="微软雅黑" panose="020B0503020204020204" pitchFamily="34" charset="-122"/>
            </a:endParaRPr>
          </a:p>
          <a:p>
            <a:pPr lvl="3">
              <a:lnSpc>
                <a:spcPct val="130000"/>
              </a:lnSpc>
            </a:pPr>
            <a:r>
              <a:rPr lang="zh-CN" altLang="en-US" sz="2000" dirty="0">
                <a:latin typeface="微软雅黑" panose="020B0503020204020204" pitchFamily="34" charset="-122"/>
                <a:ea typeface="微软雅黑" panose="020B0503020204020204" pitchFamily="34" charset="-122"/>
              </a:rPr>
              <a:t>方案二：在源码中通过指针为变量指定存储地址，然后在硬件初始化的阶段把数据加载到对应的地址。从而使得</a:t>
            </a:r>
            <a:r>
              <a:rPr lang="en-US" altLang="zh-CN" sz="2000" dirty="0">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变量自动与它们的初值关联，源码内部不再需要初始化过程。</a:t>
            </a:r>
          </a:p>
        </p:txBody>
      </p:sp>
    </p:spTree>
    <p:extLst>
      <p:ext uri="{BB962C8B-B14F-4D97-AF65-F5344CB8AC3E}">
        <p14:creationId xmlns:p14="http://schemas.microsoft.com/office/powerpoint/2010/main" val="17551580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变量的初始化</a:t>
            </a:r>
          </a:p>
        </p:txBody>
      </p:sp>
      <p:sp>
        <p:nvSpPr>
          <p:cNvPr id="3" name="内容占位符 2"/>
          <p:cNvSpPr>
            <a:spLocks noGrp="1"/>
          </p:cNvSpPr>
          <p:nvPr>
            <p:ph idx="1"/>
          </p:nvPr>
        </p:nvSpPr>
        <p:spPr>
          <a:xfrm>
            <a:off x="838199" y="1403594"/>
            <a:ext cx="9932377" cy="4882906"/>
          </a:xfrm>
        </p:spPr>
        <p:txBody>
          <a:bodyPr>
            <a:normAutofit/>
          </a:bodyPr>
          <a:lstStyle/>
          <a:p>
            <a:pPr lvl="1">
              <a:lnSpc>
                <a:spcPct val="130000"/>
              </a:lnSpc>
            </a:pPr>
            <a:r>
              <a:rPr lang="zh-CN" altLang="en-US" sz="2800" dirty="0">
                <a:latin typeface="微软雅黑" panose="020B0503020204020204" pitchFamily="34" charset="-122"/>
                <a:ea typeface="微软雅黑" panose="020B0503020204020204" pitchFamily="34" charset="-122"/>
              </a:rPr>
              <a:t>方案一的缺点：</a:t>
            </a:r>
            <a:endParaRPr lang="en-US" altLang="zh-CN" sz="2800" dirty="0">
              <a:latin typeface="微软雅黑" panose="020B0503020204020204" pitchFamily="34" charset="-122"/>
              <a:ea typeface="微软雅黑" panose="020B0503020204020204" pitchFamily="34" charset="-122"/>
            </a:endParaRPr>
          </a:p>
          <a:p>
            <a:pPr lvl="2">
              <a:lnSpc>
                <a:spcPct val="130000"/>
              </a:lnSpc>
            </a:pPr>
            <a:r>
              <a:rPr lang="zh-CN" altLang="en-US" sz="2400" dirty="0">
                <a:latin typeface="微软雅黑" panose="020B0503020204020204" pitchFamily="34" charset="-122"/>
                <a:ea typeface="微软雅黑" panose="020B0503020204020204" pitchFamily="34" charset="-122"/>
              </a:rPr>
              <a:t>代码会变得臃肿难读</a:t>
            </a:r>
            <a:endParaRPr lang="en-US" altLang="zh-CN" sz="2400" dirty="0">
              <a:latin typeface="微软雅黑" panose="020B0503020204020204" pitchFamily="34" charset="-122"/>
              <a:ea typeface="微软雅黑" panose="020B0503020204020204" pitchFamily="34" charset="-122"/>
            </a:endParaRPr>
          </a:p>
          <a:p>
            <a:pPr lvl="2">
              <a:lnSpc>
                <a:spcPct val="130000"/>
              </a:lnSpc>
            </a:pPr>
            <a:r>
              <a:rPr lang="zh-CN" altLang="en-US" sz="2400" dirty="0">
                <a:latin typeface="微软雅黑" panose="020B0503020204020204" pitchFamily="34" charset="-122"/>
                <a:ea typeface="微软雅黑" panose="020B0503020204020204" pitchFamily="34" charset="-122"/>
              </a:rPr>
              <a:t>允许的数据规模受到链接脚本</a:t>
            </a:r>
            <a:r>
              <a:rPr lang="en-US" altLang="zh-CN" sz="2400" dirty="0" err="1">
                <a:latin typeface="微软雅黑" panose="020B0503020204020204" pitchFamily="34" charset="-122"/>
                <a:ea typeface="微软雅黑" panose="020B0503020204020204" pitchFamily="34" charset="-122"/>
              </a:rPr>
              <a:t>linker.lcf</a:t>
            </a:r>
            <a:r>
              <a:rPr lang="zh-CN" altLang="en-US" sz="2400" dirty="0">
                <a:latin typeface="微软雅黑" panose="020B0503020204020204" pitchFamily="34" charset="-122"/>
                <a:ea typeface="微软雅黑" panose="020B0503020204020204" pitchFamily="34" charset="-122"/>
              </a:rPr>
              <a:t>的限制。对于</a:t>
            </a:r>
            <a:r>
              <a:rPr lang="en-US" altLang="zh-CN" sz="2400" dirty="0">
                <a:latin typeface="微软雅黑" panose="020B0503020204020204" pitchFamily="34" charset="-122"/>
                <a:ea typeface="微软雅黑" panose="020B0503020204020204" pitchFamily="34" charset="-122"/>
              </a:rPr>
              <a:t>SMART</a:t>
            </a:r>
            <a:r>
              <a:rPr lang="zh-CN" altLang="en-US" sz="2400" dirty="0">
                <a:latin typeface="微软雅黑" panose="020B0503020204020204" pitchFamily="34" charset="-122"/>
                <a:ea typeface="微软雅黑" panose="020B0503020204020204" pitchFamily="34" charset="-122"/>
              </a:rPr>
              <a:t>而言，</a:t>
            </a:r>
            <a:r>
              <a:rPr lang="en-US" altLang="zh-CN" sz="2400" dirty="0">
                <a:latin typeface="微软雅黑" panose="020B0503020204020204" pitchFamily="34" charset="-122"/>
                <a:ea typeface="微软雅黑" panose="020B0503020204020204" pitchFamily="34" charset="-122"/>
              </a:rPr>
              <a:t>MEM2</a:t>
            </a:r>
            <a:r>
              <a:rPr lang="zh-CN" altLang="en-US" sz="2400" dirty="0">
                <a:latin typeface="微软雅黑" panose="020B0503020204020204" pitchFamily="34" charset="-122"/>
                <a:ea typeface="微软雅黑" panose="020B0503020204020204" pitchFamily="34" charset="-122"/>
              </a:rPr>
              <a:t>的默认长度为</a:t>
            </a:r>
            <a:r>
              <a:rPr lang="en-US" altLang="zh-CN" sz="2400" dirty="0">
                <a:latin typeface="微软雅黑" panose="020B0503020204020204" pitchFamily="34" charset="-122"/>
                <a:ea typeface="微软雅黑" panose="020B0503020204020204" pitchFamily="34" charset="-122"/>
              </a:rPr>
              <a:t>0xc0000</a:t>
            </a:r>
            <a:r>
              <a:rPr lang="zh-CN" altLang="en-US" sz="2400" dirty="0">
                <a:latin typeface="微软雅黑" panose="020B0503020204020204" pitchFamily="34" charset="-122"/>
                <a:ea typeface="微软雅黑" panose="020B0503020204020204" pitchFamily="34" charset="-122"/>
              </a:rPr>
              <a:t>字节（约</a:t>
            </a:r>
            <a:r>
              <a:rPr lang="en-US" altLang="zh-CN" sz="2400" dirty="0">
                <a:latin typeface="微软雅黑" panose="020B0503020204020204" pitchFamily="34" charset="-122"/>
                <a:ea typeface="微软雅黑" panose="020B0503020204020204" pitchFamily="34" charset="-122"/>
              </a:rPr>
              <a:t>768KB</a:t>
            </a:r>
            <a:r>
              <a:rPr lang="zh-CN" altLang="en-US" sz="2400" dirty="0">
                <a:latin typeface="微软雅黑" panose="020B0503020204020204" pitchFamily="34" charset="-122"/>
                <a:ea typeface="微软雅黑" panose="020B0503020204020204" pitchFamily="34" charset="-122"/>
              </a:rPr>
              <a:t>），因此数据段的规模不可以超出该范围。</a:t>
            </a:r>
            <a:endParaRPr lang="en-US" altLang="zh-CN" sz="2400" dirty="0">
              <a:latin typeface="微软雅黑" panose="020B0503020204020204" pitchFamily="34" charset="-122"/>
              <a:ea typeface="微软雅黑" panose="020B0503020204020204" pitchFamily="34" charset="-122"/>
            </a:endParaRPr>
          </a:p>
          <a:p>
            <a:pPr lvl="1">
              <a:lnSpc>
                <a:spcPct val="130000"/>
              </a:lnSpc>
            </a:pPr>
            <a:r>
              <a:rPr lang="zh-CN" altLang="en-US" sz="2800" dirty="0">
                <a:latin typeface="微软雅黑" panose="020B0503020204020204" pitchFamily="34" charset="-122"/>
                <a:ea typeface="微软雅黑" panose="020B0503020204020204" pitchFamily="34" charset="-122"/>
              </a:rPr>
              <a:t>本实验采用方案二</a:t>
            </a:r>
            <a:endParaRPr lang="en-US" altLang="zh-CN"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846907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变量的初始化</a:t>
            </a:r>
          </a:p>
        </p:txBody>
      </p:sp>
      <p:sp>
        <p:nvSpPr>
          <p:cNvPr id="3" name="内容占位符 2"/>
          <p:cNvSpPr>
            <a:spLocks noGrp="1"/>
          </p:cNvSpPr>
          <p:nvPr>
            <p:ph idx="1"/>
          </p:nvPr>
        </p:nvSpPr>
        <p:spPr>
          <a:xfrm>
            <a:off x="838199" y="1403594"/>
            <a:ext cx="9932377" cy="4882906"/>
          </a:xfrm>
        </p:spPr>
        <p:txBody>
          <a:bodyPr>
            <a:normAutofit/>
          </a:bodyPr>
          <a:lstStyle/>
          <a:p>
            <a:pPr lvl="1">
              <a:lnSpc>
                <a:spcPct val="130000"/>
              </a:lnSpc>
            </a:pPr>
            <a:r>
              <a:rPr lang="zh-CN" altLang="en-US" sz="2800" dirty="0">
                <a:latin typeface="微软雅黑" panose="020B0503020204020204" pitchFamily="34" charset="-122"/>
                <a:ea typeface="微软雅黑" panose="020B0503020204020204" pitchFamily="34" charset="-122"/>
              </a:rPr>
              <a:t>为此对</a:t>
            </a:r>
            <a:r>
              <a:rPr lang="en-US" altLang="zh-CN" sz="2800" dirty="0">
                <a:latin typeface="微软雅黑" panose="020B0503020204020204" pitchFamily="34" charset="-122"/>
                <a:ea typeface="微软雅黑" panose="020B0503020204020204" pitchFamily="34" charset="-122"/>
              </a:rPr>
              <a:t>SMART</a:t>
            </a:r>
            <a:r>
              <a:rPr lang="zh-CN" altLang="en-US" sz="2800" dirty="0">
                <a:latin typeface="微软雅黑" panose="020B0503020204020204" pitchFamily="34" charset="-122"/>
                <a:ea typeface="微软雅黑" panose="020B0503020204020204" pitchFamily="34" charset="-122"/>
              </a:rPr>
              <a:t>的总线模型做出调整，用新定义的</a:t>
            </a:r>
            <a:r>
              <a:rPr lang="en-US" altLang="zh-CN" sz="2800" dirty="0">
                <a:latin typeface="微软雅黑" panose="020B0503020204020204" pitchFamily="34" charset="-122"/>
                <a:ea typeface="微软雅黑" panose="020B0503020204020204" pitchFamily="34" charset="-122"/>
              </a:rPr>
              <a:t>x_axi_slave128_copy</a:t>
            </a:r>
            <a:r>
              <a:rPr lang="zh-CN" altLang="en-US" sz="2800" dirty="0">
                <a:latin typeface="微软雅黑" panose="020B0503020204020204" pitchFamily="34" charset="-122"/>
                <a:ea typeface="微软雅黑" panose="020B0503020204020204" pitchFamily="34" charset="-122"/>
              </a:rPr>
              <a:t>模块替换原有的</a:t>
            </a:r>
            <a:r>
              <a:rPr lang="en-US" altLang="zh-CN" sz="2800" dirty="0" err="1">
                <a:latin typeface="微软雅黑" panose="020B0503020204020204" pitchFamily="34" charset="-122"/>
                <a:ea typeface="微软雅黑" panose="020B0503020204020204" pitchFamily="34" charset="-122"/>
              </a:rPr>
              <a:t>x_axi_err</a:t>
            </a:r>
            <a:r>
              <a:rPr lang="zh-CN" altLang="en-US" sz="2800" dirty="0">
                <a:latin typeface="微软雅黑" panose="020B0503020204020204" pitchFamily="34" charset="-122"/>
                <a:ea typeface="微软雅黑" panose="020B0503020204020204" pitchFamily="34" charset="-122"/>
              </a:rPr>
              <a:t>模块。用户应当完成以下操作：</a:t>
            </a:r>
            <a:endParaRPr lang="en-US" altLang="zh-CN" sz="2800" dirty="0">
              <a:latin typeface="微软雅黑" panose="020B0503020204020204" pitchFamily="34" charset="-122"/>
              <a:ea typeface="微软雅黑" panose="020B0503020204020204" pitchFamily="34" charset="-122"/>
            </a:endParaRPr>
          </a:p>
          <a:p>
            <a:pPr lvl="2">
              <a:lnSpc>
                <a:spcPct val="130000"/>
              </a:lnSpc>
            </a:pPr>
            <a:r>
              <a:rPr lang="zh-CN" altLang="en-US" sz="2400" dirty="0">
                <a:latin typeface="微软雅黑" panose="020B0503020204020204" pitchFamily="34" charset="-122"/>
                <a:ea typeface="微软雅黑" panose="020B0503020204020204" pitchFamily="34" charset="-122"/>
              </a:rPr>
              <a:t>将</a:t>
            </a:r>
            <a:r>
              <a:rPr lang="en-US" altLang="zh-CN" sz="2400" dirty="0">
                <a:latin typeface="微软雅黑" panose="020B0503020204020204" pitchFamily="34" charset="-122"/>
                <a:ea typeface="微软雅黑" panose="020B0503020204020204" pitchFamily="34" charset="-122"/>
              </a:rPr>
              <a:t>axi_slave128_copy.v</a:t>
            </a:r>
            <a:r>
              <a:rPr lang="zh-CN" altLang="en-US" sz="2400" dirty="0">
                <a:latin typeface="微软雅黑" panose="020B0503020204020204" pitchFamily="34" charset="-122"/>
                <a:ea typeface="微软雅黑" panose="020B0503020204020204" pitchFamily="34" charset="-122"/>
              </a:rPr>
              <a:t>复制到目录</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rtl</a:t>
            </a:r>
            <a:r>
              <a:rPr lang="en-US" altLang="zh-CN" sz="2400" dirty="0">
                <a:latin typeface="微软雅黑" panose="020B0503020204020204" pitchFamily="34" charset="-122"/>
                <a:ea typeface="微软雅黑" panose="020B0503020204020204" pitchFamily="34" charset="-122"/>
              </a:rPr>
              <a:t>/platform/</a:t>
            </a:r>
            <a:r>
              <a:rPr lang="en-US" altLang="zh-CN" sz="2400" dirty="0" err="1">
                <a:latin typeface="微软雅黑" panose="020B0503020204020204" pitchFamily="34" charset="-122"/>
                <a:ea typeface="微软雅黑" panose="020B0503020204020204" pitchFamily="34" charset="-122"/>
              </a:rPr>
              <a:t>amba</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axi</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下</a:t>
            </a:r>
            <a:endParaRPr lang="en-US" altLang="zh-CN" sz="2400" dirty="0">
              <a:latin typeface="微软雅黑" panose="020B0503020204020204" pitchFamily="34" charset="-122"/>
              <a:ea typeface="微软雅黑" panose="020B0503020204020204" pitchFamily="34" charset="-122"/>
            </a:endParaRPr>
          </a:p>
          <a:p>
            <a:pPr lvl="2">
              <a:lnSpc>
                <a:spcPct val="130000"/>
              </a:lnSpc>
            </a:pPr>
            <a:r>
              <a:rPr lang="zh-CN" altLang="en-US" sz="2400" dirty="0">
                <a:latin typeface="微软雅黑" panose="020B0503020204020204" pitchFamily="34" charset="-122"/>
                <a:ea typeface="微软雅黑" panose="020B0503020204020204" pitchFamily="34" charset="-122"/>
              </a:rPr>
              <a:t>用</a:t>
            </a:r>
            <a:r>
              <a:rPr lang="en-US" altLang="zh-CN" sz="2400" dirty="0" err="1">
                <a:latin typeface="微软雅黑" panose="020B0503020204020204" pitchFamily="34" charset="-122"/>
                <a:ea typeface="微软雅黑" panose="020B0503020204020204" pitchFamily="34" charset="-122"/>
              </a:rPr>
              <a:t>soc.v</a:t>
            </a:r>
            <a:r>
              <a:rPr lang="zh-CN" altLang="en-US" sz="2400" dirty="0">
                <a:latin typeface="微软雅黑" panose="020B0503020204020204" pitchFamily="34" charset="-122"/>
                <a:ea typeface="微软雅黑" panose="020B0503020204020204" pitchFamily="34" charset="-122"/>
              </a:rPr>
              <a:t>替换原有的</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rtl</a:t>
            </a:r>
            <a:r>
              <a:rPr lang="en-US" altLang="zh-CN" sz="2400" dirty="0">
                <a:latin typeface="微软雅黑" panose="020B0503020204020204" pitchFamily="34" charset="-122"/>
                <a:ea typeface="微软雅黑" panose="020B0503020204020204" pitchFamily="34" charset="-122"/>
              </a:rPr>
              <a:t>/platform/common/</a:t>
            </a:r>
            <a:r>
              <a:rPr lang="en-US" altLang="zh-CN" sz="2400" dirty="0" err="1">
                <a:latin typeface="微软雅黑" panose="020B0503020204020204" pitchFamily="34" charset="-122"/>
                <a:ea typeface="微软雅黑" panose="020B0503020204020204" pitchFamily="34" charset="-122"/>
              </a:rPr>
              <a:t>soc.v</a:t>
            </a:r>
            <a:r>
              <a:rPr lang="zh-CN" altLang="en-US" sz="2400" dirty="0">
                <a:latin typeface="微软雅黑" panose="020B0503020204020204" pitchFamily="34" charset="-122"/>
                <a:ea typeface="微软雅黑" panose="020B0503020204020204" pitchFamily="34" charset="-122"/>
              </a:rPr>
              <a:t>文件</a:t>
            </a:r>
            <a:endParaRPr lang="en-US" altLang="zh-CN" sz="2400" dirty="0">
              <a:latin typeface="微软雅黑" panose="020B0503020204020204" pitchFamily="34" charset="-122"/>
              <a:ea typeface="微软雅黑" panose="020B0503020204020204" pitchFamily="34" charset="-122"/>
            </a:endParaRPr>
          </a:p>
          <a:p>
            <a:pPr marL="914400" lvl="2" indent="0">
              <a:lnSpc>
                <a:spcPct val="130000"/>
              </a:lnSpc>
              <a:buNone/>
            </a:pPr>
            <a:endParaRPr lang="en-US" altLang="zh-CN" sz="2400" dirty="0">
              <a:latin typeface="微软雅黑" panose="020B0503020204020204" pitchFamily="34" charset="-122"/>
              <a:ea typeface="微软雅黑" panose="020B0503020204020204" pitchFamily="34" charset="-122"/>
            </a:endParaRPr>
          </a:p>
          <a:p>
            <a:pPr lvl="1">
              <a:lnSpc>
                <a:spcPct val="130000"/>
              </a:lnSpc>
            </a:pPr>
            <a:r>
              <a:rPr lang="zh-CN" altLang="en-US" sz="2800" dirty="0">
                <a:latin typeface="微软雅黑" panose="020B0503020204020204" pitchFamily="34" charset="-122"/>
                <a:ea typeface="微软雅黑" panose="020B0503020204020204" pitchFamily="34" charset="-122"/>
              </a:rPr>
              <a:t>在</a:t>
            </a:r>
            <a:r>
              <a:rPr lang="en-US" altLang="zh-CN" sz="2800" dirty="0">
                <a:latin typeface="微软雅黑" panose="020B0503020204020204" pitchFamily="34" charset="-122"/>
                <a:ea typeface="微软雅黑" panose="020B0503020204020204" pitchFamily="34" charset="-122"/>
              </a:rPr>
              <a:t>./</a:t>
            </a:r>
            <a:r>
              <a:rPr lang="en-US" altLang="zh-CN" sz="2800" dirty="0" err="1">
                <a:latin typeface="微软雅黑" panose="020B0503020204020204" pitchFamily="34" charset="-122"/>
                <a:ea typeface="微软雅黑" panose="020B0503020204020204" pitchFamily="34" charset="-122"/>
              </a:rPr>
              <a:t>workdir</a:t>
            </a:r>
            <a:r>
              <a:rPr lang="zh-CN" altLang="en-US" sz="2800" dirty="0">
                <a:latin typeface="微软雅黑" panose="020B0503020204020204" pitchFamily="34" charset="-122"/>
                <a:ea typeface="微软雅黑" panose="020B0503020204020204" pitchFamily="34" charset="-122"/>
              </a:rPr>
              <a:t>用以下指令即可执行仿真：</a:t>
            </a:r>
            <a:endParaRPr lang="en-US" altLang="zh-CN" sz="2800" dirty="0">
              <a:latin typeface="微软雅黑" panose="020B0503020204020204" pitchFamily="34" charset="-122"/>
              <a:ea typeface="微软雅黑" panose="020B0503020204020204" pitchFamily="34" charset="-122"/>
            </a:endParaRPr>
          </a:p>
          <a:p>
            <a:pPr marL="457200" lvl="1" indent="0">
              <a:lnSpc>
                <a:spcPct val="130000"/>
              </a:lnSpc>
              <a:buNone/>
            </a:pPr>
            <a:r>
              <a:rPr lang="en-US" altLang="zh-CN" sz="2800" dirty="0">
                <a:latin typeface="微软雅黑" panose="020B0503020204020204" pitchFamily="34" charset="-122"/>
                <a:ea typeface="微软雅黑" panose="020B0503020204020204" pitchFamily="34" charset="-122"/>
              </a:rPr>
              <a:t>		</a:t>
            </a:r>
            <a:r>
              <a:rPr lang="en-US" altLang="zh-CN" sz="2800" dirty="0">
                <a:latin typeface="Consolas" panose="020B0609020204030204" pitchFamily="49" charset="0"/>
                <a:ea typeface="微软雅黑" panose="020B0503020204020204" pitchFamily="34" charset="-122"/>
              </a:rPr>
              <a:t>../tools/</a:t>
            </a:r>
            <a:r>
              <a:rPr lang="en-US" altLang="zh-CN" sz="2800" dirty="0" err="1">
                <a:latin typeface="Consolas" panose="020B0609020204030204" pitchFamily="49" charset="0"/>
                <a:ea typeface="微软雅黑" panose="020B0503020204020204" pitchFamily="34" charset="-122"/>
              </a:rPr>
              <a:t>run_case</a:t>
            </a:r>
            <a:r>
              <a:rPr lang="en-US" altLang="zh-CN" sz="2800" dirty="0">
                <a:latin typeface="Consolas" panose="020B0609020204030204" pitchFamily="49" charset="0"/>
                <a:ea typeface="微软雅黑" panose="020B0503020204020204" pitchFamily="34" charset="-122"/>
              </a:rPr>
              <a:t>	../case/</a:t>
            </a:r>
            <a:r>
              <a:rPr lang="en-US" altLang="zh-CN" sz="2800" dirty="0" err="1">
                <a:latin typeface="Consolas" panose="020B0609020204030204" pitchFamily="49" charset="0"/>
                <a:ea typeface="微软雅黑" panose="020B0503020204020204" pitchFamily="34" charset="-122"/>
              </a:rPr>
              <a:t>conv</a:t>
            </a:r>
            <a:r>
              <a:rPr lang="en-US" altLang="zh-CN" sz="2800" dirty="0">
                <a:latin typeface="Consolas" panose="020B0609020204030204" pitchFamily="49" charset="0"/>
                <a:ea typeface="微软雅黑" panose="020B0503020204020204" pitchFamily="34" charset="-122"/>
              </a:rPr>
              <a:t>/</a:t>
            </a:r>
            <a:r>
              <a:rPr lang="en-US" altLang="zh-CN" sz="2800" dirty="0" err="1">
                <a:latin typeface="Consolas" panose="020B0609020204030204" pitchFamily="49" charset="0"/>
                <a:ea typeface="微软雅黑" panose="020B0503020204020204" pitchFamily="34" charset="-122"/>
              </a:rPr>
              <a:t>work.c</a:t>
            </a:r>
            <a:endParaRPr lang="en-US" altLang="zh-CN" sz="2800" dirty="0">
              <a:latin typeface="Consolas" panose="020B0609020204030204" pitchFamily="49" charset="0"/>
              <a:ea typeface="微软雅黑" panose="020B0503020204020204" pitchFamily="34" charset="-122"/>
            </a:endParaRPr>
          </a:p>
          <a:p>
            <a:pPr lvl="2">
              <a:lnSpc>
                <a:spcPct val="130000"/>
              </a:lnSpc>
            </a:pP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696955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微软雅黑" panose="020B0503020204020204" pitchFamily="34" charset="-122"/>
                <a:ea typeface="微软雅黑" panose="020B0503020204020204" pitchFamily="34" charset="-122"/>
              </a:rPr>
              <a:t>三、</a:t>
            </a:r>
            <a:r>
              <a:rPr lang="en-US" altLang="zh-CN" dirty="0">
                <a:latin typeface="微软雅黑" panose="020B0503020204020204" pitchFamily="34" charset="-122"/>
                <a:ea typeface="微软雅黑" panose="020B0503020204020204" pitchFamily="34" charset="-122"/>
              </a:rPr>
              <a:t>YOLO</a:t>
            </a:r>
            <a:r>
              <a:rPr lang="zh-CN" altLang="en-US" dirty="0">
                <a:latin typeface="微软雅黑" panose="020B0503020204020204" pitchFamily="34" charset="-122"/>
                <a:ea typeface="微软雅黑" panose="020B0503020204020204" pitchFamily="34" charset="-122"/>
              </a:rPr>
              <a:t>卷积层仿真的性能监测</a:t>
            </a:r>
          </a:p>
        </p:txBody>
      </p:sp>
      <p:sp>
        <p:nvSpPr>
          <p:cNvPr id="3" name="内容占位符 2"/>
          <p:cNvSpPr>
            <a:spLocks noGrp="1"/>
          </p:cNvSpPr>
          <p:nvPr>
            <p:ph idx="1"/>
          </p:nvPr>
        </p:nvSpPr>
        <p:spPr>
          <a:xfrm>
            <a:off x="838200" y="1690688"/>
            <a:ext cx="9932377" cy="4882906"/>
          </a:xfrm>
        </p:spPr>
        <p:txBody>
          <a:bodyPr>
            <a:normAutofit/>
          </a:bodyPr>
          <a:lstStyle/>
          <a:p>
            <a:pPr>
              <a:lnSpc>
                <a:spcPct val="130000"/>
              </a:lnSpc>
            </a:pPr>
            <a:r>
              <a:rPr lang="zh-CN" altLang="en-US" sz="3200" dirty="0">
                <a:latin typeface="微软雅黑" panose="020B0503020204020204" pitchFamily="34" charset="-122"/>
                <a:ea typeface="微软雅黑" panose="020B0503020204020204" pitchFamily="34" charset="-122"/>
              </a:rPr>
              <a:t>需要进行三个方面的监测：</a:t>
            </a:r>
            <a:endParaRPr lang="en-US" altLang="zh-CN" sz="3200" dirty="0">
              <a:latin typeface="微软雅黑" panose="020B0503020204020204" pitchFamily="34" charset="-122"/>
              <a:ea typeface="微软雅黑" panose="020B0503020204020204" pitchFamily="34" charset="-122"/>
            </a:endParaRPr>
          </a:p>
          <a:p>
            <a:pPr lvl="1">
              <a:lnSpc>
                <a:spcPct val="130000"/>
              </a:lnSpc>
            </a:pPr>
            <a:r>
              <a:rPr lang="en-US" altLang="zh-CN" sz="2800" dirty="0">
                <a:latin typeface="微软雅黑" panose="020B0503020204020204" pitchFamily="34" charset="-122"/>
                <a:ea typeface="微软雅黑" panose="020B0503020204020204" pitchFamily="34" charset="-122"/>
              </a:rPr>
              <a:t>CPI</a:t>
            </a:r>
            <a:r>
              <a:rPr lang="zh-CN" altLang="en-US" sz="2800" dirty="0">
                <a:latin typeface="微软雅黑" panose="020B0503020204020204" pitchFamily="34" charset="-122"/>
                <a:ea typeface="微软雅黑" panose="020B0503020204020204" pitchFamily="34" charset="-122"/>
              </a:rPr>
              <a:t>计算</a:t>
            </a:r>
            <a:endParaRPr lang="en-US" altLang="zh-CN" sz="2800" dirty="0">
              <a:latin typeface="微软雅黑" panose="020B0503020204020204" pitchFamily="34" charset="-122"/>
              <a:ea typeface="微软雅黑" panose="020B0503020204020204" pitchFamily="34" charset="-122"/>
            </a:endParaRPr>
          </a:p>
          <a:p>
            <a:pPr lvl="1">
              <a:lnSpc>
                <a:spcPct val="130000"/>
              </a:lnSpc>
            </a:pPr>
            <a:r>
              <a:rPr lang="zh-CN" altLang="en-US" sz="2800" dirty="0">
                <a:latin typeface="微软雅黑" panose="020B0503020204020204" pitchFamily="34" charset="-122"/>
                <a:ea typeface="微软雅黑" panose="020B0503020204020204" pitchFamily="34" charset="-122"/>
              </a:rPr>
              <a:t>不同</a:t>
            </a:r>
            <a:r>
              <a:rPr lang="en-US" altLang="zh-CN" sz="2800" dirty="0">
                <a:latin typeface="微软雅黑" panose="020B0503020204020204" pitchFamily="34" charset="-122"/>
                <a:ea typeface="微软雅黑" panose="020B0503020204020204" pitchFamily="34" charset="-122"/>
              </a:rPr>
              <a:t>cache</a:t>
            </a:r>
            <a:r>
              <a:rPr lang="zh-CN" altLang="en-US" sz="2800" dirty="0">
                <a:latin typeface="微软雅黑" panose="020B0503020204020204" pitchFamily="34" charset="-122"/>
                <a:ea typeface="微软雅黑" panose="020B0503020204020204" pitchFamily="34" charset="-122"/>
              </a:rPr>
              <a:t>配置下的</a:t>
            </a:r>
            <a:r>
              <a:rPr lang="en-US" altLang="zh-CN" sz="2800" dirty="0">
                <a:latin typeface="微软雅黑" panose="020B0503020204020204" pitchFamily="34" charset="-122"/>
                <a:ea typeface="微软雅黑" panose="020B0503020204020204" pitchFamily="34" charset="-122"/>
              </a:rPr>
              <a:t>cache</a:t>
            </a:r>
            <a:r>
              <a:rPr lang="zh-CN" altLang="en-US" sz="2800" dirty="0">
                <a:latin typeface="微软雅黑" panose="020B0503020204020204" pitchFamily="34" charset="-122"/>
                <a:ea typeface="微软雅黑" panose="020B0503020204020204" pitchFamily="34" charset="-122"/>
              </a:rPr>
              <a:t>缺失率统计</a:t>
            </a:r>
            <a:endParaRPr lang="en-US" altLang="zh-CN" sz="2800" dirty="0">
              <a:latin typeface="微软雅黑" panose="020B0503020204020204" pitchFamily="34" charset="-122"/>
              <a:ea typeface="微软雅黑" panose="020B0503020204020204" pitchFamily="34" charset="-122"/>
            </a:endParaRPr>
          </a:p>
          <a:p>
            <a:pPr lvl="1">
              <a:lnSpc>
                <a:spcPct val="130000"/>
              </a:lnSpc>
            </a:pPr>
            <a:r>
              <a:rPr lang="zh-CN" altLang="en-US" sz="2800" dirty="0">
                <a:latin typeface="微软雅黑" panose="020B0503020204020204" pitchFamily="34" charset="-122"/>
                <a:ea typeface="微软雅黑" panose="020B0503020204020204" pitchFamily="34" charset="-122"/>
              </a:rPr>
              <a:t>各种类型指令的执行数量分布</a:t>
            </a:r>
            <a:endParaRPr lang="en-US" altLang="zh-CN" sz="2800" dirty="0">
              <a:latin typeface="微软雅黑" panose="020B0503020204020204" pitchFamily="34" charset="-122"/>
              <a:ea typeface="微软雅黑" panose="020B0503020204020204" pitchFamily="34" charset="-122"/>
            </a:endParaRPr>
          </a:p>
          <a:p>
            <a:pPr lvl="1">
              <a:lnSpc>
                <a:spcPct val="130000"/>
              </a:lnSpc>
            </a:pPr>
            <a:endParaRPr lang="en-US" altLang="zh-CN"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786559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微软雅黑" panose="020B0503020204020204" pitchFamily="34" charset="-122"/>
                <a:ea typeface="微软雅黑" panose="020B0503020204020204" pitchFamily="34" charset="-122"/>
              </a:rPr>
              <a:t>CPI</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cache</a:t>
            </a:r>
            <a:r>
              <a:rPr lang="zh-CN" altLang="en-US" dirty="0">
                <a:latin typeface="微软雅黑" panose="020B0503020204020204" pitchFamily="34" charset="-122"/>
                <a:ea typeface="微软雅黑" panose="020B0503020204020204" pitchFamily="34" charset="-122"/>
              </a:rPr>
              <a:t>缺失率</a:t>
            </a:r>
          </a:p>
        </p:txBody>
      </p:sp>
      <p:sp>
        <p:nvSpPr>
          <p:cNvPr id="3" name="内容占位符 2"/>
          <p:cNvSpPr>
            <a:spLocks noGrp="1"/>
          </p:cNvSpPr>
          <p:nvPr>
            <p:ph idx="1"/>
          </p:nvPr>
        </p:nvSpPr>
        <p:spPr>
          <a:xfrm>
            <a:off x="838200" y="1690688"/>
            <a:ext cx="9932377" cy="4882906"/>
          </a:xfrm>
        </p:spPr>
        <p:txBody>
          <a:bodyPr>
            <a:normAutofit/>
          </a:bodyPr>
          <a:lstStyle/>
          <a:p>
            <a:pPr>
              <a:lnSpc>
                <a:spcPct val="130000"/>
              </a:lnSpc>
            </a:pPr>
            <a:r>
              <a:rPr lang="zh-CN" altLang="en-US" sz="3200" dirty="0">
                <a:latin typeface="微软雅黑" panose="020B0503020204020204" pitchFamily="34" charset="-122"/>
                <a:ea typeface="微软雅黑" panose="020B0503020204020204" pitchFamily="34" charset="-122"/>
              </a:rPr>
              <a:t>使用</a:t>
            </a:r>
            <a:r>
              <a:rPr lang="en-US" altLang="zh-CN" sz="3200" dirty="0">
                <a:latin typeface="微软雅黑" panose="020B0503020204020204" pitchFamily="34" charset="-122"/>
                <a:ea typeface="微软雅黑" panose="020B0503020204020204" pitchFamily="34" charset="-122"/>
              </a:rPr>
              <a:t>C910</a:t>
            </a:r>
            <a:r>
              <a:rPr lang="zh-CN" altLang="en-US" sz="3200" dirty="0">
                <a:latin typeface="微软雅黑" panose="020B0503020204020204" pitchFamily="34" charset="-122"/>
                <a:ea typeface="微软雅黑" panose="020B0503020204020204" pitchFamily="34" charset="-122"/>
              </a:rPr>
              <a:t>的性能检测模块</a:t>
            </a:r>
            <a:r>
              <a:rPr lang="en-US" altLang="zh-CN" sz="3200" dirty="0">
                <a:latin typeface="微软雅黑" panose="020B0503020204020204" pitchFamily="34" charset="-122"/>
                <a:ea typeface="微软雅黑" panose="020B0503020204020204" pitchFamily="34" charset="-122"/>
              </a:rPr>
              <a:t>PMU</a:t>
            </a:r>
            <a:r>
              <a:rPr lang="zh-CN" altLang="en-US" sz="3200" dirty="0">
                <a:latin typeface="微软雅黑" panose="020B0503020204020204" pitchFamily="34" charset="-122"/>
                <a:ea typeface="微软雅黑" panose="020B0503020204020204" pitchFamily="34" charset="-122"/>
              </a:rPr>
              <a:t>即可完成</a:t>
            </a:r>
            <a:endParaRPr lang="en-US" altLang="zh-CN" sz="3200" dirty="0">
              <a:latin typeface="微软雅黑" panose="020B0503020204020204" pitchFamily="34" charset="-122"/>
              <a:ea typeface="微软雅黑" panose="020B0503020204020204" pitchFamily="34" charset="-122"/>
            </a:endParaRPr>
          </a:p>
          <a:p>
            <a:pPr lvl="1">
              <a:lnSpc>
                <a:spcPct val="130000"/>
              </a:lnSpc>
            </a:pPr>
            <a:r>
              <a:rPr lang="zh-CN" altLang="en-US" sz="2800" dirty="0">
                <a:latin typeface="微软雅黑" panose="020B0503020204020204" pitchFamily="34" charset="-122"/>
                <a:ea typeface="微软雅黑" panose="020B0503020204020204" pitchFamily="34" charset="-122"/>
              </a:rPr>
              <a:t>与</a:t>
            </a:r>
            <a:r>
              <a:rPr lang="en-US" altLang="zh-CN" sz="2800" dirty="0">
                <a:latin typeface="微软雅黑" panose="020B0503020204020204" pitchFamily="34" charset="-122"/>
                <a:ea typeface="微软雅黑" panose="020B0503020204020204" pitchFamily="34" charset="-122"/>
              </a:rPr>
              <a:t>cache</a:t>
            </a:r>
            <a:r>
              <a:rPr lang="zh-CN" altLang="en-US" sz="2800" dirty="0">
                <a:latin typeface="微软雅黑" panose="020B0503020204020204" pitchFamily="34" charset="-122"/>
                <a:ea typeface="微软雅黑" panose="020B0503020204020204" pitchFamily="34" charset="-122"/>
              </a:rPr>
              <a:t>操作实验和</a:t>
            </a:r>
            <a:r>
              <a:rPr lang="en-US" altLang="zh-CN" sz="2800" dirty="0">
                <a:latin typeface="微软雅黑" panose="020B0503020204020204" pitchFamily="34" charset="-122"/>
                <a:ea typeface="微软雅黑" panose="020B0503020204020204" pitchFamily="34" charset="-122"/>
              </a:rPr>
              <a:t>pipeline</a:t>
            </a:r>
            <a:r>
              <a:rPr lang="zh-CN" altLang="en-US" sz="2800" dirty="0">
                <a:latin typeface="微软雅黑" panose="020B0503020204020204" pitchFamily="34" charset="-122"/>
                <a:ea typeface="微软雅黑" panose="020B0503020204020204" pitchFamily="34" charset="-122"/>
              </a:rPr>
              <a:t>实验的监测类似</a:t>
            </a:r>
            <a:endParaRPr lang="en-US" altLang="zh-CN" sz="2800" dirty="0">
              <a:latin typeface="微软雅黑" panose="020B0503020204020204" pitchFamily="34" charset="-122"/>
              <a:ea typeface="微软雅黑" panose="020B0503020204020204" pitchFamily="34" charset="-122"/>
            </a:endParaRPr>
          </a:p>
          <a:p>
            <a:pPr lvl="1">
              <a:lnSpc>
                <a:spcPct val="130000"/>
              </a:lnSpc>
            </a:pPr>
            <a:r>
              <a:rPr lang="zh-CN" altLang="en-US" sz="2800" dirty="0">
                <a:latin typeface="微软雅黑" panose="020B0503020204020204" pitchFamily="34" charset="-122"/>
                <a:ea typeface="微软雅黑" panose="020B0503020204020204" pitchFamily="34" charset="-122"/>
              </a:rPr>
              <a:t>需要将</a:t>
            </a:r>
            <a:r>
              <a:rPr lang="en-US" altLang="zh-CN" sz="2800" dirty="0" err="1">
                <a:latin typeface="微软雅黑" panose="020B0503020204020204" pitchFamily="34" charset="-122"/>
                <a:ea typeface="微软雅黑" panose="020B0503020204020204" pitchFamily="34" charset="-122"/>
              </a:rPr>
              <a:t>pmu.h</a:t>
            </a:r>
            <a:r>
              <a:rPr lang="zh-CN" altLang="en-US" sz="2800" dirty="0">
                <a:latin typeface="微软雅黑" panose="020B0503020204020204" pitchFamily="34" charset="-122"/>
                <a:ea typeface="微软雅黑" panose="020B0503020204020204" pitchFamily="34" charset="-122"/>
              </a:rPr>
              <a:t>加入编译路径</a:t>
            </a:r>
            <a:endParaRPr lang="en-US" altLang="zh-CN" sz="2800" dirty="0">
              <a:latin typeface="微软雅黑" panose="020B0503020204020204" pitchFamily="34" charset="-122"/>
              <a:ea typeface="微软雅黑" panose="020B0503020204020204" pitchFamily="34" charset="-122"/>
            </a:endParaRPr>
          </a:p>
          <a:p>
            <a:pPr lvl="1">
              <a:lnSpc>
                <a:spcPct val="130000"/>
              </a:lnSpc>
            </a:pPr>
            <a:r>
              <a:rPr lang="zh-CN" altLang="en-US" sz="2800" dirty="0">
                <a:latin typeface="微软雅黑" panose="020B0503020204020204" pitchFamily="34" charset="-122"/>
                <a:ea typeface="微软雅黑" panose="020B0503020204020204" pitchFamily="34" charset="-122"/>
              </a:rPr>
              <a:t>在</a:t>
            </a:r>
            <a:r>
              <a:rPr lang="en-US" altLang="zh-CN" sz="2800" dirty="0">
                <a:latin typeface="微软雅黑" panose="020B0503020204020204" pitchFamily="34" charset="-122"/>
                <a:ea typeface="微软雅黑" panose="020B0503020204020204" pitchFamily="34" charset="-122"/>
              </a:rPr>
              <a:t>crt0.s</a:t>
            </a:r>
            <a:r>
              <a:rPr lang="zh-CN" altLang="en-US" sz="2800" dirty="0">
                <a:latin typeface="微软雅黑" panose="020B0503020204020204" pitchFamily="34" charset="-122"/>
                <a:ea typeface="微软雅黑" panose="020B0503020204020204" pitchFamily="34" charset="-122"/>
              </a:rPr>
              <a:t>中队</a:t>
            </a:r>
            <a:r>
              <a:rPr lang="en-US" altLang="zh-CN" sz="2800" dirty="0">
                <a:latin typeface="微软雅黑" panose="020B0503020204020204" pitchFamily="34" charset="-122"/>
                <a:ea typeface="微软雅黑" panose="020B0503020204020204" pitchFamily="34" charset="-122"/>
              </a:rPr>
              <a:t>PMU</a:t>
            </a:r>
            <a:r>
              <a:rPr lang="zh-CN" altLang="en-US" sz="2800" dirty="0">
                <a:latin typeface="微软雅黑" panose="020B0503020204020204" pitchFamily="34" charset="-122"/>
                <a:ea typeface="微软雅黑" panose="020B0503020204020204" pitchFamily="34" charset="-122"/>
              </a:rPr>
              <a:t>相关</a:t>
            </a:r>
            <a:r>
              <a:rPr lang="en-US" altLang="zh-CN" sz="2800" dirty="0">
                <a:latin typeface="微软雅黑" panose="020B0503020204020204" pitchFamily="34" charset="-122"/>
                <a:ea typeface="微软雅黑" panose="020B0503020204020204" pitchFamily="34" charset="-122"/>
              </a:rPr>
              <a:t>CSR</a:t>
            </a:r>
            <a:r>
              <a:rPr lang="zh-CN" altLang="en-US" sz="2800" dirty="0">
                <a:latin typeface="微软雅黑" panose="020B0503020204020204" pitchFamily="34" charset="-122"/>
                <a:ea typeface="微软雅黑" panose="020B0503020204020204" pitchFamily="34" charset="-122"/>
              </a:rPr>
              <a:t>进行初始化</a:t>
            </a:r>
            <a:endParaRPr lang="en-US" altLang="zh-CN" sz="2800" dirty="0">
              <a:latin typeface="微软雅黑" panose="020B0503020204020204" pitchFamily="34" charset="-122"/>
              <a:ea typeface="微软雅黑" panose="020B0503020204020204" pitchFamily="34" charset="-122"/>
            </a:endParaRPr>
          </a:p>
          <a:p>
            <a:pPr lvl="1">
              <a:lnSpc>
                <a:spcPct val="130000"/>
              </a:lnSpc>
            </a:pPr>
            <a:r>
              <a:rPr lang="en-US" altLang="zh-CN" sz="2800" dirty="0">
                <a:latin typeface="微软雅黑" panose="020B0503020204020204" pitchFamily="34" charset="-122"/>
                <a:ea typeface="微软雅黑" panose="020B0503020204020204" pitchFamily="34" charset="-122"/>
              </a:rPr>
              <a:t>cache</a:t>
            </a:r>
            <a:r>
              <a:rPr lang="zh-CN" altLang="en-US" sz="2800" dirty="0">
                <a:latin typeface="微软雅黑" panose="020B0503020204020204" pitchFamily="34" charset="-122"/>
                <a:ea typeface="微软雅黑" panose="020B0503020204020204" pitchFamily="34" charset="-122"/>
              </a:rPr>
              <a:t>配置类型（共</a:t>
            </a:r>
            <a:r>
              <a:rPr lang="en-US" altLang="zh-CN" sz="2800" dirty="0">
                <a:latin typeface="微软雅黑" panose="020B0503020204020204" pitchFamily="34" charset="-122"/>
                <a:ea typeface="微软雅黑" panose="020B0503020204020204" pitchFamily="34" charset="-122"/>
              </a:rPr>
              <a:t>16</a:t>
            </a:r>
            <a:r>
              <a:rPr lang="zh-CN" altLang="en-US" sz="2800" dirty="0">
                <a:latin typeface="微软雅黑" panose="020B0503020204020204" pitchFamily="34" charset="-122"/>
                <a:ea typeface="微软雅黑" panose="020B0503020204020204" pitchFamily="34" charset="-122"/>
              </a:rPr>
              <a:t>种组合）：</a:t>
            </a:r>
            <a:endParaRPr lang="en-US" altLang="zh-CN" sz="2800" dirty="0">
              <a:latin typeface="微软雅黑" panose="020B0503020204020204" pitchFamily="34" charset="-122"/>
              <a:ea typeface="微软雅黑" panose="020B0503020204020204" pitchFamily="34" charset="-122"/>
            </a:endParaRPr>
          </a:p>
          <a:p>
            <a:pPr lvl="2">
              <a:lnSpc>
                <a:spcPct val="130000"/>
              </a:lnSpc>
            </a:pPr>
            <a:r>
              <a:rPr lang="en-US" altLang="zh-CN" sz="2400" dirty="0">
                <a:latin typeface="微软雅黑" panose="020B0503020204020204" pitchFamily="34" charset="-122"/>
                <a:ea typeface="微软雅黑" panose="020B0503020204020204" pitchFamily="34" charset="-122"/>
              </a:rPr>
              <a:t>L1_Icache 32K/64K</a:t>
            </a:r>
          </a:p>
          <a:p>
            <a:pPr lvl="2">
              <a:lnSpc>
                <a:spcPct val="130000"/>
              </a:lnSpc>
            </a:pPr>
            <a:r>
              <a:rPr lang="en-US" altLang="zh-CN" sz="2400" dirty="0">
                <a:latin typeface="微软雅黑" panose="020B0503020204020204" pitchFamily="34" charset="-122"/>
                <a:ea typeface="微软雅黑" panose="020B0503020204020204" pitchFamily="34" charset="-122"/>
              </a:rPr>
              <a:t>L1_Dcache 32K/64K</a:t>
            </a:r>
          </a:p>
          <a:p>
            <a:pPr lvl="2">
              <a:lnSpc>
                <a:spcPct val="130000"/>
              </a:lnSpc>
            </a:pPr>
            <a:r>
              <a:rPr lang="en-US" altLang="zh-CN" sz="2400" dirty="0">
                <a:latin typeface="微软雅黑" panose="020B0503020204020204" pitchFamily="34" charset="-122"/>
                <a:ea typeface="微软雅黑" panose="020B0503020204020204" pitchFamily="34" charset="-122"/>
              </a:rPr>
              <a:t>L2_Dcache 512K/1M/2M/4M</a:t>
            </a:r>
          </a:p>
          <a:p>
            <a:pPr lvl="2">
              <a:lnSpc>
                <a:spcPct val="130000"/>
              </a:lnSpc>
            </a:pPr>
            <a:endParaRPr lang="en-US" altLang="zh-CN" sz="2400" dirty="0">
              <a:latin typeface="微软雅黑" panose="020B0503020204020204" pitchFamily="34" charset="-122"/>
              <a:ea typeface="微软雅黑" panose="020B0503020204020204" pitchFamily="34" charset="-122"/>
            </a:endParaRPr>
          </a:p>
          <a:p>
            <a:pPr lvl="1">
              <a:lnSpc>
                <a:spcPct val="130000"/>
              </a:lnSpc>
            </a:pPr>
            <a:endParaRPr lang="en-US" altLang="zh-CN"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16722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微软雅黑" panose="020B0503020204020204" pitchFamily="34" charset="-122"/>
                <a:ea typeface="微软雅黑" panose="020B0503020204020204" pitchFamily="34" charset="-122"/>
              </a:rPr>
              <a:t>指令分布统计</a:t>
            </a:r>
          </a:p>
        </p:txBody>
      </p:sp>
      <p:sp>
        <p:nvSpPr>
          <p:cNvPr id="3" name="内容占位符 2"/>
          <p:cNvSpPr>
            <a:spLocks noGrp="1"/>
          </p:cNvSpPr>
          <p:nvPr>
            <p:ph idx="1"/>
          </p:nvPr>
        </p:nvSpPr>
        <p:spPr>
          <a:xfrm>
            <a:off x="838200" y="1690688"/>
            <a:ext cx="5450305" cy="4882906"/>
          </a:xfrm>
        </p:spPr>
        <p:txBody>
          <a:bodyPr>
            <a:normAutofit/>
          </a:bodyPr>
          <a:lstStyle/>
          <a:p>
            <a:pPr>
              <a:lnSpc>
                <a:spcPct val="130000"/>
              </a:lnSpc>
            </a:pPr>
            <a:r>
              <a:rPr lang="en-US" altLang="zh-CN" sz="3200" dirty="0">
                <a:latin typeface="微软雅黑" panose="020B0503020204020204" pitchFamily="34" charset="-122"/>
                <a:ea typeface="微软雅黑" panose="020B0503020204020204" pitchFamily="34" charset="-122"/>
              </a:rPr>
              <a:t>C910</a:t>
            </a:r>
            <a:r>
              <a:rPr lang="zh-CN" altLang="en-US" sz="3200" dirty="0">
                <a:latin typeface="微软雅黑" panose="020B0503020204020204" pitchFamily="34" charset="-122"/>
                <a:ea typeface="微软雅黑" panose="020B0503020204020204" pitchFamily="34" charset="-122"/>
              </a:rPr>
              <a:t>集成的</a:t>
            </a:r>
            <a:r>
              <a:rPr lang="en-US" altLang="zh-CN" sz="3200" dirty="0">
                <a:latin typeface="微软雅黑" panose="020B0503020204020204" pitchFamily="34" charset="-122"/>
                <a:ea typeface="微软雅黑" panose="020B0503020204020204" pitchFamily="34" charset="-122"/>
              </a:rPr>
              <a:t>CPU</a:t>
            </a:r>
            <a:r>
              <a:rPr lang="zh-CN" altLang="en-US" sz="3200" dirty="0">
                <a:latin typeface="微软雅黑" panose="020B0503020204020204" pitchFamily="34" charset="-122"/>
                <a:ea typeface="微软雅黑" panose="020B0503020204020204" pitchFamily="34" charset="-122"/>
              </a:rPr>
              <a:t>观测信号：</a:t>
            </a:r>
            <a:endParaRPr lang="en-US" altLang="zh-CN" sz="3200" dirty="0">
              <a:latin typeface="微软雅黑" panose="020B0503020204020204" pitchFamily="34" charset="-122"/>
              <a:ea typeface="微软雅黑" panose="020B0503020204020204" pitchFamily="34" charset="-122"/>
            </a:endParaRPr>
          </a:p>
          <a:p>
            <a:pPr lvl="1">
              <a:lnSpc>
                <a:spcPct val="130000"/>
              </a:lnSpc>
            </a:pPr>
            <a:r>
              <a:rPr lang="en-US" altLang="zh-CN" sz="2800" dirty="0">
                <a:latin typeface="微软雅黑" panose="020B0503020204020204" pitchFamily="34" charset="-122"/>
                <a:ea typeface="微软雅黑" panose="020B0503020204020204" pitchFamily="34" charset="-122"/>
              </a:rPr>
              <a:t>C910</a:t>
            </a:r>
            <a:r>
              <a:rPr lang="zh-CN" altLang="en-US" sz="2800" dirty="0">
                <a:latin typeface="微软雅黑" panose="020B0503020204020204" pitchFamily="34" charset="-122"/>
                <a:ea typeface="微软雅黑" panose="020B0503020204020204" pitchFamily="34" charset="-122"/>
              </a:rPr>
              <a:t>为三发射，因此每个核心包含三个指令退休信号</a:t>
            </a:r>
            <a:endParaRPr lang="en-US" altLang="zh-CN" sz="2800" dirty="0">
              <a:latin typeface="微软雅黑" panose="020B0503020204020204" pitchFamily="34" charset="-122"/>
              <a:ea typeface="微软雅黑" panose="020B0503020204020204" pitchFamily="34" charset="-122"/>
            </a:endParaRPr>
          </a:p>
          <a:p>
            <a:pPr lvl="1">
              <a:lnSpc>
                <a:spcPct val="130000"/>
              </a:lnSpc>
            </a:pPr>
            <a:r>
              <a:rPr lang="zh-CN" altLang="en-US" sz="2800" dirty="0">
                <a:latin typeface="微软雅黑" panose="020B0503020204020204" pitchFamily="34" charset="-122"/>
                <a:ea typeface="微软雅黑" panose="020B0503020204020204" pitchFamily="34" charset="-122"/>
              </a:rPr>
              <a:t>任意退休信号有效时表明当前周期有指令退休</a:t>
            </a:r>
            <a:endParaRPr lang="en-US" altLang="zh-CN" sz="2800" dirty="0">
              <a:latin typeface="微软雅黑" panose="020B0503020204020204" pitchFamily="34" charset="-122"/>
              <a:ea typeface="微软雅黑" panose="020B0503020204020204" pitchFamily="34" charset="-122"/>
            </a:endParaRPr>
          </a:p>
          <a:p>
            <a:pPr lvl="1">
              <a:lnSpc>
                <a:spcPct val="130000"/>
              </a:lnSpc>
            </a:pPr>
            <a:r>
              <a:rPr lang="zh-CN" altLang="en-US" sz="2800" dirty="0">
                <a:latin typeface="微软雅黑" panose="020B0503020204020204" pitchFamily="34" charset="-122"/>
                <a:ea typeface="微软雅黑" panose="020B0503020204020204" pitchFamily="34" charset="-122"/>
              </a:rPr>
              <a:t>此时通过解析指令</a:t>
            </a:r>
            <a:r>
              <a:rPr lang="en-US" altLang="zh-CN" sz="2800" dirty="0">
                <a:latin typeface="微软雅黑" panose="020B0503020204020204" pitchFamily="34" charset="-122"/>
                <a:ea typeface="微软雅黑" panose="020B0503020204020204" pitchFamily="34" charset="-122"/>
              </a:rPr>
              <a:t>PC</a:t>
            </a:r>
            <a:r>
              <a:rPr lang="zh-CN" altLang="en-US" sz="2800" dirty="0">
                <a:latin typeface="微软雅黑" panose="020B0503020204020204" pitchFamily="34" charset="-122"/>
                <a:ea typeface="微软雅黑" panose="020B0503020204020204" pitchFamily="34" charset="-122"/>
              </a:rPr>
              <a:t>对应位置的机器码就可以对指令分类</a:t>
            </a:r>
            <a:endParaRPr lang="en-US" altLang="zh-CN" sz="2800" dirty="0">
              <a:latin typeface="微软雅黑" panose="020B0503020204020204" pitchFamily="34" charset="-122"/>
              <a:ea typeface="微软雅黑" panose="020B0503020204020204" pitchFamily="34" charset="-122"/>
            </a:endParaRPr>
          </a:p>
          <a:p>
            <a:pPr lvl="1">
              <a:lnSpc>
                <a:spcPct val="130000"/>
              </a:lnSpc>
            </a:pPr>
            <a:endParaRPr lang="en-US" altLang="zh-CN" sz="2400" dirty="0">
              <a:latin typeface="微软雅黑" panose="020B0503020204020204" pitchFamily="34" charset="-122"/>
              <a:ea typeface="微软雅黑" panose="020B0503020204020204" pitchFamily="34" charset="-122"/>
            </a:endParaRPr>
          </a:p>
          <a:p>
            <a:pPr lvl="1">
              <a:lnSpc>
                <a:spcPct val="130000"/>
              </a:lnSpc>
            </a:pPr>
            <a:endParaRPr lang="en-US" altLang="zh-CN" sz="2800" dirty="0">
              <a:latin typeface="微软雅黑" panose="020B0503020204020204" pitchFamily="34" charset="-122"/>
              <a:ea typeface="微软雅黑" panose="020B0503020204020204" pitchFamily="34" charset="-122"/>
            </a:endParaRPr>
          </a:p>
        </p:txBody>
      </p:sp>
      <p:pic>
        <p:nvPicPr>
          <p:cNvPr id="4" name="图片 3"/>
          <p:cNvPicPr/>
          <p:nvPr/>
        </p:nvPicPr>
        <p:blipFill>
          <a:blip r:embed="rId2"/>
          <a:stretch>
            <a:fillRect/>
          </a:stretch>
        </p:blipFill>
        <p:spPr>
          <a:xfrm>
            <a:off x="6288505" y="2449244"/>
            <a:ext cx="5405848" cy="2924861"/>
          </a:xfrm>
          <a:prstGeom prst="rect">
            <a:avLst/>
          </a:prstGeom>
        </p:spPr>
      </p:pic>
    </p:spTree>
    <p:extLst>
      <p:ext uri="{BB962C8B-B14F-4D97-AF65-F5344CB8AC3E}">
        <p14:creationId xmlns:p14="http://schemas.microsoft.com/office/powerpoint/2010/main" val="1810845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微软雅黑" panose="020B0503020204020204" pitchFamily="34" charset="-122"/>
                <a:ea typeface="微软雅黑" panose="020B0503020204020204" pitchFamily="34" charset="-122"/>
              </a:rPr>
              <a:t>指令分布统计</a:t>
            </a:r>
          </a:p>
        </p:txBody>
      </p:sp>
      <p:sp>
        <p:nvSpPr>
          <p:cNvPr id="3" name="内容占位符 2"/>
          <p:cNvSpPr>
            <a:spLocks noGrp="1"/>
          </p:cNvSpPr>
          <p:nvPr>
            <p:ph idx="1"/>
          </p:nvPr>
        </p:nvSpPr>
        <p:spPr>
          <a:xfrm>
            <a:off x="838200" y="1690688"/>
            <a:ext cx="5450305" cy="4882906"/>
          </a:xfrm>
        </p:spPr>
        <p:txBody>
          <a:bodyPr>
            <a:normAutofit/>
          </a:bodyPr>
          <a:lstStyle/>
          <a:p>
            <a:pPr>
              <a:lnSpc>
                <a:spcPct val="130000"/>
              </a:lnSpc>
            </a:pPr>
            <a:r>
              <a:rPr lang="zh-CN" altLang="en-US" sz="3200" dirty="0">
                <a:latin typeface="微软雅黑" panose="020B0503020204020204" pitchFamily="34" charset="-122"/>
                <a:ea typeface="微软雅黑" panose="020B0503020204020204" pitchFamily="34" charset="-122"/>
              </a:rPr>
              <a:t>确定指令长度：</a:t>
            </a:r>
            <a:r>
              <a:rPr lang="en-US" altLang="zh-CN" sz="3200" dirty="0">
                <a:latin typeface="微软雅黑" panose="020B0503020204020204" pitchFamily="34" charset="-122"/>
                <a:ea typeface="微软雅黑" panose="020B0503020204020204" pitchFamily="34" charset="-122"/>
              </a:rPr>
              <a:t>RV64GC</a:t>
            </a:r>
          </a:p>
          <a:p>
            <a:pPr lvl="1">
              <a:lnSpc>
                <a:spcPct val="130000"/>
              </a:lnSpc>
            </a:pPr>
            <a:r>
              <a:rPr lang="en-US" altLang="zh-CN" sz="2800" dirty="0">
                <a:latin typeface="微软雅黑" panose="020B0503020204020204" pitchFamily="34" charset="-122"/>
                <a:ea typeface="微软雅黑" panose="020B0503020204020204" pitchFamily="34" charset="-122"/>
              </a:rPr>
              <a:t>32</a:t>
            </a:r>
            <a:r>
              <a:rPr lang="zh-CN" altLang="en-US" sz="2800" dirty="0">
                <a:latin typeface="微软雅黑" panose="020B0503020204020204" pitchFamily="34" charset="-122"/>
                <a:ea typeface="微软雅黑" panose="020B0503020204020204" pitchFamily="34" charset="-122"/>
              </a:rPr>
              <a:t>位指令（</a:t>
            </a:r>
            <a:r>
              <a:rPr lang="en-US" altLang="zh-CN" sz="2800" dirty="0">
                <a:latin typeface="微软雅黑" panose="020B0503020204020204" pitchFamily="34" charset="-122"/>
                <a:ea typeface="微软雅黑" panose="020B0503020204020204" pitchFamily="34" charset="-122"/>
              </a:rPr>
              <a:t>G</a:t>
            </a:r>
            <a:r>
              <a:rPr lang="zh-CN" altLang="en-US" sz="2800" dirty="0">
                <a:latin typeface="微软雅黑" panose="020B0503020204020204" pitchFamily="34" charset="-122"/>
                <a:ea typeface="微软雅黑" panose="020B0503020204020204" pitchFamily="34" charset="-122"/>
              </a:rPr>
              <a:t>）以最低</a:t>
            </a:r>
            <a:r>
              <a:rPr lang="en-US" altLang="zh-CN" sz="2800" dirty="0">
                <a:latin typeface="微软雅黑" panose="020B0503020204020204" pitchFamily="34" charset="-122"/>
                <a:ea typeface="微软雅黑" panose="020B0503020204020204" pitchFamily="34" charset="-122"/>
              </a:rPr>
              <a:t>7</a:t>
            </a:r>
            <a:r>
              <a:rPr lang="zh-CN" altLang="en-US" sz="2800" dirty="0">
                <a:latin typeface="微软雅黑" panose="020B0503020204020204" pitchFamily="34" charset="-122"/>
                <a:ea typeface="微软雅黑" panose="020B0503020204020204" pitchFamily="34" charset="-122"/>
              </a:rPr>
              <a:t>位为</a:t>
            </a:r>
            <a:r>
              <a:rPr lang="en-US" altLang="zh-CN" sz="2800" dirty="0">
                <a:latin typeface="微软雅黑" panose="020B0503020204020204" pitchFamily="34" charset="-122"/>
                <a:ea typeface="微软雅黑" panose="020B0503020204020204" pitchFamily="34" charset="-122"/>
              </a:rPr>
              <a:t>opcode</a:t>
            </a:r>
            <a:r>
              <a:rPr lang="zh-CN" altLang="en-US" sz="2800" dirty="0">
                <a:latin typeface="微软雅黑" panose="020B0503020204020204" pitchFamily="34" charset="-122"/>
                <a:ea typeface="微软雅黑" panose="020B0503020204020204" pitchFamily="34" charset="-122"/>
              </a:rPr>
              <a:t>，且最低</a:t>
            </a: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位总是</a:t>
            </a:r>
            <a:r>
              <a:rPr lang="en-US" altLang="zh-CN" sz="2800" dirty="0">
                <a:latin typeface="微软雅黑" panose="020B0503020204020204" pitchFamily="34" charset="-122"/>
                <a:ea typeface="微软雅黑" panose="020B0503020204020204" pitchFamily="34" charset="-122"/>
              </a:rPr>
              <a:t>2’b11</a:t>
            </a:r>
          </a:p>
          <a:p>
            <a:pPr lvl="1">
              <a:lnSpc>
                <a:spcPct val="130000"/>
              </a:lnSpc>
            </a:pPr>
            <a:r>
              <a:rPr lang="en-US" altLang="zh-CN" sz="2800" dirty="0">
                <a:latin typeface="微软雅黑" panose="020B0503020204020204" pitchFamily="34" charset="-122"/>
                <a:ea typeface="微软雅黑" panose="020B0503020204020204" pitchFamily="34" charset="-122"/>
              </a:rPr>
              <a:t>16</a:t>
            </a:r>
            <a:r>
              <a:rPr lang="zh-CN" altLang="en-US" sz="2800" dirty="0">
                <a:latin typeface="微软雅黑" panose="020B0503020204020204" pitchFamily="34" charset="-122"/>
                <a:ea typeface="微软雅黑" panose="020B0503020204020204" pitchFamily="34" charset="-122"/>
              </a:rPr>
              <a:t>位指令（</a:t>
            </a:r>
            <a:r>
              <a:rPr lang="en-US" altLang="zh-CN" sz="2800" dirty="0">
                <a:latin typeface="微软雅黑" panose="020B0503020204020204" pitchFamily="34" charset="-122"/>
                <a:ea typeface="微软雅黑" panose="020B0503020204020204" pitchFamily="34" charset="-122"/>
              </a:rPr>
              <a:t>C</a:t>
            </a:r>
            <a:r>
              <a:rPr lang="zh-CN" altLang="en-US" sz="2800" dirty="0">
                <a:latin typeface="微软雅黑" panose="020B0503020204020204" pitchFamily="34" charset="-122"/>
                <a:ea typeface="微软雅黑" panose="020B0503020204020204" pitchFamily="34" charset="-122"/>
              </a:rPr>
              <a:t>）最低</a:t>
            </a: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位为</a:t>
            </a:r>
            <a:r>
              <a:rPr lang="en-US" altLang="zh-CN" sz="2800" dirty="0">
                <a:latin typeface="微软雅黑" panose="020B0503020204020204" pitchFamily="34" charset="-122"/>
                <a:ea typeface="微软雅黑" panose="020B0503020204020204" pitchFamily="34" charset="-122"/>
              </a:rPr>
              <a:t>2’b00</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 2’b01</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 2’b10</a:t>
            </a:r>
            <a:r>
              <a:rPr lang="zh-CN" altLang="en-US" sz="2800" dirty="0">
                <a:latin typeface="微软雅黑" panose="020B0503020204020204" pitchFamily="34" charset="-122"/>
                <a:ea typeface="微软雅黑" panose="020B0503020204020204" pitchFamily="34" charset="-122"/>
              </a:rPr>
              <a:t>，同时用最高</a:t>
            </a:r>
            <a:r>
              <a:rPr lang="en-US" altLang="zh-CN" sz="2800" dirty="0">
                <a:latin typeface="微软雅黑" panose="020B0503020204020204" pitchFamily="34" charset="-122"/>
                <a:ea typeface="微软雅黑" panose="020B0503020204020204" pitchFamily="34" charset="-122"/>
              </a:rPr>
              <a:t>3</a:t>
            </a:r>
            <a:r>
              <a:rPr lang="zh-CN" altLang="en-US" sz="2800" dirty="0">
                <a:latin typeface="微软雅黑" panose="020B0503020204020204" pitchFamily="34" charset="-122"/>
                <a:ea typeface="微软雅黑" panose="020B0503020204020204" pitchFamily="34" charset="-122"/>
              </a:rPr>
              <a:t>位指示指令类型</a:t>
            </a:r>
            <a:endParaRPr lang="en-US" altLang="zh-CN" sz="2800" dirty="0">
              <a:latin typeface="微软雅黑" panose="020B0503020204020204" pitchFamily="34" charset="-122"/>
              <a:ea typeface="微软雅黑" panose="020B0503020204020204" pitchFamily="34" charset="-122"/>
            </a:endParaRPr>
          </a:p>
          <a:p>
            <a:pPr lvl="1">
              <a:lnSpc>
                <a:spcPct val="130000"/>
              </a:lnSpc>
            </a:pPr>
            <a:r>
              <a:rPr lang="zh-CN" altLang="en-US" sz="2800" dirty="0">
                <a:latin typeface="微软雅黑" panose="020B0503020204020204" pitchFamily="34" charset="-122"/>
                <a:ea typeface="微软雅黑" panose="020B0503020204020204" pitchFamily="34" charset="-122"/>
              </a:rPr>
              <a:t>两种长度的指令要分开统计</a:t>
            </a:r>
            <a:endParaRPr lang="en-US" altLang="zh-CN" sz="2800" dirty="0">
              <a:latin typeface="微软雅黑" panose="020B0503020204020204" pitchFamily="34" charset="-122"/>
              <a:ea typeface="微软雅黑" panose="020B0503020204020204" pitchFamily="34" charset="-122"/>
            </a:endParaRPr>
          </a:p>
          <a:p>
            <a:pPr lvl="1">
              <a:lnSpc>
                <a:spcPct val="130000"/>
              </a:lnSpc>
            </a:pPr>
            <a:endParaRPr lang="en-US" altLang="zh-CN" sz="2800" dirty="0">
              <a:latin typeface="微软雅黑" panose="020B0503020204020204" pitchFamily="34" charset="-122"/>
              <a:ea typeface="微软雅黑" panose="020B0503020204020204" pitchFamily="34" charset="-122"/>
            </a:endParaRPr>
          </a:p>
          <a:p>
            <a:pPr lvl="1">
              <a:lnSpc>
                <a:spcPct val="130000"/>
              </a:lnSpc>
            </a:pPr>
            <a:endParaRPr lang="en-US" altLang="zh-CN" sz="2400" dirty="0">
              <a:latin typeface="微软雅黑" panose="020B0503020204020204" pitchFamily="34" charset="-122"/>
              <a:ea typeface="微软雅黑" panose="020B0503020204020204" pitchFamily="34" charset="-122"/>
            </a:endParaRPr>
          </a:p>
          <a:p>
            <a:pPr lvl="1">
              <a:lnSpc>
                <a:spcPct val="130000"/>
              </a:lnSpc>
            </a:pPr>
            <a:endParaRPr lang="en-US" altLang="zh-CN" sz="2800" dirty="0">
              <a:latin typeface="微软雅黑" panose="020B0503020204020204" pitchFamily="34" charset="-122"/>
              <a:ea typeface="微软雅黑" panose="020B0503020204020204" pitchFamily="34" charset="-122"/>
            </a:endParaRPr>
          </a:p>
        </p:txBody>
      </p:sp>
      <p:pic>
        <p:nvPicPr>
          <p:cNvPr id="5" name="图片 4"/>
          <p:cNvPicPr/>
          <p:nvPr/>
        </p:nvPicPr>
        <p:blipFill>
          <a:blip r:embed="rId2"/>
          <a:stretch>
            <a:fillRect/>
          </a:stretch>
        </p:blipFill>
        <p:spPr>
          <a:xfrm>
            <a:off x="6785811" y="2220077"/>
            <a:ext cx="4770546" cy="1650680"/>
          </a:xfrm>
          <a:prstGeom prst="rect">
            <a:avLst/>
          </a:prstGeom>
        </p:spPr>
      </p:pic>
      <p:pic>
        <p:nvPicPr>
          <p:cNvPr id="6" name="图片 5"/>
          <p:cNvPicPr/>
          <p:nvPr/>
        </p:nvPicPr>
        <p:blipFill>
          <a:blip r:embed="rId3"/>
          <a:stretch>
            <a:fillRect/>
          </a:stretch>
        </p:blipFill>
        <p:spPr>
          <a:xfrm>
            <a:off x="6533929" y="4428967"/>
            <a:ext cx="5274310" cy="1693545"/>
          </a:xfrm>
          <a:prstGeom prst="rect">
            <a:avLst/>
          </a:prstGeom>
        </p:spPr>
      </p:pic>
    </p:spTree>
    <p:extLst>
      <p:ext uri="{BB962C8B-B14F-4D97-AF65-F5344CB8AC3E}">
        <p14:creationId xmlns:p14="http://schemas.microsoft.com/office/powerpoint/2010/main" val="18211642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微软雅黑" panose="020B0503020204020204" pitchFamily="34" charset="-122"/>
                <a:ea typeface="微软雅黑" panose="020B0503020204020204" pitchFamily="34" charset="-122"/>
              </a:rPr>
              <a:t>指令分布统计</a:t>
            </a:r>
          </a:p>
        </p:txBody>
      </p:sp>
      <p:sp>
        <p:nvSpPr>
          <p:cNvPr id="3" name="内容占位符 2"/>
          <p:cNvSpPr>
            <a:spLocks noGrp="1"/>
          </p:cNvSpPr>
          <p:nvPr>
            <p:ph idx="1"/>
          </p:nvPr>
        </p:nvSpPr>
        <p:spPr>
          <a:xfrm>
            <a:off x="838200" y="1690688"/>
            <a:ext cx="10515600" cy="4882906"/>
          </a:xfrm>
        </p:spPr>
        <p:txBody>
          <a:bodyPr>
            <a:normAutofit/>
          </a:bodyPr>
          <a:lstStyle/>
          <a:p>
            <a:pPr>
              <a:lnSpc>
                <a:spcPct val="130000"/>
              </a:lnSpc>
            </a:pPr>
            <a:r>
              <a:rPr lang="zh-CN" altLang="en-US" sz="3200" dirty="0">
                <a:latin typeface="微软雅黑" panose="020B0503020204020204" pitchFamily="34" charset="-122"/>
                <a:ea typeface="微软雅黑" panose="020B0503020204020204" pitchFamily="34" charset="-122"/>
              </a:rPr>
              <a:t>确定计数时机</a:t>
            </a:r>
            <a:endParaRPr lang="en-US" altLang="zh-CN" sz="3200" dirty="0">
              <a:latin typeface="微软雅黑" panose="020B0503020204020204" pitchFamily="34" charset="-122"/>
              <a:ea typeface="微软雅黑" panose="020B0503020204020204" pitchFamily="34" charset="-122"/>
            </a:endParaRPr>
          </a:p>
          <a:p>
            <a:pPr lvl="1">
              <a:lnSpc>
                <a:spcPct val="130000"/>
              </a:lnSpc>
            </a:pPr>
            <a:r>
              <a:rPr lang="zh-CN" altLang="en-US" sz="2800" dirty="0">
                <a:latin typeface="微软雅黑" panose="020B0503020204020204" pitchFamily="34" charset="-122"/>
                <a:ea typeface="微软雅黑" panose="020B0503020204020204" pitchFamily="34" charset="-122"/>
              </a:rPr>
              <a:t>由于</a:t>
            </a:r>
            <a:r>
              <a:rPr lang="en-US" altLang="zh-CN" sz="2800" dirty="0">
                <a:latin typeface="微软雅黑" panose="020B0503020204020204" pitchFamily="34" charset="-122"/>
                <a:ea typeface="微软雅黑" panose="020B0503020204020204" pitchFamily="34" charset="-122"/>
              </a:rPr>
              <a:t>CPI</a:t>
            </a:r>
            <a:r>
              <a:rPr lang="zh-CN" altLang="en-US" sz="2800" dirty="0">
                <a:latin typeface="微软雅黑" panose="020B0503020204020204" pitchFamily="34" charset="-122"/>
                <a:ea typeface="微软雅黑" panose="020B0503020204020204" pitchFamily="34" charset="-122"/>
              </a:rPr>
              <a:t>和</a:t>
            </a:r>
            <a:r>
              <a:rPr lang="en-US" altLang="zh-CN" sz="2800" dirty="0">
                <a:latin typeface="微软雅黑" panose="020B0503020204020204" pitchFamily="34" charset="-122"/>
                <a:ea typeface="微软雅黑" panose="020B0503020204020204" pitchFamily="34" charset="-122"/>
              </a:rPr>
              <a:t>cache</a:t>
            </a:r>
            <a:r>
              <a:rPr lang="zh-CN" altLang="en-US" sz="2800" dirty="0">
                <a:latin typeface="微软雅黑" panose="020B0503020204020204" pitchFamily="34" charset="-122"/>
                <a:ea typeface="微软雅黑" panose="020B0503020204020204" pitchFamily="34" charset="-122"/>
              </a:rPr>
              <a:t>缺失率统计的需要，源码会较频繁地调用</a:t>
            </a:r>
            <a:r>
              <a:rPr lang="en-US" altLang="zh-CN" sz="2800" dirty="0" err="1">
                <a:latin typeface="微软雅黑" panose="020B0503020204020204" pitchFamily="34" charset="-122"/>
                <a:ea typeface="微软雅黑" panose="020B0503020204020204" pitchFamily="34" charset="-122"/>
              </a:rPr>
              <a:t>printf</a:t>
            </a:r>
            <a:r>
              <a:rPr lang="zh-CN" altLang="en-US" sz="2800" dirty="0">
                <a:latin typeface="微软雅黑" panose="020B0503020204020204" pitchFamily="34" charset="-122"/>
                <a:ea typeface="微软雅黑" panose="020B0503020204020204" pitchFamily="34" charset="-122"/>
              </a:rPr>
              <a:t>打印函数，这个函数会占用相当多的时钟周期。统计结果表明每个</a:t>
            </a:r>
            <a:r>
              <a:rPr lang="en-US" altLang="zh-CN" sz="2800" dirty="0" err="1">
                <a:latin typeface="微软雅黑" panose="020B0503020204020204" pitchFamily="34" charset="-122"/>
                <a:ea typeface="微软雅黑" panose="020B0503020204020204" pitchFamily="34" charset="-122"/>
              </a:rPr>
              <a:t>printf</a:t>
            </a:r>
            <a:r>
              <a:rPr lang="zh-CN" altLang="en-US" sz="2800" dirty="0">
                <a:latin typeface="微软雅黑" panose="020B0503020204020204" pitchFamily="34" charset="-122"/>
                <a:ea typeface="微软雅黑" panose="020B0503020204020204" pitchFamily="34" charset="-122"/>
              </a:rPr>
              <a:t>平均需要退休</a:t>
            </a:r>
            <a:r>
              <a:rPr lang="en-US" altLang="zh-CN" sz="2800" dirty="0">
                <a:latin typeface="微软雅黑" panose="020B0503020204020204" pitchFamily="34" charset="-122"/>
                <a:ea typeface="微软雅黑" panose="020B0503020204020204" pitchFamily="34" charset="-122"/>
              </a:rPr>
              <a:t>2k~5k</a:t>
            </a:r>
            <a:r>
              <a:rPr lang="zh-CN" altLang="en-US" sz="2800" dirty="0">
                <a:latin typeface="微软雅黑" panose="020B0503020204020204" pitchFamily="34" charset="-122"/>
                <a:ea typeface="微软雅黑" panose="020B0503020204020204" pitchFamily="34" charset="-122"/>
              </a:rPr>
              <a:t>条指令才能完成。</a:t>
            </a:r>
            <a:endParaRPr lang="en-US" altLang="zh-CN" sz="2800" dirty="0">
              <a:latin typeface="微软雅黑" panose="020B0503020204020204" pitchFamily="34" charset="-122"/>
              <a:ea typeface="微软雅黑" panose="020B0503020204020204" pitchFamily="34" charset="-122"/>
            </a:endParaRPr>
          </a:p>
          <a:p>
            <a:pPr lvl="1">
              <a:lnSpc>
                <a:spcPct val="130000"/>
              </a:lnSpc>
            </a:pPr>
            <a:r>
              <a:rPr lang="zh-CN" altLang="en-US" sz="2800" dirty="0">
                <a:latin typeface="微软雅黑" panose="020B0503020204020204" pitchFamily="34" charset="-122"/>
                <a:ea typeface="微软雅黑" panose="020B0503020204020204" pitchFamily="34" charset="-122"/>
              </a:rPr>
              <a:t>如果把这些</a:t>
            </a:r>
            <a:r>
              <a:rPr lang="en-US" altLang="zh-CN" sz="2800" dirty="0" err="1">
                <a:latin typeface="微软雅黑" panose="020B0503020204020204" pitchFamily="34" charset="-122"/>
                <a:ea typeface="微软雅黑" panose="020B0503020204020204" pitchFamily="34" charset="-122"/>
              </a:rPr>
              <a:t>printf</a:t>
            </a:r>
            <a:r>
              <a:rPr lang="zh-CN" altLang="en-US" sz="2800" dirty="0">
                <a:latin typeface="微软雅黑" panose="020B0503020204020204" pitchFamily="34" charset="-122"/>
                <a:ea typeface="微软雅黑" panose="020B0503020204020204" pitchFamily="34" charset="-122"/>
              </a:rPr>
              <a:t>以及其他类似的函数纳入指令计数，会造成统计失真，无法真实反应源码执行卷积过程的指令分布。</a:t>
            </a:r>
            <a:endParaRPr lang="en-US" altLang="zh-CN" sz="2800" dirty="0">
              <a:latin typeface="微软雅黑" panose="020B0503020204020204" pitchFamily="34" charset="-122"/>
              <a:ea typeface="微软雅黑" panose="020B0503020204020204" pitchFamily="34" charset="-122"/>
            </a:endParaRPr>
          </a:p>
          <a:p>
            <a:pPr lvl="1">
              <a:lnSpc>
                <a:spcPct val="130000"/>
              </a:lnSpc>
            </a:pPr>
            <a:endParaRPr lang="en-US" altLang="zh-CN" sz="2800" dirty="0">
              <a:latin typeface="微软雅黑" panose="020B0503020204020204" pitchFamily="34" charset="-122"/>
              <a:ea typeface="微软雅黑" panose="020B0503020204020204" pitchFamily="34" charset="-122"/>
            </a:endParaRPr>
          </a:p>
          <a:p>
            <a:pPr lvl="1">
              <a:lnSpc>
                <a:spcPct val="130000"/>
              </a:lnSpc>
            </a:pPr>
            <a:endParaRPr lang="en-US" altLang="zh-CN" sz="2400" dirty="0">
              <a:latin typeface="微软雅黑" panose="020B0503020204020204" pitchFamily="34" charset="-122"/>
              <a:ea typeface="微软雅黑" panose="020B0503020204020204" pitchFamily="34" charset="-122"/>
            </a:endParaRPr>
          </a:p>
          <a:p>
            <a:pPr lvl="1">
              <a:lnSpc>
                <a:spcPct val="130000"/>
              </a:lnSpc>
            </a:pPr>
            <a:endParaRPr lang="en-US" altLang="zh-CN"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11529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微软雅黑" panose="020B0503020204020204" pitchFamily="34" charset="-122"/>
                <a:ea typeface="微软雅黑" panose="020B0503020204020204" pitchFamily="34" charset="-122"/>
              </a:rPr>
              <a:t>确定计数时机</a:t>
            </a:r>
          </a:p>
        </p:txBody>
      </p:sp>
      <p:sp>
        <p:nvSpPr>
          <p:cNvPr id="3" name="内容占位符 2"/>
          <p:cNvSpPr>
            <a:spLocks noGrp="1"/>
          </p:cNvSpPr>
          <p:nvPr>
            <p:ph idx="1"/>
          </p:nvPr>
        </p:nvSpPr>
        <p:spPr>
          <a:xfrm>
            <a:off x="838200" y="1690688"/>
            <a:ext cx="10515600" cy="4882906"/>
          </a:xfrm>
        </p:spPr>
        <p:txBody>
          <a:bodyPr>
            <a:normAutofit/>
          </a:bodyPr>
          <a:lstStyle/>
          <a:p>
            <a:pPr>
              <a:lnSpc>
                <a:spcPct val="130000"/>
              </a:lnSpc>
            </a:pPr>
            <a:r>
              <a:rPr lang="zh-CN" altLang="en-US" sz="3200" dirty="0">
                <a:latin typeface="微软雅黑" panose="020B0503020204020204" pitchFamily="34" charset="-122"/>
                <a:ea typeface="微软雅黑" panose="020B0503020204020204" pitchFamily="34" charset="-122"/>
              </a:rPr>
              <a:t>定义两个哨兵函数</a:t>
            </a:r>
            <a:r>
              <a:rPr lang="en-US" altLang="zh-CN" sz="3200" dirty="0" err="1">
                <a:latin typeface="微软雅黑" panose="020B0503020204020204" pitchFamily="34" charset="-122"/>
                <a:ea typeface="微软雅黑" panose="020B0503020204020204" pitchFamily="34" charset="-122"/>
              </a:rPr>
              <a:t>guard_start</a:t>
            </a:r>
            <a:r>
              <a:rPr lang="zh-CN" altLang="en-US" sz="3200" dirty="0">
                <a:latin typeface="微软雅黑" panose="020B0503020204020204" pitchFamily="34" charset="-122"/>
                <a:ea typeface="微软雅黑" panose="020B0503020204020204" pitchFamily="34" charset="-122"/>
              </a:rPr>
              <a:t>和</a:t>
            </a:r>
            <a:r>
              <a:rPr lang="en-US" altLang="zh-CN" sz="3200" dirty="0" err="1">
                <a:latin typeface="微软雅黑" panose="020B0503020204020204" pitchFamily="34" charset="-122"/>
                <a:ea typeface="微软雅黑" panose="020B0503020204020204" pitchFamily="34" charset="-122"/>
              </a:rPr>
              <a:t>guard_end</a:t>
            </a:r>
            <a:r>
              <a:rPr lang="zh-CN" altLang="en-US" sz="3200" dirty="0">
                <a:latin typeface="微软雅黑" panose="020B0503020204020204" pitchFamily="34" charset="-122"/>
                <a:ea typeface="微软雅黑" panose="020B0503020204020204" pitchFamily="34" charset="-122"/>
              </a:rPr>
              <a:t>，使待测试的源码位于这两个函数之间</a:t>
            </a:r>
            <a:endParaRPr lang="en-US" altLang="zh-CN" sz="3200" dirty="0">
              <a:latin typeface="微软雅黑" panose="020B0503020204020204" pitchFamily="34" charset="-122"/>
              <a:ea typeface="微软雅黑" panose="020B0503020204020204" pitchFamily="34" charset="-122"/>
            </a:endParaRPr>
          </a:p>
          <a:p>
            <a:pPr>
              <a:lnSpc>
                <a:spcPct val="130000"/>
              </a:lnSpc>
            </a:pPr>
            <a:r>
              <a:rPr lang="zh-CN" altLang="en-US" sz="3200" dirty="0">
                <a:latin typeface="微软雅黑" panose="020B0503020204020204" pitchFamily="34" charset="-122"/>
                <a:ea typeface="微软雅黑" panose="020B0503020204020204" pitchFamily="34" charset="-122"/>
              </a:rPr>
              <a:t>在完全重定向的文件中找到两个</a:t>
            </a:r>
            <a:endParaRPr lang="en-US" altLang="zh-CN" sz="3200" dirty="0">
              <a:latin typeface="微软雅黑" panose="020B0503020204020204" pitchFamily="34" charset="-122"/>
              <a:ea typeface="微软雅黑" panose="020B0503020204020204" pitchFamily="34" charset="-122"/>
            </a:endParaRPr>
          </a:p>
          <a:p>
            <a:pPr marL="0" indent="0">
              <a:lnSpc>
                <a:spcPct val="130000"/>
              </a:lnSpc>
              <a:buNone/>
            </a:pPr>
            <a:r>
              <a:rPr lang="en-US" altLang="zh-CN" sz="3200" dirty="0">
                <a:latin typeface="微软雅黑" panose="020B0503020204020204" pitchFamily="34" charset="-122"/>
                <a:ea typeface="微软雅黑" panose="020B0503020204020204" pitchFamily="34" charset="-122"/>
              </a:rPr>
              <a:t>  </a:t>
            </a:r>
            <a:r>
              <a:rPr lang="zh-CN" altLang="en-US" sz="3200" dirty="0">
                <a:latin typeface="微软雅黑" panose="020B0503020204020204" pitchFamily="34" charset="-122"/>
                <a:ea typeface="微软雅黑" panose="020B0503020204020204" pitchFamily="34" charset="-122"/>
              </a:rPr>
              <a:t>函数的入口，记为</a:t>
            </a:r>
            <a:r>
              <a:rPr lang="en-US" altLang="zh-CN" sz="3200" dirty="0">
                <a:latin typeface="微软雅黑" panose="020B0503020204020204" pitchFamily="34" charset="-122"/>
                <a:ea typeface="微软雅黑" panose="020B0503020204020204" pitchFamily="34" charset="-122"/>
              </a:rPr>
              <a:t>0xP</a:t>
            </a:r>
            <a:r>
              <a:rPr lang="zh-CN" altLang="en-US" sz="3200" dirty="0">
                <a:latin typeface="微软雅黑" panose="020B0503020204020204" pitchFamily="34" charset="-122"/>
                <a:ea typeface="微软雅黑" panose="020B0503020204020204" pitchFamily="34" charset="-122"/>
              </a:rPr>
              <a:t>和</a:t>
            </a:r>
            <a:r>
              <a:rPr lang="en-US" altLang="zh-CN" sz="3200" dirty="0">
                <a:latin typeface="微软雅黑" panose="020B0503020204020204" pitchFamily="34" charset="-122"/>
                <a:ea typeface="微软雅黑" panose="020B0503020204020204" pitchFamily="34" charset="-122"/>
              </a:rPr>
              <a:t>0xQ</a:t>
            </a:r>
          </a:p>
          <a:p>
            <a:pPr>
              <a:lnSpc>
                <a:spcPct val="130000"/>
              </a:lnSpc>
            </a:pPr>
            <a:r>
              <a:rPr lang="zh-CN" altLang="en-US" sz="2800" dirty="0">
                <a:latin typeface="微软雅黑" panose="020B0503020204020204" pitchFamily="34" charset="-122"/>
                <a:ea typeface="微软雅黑" panose="020B0503020204020204" pitchFamily="34" charset="-122"/>
              </a:rPr>
              <a:t>在</a:t>
            </a:r>
            <a:r>
              <a:rPr lang="en-US" altLang="zh-CN" dirty="0" err="1">
                <a:latin typeface="微软雅黑" panose="020B0503020204020204" pitchFamily="34" charset="-122"/>
                <a:ea typeface="微软雅黑" panose="020B0503020204020204" pitchFamily="34" charset="-122"/>
              </a:rPr>
              <a:t>testbench</a:t>
            </a:r>
            <a:r>
              <a:rPr lang="zh-CN" altLang="en-US" dirty="0">
                <a:latin typeface="微软雅黑" panose="020B0503020204020204" pitchFamily="34" charset="-122"/>
                <a:ea typeface="微软雅黑" panose="020B0503020204020204" pitchFamily="34" charset="-122"/>
              </a:rPr>
              <a:t>中监测</a:t>
            </a:r>
            <a:r>
              <a:rPr lang="en-US" altLang="zh-CN" dirty="0">
                <a:latin typeface="微软雅黑" panose="020B0503020204020204" pitchFamily="34" charset="-122"/>
                <a:ea typeface="微软雅黑" panose="020B0503020204020204" pitchFamily="34" charset="-122"/>
              </a:rPr>
              <a:t>PC</a:t>
            </a:r>
            <a:r>
              <a:rPr lang="zh-CN" altLang="en-US" dirty="0">
                <a:latin typeface="微软雅黑" panose="020B0503020204020204" pitchFamily="34" charset="-122"/>
                <a:ea typeface="微软雅黑" panose="020B0503020204020204" pitchFamily="34" charset="-122"/>
              </a:rPr>
              <a:t>值，</a:t>
            </a:r>
            <a:r>
              <a:rPr lang="en-US" altLang="zh-CN" dirty="0">
                <a:latin typeface="微软雅黑" panose="020B0503020204020204" pitchFamily="34" charset="-122"/>
                <a:ea typeface="微软雅黑" panose="020B0503020204020204" pitchFamily="34" charset="-122"/>
              </a:rPr>
              <a:t>PC=0xP</a:t>
            </a:r>
            <a:r>
              <a:rPr lang="zh-CN" altLang="en-US" dirty="0">
                <a:latin typeface="微软雅黑" panose="020B0503020204020204" pitchFamily="34" charset="-122"/>
                <a:ea typeface="微软雅黑" panose="020B0503020204020204" pitchFamily="34" charset="-122"/>
              </a:rPr>
              <a:t>时开始计数，</a:t>
            </a:r>
            <a:r>
              <a:rPr lang="en-US" altLang="zh-CN" dirty="0">
                <a:latin typeface="微软雅黑" panose="020B0503020204020204" pitchFamily="34" charset="-122"/>
                <a:ea typeface="微软雅黑" panose="020B0503020204020204" pitchFamily="34" charset="-122"/>
              </a:rPr>
              <a:t>PC=0xQ</a:t>
            </a:r>
            <a:r>
              <a:rPr lang="zh-CN" altLang="en-US" dirty="0">
                <a:latin typeface="微软雅黑" panose="020B0503020204020204" pitchFamily="34" charset="-122"/>
                <a:ea typeface="微软雅黑" panose="020B0503020204020204" pitchFamily="34" charset="-122"/>
              </a:rPr>
              <a:t>时结束计数。如此可以进行任意代码段的指令统计。</a:t>
            </a:r>
            <a:endParaRPr lang="en-US" altLang="zh-CN" sz="2800" dirty="0">
              <a:latin typeface="微软雅黑" panose="020B0503020204020204" pitchFamily="34" charset="-122"/>
              <a:ea typeface="微软雅黑" panose="020B0503020204020204" pitchFamily="34" charset="-122"/>
            </a:endParaRPr>
          </a:p>
          <a:p>
            <a:pPr lvl="1">
              <a:lnSpc>
                <a:spcPct val="130000"/>
              </a:lnSpc>
            </a:pPr>
            <a:endParaRPr lang="en-US" altLang="zh-CN" sz="2800" dirty="0">
              <a:latin typeface="微软雅黑" panose="020B0503020204020204" pitchFamily="34" charset="-122"/>
              <a:ea typeface="微软雅黑" panose="020B0503020204020204" pitchFamily="34" charset="-122"/>
            </a:endParaRPr>
          </a:p>
          <a:p>
            <a:pPr lvl="1">
              <a:lnSpc>
                <a:spcPct val="130000"/>
              </a:lnSpc>
            </a:pPr>
            <a:endParaRPr lang="en-US" altLang="zh-CN" sz="2400" dirty="0">
              <a:latin typeface="微软雅黑" panose="020B0503020204020204" pitchFamily="34" charset="-122"/>
              <a:ea typeface="微软雅黑" panose="020B0503020204020204" pitchFamily="34" charset="-122"/>
            </a:endParaRPr>
          </a:p>
          <a:p>
            <a:pPr lvl="1">
              <a:lnSpc>
                <a:spcPct val="130000"/>
              </a:lnSpc>
            </a:pPr>
            <a:endParaRPr lang="en-US" altLang="zh-CN" sz="2800"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7360904" y="2518946"/>
            <a:ext cx="2970212" cy="2154448"/>
          </a:xfrm>
          <a:prstGeom prst="rect">
            <a:avLst/>
          </a:prstGeom>
        </p:spPr>
      </p:pic>
    </p:spTree>
    <p:extLst>
      <p:ext uri="{BB962C8B-B14F-4D97-AF65-F5344CB8AC3E}">
        <p14:creationId xmlns:p14="http://schemas.microsoft.com/office/powerpoint/2010/main" val="20753474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微软雅黑" panose="020B0503020204020204" pitchFamily="34" charset="-122"/>
                <a:ea typeface="微软雅黑" panose="020B0503020204020204" pitchFamily="34" charset="-122"/>
              </a:rPr>
              <a:t>文件改动小结</a:t>
            </a:r>
          </a:p>
        </p:txBody>
      </p:sp>
      <p:sp>
        <p:nvSpPr>
          <p:cNvPr id="3" name="内容占位符 2"/>
          <p:cNvSpPr>
            <a:spLocks noGrp="1"/>
          </p:cNvSpPr>
          <p:nvPr>
            <p:ph idx="1"/>
          </p:nvPr>
        </p:nvSpPr>
        <p:spPr>
          <a:xfrm>
            <a:off x="838200" y="1690688"/>
            <a:ext cx="10515600" cy="4882906"/>
          </a:xfrm>
        </p:spPr>
        <p:txBody>
          <a:bodyPr>
            <a:normAutofit lnSpcReduction="10000"/>
          </a:bodyPr>
          <a:lstStyle/>
          <a:p>
            <a:pPr lvl="0"/>
            <a:r>
              <a:rPr lang="zh-CN" altLang="zh-CN" dirty="0"/>
              <a:t>将</a:t>
            </a:r>
            <a:r>
              <a:rPr lang="en-US" altLang="zh-CN" dirty="0"/>
              <a:t>axi_slave128_copy.v</a:t>
            </a:r>
            <a:r>
              <a:rPr lang="zh-CN" altLang="zh-CN" dirty="0"/>
              <a:t>复制到目录</a:t>
            </a:r>
            <a:r>
              <a:rPr lang="en-US" altLang="zh-CN" dirty="0"/>
              <a:t>./</a:t>
            </a:r>
            <a:r>
              <a:rPr lang="en-US" altLang="zh-CN" dirty="0" err="1"/>
              <a:t>rtl</a:t>
            </a:r>
            <a:r>
              <a:rPr lang="en-US" altLang="zh-CN" dirty="0"/>
              <a:t>/platform/</a:t>
            </a:r>
            <a:r>
              <a:rPr lang="en-US" altLang="zh-CN" dirty="0" err="1"/>
              <a:t>amba</a:t>
            </a:r>
            <a:r>
              <a:rPr lang="en-US" altLang="zh-CN" dirty="0"/>
              <a:t>/</a:t>
            </a:r>
            <a:r>
              <a:rPr lang="en-US" altLang="zh-CN" dirty="0" err="1"/>
              <a:t>axi</a:t>
            </a:r>
            <a:r>
              <a:rPr lang="en-US" altLang="zh-CN" dirty="0"/>
              <a:t>/</a:t>
            </a:r>
            <a:r>
              <a:rPr lang="zh-CN" altLang="zh-CN" dirty="0"/>
              <a:t>下</a:t>
            </a:r>
          </a:p>
          <a:p>
            <a:pPr lvl="0"/>
            <a:r>
              <a:rPr lang="zh-CN" altLang="zh-CN" dirty="0"/>
              <a:t>用</a:t>
            </a:r>
            <a:r>
              <a:rPr lang="en-US" altLang="zh-CN" dirty="0" err="1"/>
              <a:t>soc.v</a:t>
            </a:r>
            <a:r>
              <a:rPr lang="zh-CN" altLang="zh-CN" dirty="0"/>
              <a:t>替换原有的</a:t>
            </a:r>
            <a:r>
              <a:rPr lang="en-US" altLang="zh-CN" dirty="0"/>
              <a:t>./</a:t>
            </a:r>
            <a:r>
              <a:rPr lang="en-US" altLang="zh-CN" dirty="0" err="1"/>
              <a:t>rtl</a:t>
            </a:r>
            <a:r>
              <a:rPr lang="en-US" altLang="zh-CN" dirty="0"/>
              <a:t>/platform/common/</a:t>
            </a:r>
            <a:r>
              <a:rPr lang="en-US" altLang="zh-CN" dirty="0" err="1"/>
              <a:t>soc.v</a:t>
            </a:r>
            <a:r>
              <a:rPr lang="zh-CN" altLang="zh-CN" dirty="0"/>
              <a:t>文件</a:t>
            </a:r>
          </a:p>
          <a:p>
            <a:pPr lvl="0"/>
            <a:r>
              <a:rPr lang="zh-CN" altLang="zh-CN" dirty="0"/>
              <a:t>用</a:t>
            </a:r>
            <a:r>
              <a:rPr lang="en-US" altLang="zh-CN" dirty="0" err="1"/>
              <a:t>tb.v</a:t>
            </a:r>
            <a:r>
              <a:rPr lang="zh-CN" altLang="zh-CN" dirty="0"/>
              <a:t>替换原有的</a:t>
            </a:r>
            <a:r>
              <a:rPr lang="en-US" altLang="zh-CN" dirty="0"/>
              <a:t>./</a:t>
            </a:r>
            <a:r>
              <a:rPr lang="en-US" altLang="zh-CN" dirty="0" err="1"/>
              <a:t>tb</a:t>
            </a:r>
            <a:r>
              <a:rPr lang="en-US" altLang="zh-CN" dirty="0"/>
              <a:t>/</a:t>
            </a:r>
            <a:r>
              <a:rPr lang="en-US" altLang="zh-CN" dirty="0" err="1"/>
              <a:t>tb.v</a:t>
            </a:r>
            <a:r>
              <a:rPr lang="zh-CN" altLang="zh-CN" dirty="0"/>
              <a:t>文件</a:t>
            </a:r>
          </a:p>
          <a:p>
            <a:pPr lvl="0"/>
            <a:r>
              <a:rPr lang="zh-CN" altLang="zh-CN" dirty="0"/>
              <a:t>用</a:t>
            </a:r>
            <a:r>
              <a:rPr lang="en-US" altLang="zh-CN" dirty="0" err="1"/>
              <a:t>Makefile</a:t>
            </a:r>
            <a:r>
              <a:rPr lang="zh-CN" altLang="zh-CN" dirty="0"/>
              <a:t>替换原有的</a:t>
            </a:r>
            <a:r>
              <a:rPr lang="en-US" altLang="zh-CN" dirty="0"/>
              <a:t>./lib/</a:t>
            </a:r>
            <a:r>
              <a:rPr lang="en-US" altLang="zh-CN" dirty="0" err="1"/>
              <a:t>Makefile</a:t>
            </a:r>
            <a:r>
              <a:rPr lang="zh-CN" altLang="zh-CN" dirty="0"/>
              <a:t>文件</a:t>
            </a:r>
          </a:p>
          <a:p>
            <a:pPr lvl="0"/>
            <a:r>
              <a:rPr lang="zh-CN" altLang="zh-CN" dirty="0"/>
              <a:t>在</a:t>
            </a:r>
            <a:r>
              <a:rPr lang="en-US" altLang="zh-CN" dirty="0"/>
              <a:t>./lib/crt0.s</a:t>
            </a:r>
            <a:r>
              <a:rPr lang="zh-CN" altLang="zh-CN" dirty="0"/>
              <a:t>中初始化与</a:t>
            </a:r>
            <a:r>
              <a:rPr lang="en-US" altLang="zh-CN" dirty="0"/>
              <a:t>PMU</a:t>
            </a:r>
            <a:r>
              <a:rPr lang="zh-CN" altLang="zh-CN" dirty="0"/>
              <a:t>相关的寄存器</a:t>
            </a:r>
          </a:p>
          <a:p>
            <a:pPr lvl="0"/>
            <a:r>
              <a:rPr lang="zh-CN" altLang="zh-CN" dirty="0"/>
              <a:t>将</a:t>
            </a:r>
            <a:r>
              <a:rPr lang="en-US" altLang="zh-CN" dirty="0" err="1"/>
              <a:t>pmu.h</a:t>
            </a:r>
            <a:r>
              <a:rPr lang="zh-CN" altLang="zh-CN" dirty="0"/>
              <a:t>添加到</a:t>
            </a:r>
            <a:r>
              <a:rPr lang="en-US" altLang="zh-CN" dirty="0"/>
              <a:t>./lib/</a:t>
            </a:r>
            <a:r>
              <a:rPr lang="en-US" altLang="zh-CN" dirty="0" err="1"/>
              <a:t>clib</a:t>
            </a:r>
            <a:r>
              <a:rPr lang="zh-CN" altLang="zh-CN" dirty="0"/>
              <a:t>下</a:t>
            </a:r>
          </a:p>
          <a:p>
            <a:pPr lvl="0"/>
            <a:r>
              <a:rPr lang="zh-CN" altLang="zh-CN" dirty="0"/>
              <a:t>将</a:t>
            </a:r>
            <a:r>
              <a:rPr lang="en-US" altLang="zh-CN" dirty="0" err="1"/>
              <a:t>conv</a:t>
            </a:r>
            <a:r>
              <a:rPr lang="zh-CN" altLang="zh-CN" dirty="0"/>
              <a:t>文件夹复制到</a:t>
            </a:r>
            <a:r>
              <a:rPr lang="en-US" altLang="zh-CN" dirty="0"/>
              <a:t>./case</a:t>
            </a:r>
            <a:r>
              <a:rPr lang="zh-CN" altLang="zh-CN" dirty="0"/>
              <a:t>路径下，</a:t>
            </a:r>
            <a:r>
              <a:rPr lang="en-US" altLang="zh-CN" dirty="0" err="1"/>
              <a:t>conv</a:t>
            </a:r>
            <a:r>
              <a:rPr lang="zh-CN" altLang="zh-CN" dirty="0"/>
              <a:t>文件夹中应包含</a:t>
            </a:r>
            <a:r>
              <a:rPr lang="en-US" altLang="zh-CN" dirty="0" err="1"/>
              <a:t>work.c</a:t>
            </a:r>
            <a:r>
              <a:rPr lang="zh-CN" altLang="zh-CN" dirty="0"/>
              <a:t>、</a:t>
            </a:r>
            <a:r>
              <a:rPr lang="en-US" altLang="zh-CN" dirty="0" err="1"/>
              <a:t>darknet.c</a:t>
            </a:r>
            <a:r>
              <a:rPr lang="zh-CN" altLang="zh-CN" dirty="0"/>
              <a:t>、</a:t>
            </a:r>
            <a:r>
              <a:rPr lang="en-US" altLang="zh-CN" dirty="0" err="1"/>
              <a:t>datain.pat</a:t>
            </a:r>
            <a:r>
              <a:rPr lang="zh-CN" altLang="zh-CN" dirty="0"/>
              <a:t>三个文件</a:t>
            </a:r>
          </a:p>
          <a:p>
            <a:pPr>
              <a:lnSpc>
                <a:spcPct val="130000"/>
              </a:lnSpc>
            </a:pPr>
            <a:r>
              <a:rPr lang="zh-CN" altLang="zh-CN" dirty="0"/>
              <a:t>如有必要，应核对</a:t>
            </a:r>
            <a:r>
              <a:rPr lang="en-US" altLang="zh-CN" dirty="0" err="1"/>
              <a:t>gurad_start</a:t>
            </a:r>
            <a:r>
              <a:rPr lang="zh-CN" altLang="zh-CN" dirty="0"/>
              <a:t>和</a:t>
            </a:r>
            <a:r>
              <a:rPr lang="en-US" altLang="zh-CN" dirty="0" err="1"/>
              <a:t>guard_end</a:t>
            </a:r>
            <a:r>
              <a:rPr lang="zh-CN" altLang="zh-CN" dirty="0"/>
              <a:t>函数的入口地址是否与</a:t>
            </a:r>
            <a:r>
              <a:rPr lang="en-US" altLang="zh-CN" dirty="0" err="1"/>
              <a:t>tb.v</a:t>
            </a:r>
            <a:r>
              <a:rPr lang="zh-CN" altLang="zh-CN" dirty="0"/>
              <a:t>中相匹配。</a:t>
            </a:r>
          </a:p>
          <a:p>
            <a:pPr>
              <a:lnSpc>
                <a:spcPct val="130000"/>
              </a:lnSpc>
            </a:pPr>
            <a:endParaRPr lang="en-US" altLang="zh-CN" sz="2800" dirty="0">
              <a:latin typeface="微软雅黑" panose="020B0503020204020204" pitchFamily="34" charset="-122"/>
              <a:ea typeface="微软雅黑" panose="020B0503020204020204" pitchFamily="34" charset="-122"/>
            </a:endParaRPr>
          </a:p>
          <a:p>
            <a:pPr lvl="1">
              <a:lnSpc>
                <a:spcPct val="130000"/>
              </a:lnSpc>
            </a:pPr>
            <a:endParaRPr lang="en-US" altLang="zh-CN" sz="2400" dirty="0">
              <a:latin typeface="微软雅黑" panose="020B0503020204020204" pitchFamily="34" charset="-122"/>
              <a:ea typeface="微软雅黑" panose="020B0503020204020204" pitchFamily="34" charset="-122"/>
            </a:endParaRPr>
          </a:p>
          <a:p>
            <a:pPr lvl="1">
              <a:lnSpc>
                <a:spcPct val="130000"/>
              </a:lnSpc>
            </a:pPr>
            <a:endParaRPr lang="en-US" altLang="zh-CN"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15367110"/>
      </p:ext>
    </p:extLst>
  </p:cSld>
  <p:clrMapOvr>
    <a:masterClrMapping/>
  </p:clrMapOvr>
</p:sld>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252</TotalTime>
  <Words>2076</Words>
  <Application>Microsoft Office PowerPoint</Application>
  <PresentationFormat>宽屏</PresentationFormat>
  <Paragraphs>154</Paragraphs>
  <Slides>23</Slides>
  <Notes>0</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23</vt:i4>
      </vt:variant>
    </vt:vector>
  </HeadingPairs>
  <TitlesOfParts>
    <vt:vector size="30" baseType="lpstr">
      <vt:lpstr>等线</vt:lpstr>
      <vt:lpstr>等线 Light</vt:lpstr>
      <vt:lpstr>微软雅黑</vt:lpstr>
      <vt:lpstr>Arial</vt:lpstr>
      <vt:lpstr>Consolas</vt:lpstr>
      <vt:lpstr>webwppDefTheme</vt:lpstr>
      <vt:lpstr>Office 主题​​</vt:lpstr>
      <vt:lpstr>YOLO卷积层的SMART仿真</vt:lpstr>
      <vt:lpstr>目录</vt:lpstr>
      <vt:lpstr>一、C程序在SMART的仿真流程</vt:lpstr>
      <vt:lpstr>编译参数</vt:lpstr>
      <vt:lpstr>编译参数</vt:lpstr>
      <vt:lpstr>编译参数</vt:lpstr>
      <vt:lpstr>链接脚本和启动代码</vt:lpstr>
      <vt:lpstr>链接脚本和启动代码</vt:lpstr>
      <vt:lpstr>启动代码的主要工作</vt:lpstr>
      <vt:lpstr>Srec2vmem脚本</vt:lpstr>
      <vt:lpstr>Srec2vmem脚本</vt:lpstr>
      <vt:lpstr>Testbench</vt:lpstr>
      <vt:lpstr>Testbench</vt:lpstr>
      <vt:lpstr>二、YOLO卷积层的SMART仿真</vt:lpstr>
      <vt:lpstr>变量的初始化</vt:lpstr>
      <vt:lpstr>变量的初始化</vt:lpstr>
      <vt:lpstr>三、YOLO卷积层仿真的性能监测</vt:lpstr>
      <vt:lpstr>CPI和cache缺失率</vt:lpstr>
      <vt:lpstr>指令分布统计</vt:lpstr>
      <vt:lpstr>指令分布统计</vt:lpstr>
      <vt:lpstr>指令分布统计</vt:lpstr>
      <vt:lpstr>确定计数时机</vt:lpstr>
      <vt:lpstr>文件改动小结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RISC-V QEMU简介和安装</dc:title>
  <dc:creator>刘 旭东</dc:creator>
  <cp:lastModifiedBy>Abraham sun</cp:lastModifiedBy>
  <cp:revision>37</cp:revision>
  <dcterms:created xsi:type="dcterms:W3CDTF">2020-10-11T08:41:46Z</dcterms:created>
  <dcterms:modified xsi:type="dcterms:W3CDTF">2026-05-09T05:20:28Z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ies>
</file>