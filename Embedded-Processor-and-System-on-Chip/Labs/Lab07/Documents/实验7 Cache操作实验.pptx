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73" r:id="rId4"/>
    <p:sldId id="274" r:id="rId5"/>
    <p:sldId id="266" r:id="rId6"/>
    <p:sldId id="275" r:id="rId7"/>
    <p:sldId id="276" r:id="rId8"/>
    <p:sldId id="277" r:id="rId9"/>
    <p:sldId id="278" r:id="rId10"/>
    <p:sldId id="279" r:id="rId11"/>
    <p:sldId id="280" r:id="rId12"/>
    <p:sldId id="281" r:id="rId13"/>
    <p:sldId id="282" r:id="rId14"/>
    <p:sldId id="283" r:id="rId15"/>
    <p:sldId id="284" r:id="rId16"/>
    <p:sldId id="271" r:id="rId17"/>
    <p:sldId id="270" r:id="rId18"/>
    <p:sldId id="258" r:id="rId19"/>
    <p:sldId id="260" r:id="rId20"/>
    <p:sldId id="261" r:id="rId21"/>
    <p:sldId id="262" r:id="rId2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C7853C-536D-4A76-A0AE-DD22124D55A5}" styleName="主题样式 1 - 强调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F2DE63D5-997A-4646-A377-4702673A728D}" styleName="浅色样式 2 - 强调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D7AC3CCA-C797-4891-BE02-D94E43425B78}" styleName="中度样式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8" d="100"/>
          <a:sy n="48" d="100"/>
        </p:scale>
        <p:origin x="446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userId="379ea384f285cb02" providerId="LiveId" clId="{98374D14-2810-460B-A960-F5E4FFBCFD5A}"/>
    <pc:docChg chg="custSel addSld delSld modSld">
      <pc:chgData name="" userId="379ea384f285cb02" providerId="LiveId" clId="{98374D14-2810-460B-A960-F5E4FFBCFD5A}" dt="2020-11-14T05:19:37.815" v="1319" actId="27636"/>
      <pc:docMkLst>
        <pc:docMk/>
      </pc:docMkLst>
      <pc:sldChg chg="modSp">
        <pc:chgData name="" userId="379ea384f285cb02" providerId="LiveId" clId="{98374D14-2810-460B-A960-F5E4FFBCFD5A}" dt="2020-11-13T08:22:13.987" v="69" actId="2711"/>
        <pc:sldMkLst>
          <pc:docMk/>
          <pc:sldMk cId="2286614484" sldId="256"/>
        </pc:sldMkLst>
        <pc:spChg chg="mod">
          <ac:chgData name="" userId="379ea384f285cb02" providerId="LiveId" clId="{98374D14-2810-460B-A960-F5E4FFBCFD5A}" dt="2020-11-13T08:22:13.987" v="69" actId="2711"/>
          <ac:spMkLst>
            <pc:docMk/>
            <pc:sldMk cId="2286614484" sldId="256"/>
            <ac:spMk id="2" creationId="{9FA5CC94-C86A-4A26-9885-E1C3737BA522}"/>
          </ac:spMkLst>
        </pc:spChg>
      </pc:sldChg>
      <pc:sldChg chg="modSp">
        <pc:chgData name="" userId="379ea384f285cb02" providerId="LiveId" clId="{98374D14-2810-460B-A960-F5E4FFBCFD5A}" dt="2020-11-13T10:40:13.575" v="364" actId="5793"/>
        <pc:sldMkLst>
          <pc:docMk/>
          <pc:sldMk cId="3826701726" sldId="257"/>
        </pc:sldMkLst>
        <pc:spChg chg="mod">
          <ac:chgData name="" userId="379ea384f285cb02" providerId="LiveId" clId="{98374D14-2810-460B-A960-F5E4FFBCFD5A}" dt="2020-11-13T08:22:20.770" v="71" actId="2711"/>
          <ac:spMkLst>
            <pc:docMk/>
            <pc:sldMk cId="3826701726" sldId="257"/>
            <ac:spMk id="2" creationId="{860EEEEB-D99F-46F9-83A5-0C4D2A426634}"/>
          </ac:spMkLst>
        </pc:spChg>
        <pc:spChg chg="mod">
          <ac:chgData name="" userId="379ea384f285cb02" providerId="LiveId" clId="{98374D14-2810-460B-A960-F5E4FFBCFD5A}" dt="2020-11-13T10:40:13.575" v="364" actId="5793"/>
          <ac:spMkLst>
            <pc:docMk/>
            <pc:sldMk cId="3826701726" sldId="257"/>
            <ac:spMk id="3" creationId="{E1CBEFC3-4602-423E-AD1F-9460A7ADD06B}"/>
          </ac:spMkLst>
        </pc:spChg>
      </pc:sldChg>
      <pc:sldChg chg="modSp">
        <pc:chgData name="" userId="379ea384f285cb02" providerId="LiveId" clId="{98374D14-2810-460B-A960-F5E4FFBCFD5A}" dt="2020-11-13T08:22:45.295" v="77" actId="2711"/>
        <pc:sldMkLst>
          <pc:docMk/>
          <pc:sldMk cId="3152418156" sldId="258"/>
        </pc:sldMkLst>
        <pc:spChg chg="mod">
          <ac:chgData name="" userId="379ea384f285cb02" providerId="LiveId" clId="{98374D14-2810-460B-A960-F5E4FFBCFD5A}" dt="2020-11-13T08:22:45.295" v="77" actId="2711"/>
          <ac:spMkLst>
            <pc:docMk/>
            <pc:sldMk cId="3152418156" sldId="258"/>
            <ac:spMk id="2" creationId="{2897DD58-36F5-44FC-A543-944A69DD47E7}"/>
          </ac:spMkLst>
        </pc:spChg>
        <pc:spChg chg="mod">
          <ac:chgData name="" userId="379ea384f285cb02" providerId="LiveId" clId="{98374D14-2810-460B-A960-F5E4FFBCFD5A}" dt="2020-11-13T08:22:45.295" v="77" actId="2711"/>
          <ac:spMkLst>
            <pc:docMk/>
            <pc:sldMk cId="3152418156" sldId="258"/>
            <ac:spMk id="6" creationId="{5C701846-CA60-4F80-B64F-369BCCC5D0ED}"/>
          </ac:spMkLst>
        </pc:spChg>
      </pc:sldChg>
      <pc:sldChg chg="modSp">
        <pc:chgData name="" userId="379ea384f285cb02" providerId="LiveId" clId="{98374D14-2810-460B-A960-F5E4FFBCFD5A}" dt="2020-11-13T08:19:00.732" v="26"/>
        <pc:sldMkLst>
          <pc:docMk/>
          <pc:sldMk cId="477485865" sldId="259"/>
        </pc:sldMkLst>
        <pc:spChg chg="mod">
          <ac:chgData name="" userId="379ea384f285cb02" providerId="LiveId" clId="{98374D14-2810-460B-A960-F5E4FFBCFD5A}" dt="2020-11-13T08:19:00.732" v="26"/>
          <ac:spMkLst>
            <pc:docMk/>
            <pc:sldMk cId="477485865" sldId="259"/>
            <ac:spMk id="3" creationId="{1AFBB595-3FF2-4FA8-8C77-4DE7BB99D1CC}"/>
          </ac:spMkLst>
        </pc:spChg>
      </pc:sldChg>
      <pc:sldChg chg="modSp">
        <pc:chgData name="" userId="379ea384f285cb02" providerId="LiveId" clId="{98374D14-2810-460B-A960-F5E4FFBCFD5A}" dt="2020-11-13T11:48:14.466" v="1288" actId="20577"/>
        <pc:sldMkLst>
          <pc:docMk/>
          <pc:sldMk cId="2948278290" sldId="260"/>
        </pc:sldMkLst>
        <pc:spChg chg="mod">
          <ac:chgData name="" userId="379ea384f285cb02" providerId="LiveId" clId="{98374D14-2810-460B-A960-F5E4FFBCFD5A}" dt="2020-11-13T11:48:14.466" v="1288" actId="20577"/>
          <ac:spMkLst>
            <pc:docMk/>
            <pc:sldMk cId="2948278290" sldId="260"/>
            <ac:spMk id="3" creationId="{6DAEC807-9505-43C3-8DC7-E61C18625D19}"/>
          </ac:spMkLst>
        </pc:spChg>
      </pc:sldChg>
      <pc:sldChg chg="modSp">
        <pc:chgData name="" userId="379ea384f285cb02" providerId="LiveId" clId="{98374D14-2810-460B-A960-F5E4FFBCFD5A}" dt="2020-11-13T11:49:22.143" v="1302" actId="20577"/>
        <pc:sldMkLst>
          <pc:docMk/>
          <pc:sldMk cId="2846939265" sldId="261"/>
        </pc:sldMkLst>
        <pc:spChg chg="mod">
          <ac:chgData name="" userId="379ea384f285cb02" providerId="LiveId" clId="{98374D14-2810-460B-A960-F5E4FFBCFD5A}" dt="2020-11-13T11:49:22.143" v="1302" actId="20577"/>
          <ac:spMkLst>
            <pc:docMk/>
            <pc:sldMk cId="2846939265" sldId="261"/>
            <ac:spMk id="3" creationId="{9846EE75-A0E2-4F0F-BDDC-CDA41F21010C}"/>
          </ac:spMkLst>
        </pc:spChg>
      </pc:sldChg>
      <pc:sldChg chg="del">
        <pc:chgData name="" userId="379ea384f285cb02" providerId="LiveId" clId="{98374D14-2810-460B-A960-F5E4FFBCFD5A}" dt="2020-11-13T08:19:48.149" v="27" actId="2696"/>
        <pc:sldMkLst>
          <pc:docMk/>
          <pc:sldMk cId="4277527208" sldId="263"/>
        </pc:sldMkLst>
      </pc:sldChg>
      <pc:sldChg chg="modSp modNotesTx">
        <pc:chgData name="" userId="379ea384f285cb02" providerId="LiveId" clId="{98374D14-2810-460B-A960-F5E4FFBCFD5A}" dt="2020-11-13T11:45:28.303" v="1259" actId="20577"/>
        <pc:sldMkLst>
          <pc:docMk/>
          <pc:sldMk cId="2110578599" sldId="265"/>
        </pc:sldMkLst>
        <pc:spChg chg="mod">
          <ac:chgData name="" userId="379ea384f285cb02" providerId="LiveId" clId="{98374D14-2810-460B-A960-F5E4FFBCFD5A}" dt="2020-11-13T08:22:25.092" v="72" actId="2711"/>
          <ac:spMkLst>
            <pc:docMk/>
            <pc:sldMk cId="2110578599" sldId="265"/>
            <ac:spMk id="2" creationId="{502D224D-949A-4A07-AA7C-98800003293E}"/>
          </ac:spMkLst>
        </pc:spChg>
        <pc:spChg chg="mod">
          <ac:chgData name="" userId="379ea384f285cb02" providerId="LiveId" clId="{98374D14-2810-460B-A960-F5E4FFBCFD5A}" dt="2020-11-13T08:22:25.092" v="72" actId="2711"/>
          <ac:spMkLst>
            <pc:docMk/>
            <pc:sldMk cId="2110578599" sldId="265"/>
            <ac:spMk id="3" creationId="{2B52E704-7631-44B6-89F3-83163AE277A4}"/>
          </ac:spMkLst>
        </pc:spChg>
      </pc:sldChg>
      <pc:sldChg chg="addSp delSp modSp">
        <pc:chgData name="" userId="379ea384f285cb02" providerId="LiveId" clId="{98374D14-2810-460B-A960-F5E4FFBCFD5A}" dt="2020-11-13T11:18:36.639" v="692"/>
        <pc:sldMkLst>
          <pc:docMk/>
          <pc:sldMk cId="2368082267" sldId="266"/>
        </pc:sldMkLst>
        <pc:spChg chg="mod">
          <ac:chgData name="" userId="379ea384f285cb02" providerId="LiveId" clId="{98374D14-2810-460B-A960-F5E4FFBCFD5A}" dt="2020-11-13T11:18:36.639" v="692"/>
          <ac:spMkLst>
            <pc:docMk/>
            <pc:sldMk cId="2368082267" sldId="266"/>
            <ac:spMk id="2" creationId="{817C5CFB-6EDC-4ECC-9B26-8DA278980D76}"/>
          </ac:spMkLst>
        </pc:spChg>
        <pc:spChg chg="mod">
          <ac:chgData name="" userId="379ea384f285cb02" providerId="LiveId" clId="{98374D14-2810-460B-A960-F5E4FFBCFD5A}" dt="2020-11-13T10:40:51.280" v="368"/>
          <ac:spMkLst>
            <pc:docMk/>
            <pc:sldMk cId="2368082267" sldId="266"/>
            <ac:spMk id="3" creationId="{F4662A71-0891-471F-99C6-FCF3F31A8704}"/>
          </ac:spMkLst>
        </pc:spChg>
        <pc:spChg chg="add mod">
          <ac:chgData name="" userId="379ea384f285cb02" providerId="LiveId" clId="{98374D14-2810-460B-A960-F5E4FFBCFD5A}" dt="2020-11-13T10:39:04.179" v="343" actId="1076"/>
          <ac:spMkLst>
            <pc:docMk/>
            <pc:sldMk cId="2368082267" sldId="266"/>
            <ac:spMk id="7" creationId="{4B5A95FB-1DD7-4DDF-9375-B7DC3C21977A}"/>
          </ac:spMkLst>
        </pc:spChg>
        <pc:picChg chg="add del mod">
          <ac:chgData name="" userId="379ea384f285cb02" providerId="LiveId" clId="{98374D14-2810-460B-A960-F5E4FFBCFD5A}" dt="2020-11-13T08:43:46.099" v="83" actId="478"/>
          <ac:picMkLst>
            <pc:docMk/>
            <pc:sldMk cId="2368082267" sldId="266"/>
            <ac:picMk id="4" creationId="{E635EBF6-9DBA-4FAD-AD11-13B49C1E56E8}"/>
          </ac:picMkLst>
        </pc:picChg>
        <pc:picChg chg="del">
          <ac:chgData name="" userId="379ea384f285cb02" providerId="LiveId" clId="{98374D14-2810-460B-A960-F5E4FFBCFD5A}" dt="2020-11-13T08:45:39.231" v="90" actId="478"/>
          <ac:picMkLst>
            <pc:docMk/>
            <pc:sldMk cId="2368082267" sldId="266"/>
            <ac:picMk id="5" creationId="{F94E2CCC-E33E-4CCA-AA8A-EB3FADE7FC6F}"/>
          </ac:picMkLst>
        </pc:picChg>
        <pc:picChg chg="add del mod">
          <ac:chgData name="" userId="379ea384f285cb02" providerId="LiveId" clId="{98374D14-2810-460B-A960-F5E4FFBCFD5A}" dt="2020-11-13T08:48:42.550" v="121" actId="478"/>
          <ac:picMkLst>
            <pc:docMk/>
            <pc:sldMk cId="2368082267" sldId="266"/>
            <ac:picMk id="6" creationId="{C8B371E6-2D4E-4492-97C2-A9E414A76FCF}"/>
          </ac:picMkLst>
        </pc:picChg>
        <pc:picChg chg="add mod">
          <ac:chgData name="" userId="379ea384f285cb02" providerId="LiveId" clId="{98374D14-2810-460B-A960-F5E4FFBCFD5A}" dt="2020-11-13T08:48:54.631" v="128" actId="1076"/>
          <ac:picMkLst>
            <pc:docMk/>
            <pc:sldMk cId="2368082267" sldId="266"/>
            <ac:picMk id="8" creationId="{52DB6D4F-B0D5-466D-A20D-BCFEADBBD49B}"/>
          </ac:picMkLst>
        </pc:picChg>
      </pc:sldChg>
      <pc:sldChg chg="modSp">
        <pc:chgData name="" userId="379ea384f285cb02" providerId="LiveId" clId="{98374D14-2810-460B-A960-F5E4FFBCFD5A}" dt="2020-11-13T11:19:27.923" v="698"/>
        <pc:sldMkLst>
          <pc:docMk/>
          <pc:sldMk cId="1604548710" sldId="267"/>
        </pc:sldMkLst>
        <pc:spChg chg="mod">
          <ac:chgData name="" userId="379ea384f285cb02" providerId="LiveId" clId="{98374D14-2810-460B-A960-F5E4FFBCFD5A}" dt="2020-11-13T11:19:27.923" v="698"/>
          <ac:spMkLst>
            <pc:docMk/>
            <pc:sldMk cId="1604548710" sldId="267"/>
            <ac:spMk id="2" creationId="{C7DE21F7-676C-499E-8684-987A7BAF5C5D}"/>
          </ac:spMkLst>
        </pc:spChg>
        <pc:spChg chg="mod">
          <ac:chgData name="" userId="379ea384f285cb02" providerId="LiveId" clId="{98374D14-2810-460B-A960-F5E4FFBCFD5A}" dt="2020-11-13T10:41:48.401" v="373" actId="20577"/>
          <ac:spMkLst>
            <pc:docMk/>
            <pc:sldMk cId="1604548710" sldId="267"/>
            <ac:spMk id="3" creationId="{3FDE1EBD-91E2-4A9D-9204-B701A70C00F2}"/>
          </ac:spMkLst>
        </pc:spChg>
      </pc:sldChg>
      <pc:sldChg chg="modSp">
        <pc:chgData name="" userId="379ea384f285cb02" providerId="LiveId" clId="{98374D14-2810-460B-A960-F5E4FFBCFD5A}" dt="2020-11-13T11:20:55.251" v="730"/>
        <pc:sldMkLst>
          <pc:docMk/>
          <pc:sldMk cId="3543769881" sldId="268"/>
        </pc:sldMkLst>
        <pc:spChg chg="mod">
          <ac:chgData name="" userId="379ea384f285cb02" providerId="LiveId" clId="{98374D14-2810-460B-A960-F5E4FFBCFD5A}" dt="2020-11-13T11:20:55.251" v="730"/>
          <ac:spMkLst>
            <pc:docMk/>
            <pc:sldMk cId="3543769881" sldId="268"/>
            <ac:spMk id="2" creationId="{588F421B-7BCB-4DBD-870E-19379890F227}"/>
          </ac:spMkLst>
        </pc:spChg>
        <pc:spChg chg="mod">
          <ac:chgData name="" userId="379ea384f285cb02" providerId="LiveId" clId="{98374D14-2810-460B-A960-F5E4FFBCFD5A}" dt="2020-11-13T10:49:01.824" v="456" actId="20577"/>
          <ac:spMkLst>
            <pc:docMk/>
            <pc:sldMk cId="3543769881" sldId="268"/>
            <ac:spMk id="3" creationId="{61A943FA-8A83-4407-9883-A0BC068850BD}"/>
          </ac:spMkLst>
        </pc:spChg>
      </pc:sldChg>
      <pc:sldChg chg="modSp">
        <pc:chgData name="" userId="379ea384f285cb02" providerId="LiveId" clId="{98374D14-2810-460B-A960-F5E4FFBCFD5A}" dt="2020-11-14T05:19:37.815" v="1319" actId="27636"/>
        <pc:sldMkLst>
          <pc:docMk/>
          <pc:sldMk cId="4026319836" sldId="269"/>
        </pc:sldMkLst>
        <pc:spChg chg="mod">
          <ac:chgData name="" userId="379ea384f285cb02" providerId="LiveId" clId="{98374D14-2810-460B-A960-F5E4FFBCFD5A}" dt="2020-11-13T11:21:00.322" v="731"/>
          <ac:spMkLst>
            <pc:docMk/>
            <pc:sldMk cId="4026319836" sldId="269"/>
            <ac:spMk id="2" creationId="{87253DF3-E760-4A08-AE9C-7377D1E8CE1F}"/>
          </ac:spMkLst>
        </pc:spChg>
        <pc:spChg chg="mod">
          <ac:chgData name="" userId="379ea384f285cb02" providerId="LiveId" clId="{98374D14-2810-460B-A960-F5E4FFBCFD5A}" dt="2020-11-14T05:19:37.815" v="1319" actId="27636"/>
          <ac:spMkLst>
            <pc:docMk/>
            <pc:sldMk cId="4026319836" sldId="269"/>
            <ac:spMk id="3" creationId="{AD8DDC60-1A8F-4B3A-8DA2-C366394E0E50}"/>
          </ac:spMkLst>
        </pc:spChg>
      </pc:sldChg>
      <pc:sldChg chg="modSp add">
        <pc:chgData name="" userId="379ea384f285cb02" providerId="LiveId" clId="{98374D14-2810-460B-A960-F5E4FFBCFD5A}" dt="2020-11-13T11:44:01.910" v="1232"/>
        <pc:sldMkLst>
          <pc:docMk/>
          <pc:sldMk cId="278487222" sldId="270"/>
        </pc:sldMkLst>
        <pc:spChg chg="mod">
          <ac:chgData name="" userId="379ea384f285cb02" providerId="LiveId" clId="{98374D14-2810-460B-A960-F5E4FFBCFD5A}" dt="2020-11-13T11:44:01.910" v="1232"/>
          <ac:spMkLst>
            <pc:docMk/>
            <pc:sldMk cId="278487222" sldId="270"/>
            <ac:spMk id="2" creationId="{BF9DBF70-5F8B-4CFE-9C10-B4839DABC95D}"/>
          </ac:spMkLst>
        </pc:spChg>
        <pc:spChg chg="mod">
          <ac:chgData name="" userId="379ea384f285cb02" providerId="LiveId" clId="{98374D14-2810-460B-A960-F5E4FFBCFD5A}" dt="2020-11-13T11:42:54.020" v="1229"/>
          <ac:spMkLst>
            <pc:docMk/>
            <pc:sldMk cId="278487222" sldId="270"/>
            <ac:spMk id="3" creationId="{5840D8C7-2BB0-4A41-9AD9-E1BAA80E3A7E}"/>
          </ac:spMkLst>
        </pc:spChg>
      </pc:sldChg>
      <pc:sldChg chg="modSp add">
        <pc:chgData name="" userId="379ea384f285cb02" providerId="LiveId" clId="{98374D14-2810-460B-A960-F5E4FFBCFD5A}" dt="2020-11-13T11:43:50.663" v="1231"/>
        <pc:sldMkLst>
          <pc:docMk/>
          <pc:sldMk cId="3250861883" sldId="271"/>
        </pc:sldMkLst>
        <pc:spChg chg="mod">
          <ac:chgData name="" userId="379ea384f285cb02" providerId="LiveId" clId="{98374D14-2810-460B-A960-F5E4FFBCFD5A}" dt="2020-11-13T11:43:50.663" v="1231"/>
          <ac:spMkLst>
            <pc:docMk/>
            <pc:sldMk cId="3250861883" sldId="271"/>
            <ac:spMk id="2" creationId="{E77D4822-C52A-4AD0-B55E-616E852F1CDB}"/>
          </ac:spMkLst>
        </pc:spChg>
        <pc:spChg chg="mod">
          <ac:chgData name="" userId="379ea384f285cb02" providerId="LiveId" clId="{98374D14-2810-460B-A960-F5E4FFBCFD5A}" dt="2020-11-13T11:42:42.875" v="1225"/>
          <ac:spMkLst>
            <pc:docMk/>
            <pc:sldMk cId="3250861883" sldId="271"/>
            <ac:spMk id="3" creationId="{A3411E1E-D695-43D0-8CFE-F544CD01AD0E}"/>
          </ac:spMkLst>
        </pc:spChg>
      </pc:sldChg>
      <pc:sldChg chg="modSp add">
        <pc:chgData name="" userId="379ea384f285cb02" providerId="LiveId" clId="{98374D14-2810-460B-A960-F5E4FFBCFD5A}" dt="2020-11-13T11:42:20.856" v="1213"/>
        <pc:sldMkLst>
          <pc:docMk/>
          <pc:sldMk cId="485499838" sldId="272"/>
        </pc:sldMkLst>
        <pc:spChg chg="mod">
          <ac:chgData name="" userId="379ea384f285cb02" providerId="LiveId" clId="{98374D14-2810-460B-A960-F5E4FFBCFD5A}" dt="2020-11-13T11:26:30.328" v="748"/>
          <ac:spMkLst>
            <pc:docMk/>
            <pc:sldMk cId="485499838" sldId="272"/>
            <ac:spMk id="2" creationId="{3C4F9DA6-9A2A-480A-9593-030B27881226}"/>
          </ac:spMkLst>
        </pc:spChg>
        <pc:spChg chg="mod">
          <ac:chgData name="" userId="379ea384f285cb02" providerId="LiveId" clId="{98374D14-2810-460B-A960-F5E4FFBCFD5A}" dt="2020-11-13T11:42:20.856" v="1213"/>
          <ac:spMkLst>
            <pc:docMk/>
            <pc:sldMk cId="485499838" sldId="272"/>
            <ac:spMk id="3" creationId="{E76F336D-6424-4312-974D-091D5755A0CD}"/>
          </ac:spMkLst>
        </pc:spChg>
      </pc:sldChg>
    </pc:docChg>
  </pc:docChgLst>
  <pc:docChgLst>
    <pc:chgData userId="379ea384f285cb02" providerId="LiveId" clId="{39954626-4FF6-4ECD-8DAC-EF05A2699FC3}"/>
    <pc:docChg chg="custSel delSld modSld">
      <pc:chgData name="" userId="379ea384f285cb02" providerId="LiveId" clId="{39954626-4FF6-4ECD-8DAC-EF05A2699FC3}" dt="2020-09-20T06:10:29.706" v="54" actId="2696"/>
      <pc:docMkLst>
        <pc:docMk/>
      </pc:docMkLst>
      <pc:sldChg chg="modSp">
        <pc:chgData name="" userId="379ea384f285cb02" providerId="LiveId" clId="{39954626-4FF6-4ECD-8DAC-EF05A2699FC3}" dt="2020-09-20T05:59:49.128" v="8" actId="20577"/>
        <pc:sldMkLst>
          <pc:docMk/>
          <pc:sldMk cId="477485865" sldId="259"/>
        </pc:sldMkLst>
        <pc:spChg chg="mod">
          <ac:chgData name="" userId="379ea384f285cb02" providerId="LiveId" clId="{39954626-4FF6-4ECD-8DAC-EF05A2699FC3}" dt="2020-09-20T05:59:49.128" v="8" actId="20577"/>
          <ac:spMkLst>
            <pc:docMk/>
            <pc:sldMk cId="477485865" sldId="259"/>
            <ac:spMk id="3" creationId="{1AFBB595-3FF2-4FA8-8C77-4DE7BB99D1CC}"/>
          </ac:spMkLst>
        </pc:spChg>
      </pc:sldChg>
      <pc:sldChg chg="modSp">
        <pc:chgData name="" userId="379ea384f285cb02" providerId="LiveId" clId="{39954626-4FF6-4ECD-8DAC-EF05A2699FC3}" dt="2020-09-20T06:00:23.600" v="33" actId="20577"/>
        <pc:sldMkLst>
          <pc:docMk/>
          <pc:sldMk cId="2846939265" sldId="261"/>
        </pc:sldMkLst>
        <pc:spChg chg="mod">
          <ac:chgData name="" userId="379ea384f285cb02" providerId="LiveId" clId="{39954626-4FF6-4ECD-8DAC-EF05A2699FC3}" dt="2020-09-20T06:00:23.600" v="33" actId="20577"/>
          <ac:spMkLst>
            <pc:docMk/>
            <pc:sldMk cId="2846939265" sldId="261"/>
            <ac:spMk id="3" creationId="{9846EE75-A0E2-4F0F-BDDC-CDA41F21010C}"/>
          </ac:spMkLst>
        </pc:spChg>
      </pc:sldChg>
    </pc:docChg>
  </pc:docChgLst>
  <pc:docChgLst>
    <pc:chgData name="刘 旭东" userId="379ea384f285cb02" providerId="LiveId" clId="{FC7E90DE-1432-46EC-8745-7F34B4EF956A}"/>
    <pc:docChg chg="undo custSel delSld modSld">
      <pc:chgData name="刘 旭东" userId="379ea384f285cb02" providerId="LiveId" clId="{FC7E90DE-1432-46EC-8745-7F34B4EF956A}" dt="2021-04-25T03:02:56.584" v="236" actId="20577"/>
      <pc:docMkLst>
        <pc:docMk/>
      </pc:docMkLst>
      <pc:sldChg chg="modSp mod">
        <pc:chgData name="刘 旭东" userId="379ea384f285cb02" providerId="LiveId" clId="{FC7E90DE-1432-46EC-8745-7F34B4EF956A}" dt="2021-04-25T02:57:49.961" v="3" actId="20577"/>
        <pc:sldMkLst>
          <pc:docMk/>
          <pc:sldMk cId="3152418156" sldId="258"/>
        </pc:sldMkLst>
        <pc:spChg chg="mod">
          <ac:chgData name="刘 旭东" userId="379ea384f285cb02" providerId="LiveId" clId="{FC7E90DE-1432-46EC-8745-7F34B4EF956A}" dt="2021-04-25T02:57:49.961" v="3" actId="20577"/>
          <ac:spMkLst>
            <pc:docMk/>
            <pc:sldMk cId="3152418156" sldId="258"/>
            <ac:spMk id="6" creationId="{5C701846-CA60-4F80-B64F-369BCCC5D0ED}"/>
          </ac:spMkLst>
        </pc:spChg>
      </pc:sldChg>
      <pc:sldChg chg="del">
        <pc:chgData name="刘 旭东" userId="379ea384f285cb02" providerId="LiveId" clId="{FC7E90DE-1432-46EC-8745-7F34B4EF956A}" dt="2021-04-25T02:58:03.113" v="4" actId="47"/>
        <pc:sldMkLst>
          <pc:docMk/>
          <pc:sldMk cId="477485865" sldId="259"/>
        </pc:sldMkLst>
      </pc:sldChg>
      <pc:sldChg chg="modSp mod">
        <pc:chgData name="刘 旭东" userId="379ea384f285cb02" providerId="LiveId" clId="{FC7E90DE-1432-46EC-8745-7F34B4EF956A}" dt="2021-04-25T03:02:56.584" v="236" actId="20577"/>
        <pc:sldMkLst>
          <pc:docMk/>
          <pc:sldMk cId="2948278290" sldId="260"/>
        </pc:sldMkLst>
        <pc:spChg chg="mod">
          <ac:chgData name="刘 旭东" userId="379ea384f285cb02" providerId="LiveId" clId="{FC7E90DE-1432-46EC-8745-7F34B4EF956A}" dt="2021-04-25T03:02:56.584" v="236" actId="20577"/>
          <ac:spMkLst>
            <pc:docMk/>
            <pc:sldMk cId="2948278290" sldId="260"/>
            <ac:spMk id="3" creationId="{6DAEC807-9505-43C3-8DC7-E61C18625D19}"/>
          </ac:spMkLst>
        </pc:spChg>
        <pc:picChg chg="mod">
          <ac:chgData name="刘 旭东" userId="379ea384f285cb02" providerId="LiveId" clId="{FC7E90DE-1432-46EC-8745-7F34B4EF956A}" dt="2021-04-25T02:58:52.033" v="63" actId="1076"/>
          <ac:picMkLst>
            <pc:docMk/>
            <pc:sldMk cId="2948278290" sldId="260"/>
            <ac:picMk id="4" creationId="{6AB7D32E-0BA1-4D14-B9EC-45DE15D06989}"/>
          </ac:picMkLst>
        </pc:picChg>
      </pc:sldChg>
      <pc:sldChg chg="modSp mod">
        <pc:chgData name="刘 旭东" userId="379ea384f285cb02" providerId="LiveId" clId="{FC7E90DE-1432-46EC-8745-7F34B4EF956A}" dt="2021-04-25T03:00:28.202" v="186" actId="20577"/>
        <pc:sldMkLst>
          <pc:docMk/>
          <pc:sldMk cId="2846939265" sldId="261"/>
        </pc:sldMkLst>
        <pc:spChg chg="mod">
          <ac:chgData name="刘 旭东" userId="379ea384f285cb02" providerId="LiveId" clId="{FC7E90DE-1432-46EC-8745-7F34B4EF956A}" dt="2021-04-25T03:00:28.202" v="186" actId="20577"/>
          <ac:spMkLst>
            <pc:docMk/>
            <pc:sldMk cId="2846939265" sldId="261"/>
            <ac:spMk id="3" creationId="{9846EE75-A0E2-4F0F-BDDC-CDA41F21010C}"/>
          </ac:spMkLst>
        </pc:spChg>
      </pc:sldChg>
      <pc:sldChg chg="addSp delSp modSp mod">
        <pc:chgData name="刘 旭东" userId="379ea384f285cb02" providerId="LiveId" clId="{FC7E90DE-1432-46EC-8745-7F34B4EF956A}" dt="2021-04-25T03:02:37.102" v="234" actId="20577"/>
        <pc:sldMkLst>
          <pc:docMk/>
          <pc:sldMk cId="3602362781" sldId="262"/>
        </pc:sldMkLst>
        <pc:spChg chg="add del mod">
          <ac:chgData name="刘 旭东" userId="379ea384f285cb02" providerId="LiveId" clId="{FC7E90DE-1432-46EC-8745-7F34B4EF956A}" dt="2021-04-25T03:01:04.723" v="197"/>
          <ac:spMkLst>
            <pc:docMk/>
            <pc:sldMk cId="3602362781" sldId="262"/>
            <ac:spMk id="4" creationId="{5A229721-1DFA-4687-A414-157522FD4FBC}"/>
          </ac:spMkLst>
        </pc:spChg>
        <pc:spChg chg="add mod">
          <ac:chgData name="刘 旭东" userId="379ea384f285cb02" providerId="LiveId" clId="{FC7E90DE-1432-46EC-8745-7F34B4EF956A}" dt="2021-04-25T03:02:26.764" v="230" actId="2711"/>
          <ac:spMkLst>
            <pc:docMk/>
            <pc:sldMk cId="3602362781" sldId="262"/>
            <ac:spMk id="10" creationId="{582CB4BD-6999-485F-BF71-CF7896DF8CE1}"/>
          </ac:spMkLst>
        </pc:spChg>
        <pc:spChg chg="add mod">
          <ac:chgData name="刘 旭东" userId="379ea384f285cb02" providerId="LiveId" clId="{FC7E90DE-1432-46EC-8745-7F34B4EF956A}" dt="2021-04-25T03:02:37.102" v="234" actId="20577"/>
          <ac:spMkLst>
            <pc:docMk/>
            <pc:sldMk cId="3602362781" sldId="262"/>
            <ac:spMk id="11" creationId="{35FE2231-FFD3-4ACC-B6E1-3C74B99CA494}"/>
          </ac:spMkLst>
        </pc:spChg>
        <pc:graphicFrameChg chg="add del mod">
          <ac:chgData name="刘 旭东" userId="379ea384f285cb02" providerId="LiveId" clId="{FC7E90DE-1432-46EC-8745-7F34B4EF956A}" dt="2021-04-25T03:01:04.472" v="196"/>
          <ac:graphicFrameMkLst>
            <pc:docMk/>
            <pc:sldMk cId="3602362781" sldId="262"/>
            <ac:graphicFrameMk id="5" creationId="{BA83E8DD-7A2A-4BE4-BD0C-6C8AA4C2C45C}"/>
          </ac:graphicFrameMkLst>
        </pc:graphicFrameChg>
        <pc:graphicFrameChg chg="add mod modGraphic">
          <ac:chgData name="刘 旭东" userId="379ea384f285cb02" providerId="LiveId" clId="{FC7E90DE-1432-46EC-8745-7F34B4EF956A}" dt="2021-04-25T03:01:55.780" v="206" actId="14734"/>
          <ac:graphicFrameMkLst>
            <pc:docMk/>
            <pc:sldMk cId="3602362781" sldId="262"/>
            <ac:graphicFrameMk id="6" creationId="{6365905B-3938-4A6A-B237-952EC6DB1018}"/>
          </ac:graphicFrameMkLst>
        </pc:graphicFrameChg>
        <pc:graphicFrameChg chg="del">
          <ac:chgData name="刘 旭东" userId="379ea384f285cb02" providerId="LiveId" clId="{FC7E90DE-1432-46EC-8745-7F34B4EF956A}" dt="2021-04-25T03:00:14.041" v="153" actId="478"/>
          <ac:graphicFrameMkLst>
            <pc:docMk/>
            <pc:sldMk cId="3602362781" sldId="262"/>
            <ac:graphicFrameMk id="7" creationId="{BF7CE593-652E-4241-88BC-E8CE6FD37F3B}"/>
          </ac:graphicFrameMkLst>
        </pc:graphicFrameChg>
        <pc:graphicFrameChg chg="add del mod">
          <ac:chgData name="刘 旭东" userId="379ea384f285cb02" providerId="LiveId" clId="{FC7E90DE-1432-46EC-8745-7F34B4EF956A}" dt="2021-04-25T03:01:32.980" v="202"/>
          <ac:graphicFrameMkLst>
            <pc:docMk/>
            <pc:sldMk cId="3602362781" sldId="262"/>
            <ac:graphicFrameMk id="8" creationId="{05D1255F-7230-4CDA-9443-E656FF6AB78A}"/>
          </ac:graphicFrameMkLst>
        </pc:graphicFrameChg>
        <pc:graphicFrameChg chg="add mod">
          <ac:chgData name="刘 旭东" userId="379ea384f285cb02" providerId="LiveId" clId="{FC7E90DE-1432-46EC-8745-7F34B4EF956A}" dt="2021-04-25T03:01:36.842" v="204" actId="1076"/>
          <ac:graphicFrameMkLst>
            <pc:docMk/>
            <pc:sldMk cId="3602362781" sldId="262"/>
            <ac:graphicFrameMk id="9" creationId="{11036B3E-D378-416F-A018-17C069E6A345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9D3C31-4FB3-4488-A62A-B2054C570B43}" type="datetimeFigureOut">
              <a:rPr lang="zh-CN" altLang="en-US" smtClean="0"/>
              <a:t>2021/4/25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0D92AE-B16C-4DB4-A518-C6CB328E8D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16385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参考</a:t>
            </a:r>
            <a:r>
              <a:rPr lang="en-US" altLang="zh-CN" dirty="0"/>
              <a:t>《</a:t>
            </a:r>
            <a:r>
              <a:rPr lang="zh-CN" altLang="en-US" dirty="0"/>
              <a:t>深入理解计算机系统</a:t>
            </a:r>
            <a:r>
              <a:rPr lang="en-US" altLang="zh-CN" dirty="0"/>
              <a:t>》</a:t>
            </a:r>
            <a:r>
              <a:rPr lang="zh-CN" altLang="en-US" dirty="0"/>
              <a:t>第</a:t>
            </a:r>
            <a:r>
              <a:rPr lang="en-US" altLang="zh-CN" dirty="0"/>
              <a:t>3</a:t>
            </a:r>
            <a:r>
              <a:rPr lang="zh-CN" altLang="en-US" dirty="0"/>
              <a:t>版、</a:t>
            </a:r>
            <a:r>
              <a:rPr lang="en-US" altLang="zh-CN" dirty="0"/>
              <a:t>《</a:t>
            </a:r>
            <a:r>
              <a:rPr lang="zh-CN" altLang="en-US" dirty="0"/>
              <a:t>计算机体系结构</a:t>
            </a:r>
            <a:r>
              <a:rPr lang="en-US" altLang="zh-CN" dirty="0"/>
              <a:t>-</a:t>
            </a:r>
            <a:r>
              <a:rPr lang="zh-CN" altLang="en-US" dirty="0"/>
              <a:t>量化研究方法</a:t>
            </a:r>
            <a:r>
              <a:rPr lang="en-US" altLang="zh-CN" dirty="0"/>
              <a:t>》</a:t>
            </a:r>
            <a:r>
              <a:rPr lang="zh-CN" altLang="en-US" dirty="0"/>
              <a:t>第</a:t>
            </a:r>
            <a:r>
              <a:rPr lang="en-US" altLang="zh-CN" dirty="0"/>
              <a:t>5</a:t>
            </a:r>
            <a:r>
              <a:rPr lang="zh-CN" altLang="en-US" dirty="0"/>
              <a:t>版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0D92AE-B16C-4DB4-A518-C6CB328E8D42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39597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278255D-DCA8-470F-83D6-4545C41A9C2E}" type="slidenum">
              <a:rPr lang="zh-CN" altLang="en-US" smtClean="0"/>
              <a:pPr>
                <a:defRPr/>
              </a:pPr>
              <a:t>10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71826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参考</a:t>
            </a:r>
            <a:r>
              <a:rPr lang="en-US" altLang="zh-CN" dirty="0"/>
              <a:t>《</a:t>
            </a:r>
            <a:r>
              <a:rPr lang="zh-CN" altLang="en-US" dirty="0"/>
              <a:t>深入理解计算机系统</a:t>
            </a:r>
            <a:r>
              <a:rPr lang="en-US" altLang="zh-CN" dirty="0"/>
              <a:t>》</a:t>
            </a:r>
            <a:r>
              <a:rPr lang="zh-CN" altLang="en-US" dirty="0"/>
              <a:t>第</a:t>
            </a:r>
            <a:r>
              <a:rPr lang="en-US" altLang="zh-CN" dirty="0"/>
              <a:t>3</a:t>
            </a:r>
            <a:r>
              <a:rPr lang="zh-CN" altLang="en-US" dirty="0"/>
              <a:t>版、</a:t>
            </a:r>
            <a:r>
              <a:rPr lang="en-US" altLang="zh-CN" dirty="0"/>
              <a:t>《</a:t>
            </a:r>
            <a:r>
              <a:rPr lang="zh-CN" altLang="en-US" dirty="0"/>
              <a:t>计算机体系结构</a:t>
            </a:r>
            <a:r>
              <a:rPr lang="en-US" altLang="zh-CN" dirty="0"/>
              <a:t>-</a:t>
            </a:r>
            <a:r>
              <a:rPr lang="zh-CN" altLang="en-US" dirty="0"/>
              <a:t>量化研究方法</a:t>
            </a:r>
            <a:r>
              <a:rPr lang="en-US" altLang="zh-CN" dirty="0"/>
              <a:t>》</a:t>
            </a:r>
            <a:r>
              <a:rPr lang="zh-CN" altLang="en-US" dirty="0"/>
              <a:t>第</a:t>
            </a:r>
            <a:r>
              <a:rPr lang="en-US" altLang="zh-CN" dirty="0"/>
              <a:t>5</a:t>
            </a:r>
            <a:r>
              <a:rPr lang="zh-CN" altLang="en-US" dirty="0"/>
              <a:t>版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0D92AE-B16C-4DB4-A518-C6CB328E8D42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78653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参考</a:t>
            </a:r>
            <a:r>
              <a:rPr lang="en-US" altLang="zh-CN" dirty="0"/>
              <a:t>《</a:t>
            </a:r>
            <a:r>
              <a:rPr lang="zh-CN" altLang="en-US" dirty="0"/>
              <a:t>深入理解计算机系统</a:t>
            </a:r>
            <a:r>
              <a:rPr lang="en-US" altLang="zh-CN" dirty="0"/>
              <a:t>》</a:t>
            </a:r>
            <a:r>
              <a:rPr lang="zh-CN" altLang="en-US" dirty="0"/>
              <a:t>第</a:t>
            </a:r>
            <a:r>
              <a:rPr lang="en-US" altLang="zh-CN" dirty="0"/>
              <a:t>3</a:t>
            </a:r>
            <a:r>
              <a:rPr lang="zh-CN" altLang="en-US" dirty="0"/>
              <a:t>版、</a:t>
            </a:r>
            <a:r>
              <a:rPr lang="en-US" altLang="zh-CN" dirty="0"/>
              <a:t>《</a:t>
            </a:r>
            <a:r>
              <a:rPr lang="zh-CN" altLang="en-US" dirty="0"/>
              <a:t>计算机体系结构</a:t>
            </a:r>
            <a:r>
              <a:rPr lang="en-US" altLang="zh-CN" dirty="0"/>
              <a:t>-</a:t>
            </a:r>
            <a:r>
              <a:rPr lang="zh-CN" altLang="en-US" dirty="0"/>
              <a:t>量化研究方法</a:t>
            </a:r>
            <a:r>
              <a:rPr lang="en-US" altLang="zh-CN" dirty="0"/>
              <a:t>》</a:t>
            </a:r>
            <a:r>
              <a:rPr lang="zh-CN" altLang="en-US" dirty="0"/>
              <a:t>第</a:t>
            </a:r>
            <a:r>
              <a:rPr lang="en-US" altLang="zh-CN" dirty="0"/>
              <a:t>5</a:t>
            </a:r>
            <a:r>
              <a:rPr lang="zh-CN" altLang="en-US" dirty="0"/>
              <a:t>版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0D92AE-B16C-4DB4-A518-C6CB328E8D42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26472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0D92AE-B16C-4DB4-A518-C6CB328E8D42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36543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B9E1F2-C8C7-4F80-BFD3-F0FD6C02CC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22CB8FC-C548-415D-8B4B-F4E5B1E436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72F2BED-C3CA-4C3D-9FA6-14184479C1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9DD7C-A607-4F67-A746-99607109CAA6}" type="datetimeFigureOut">
              <a:rPr lang="zh-CN" altLang="en-US" smtClean="0"/>
              <a:t>2021/4/25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66D16E5-2E86-4D71-9DEB-03CBCD4D3D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4E338A-0C23-4312-BCFC-4781397215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99594-B106-471A-9FA2-A462AAB008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58046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7E4B21-F682-4DF2-8752-152621B6C0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46ED653-42AE-41C7-BDC3-957EFFCB30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89EA8A6-DDCE-46E9-B019-65F85E1961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9DD7C-A607-4F67-A746-99607109CAA6}" type="datetimeFigureOut">
              <a:rPr lang="zh-CN" altLang="en-US" smtClean="0"/>
              <a:t>2021/4/25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0710CEB-5A02-4336-8C25-A2A9066795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D77CD3E-5AA9-4635-AC3E-95DC018DFC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99594-B106-471A-9FA2-A462AAB008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12104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264102-85F9-409F-89A4-F6D0759A0C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ACF2767-AC6A-4CF1-A4E7-FFEC2C02A9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57DC994-D4A5-4831-BD67-34DA389817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9DD7C-A607-4F67-A746-99607109CAA6}" type="datetimeFigureOut">
              <a:rPr lang="zh-CN" altLang="en-US" smtClean="0"/>
              <a:t>2021/4/25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8A658C3-8179-4D74-8D00-B2E20F9F80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22D3F4E-565E-4CFA-B36E-90978F05B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99594-B106-471A-9FA2-A462AAB008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66783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8057EF-CDEF-421D-BBAF-7C04E0C44C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121B8FA-650B-4C04-AA2C-0E32AC5DD1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D5F2AC1-811A-4728-8D02-2D1B5BFBEA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05B588D-6A91-45AE-B1A4-703B32D02D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9DD7C-A607-4F67-A746-99607109CAA6}" type="datetimeFigureOut">
              <a:rPr lang="zh-CN" altLang="en-US" smtClean="0"/>
              <a:t>2021/4/25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0965A8F-F69C-48E4-BF5A-7809539F73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B59A3BC-AD04-479B-B64F-D77E8E592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99594-B106-471A-9FA2-A462AAB008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96173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9575D2-8B82-4F41-B30C-E6BDABF1F3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12DC0E0-193C-4499-B4EA-464B4CF9F6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996A4AC-4FEE-4450-B999-E1EA7B462F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99ECD6F-2E1D-472F-8B1D-5226A10BD6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E355E87-061E-4162-9CFE-8D915030BA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03D31C3-84DE-4D5C-A6FF-E92D9D55C4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9DD7C-A607-4F67-A746-99607109CAA6}" type="datetimeFigureOut">
              <a:rPr lang="zh-CN" altLang="en-US" smtClean="0"/>
              <a:t>2021/4/25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C6BADCA-86CC-4CFA-9109-3BDEF3E12C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2A0B2B0-63A3-4DF7-8393-AE16B31CE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99594-B106-471A-9FA2-A462AAB008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11908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44C608-8F99-4063-8D8C-7E088D98F4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71E4CA5-190B-4B01-8ECC-2800247FC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9DD7C-A607-4F67-A746-99607109CAA6}" type="datetimeFigureOut">
              <a:rPr lang="zh-CN" altLang="en-US" smtClean="0"/>
              <a:t>2021/4/25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9663A78-FC90-4264-AC3F-605402CBAB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6B38694-0C3B-4028-A7E2-381110CA6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99594-B106-471A-9FA2-A462AAB008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89078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1EC9AFD-B331-4287-8CC5-F9F16C4E86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9DD7C-A607-4F67-A746-99607109CAA6}" type="datetimeFigureOut">
              <a:rPr lang="zh-CN" altLang="en-US" smtClean="0"/>
              <a:t>2021/4/25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79A6073-2FB0-4688-8F81-7A85133654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7489A4B-7318-4AD5-BF26-B6FB776487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99594-B106-471A-9FA2-A462AAB008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27514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60DBE7-FBFC-45E9-9E03-7D2B822CC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476750F-96A5-4D09-8CA0-15F7FDB5DA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0723D05-6AE7-4A66-8210-395C07629F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993DC29-F0D5-45E7-962A-7F319F854C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9DD7C-A607-4F67-A746-99607109CAA6}" type="datetimeFigureOut">
              <a:rPr lang="zh-CN" altLang="en-US" smtClean="0"/>
              <a:t>2021/4/25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66E66F7-40B1-4A40-93AB-2BA73A2624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C615090-0DDF-42E9-962F-7945496FF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99594-B106-471A-9FA2-A462AAB008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87638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00B314B-8A01-4E02-B496-148C08218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A473BE9-FF41-4080-AB1B-102E8DA354A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0F275E-50DC-43FD-8711-6EC9036FB4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2C66F0-D869-4EAF-B98E-CD9BA0B4FB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9DD7C-A607-4F67-A746-99607109CAA6}" type="datetimeFigureOut">
              <a:rPr lang="zh-CN" altLang="en-US" smtClean="0"/>
              <a:t>2021/4/25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A5290AF-9507-4230-8F4A-CCE514A4DC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D3E8C4C-1E83-482B-93D2-DE2524433F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99594-B106-471A-9FA2-A462AAB008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98502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A32E58-2466-4A9F-81FC-39960CEF13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492ACC9-B52F-4118-8762-6F4961E352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9A8542D-36D0-41C8-A3CE-829FE2EB7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9DD7C-A607-4F67-A746-99607109CAA6}" type="datetimeFigureOut">
              <a:rPr lang="zh-CN" altLang="en-US" smtClean="0"/>
              <a:t>2021/4/25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982E776-1782-4511-A920-7296527C4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0181F11-4280-4067-96EC-82CD66D0D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99594-B106-471A-9FA2-A462AAB008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22387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729D9BE-E594-4623-B645-872C8EE0D83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CBF6114-7DF7-4AC0-A274-0E1CECEB97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70E2AB1-ED57-4604-9D74-D16AF73B41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9DD7C-A607-4F67-A746-99607109CAA6}" type="datetimeFigureOut">
              <a:rPr lang="zh-CN" altLang="en-US" smtClean="0"/>
              <a:t>2021/4/25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BF0FE0A-7FE0-4754-9A34-DB61A5D804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96455BB-867D-47EE-AFF1-47112FF59D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99594-B106-471A-9FA2-A462AAB008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13108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BF8D358-04C2-4BB5-A05F-B8DE49703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38234B4-0094-4913-9D0E-94BD5A4A88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ACF55F2-C8DD-4FCB-A561-9C0FB5CB4B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40C9DD7C-A607-4F67-A746-99607109CAA6}" type="datetimeFigureOut">
              <a:rPr lang="zh-CN" altLang="en-US" smtClean="0"/>
              <a:pPr/>
              <a:t>2021/4/25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00DECA9-4B01-4058-AC5E-A2439EF83A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20C309A-6D24-4336-8902-D9202F3011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C6599594-B106-471A-9FA2-A462AAB00895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0975521" y="73331"/>
            <a:ext cx="1216479" cy="1216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2696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A5CC94-C86A-4A26-9885-E1C3737BA52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Cache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操作实验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C6280B9-60EF-4CA7-8955-59509712779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66144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0EEEEB-D99F-46F9-83A5-0C4D2A4266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1CBEFC3-4602-423E-AD1F-9460A7ADD0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Cache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概念回顾与介绍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二、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玄铁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C910 RTL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配置生成工具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三、实验步骤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267017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7ED96C-553D-DE45-89AE-9830A62CC4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5430" y="629268"/>
            <a:ext cx="6586491" cy="1286160"/>
          </a:xfrm>
        </p:spPr>
        <p:txBody>
          <a:bodyPr anchor="b">
            <a:normAutofit/>
          </a:bodyPr>
          <a:lstStyle/>
          <a:p>
            <a:r>
              <a:rPr kumimoji="1" lang="zh-CN" altLang="en-US" sz="3600" dirty="0">
                <a:latin typeface="微软雅黑" pitchFamily="34" charset="-122"/>
                <a:ea typeface="微软雅黑" pitchFamily="34" charset="-122"/>
              </a:rPr>
              <a:t>内存墙</a:t>
            </a:r>
            <a:r>
              <a:rPr kumimoji="1" lang="en-US" altLang="zh-CN" sz="3600" dirty="0">
                <a:latin typeface="微软雅黑" pitchFamily="34" charset="-122"/>
                <a:ea typeface="微软雅黑" pitchFamily="34" charset="-122"/>
              </a:rPr>
              <a:t>——</a:t>
            </a:r>
            <a:r>
              <a:rPr kumimoji="1" lang="zh-CN" altLang="en-US" sz="3600" dirty="0">
                <a:latin typeface="微软雅黑" pitchFamily="34" charset="-122"/>
                <a:ea typeface="微软雅黑" pitchFamily="34" charset="-122"/>
              </a:rPr>
              <a:t>缓存的存在意义</a:t>
            </a:r>
          </a:p>
        </p:txBody>
      </p:sp>
      <p:pic>
        <p:nvPicPr>
          <p:cNvPr id="31" name="Picture 2" descr="F:\textbook-merge1229\textbook-merge1229\content\figs\chapter2\memorywall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7476" y="2372581"/>
            <a:ext cx="6952590" cy="32964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2" name="TextBox 31"/>
          <p:cNvSpPr txBox="1"/>
          <p:nvPr/>
        </p:nvSpPr>
        <p:spPr>
          <a:xfrm>
            <a:off x="515932" y="3495867"/>
            <a:ext cx="26683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只考虑单核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CPU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的情况</a:t>
            </a:r>
            <a:endParaRPr lang="en-US" altLang="zh-CN" dirty="0"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纵坐标是指数坐标。</a:t>
            </a:r>
            <a:endParaRPr lang="en-US" altLang="zh-CN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3831876" y="5658939"/>
            <a:ext cx="63610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80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年代的“内存栅栏”，逐渐扩大、变高为“内存墙”。</a:t>
            </a:r>
          </a:p>
        </p:txBody>
      </p:sp>
      <p:sp>
        <p:nvSpPr>
          <p:cNvPr id="35" name="矩形 34"/>
          <p:cNvSpPr/>
          <p:nvPr/>
        </p:nvSpPr>
        <p:spPr>
          <a:xfrm>
            <a:off x="127459" y="921948"/>
            <a:ext cx="1366222" cy="763793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CPU</a:t>
            </a:r>
            <a:endParaRPr lang="zh-CN" altLang="en-US" dirty="0"/>
          </a:p>
        </p:txBody>
      </p:sp>
      <p:sp>
        <p:nvSpPr>
          <p:cNvPr id="36" name="矩形 35"/>
          <p:cNvSpPr/>
          <p:nvPr/>
        </p:nvSpPr>
        <p:spPr>
          <a:xfrm>
            <a:off x="2280781" y="677831"/>
            <a:ext cx="1961479" cy="1252028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内存</a:t>
            </a:r>
          </a:p>
        </p:txBody>
      </p:sp>
      <p:cxnSp>
        <p:nvCxnSpPr>
          <p:cNvPr id="37" name="直接箭头连接符 36"/>
          <p:cNvCxnSpPr>
            <a:stCxn id="35" idx="3"/>
            <a:endCxn id="36" idx="1"/>
          </p:cNvCxnSpPr>
          <p:nvPr/>
        </p:nvCxnSpPr>
        <p:spPr>
          <a:xfrm>
            <a:off x="1493681" y="1303845"/>
            <a:ext cx="787100" cy="0"/>
          </a:xfrm>
          <a:prstGeom prst="straightConnector1">
            <a:avLst/>
          </a:prstGeom>
          <a:ln w="1905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箭头连接符 38"/>
          <p:cNvCxnSpPr/>
          <p:nvPr/>
        </p:nvCxnSpPr>
        <p:spPr>
          <a:xfrm>
            <a:off x="1493681" y="1122757"/>
            <a:ext cx="787100" cy="0"/>
          </a:xfrm>
          <a:prstGeom prst="straightConnector1">
            <a:avLst/>
          </a:prstGeom>
          <a:ln w="1905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箭头连接符 39"/>
          <p:cNvCxnSpPr/>
          <p:nvPr/>
        </p:nvCxnSpPr>
        <p:spPr>
          <a:xfrm>
            <a:off x="1493681" y="1486052"/>
            <a:ext cx="787100" cy="0"/>
          </a:xfrm>
          <a:prstGeom prst="straightConnector1">
            <a:avLst/>
          </a:prstGeom>
          <a:ln w="1905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箭头连接符 40"/>
          <p:cNvCxnSpPr/>
          <p:nvPr/>
        </p:nvCxnSpPr>
        <p:spPr>
          <a:xfrm>
            <a:off x="1493681" y="1638452"/>
            <a:ext cx="787100" cy="0"/>
          </a:xfrm>
          <a:prstGeom prst="straightConnector1">
            <a:avLst/>
          </a:prstGeom>
          <a:ln w="1905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箭头连接符 41"/>
          <p:cNvCxnSpPr/>
          <p:nvPr/>
        </p:nvCxnSpPr>
        <p:spPr>
          <a:xfrm>
            <a:off x="1493681" y="980677"/>
            <a:ext cx="787100" cy="0"/>
          </a:xfrm>
          <a:prstGeom prst="straightConnector1">
            <a:avLst/>
          </a:prstGeom>
          <a:ln w="1905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53612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7ED96C-553D-DE45-89AE-9830A62CC4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5430" y="629268"/>
            <a:ext cx="6586491" cy="1286160"/>
          </a:xfrm>
        </p:spPr>
        <p:txBody>
          <a:bodyPr anchor="b">
            <a:normAutofit/>
          </a:bodyPr>
          <a:lstStyle/>
          <a:p>
            <a:r>
              <a:rPr kumimoji="1" lang="zh-CN" altLang="en-US" sz="3600" dirty="0">
                <a:latin typeface="微软雅黑" pitchFamily="34" charset="-122"/>
                <a:ea typeface="微软雅黑" pitchFamily="34" charset="-122"/>
              </a:rPr>
              <a:t>内存墙</a:t>
            </a:r>
            <a:r>
              <a:rPr kumimoji="1" lang="en-US" altLang="zh-CN" sz="3600" dirty="0">
                <a:latin typeface="微软雅黑" pitchFamily="34" charset="-122"/>
                <a:ea typeface="微软雅黑" pitchFamily="34" charset="-122"/>
              </a:rPr>
              <a:t>——</a:t>
            </a:r>
            <a:r>
              <a:rPr kumimoji="1" lang="zh-CN" altLang="en-US" sz="3600" dirty="0">
                <a:latin typeface="微软雅黑" pitchFamily="34" charset="-122"/>
                <a:ea typeface="微软雅黑" pitchFamily="34" charset="-122"/>
              </a:rPr>
              <a:t>缓存的存在意义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D7955D00-E063-0045-BBD9-67FB34AF771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965431" y="2438400"/>
                <a:ext cx="6586489" cy="3785419"/>
              </a:xfrm>
            </p:spPr>
            <p:txBody>
              <a:bodyPr>
                <a:normAutofit/>
              </a:bodyPr>
              <a:lstStyle/>
              <a:p>
                <a:r>
                  <a:rPr kumimoji="1" lang="zh-CN" altLang="en-US" sz="1800" dirty="0">
                    <a:latin typeface="微软雅黑" pitchFamily="34" charset="-122"/>
                    <a:ea typeface="微软雅黑" pitchFamily="34" charset="-122"/>
                  </a:rPr>
                  <a:t>考虑如下例子：一个单核处理器的工作频率是</a:t>
                </a:r>
                <a:r>
                  <a:rPr kumimoji="1" lang="en-US" altLang="zh-CN" sz="1800" dirty="0">
                    <a:latin typeface="微软雅黑" pitchFamily="34" charset="-122"/>
                    <a:ea typeface="微软雅黑" pitchFamily="34" charset="-122"/>
                  </a:rPr>
                  <a:t>3.3GHz</a:t>
                </a:r>
                <a:r>
                  <a:rPr kumimoji="1" lang="zh-CN" altLang="en-US" sz="1800" dirty="0">
                    <a:latin typeface="微软雅黑" pitchFamily="34" charset="-122"/>
                    <a:ea typeface="微软雅黑" pitchFamily="34" charset="-122"/>
                  </a:rPr>
                  <a:t>，</a:t>
                </a:r>
                <a:endParaRPr kumimoji="1" lang="en-US" altLang="zh-CN" sz="1800" dirty="0">
                  <a:latin typeface="微软雅黑" pitchFamily="34" charset="-122"/>
                  <a:ea typeface="微软雅黑" pitchFamily="34" charset="-122"/>
                </a:endParaRPr>
              </a:p>
              <a:p>
                <a:pPr marL="0" indent="0">
                  <a:buNone/>
                </a:pPr>
                <a:r>
                  <a:rPr kumimoji="1" lang="en-US" altLang="zh-CN" sz="1800" dirty="0">
                    <a:latin typeface="微软雅黑" pitchFamily="34" charset="-122"/>
                    <a:ea typeface="微软雅黑" pitchFamily="34" charset="-122"/>
                  </a:rPr>
                  <a:t>   </a:t>
                </a:r>
                <a:r>
                  <a:rPr kumimoji="1" lang="zh-CN" altLang="en-US" sz="1800" dirty="0">
                    <a:latin typeface="微软雅黑" pitchFamily="34" charset="-122"/>
                    <a:ea typeface="微软雅黑" pitchFamily="34" charset="-122"/>
                  </a:rPr>
                  <a:t>而它使用的</a:t>
                </a:r>
                <a:r>
                  <a:rPr kumimoji="1" lang="en-US" altLang="zh-CN" sz="1800" dirty="0">
                    <a:latin typeface="微软雅黑" pitchFamily="34" charset="-122"/>
                    <a:ea typeface="微软雅黑" pitchFamily="34" charset="-122"/>
                  </a:rPr>
                  <a:t>DDR4 SDRAM</a:t>
                </a:r>
                <a:r>
                  <a:rPr kumimoji="1" lang="zh-CN" altLang="en-US" sz="1800" dirty="0">
                    <a:latin typeface="微软雅黑" pitchFamily="34" charset="-122"/>
                    <a:ea typeface="微软雅黑" pitchFamily="34" charset="-122"/>
                  </a:rPr>
                  <a:t>内存的访问延时为</a:t>
                </a:r>
                <a:r>
                  <a:rPr kumimoji="1" lang="en-US" altLang="zh-CN" sz="1800" dirty="0">
                    <a:latin typeface="微软雅黑" pitchFamily="34" charset="-122"/>
                    <a:ea typeface="微软雅黑" pitchFamily="34" charset="-122"/>
                  </a:rPr>
                  <a:t>30ns</a:t>
                </a:r>
                <a:r>
                  <a:rPr kumimoji="1" lang="zh-CN" altLang="en-US" sz="1800" dirty="0">
                    <a:latin typeface="微软雅黑" pitchFamily="34" charset="-122"/>
                    <a:ea typeface="微软雅黑" pitchFamily="34" charset="-122"/>
                  </a:rPr>
                  <a:t>。</a:t>
                </a:r>
                <a:endParaRPr kumimoji="1" lang="en-US" altLang="zh-CN" sz="1800" dirty="0">
                  <a:latin typeface="微软雅黑" pitchFamily="34" charset="-122"/>
                  <a:ea typeface="微软雅黑" pitchFamily="34" charset="-122"/>
                </a:endParaRPr>
              </a:p>
              <a:p>
                <a:pPr lvl="1"/>
                <a:r>
                  <a:rPr kumimoji="1" lang="zh-CN" altLang="en-US" sz="1400" dirty="0">
                    <a:latin typeface="微软雅黑" pitchFamily="34" charset="-122"/>
                    <a:ea typeface="微软雅黑" pitchFamily="34" charset="-122"/>
                  </a:rPr>
                  <a:t>进行一次内存访问，至少需要</a:t>
                </a:r>
                <a:r>
                  <a:rPr kumimoji="1" lang="en-US" altLang="zh-CN" sz="1400" dirty="0">
                    <a:latin typeface="微软雅黑" pitchFamily="34" charset="-122"/>
                    <a:ea typeface="微软雅黑" pitchFamily="34" charset="-122"/>
                  </a:rPr>
                  <a:t>100</a:t>
                </a:r>
                <a:r>
                  <a:rPr kumimoji="1" lang="zh-CN" altLang="en-US" sz="1400" dirty="0">
                    <a:latin typeface="微软雅黑" pitchFamily="34" charset="-122"/>
                    <a:ea typeface="微软雅黑" pitchFamily="34" charset="-122"/>
                  </a:rPr>
                  <a:t>个处理器周期的等待</a:t>
                </a:r>
                <a:endParaRPr kumimoji="1" lang="en-US" altLang="zh-CN" sz="1400" dirty="0">
                  <a:latin typeface="微软雅黑" pitchFamily="34" charset="-122"/>
                  <a:ea typeface="微软雅黑" pitchFamily="34" charset="-122"/>
                </a:endParaRPr>
              </a:p>
              <a:p>
                <a:pPr lvl="1"/>
                <a:r>
                  <a:rPr kumimoji="1" lang="zh-CN" altLang="en-US" sz="1400" dirty="0">
                    <a:latin typeface="微软雅黑" pitchFamily="34" charset="-122"/>
                    <a:ea typeface="微软雅黑" pitchFamily="34" charset="-122"/>
                  </a:rPr>
                  <a:t>处理器需要从内存中获得指令，每次访存都将拖慢处理器的速度</a:t>
                </a:r>
              </a:p>
              <a:p>
                <a:endParaRPr kumimoji="1" lang="en-US" altLang="zh-CN" sz="1800" dirty="0">
                  <a:latin typeface="微软雅黑" pitchFamily="34" charset="-122"/>
                  <a:ea typeface="微软雅黑" pitchFamily="34" charset="-122"/>
                </a:endParaRPr>
              </a:p>
              <a:p>
                <a:r>
                  <a:rPr kumimoji="1" lang="zh-CN" altLang="en-US" sz="1800" dirty="0">
                    <a:latin typeface="微软雅黑" pitchFamily="34" charset="-122"/>
                    <a:ea typeface="微软雅黑" pitchFamily="34" charset="-122"/>
                  </a:rPr>
                  <a:t>如果</a:t>
                </a:r>
                <a:r>
                  <a:rPr kumimoji="1" lang="en-US" altLang="zh-CN" sz="1800" dirty="0">
                    <a:latin typeface="微软雅黑" pitchFamily="34" charset="-122"/>
                    <a:ea typeface="微软雅黑" pitchFamily="34" charset="-122"/>
                  </a:rPr>
                  <a:t>90%</a:t>
                </a:r>
                <a:r>
                  <a:rPr kumimoji="1" lang="zh-CN" altLang="en-US" sz="1800" dirty="0">
                    <a:latin typeface="微软雅黑" pitchFamily="34" charset="-122"/>
                    <a:ea typeface="微软雅黑" pitchFamily="34" charset="-122"/>
                  </a:rPr>
                  <a:t>的内存访问请求，能在</a:t>
                </a:r>
                <a:r>
                  <a:rPr kumimoji="1" lang="en-US" altLang="zh-CN" sz="1800" dirty="0">
                    <a:latin typeface="微软雅黑" pitchFamily="34" charset="-122"/>
                    <a:ea typeface="微软雅黑" pitchFamily="34" charset="-122"/>
                  </a:rPr>
                  <a:t>4</a:t>
                </a:r>
                <a:r>
                  <a:rPr kumimoji="1" lang="zh-CN" altLang="en-US" sz="1800" dirty="0">
                    <a:latin typeface="微软雅黑" pitchFamily="34" charset="-122"/>
                    <a:ea typeface="微软雅黑" pitchFamily="34" charset="-122"/>
                  </a:rPr>
                  <a:t>个处理器周期内完成</a:t>
                </a:r>
                <a:endParaRPr kumimoji="1" lang="en-US" altLang="zh-CN" sz="1800" dirty="0">
                  <a:latin typeface="微软雅黑" pitchFamily="34" charset="-122"/>
                  <a:ea typeface="微软雅黑" pitchFamily="34" charset="-122"/>
                </a:endParaRPr>
              </a:p>
              <a:p>
                <a:pPr lvl="1"/>
                <a:r>
                  <a:rPr kumimoji="1" lang="zh-CN" altLang="en-US" sz="1400" dirty="0">
                    <a:latin typeface="微软雅黑" pitchFamily="34" charset="-122"/>
                    <a:ea typeface="微软雅黑" pitchFamily="34" charset="-122"/>
                  </a:rPr>
                  <a:t>进行一次内存访问的平均延时为</a:t>
                </a:r>
                <a14:m>
                  <m:oMath xmlns:m="http://schemas.openxmlformats.org/officeDocument/2006/math">
                    <m:r>
                      <a:rPr kumimoji="1" lang="en-US" altLang="zh-CN" sz="1400" b="0" i="1" smtClean="0">
                        <a:latin typeface="Cambria Math"/>
                      </a:rPr>
                      <m:t>0.9</m:t>
                    </m:r>
                    <m:r>
                      <a:rPr kumimoji="1" lang="en-US" altLang="zh-CN" sz="1400" b="0" i="1" smtClean="0">
                        <a:latin typeface="Cambria Math"/>
                        <a:ea typeface="Cambria Math"/>
                      </a:rPr>
                      <m:t>×4+0.1×100=13.6</m:t>
                    </m:r>
                  </m:oMath>
                </a14:m>
                <a:r>
                  <a:rPr kumimoji="1" lang="zh-CN" altLang="en-US" sz="1400" dirty="0">
                    <a:latin typeface="微软雅黑" pitchFamily="34" charset="-122"/>
                    <a:ea typeface="微软雅黑" pitchFamily="34" charset="-122"/>
                  </a:rPr>
                  <a:t>个  处理器周期</a:t>
                </a:r>
                <a:endParaRPr kumimoji="1" lang="en-US" altLang="zh-CN" sz="1400" dirty="0">
                  <a:latin typeface="微软雅黑" pitchFamily="34" charset="-122"/>
                  <a:ea typeface="微软雅黑" pitchFamily="34" charset="-122"/>
                </a:endParaRPr>
              </a:p>
              <a:p>
                <a:pPr lvl="1"/>
                <a:r>
                  <a:rPr kumimoji="1" lang="zh-CN" altLang="en-US" sz="1400" dirty="0">
                    <a:latin typeface="微软雅黑" pitchFamily="34" charset="-122"/>
                    <a:ea typeface="微软雅黑" pitchFamily="34" charset="-122"/>
                  </a:rPr>
                  <a:t>大大减少了等待周期数</a:t>
                </a:r>
                <a:endParaRPr kumimoji="1" lang="en-US" altLang="zh-CN" sz="1400" dirty="0">
                  <a:latin typeface="微软雅黑" pitchFamily="34" charset="-122"/>
                  <a:ea typeface="微软雅黑" pitchFamily="34" charset="-122"/>
                </a:endParaRPr>
              </a:p>
              <a:p>
                <a:pPr lvl="1"/>
                <a:r>
                  <a:rPr kumimoji="1" lang="zh-CN" altLang="en-US" sz="1400" dirty="0">
                    <a:latin typeface="微软雅黑" pitchFamily="34" charset="-122"/>
                    <a:ea typeface="微软雅黑" pitchFamily="34" charset="-122"/>
                  </a:rPr>
                  <a:t>缓存（</a:t>
                </a:r>
                <a:r>
                  <a:rPr kumimoji="1" lang="en-US" altLang="zh-CN" sz="1400" dirty="0">
                    <a:latin typeface="微软雅黑" pitchFamily="34" charset="-122"/>
                    <a:ea typeface="微软雅黑" pitchFamily="34" charset="-122"/>
                  </a:rPr>
                  <a:t>cache</a:t>
                </a:r>
                <a:r>
                  <a:rPr kumimoji="1" lang="zh-CN" altLang="en-US" sz="1400" dirty="0">
                    <a:latin typeface="微软雅黑" pitchFamily="34" charset="-122"/>
                    <a:ea typeface="微软雅黑" pitchFamily="34" charset="-122"/>
                  </a:rPr>
                  <a:t>），是完成这一加速的关键结构</a:t>
                </a:r>
                <a:endParaRPr kumimoji="1" lang="en-US" altLang="zh-CN" sz="1400" dirty="0">
                  <a:latin typeface="微软雅黑" pitchFamily="34" charset="-122"/>
                  <a:ea typeface="微软雅黑" pitchFamily="34" charset="-122"/>
                </a:endParaRP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D7955D00-E063-0045-BBD9-67FB34AF771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965431" y="2438400"/>
                <a:ext cx="6586489" cy="3785419"/>
              </a:xfrm>
              <a:blipFill rotWithShape="1">
                <a:blip r:embed="rId2"/>
                <a:stretch>
                  <a:fillRect l="-648" t="-1449" r="-1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矩形 3"/>
          <p:cNvSpPr/>
          <p:nvPr/>
        </p:nvSpPr>
        <p:spPr>
          <a:xfrm>
            <a:off x="459891" y="987519"/>
            <a:ext cx="1366222" cy="763793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CPU</a:t>
            </a:r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2613213" y="743402"/>
            <a:ext cx="1961479" cy="1252028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内存</a:t>
            </a:r>
          </a:p>
        </p:txBody>
      </p:sp>
      <p:cxnSp>
        <p:nvCxnSpPr>
          <p:cNvPr id="8" name="直接箭头连接符 7"/>
          <p:cNvCxnSpPr>
            <a:stCxn id="4" idx="3"/>
            <a:endCxn id="7" idx="1"/>
          </p:cNvCxnSpPr>
          <p:nvPr/>
        </p:nvCxnSpPr>
        <p:spPr>
          <a:xfrm>
            <a:off x="1826113" y="1369416"/>
            <a:ext cx="787100" cy="0"/>
          </a:xfrm>
          <a:prstGeom prst="straightConnector1">
            <a:avLst/>
          </a:prstGeom>
          <a:ln w="1905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 10"/>
          <p:cNvSpPr/>
          <p:nvPr/>
        </p:nvSpPr>
        <p:spPr>
          <a:xfrm>
            <a:off x="704625" y="3795103"/>
            <a:ext cx="1366222" cy="763793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CPU</a:t>
            </a:r>
            <a:endParaRPr lang="zh-CN" altLang="en-US" dirty="0"/>
          </a:p>
        </p:txBody>
      </p:sp>
      <p:sp>
        <p:nvSpPr>
          <p:cNvPr id="12" name="矩形 11"/>
          <p:cNvSpPr/>
          <p:nvPr/>
        </p:nvSpPr>
        <p:spPr>
          <a:xfrm>
            <a:off x="2672377" y="4929758"/>
            <a:ext cx="1961479" cy="1185689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内存</a:t>
            </a:r>
          </a:p>
        </p:txBody>
      </p:sp>
      <p:cxnSp>
        <p:nvCxnSpPr>
          <p:cNvPr id="13" name="直接箭头连接符 12"/>
          <p:cNvCxnSpPr/>
          <p:nvPr/>
        </p:nvCxnSpPr>
        <p:spPr>
          <a:xfrm>
            <a:off x="1885277" y="5516050"/>
            <a:ext cx="787100" cy="0"/>
          </a:xfrm>
          <a:prstGeom prst="straightConnector1">
            <a:avLst/>
          </a:prstGeom>
          <a:ln w="1905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826113" y="399917"/>
            <a:ext cx="9359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100</a:t>
            </a:r>
          </a:p>
          <a:p>
            <a:r>
              <a:rPr lang="en-US" altLang="zh-CN" dirty="0"/>
              <a:t>cycles</a:t>
            </a:r>
            <a:endParaRPr lang="zh-CN" altLang="en-US" dirty="0"/>
          </a:p>
        </p:txBody>
      </p:sp>
      <p:sp>
        <p:nvSpPr>
          <p:cNvPr id="14" name="矩形 13"/>
          <p:cNvSpPr/>
          <p:nvPr/>
        </p:nvSpPr>
        <p:spPr>
          <a:xfrm>
            <a:off x="890194" y="5227663"/>
            <a:ext cx="995083" cy="549193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缓存</a:t>
            </a:r>
          </a:p>
        </p:txBody>
      </p:sp>
      <p:cxnSp>
        <p:nvCxnSpPr>
          <p:cNvPr id="19" name="直接箭头连接符 18"/>
          <p:cNvCxnSpPr>
            <a:endCxn id="14" idx="0"/>
          </p:cNvCxnSpPr>
          <p:nvPr/>
        </p:nvCxnSpPr>
        <p:spPr>
          <a:xfrm>
            <a:off x="1387735" y="4558896"/>
            <a:ext cx="1" cy="668767"/>
          </a:xfrm>
          <a:prstGeom prst="straightConnector1">
            <a:avLst/>
          </a:prstGeom>
          <a:ln w="1905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10264" y="4719706"/>
            <a:ext cx="11887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4 cycles</a:t>
            </a:r>
            <a:endParaRPr lang="zh-CN" alt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1810869" y="5144749"/>
            <a:ext cx="9359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100</a:t>
            </a:r>
          </a:p>
          <a:p>
            <a:r>
              <a:rPr lang="en-US" altLang="zh-CN" dirty="0"/>
              <a:t>cycles</a:t>
            </a:r>
            <a:endParaRPr lang="zh-CN" altLang="en-US" dirty="0"/>
          </a:p>
        </p:txBody>
      </p:sp>
      <p:cxnSp>
        <p:nvCxnSpPr>
          <p:cNvPr id="23" name="直接箭头连接符 22"/>
          <p:cNvCxnSpPr/>
          <p:nvPr/>
        </p:nvCxnSpPr>
        <p:spPr>
          <a:xfrm>
            <a:off x="1826113" y="1188328"/>
            <a:ext cx="787100" cy="0"/>
          </a:xfrm>
          <a:prstGeom prst="straightConnector1">
            <a:avLst/>
          </a:prstGeom>
          <a:ln w="1905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/>
          <p:cNvCxnSpPr/>
          <p:nvPr/>
        </p:nvCxnSpPr>
        <p:spPr>
          <a:xfrm>
            <a:off x="1826113" y="1551623"/>
            <a:ext cx="787100" cy="0"/>
          </a:xfrm>
          <a:prstGeom prst="straightConnector1">
            <a:avLst/>
          </a:prstGeom>
          <a:ln w="1905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/>
          <p:cNvCxnSpPr/>
          <p:nvPr/>
        </p:nvCxnSpPr>
        <p:spPr>
          <a:xfrm>
            <a:off x="1826113" y="1704023"/>
            <a:ext cx="787100" cy="0"/>
          </a:xfrm>
          <a:prstGeom prst="straightConnector1">
            <a:avLst/>
          </a:prstGeom>
          <a:ln w="1905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25"/>
          <p:cNvCxnSpPr/>
          <p:nvPr/>
        </p:nvCxnSpPr>
        <p:spPr>
          <a:xfrm>
            <a:off x="1826113" y="1046248"/>
            <a:ext cx="787100" cy="0"/>
          </a:xfrm>
          <a:prstGeom prst="straightConnector1">
            <a:avLst/>
          </a:prstGeom>
          <a:ln w="1905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箭头连接符 26"/>
          <p:cNvCxnSpPr/>
          <p:nvPr/>
        </p:nvCxnSpPr>
        <p:spPr>
          <a:xfrm>
            <a:off x="1217405" y="4558896"/>
            <a:ext cx="1" cy="668767"/>
          </a:xfrm>
          <a:prstGeom prst="straightConnector1">
            <a:avLst/>
          </a:prstGeom>
          <a:ln w="1905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/>
          <p:cNvCxnSpPr/>
          <p:nvPr/>
        </p:nvCxnSpPr>
        <p:spPr>
          <a:xfrm>
            <a:off x="1541927" y="4569988"/>
            <a:ext cx="1" cy="668767"/>
          </a:xfrm>
          <a:prstGeom prst="straightConnector1">
            <a:avLst/>
          </a:prstGeom>
          <a:ln w="1905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/>
          <p:cNvCxnSpPr/>
          <p:nvPr/>
        </p:nvCxnSpPr>
        <p:spPr>
          <a:xfrm>
            <a:off x="1694328" y="4569988"/>
            <a:ext cx="1" cy="668767"/>
          </a:xfrm>
          <a:prstGeom prst="straightConnector1">
            <a:avLst/>
          </a:prstGeom>
          <a:ln w="1905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箭头连接符 29"/>
          <p:cNvCxnSpPr/>
          <p:nvPr/>
        </p:nvCxnSpPr>
        <p:spPr>
          <a:xfrm>
            <a:off x="1824315" y="4558895"/>
            <a:ext cx="1" cy="668767"/>
          </a:xfrm>
          <a:prstGeom prst="straightConnector1">
            <a:avLst/>
          </a:prstGeom>
          <a:ln w="1905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下箭头 4"/>
          <p:cNvSpPr/>
          <p:nvPr/>
        </p:nvSpPr>
        <p:spPr>
          <a:xfrm>
            <a:off x="2113883" y="2463501"/>
            <a:ext cx="467958" cy="939501"/>
          </a:xfrm>
          <a:prstGeom prst="down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18410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7C5CFB-6EDC-4ECC-9B26-8DA278980D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存储器层次模型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4662A71-0891-471F-99C6-FCF3F31A87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在处理器和一个较大、较慢的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设备之间插入一个更小、更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快的存储设备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实际上，每个计算机系统中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的存储设备都被组织成一个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存储器层次模型，如右图所示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B5A95FB-1DD7-4DDF-9375-B7DC3C21977A}"/>
              </a:ext>
            </a:extLst>
          </p:cNvPr>
          <p:cNvSpPr txBox="1"/>
          <p:nvPr/>
        </p:nvSpPr>
        <p:spPr>
          <a:xfrm>
            <a:off x="7750209" y="6308209"/>
            <a:ext cx="2991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存储器层次模型示例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52DB6D4F-B0D5-466D-A20D-BCFEADBBD4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6334" y="1368280"/>
            <a:ext cx="5515842" cy="4808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80822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F86CDEF-7C8F-4B05-B038-8CD27BAE612E}" type="slidenum"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pPr>
                <a:spcBef>
                  <a:spcPct val="0"/>
                </a:spcBef>
                <a:buFontTx/>
                <a:buNone/>
              </a:pPr>
              <a:t>6</a:t>
            </a:fld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203" name="Text Box 3"/>
          <p:cNvSpPr txBox="1">
            <a:spLocks noChangeArrowheads="1"/>
          </p:cNvSpPr>
          <p:nvPr/>
        </p:nvSpPr>
        <p:spPr bwMode="auto">
          <a:xfrm>
            <a:off x="2438400" y="1238251"/>
            <a:ext cx="74676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1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全相联是指主存中的任一块可以被放置到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Cache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中的任意一个位置的方法。 </a:t>
            </a:r>
          </a:p>
        </p:txBody>
      </p:sp>
      <p:grpSp>
        <p:nvGrpSpPr>
          <p:cNvPr id="51204" name="Group 67"/>
          <p:cNvGrpSpPr>
            <a:grpSpLocks/>
          </p:cNvGrpSpPr>
          <p:nvPr/>
        </p:nvGrpSpPr>
        <p:grpSpPr bwMode="auto">
          <a:xfrm>
            <a:off x="1847850" y="1903413"/>
            <a:ext cx="5257800" cy="4341812"/>
            <a:chOff x="1317" y="519"/>
            <a:chExt cx="3414" cy="3423"/>
          </a:xfrm>
        </p:grpSpPr>
        <p:sp>
          <p:nvSpPr>
            <p:cNvPr id="51207" name="Rectangle 7"/>
            <p:cNvSpPr>
              <a:spLocks noChangeArrowheads="1"/>
            </p:cNvSpPr>
            <p:nvPr/>
          </p:nvSpPr>
          <p:spPr bwMode="auto">
            <a:xfrm>
              <a:off x="1680" y="1575"/>
              <a:ext cx="768" cy="192"/>
            </a:xfrm>
            <a:prstGeom prst="rect">
              <a:avLst/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1208" name="Rectangle 8"/>
            <p:cNvSpPr>
              <a:spLocks noChangeArrowheads="1"/>
            </p:cNvSpPr>
            <p:nvPr/>
          </p:nvSpPr>
          <p:spPr bwMode="auto">
            <a:xfrm>
              <a:off x="1680" y="1767"/>
              <a:ext cx="768" cy="192"/>
            </a:xfrm>
            <a:prstGeom prst="rect">
              <a:avLst/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1209" name="Rectangle 9"/>
            <p:cNvSpPr>
              <a:spLocks noChangeArrowheads="1"/>
            </p:cNvSpPr>
            <p:nvPr/>
          </p:nvSpPr>
          <p:spPr bwMode="auto">
            <a:xfrm>
              <a:off x="1680" y="1959"/>
              <a:ext cx="768" cy="192"/>
            </a:xfrm>
            <a:prstGeom prst="rect">
              <a:avLst/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1210" name="Rectangle 10"/>
            <p:cNvSpPr>
              <a:spLocks noChangeArrowheads="1"/>
            </p:cNvSpPr>
            <p:nvPr/>
          </p:nvSpPr>
          <p:spPr bwMode="auto">
            <a:xfrm>
              <a:off x="1680" y="2151"/>
              <a:ext cx="768" cy="192"/>
            </a:xfrm>
            <a:prstGeom prst="rect">
              <a:avLst/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1211" name="Rectangle 11"/>
            <p:cNvSpPr>
              <a:spLocks noChangeArrowheads="1"/>
            </p:cNvSpPr>
            <p:nvPr/>
          </p:nvSpPr>
          <p:spPr bwMode="auto">
            <a:xfrm>
              <a:off x="1680" y="2343"/>
              <a:ext cx="768" cy="192"/>
            </a:xfrm>
            <a:prstGeom prst="rect">
              <a:avLst/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1212" name="Rectangle 12"/>
            <p:cNvSpPr>
              <a:spLocks noChangeArrowheads="1"/>
            </p:cNvSpPr>
            <p:nvPr/>
          </p:nvSpPr>
          <p:spPr bwMode="auto">
            <a:xfrm>
              <a:off x="1680" y="2535"/>
              <a:ext cx="768" cy="192"/>
            </a:xfrm>
            <a:prstGeom prst="rect">
              <a:avLst/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1213" name="Rectangle 13"/>
            <p:cNvSpPr>
              <a:spLocks noChangeArrowheads="1"/>
            </p:cNvSpPr>
            <p:nvPr/>
          </p:nvSpPr>
          <p:spPr bwMode="auto">
            <a:xfrm>
              <a:off x="1680" y="2727"/>
              <a:ext cx="768" cy="192"/>
            </a:xfrm>
            <a:prstGeom prst="rect">
              <a:avLst/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1214" name="Rectangle 14"/>
            <p:cNvSpPr>
              <a:spLocks noChangeArrowheads="1"/>
            </p:cNvSpPr>
            <p:nvPr/>
          </p:nvSpPr>
          <p:spPr bwMode="auto">
            <a:xfrm>
              <a:off x="1680" y="2919"/>
              <a:ext cx="768" cy="192"/>
            </a:xfrm>
            <a:prstGeom prst="rect">
              <a:avLst/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1215" name="Rectangle 15"/>
            <p:cNvSpPr>
              <a:spLocks noChangeArrowheads="1"/>
            </p:cNvSpPr>
            <p:nvPr/>
          </p:nvSpPr>
          <p:spPr bwMode="auto">
            <a:xfrm>
              <a:off x="3408" y="807"/>
              <a:ext cx="768" cy="1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1216" name="Rectangle 16"/>
            <p:cNvSpPr>
              <a:spLocks noChangeArrowheads="1"/>
            </p:cNvSpPr>
            <p:nvPr/>
          </p:nvSpPr>
          <p:spPr bwMode="auto">
            <a:xfrm>
              <a:off x="3408" y="999"/>
              <a:ext cx="768" cy="1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1217" name="Rectangle 17"/>
            <p:cNvSpPr>
              <a:spLocks noChangeArrowheads="1"/>
            </p:cNvSpPr>
            <p:nvPr/>
          </p:nvSpPr>
          <p:spPr bwMode="auto">
            <a:xfrm>
              <a:off x="3408" y="1191"/>
              <a:ext cx="768" cy="1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1218" name="Rectangle 18"/>
            <p:cNvSpPr>
              <a:spLocks noChangeArrowheads="1"/>
            </p:cNvSpPr>
            <p:nvPr/>
          </p:nvSpPr>
          <p:spPr bwMode="auto">
            <a:xfrm>
              <a:off x="3408" y="1383"/>
              <a:ext cx="768" cy="1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1219" name="Rectangle 19"/>
            <p:cNvSpPr>
              <a:spLocks noChangeArrowheads="1"/>
            </p:cNvSpPr>
            <p:nvPr/>
          </p:nvSpPr>
          <p:spPr bwMode="auto">
            <a:xfrm>
              <a:off x="3408" y="1575"/>
              <a:ext cx="768" cy="1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1220" name="Rectangle 20"/>
            <p:cNvSpPr>
              <a:spLocks noChangeArrowheads="1"/>
            </p:cNvSpPr>
            <p:nvPr/>
          </p:nvSpPr>
          <p:spPr bwMode="auto">
            <a:xfrm>
              <a:off x="3408" y="1767"/>
              <a:ext cx="768" cy="1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1221" name="Rectangle 21"/>
            <p:cNvSpPr>
              <a:spLocks noChangeArrowheads="1"/>
            </p:cNvSpPr>
            <p:nvPr/>
          </p:nvSpPr>
          <p:spPr bwMode="auto">
            <a:xfrm>
              <a:off x="3408" y="1959"/>
              <a:ext cx="768" cy="1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1222" name="Rectangle 22"/>
            <p:cNvSpPr>
              <a:spLocks noChangeArrowheads="1"/>
            </p:cNvSpPr>
            <p:nvPr/>
          </p:nvSpPr>
          <p:spPr bwMode="auto">
            <a:xfrm>
              <a:off x="3408" y="2151"/>
              <a:ext cx="768" cy="1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1223" name="Rectangle 23"/>
            <p:cNvSpPr>
              <a:spLocks noChangeArrowheads="1"/>
            </p:cNvSpPr>
            <p:nvPr/>
          </p:nvSpPr>
          <p:spPr bwMode="auto">
            <a:xfrm>
              <a:off x="3408" y="2343"/>
              <a:ext cx="768" cy="1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1224" name="Rectangle 24"/>
            <p:cNvSpPr>
              <a:spLocks noChangeArrowheads="1"/>
            </p:cNvSpPr>
            <p:nvPr/>
          </p:nvSpPr>
          <p:spPr bwMode="auto">
            <a:xfrm>
              <a:off x="3408" y="2535"/>
              <a:ext cx="768" cy="192"/>
            </a:xfrm>
            <a:prstGeom prst="rect">
              <a:avLst/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1225" name="Rectangle 25"/>
            <p:cNvSpPr>
              <a:spLocks noChangeArrowheads="1"/>
            </p:cNvSpPr>
            <p:nvPr/>
          </p:nvSpPr>
          <p:spPr bwMode="auto">
            <a:xfrm>
              <a:off x="3408" y="2727"/>
              <a:ext cx="768" cy="1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1226" name="Rectangle 26"/>
            <p:cNvSpPr>
              <a:spLocks noChangeArrowheads="1"/>
            </p:cNvSpPr>
            <p:nvPr/>
          </p:nvSpPr>
          <p:spPr bwMode="auto">
            <a:xfrm>
              <a:off x="3408" y="2919"/>
              <a:ext cx="768" cy="1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1227" name="Rectangle 27"/>
            <p:cNvSpPr>
              <a:spLocks noChangeArrowheads="1"/>
            </p:cNvSpPr>
            <p:nvPr/>
          </p:nvSpPr>
          <p:spPr bwMode="auto">
            <a:xfrm>
              <a:off x="3408" y="3111"/>
              <a:ext cx="768" cy="1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1228" name="Rectangle 28"/>
            <p:cNvSpPr>
              <a:spLocks noChangeArrowheads="1"/>
            </p:cNvSpPr>
            <p:nvPr/>
          </p:nvSpPr>
          <p:spPr bwMode="auto">
            <a:xfrm>
              <a:off x="3408" y="3303"/>
              <a:ext cx="768" cy="1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1229" name="Rectangle 29"/>
            <p:cNvSpPr>
              <a:spLocks noChangeArrowheads="1"/>
            </p:cNvSpPr>
            <p:nvPr/>
          </p:nvSpPr>
          <p:spPr bwMode="auto">
            <a:xfrm>
              <a:off x="3408" y="3495"/>
              <a:ext cx="768" cy="1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1230" name="Rectangle 30"/>
            <p:cNvSpPr>
              <a:spLocks noChangeArrowheads="1"/>
            </p:cNvSpPr>
            <p:nvPr/>
          </p:nvSpPr>
          <p:spPr bwMode="auto">
            <a:xfrm>
              <a:off x="3408" y="3687"/>
              <a:ext cx="768" cy="1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1231" name="Text Box 31"/>
            <p:cNvSpPr txBox="1">
              <a:spLocks noChangeArrowheads="1"/>
            </p:cNvSpPr>
            <p:nvPr/>
          </p:nvSpPr>
          <p:spPr bwMode="auto">
            <a:xfrm>
              <a:off x="1440" y="1554"/>
              <a:ext cx="192" cy="2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16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0</a:t>
              </a:r>
            </a:p>
          </p:txBody>
        </p:sp>
        <p:sp>
          <p:nvSpPr>
            <p:cNvPr id="51232" name="Text Box 32"/>
            <p:cNvSpPr txBox="1">
              <a:spLocks noChangeArrowheads="1"/>
            </p:cNvSpPr>
            <p:nvPr/>
          </p:nvSpPr>
          <p:spPr bwMode="auto">
            <a:xfrm>
              <a:off x="1440" y="1747"/>
              <a:ext cx="192" cy="2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16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</a:p>
          </p:txBody>
        </p:sp>
        <p:sp>
          <p:nvSpPr>
            <p:cNvPr id="51233" name="Text Box 33"/>
            <p:cNvSpPr txBox="1">
              <a:spLocks noChangeArrowheads="1"/>
            </p:cNvSpPr>
            <p:nvPr/>
          </p:nvSpPr>
          <p:spPr bwMode="auto">
            <a:xfrm>
              <a:off x="1440" y="1938"/>
              <a:ext cx="192" cy="2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16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</a:p>
          </p:txBody>
        </p:sp>
        <p:sp>
          <p:nvSpPr>
            <p:cNvPr id="51234" name="Text Box 34"/>
            <p:cNvSpPr txBox="1">
              <a:spLocks noChangeArrowheads="1"/>
            </p:cNvSpPr>
            <p:nvPr/>
          </p:nvSpPr>
          <p:spPr bwMode="auto">
            <a:xfrm>
              <a:off x="1440" y="2131"/>
              <a:ext cx="192" cy="2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16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</a:p>
          </p:txBody>
        </p:sp>
        <p:sp>
          <p:nvSpPr>
            <p:cNvPr id="51235" name="Text Box 35"/>
            <p:cNvSpPr txBox="1">
              <a:spLocks noChangeArrowheads="1"/>
            </p:cNvSpPr>
            <p:nvPr/>
          </p:nvSpPr>
          <p:spPr bwMode="auto">
            <a:xfrm>
              <a:off x="1440" y="2322"/>
              <a:ext cx="192" cy="2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16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</a:p>
          </p:txBody>
        </p:sp>
        <p:sp>
          <p:nvSpPr>
            <p:cNvPr id="51236" name="Text Box 36"/>
            <p:cNvSpPr txBox="1">
              <a:spLocks noChangeArrowheads="1"/>
            </p:cNvSpPr>
            <p:nvPr/>
          </p:nvSpPr>
          <p:spPr bwMode="auto">
            <a:xfrm>
              <a:off x="1440" y="2516"/>
              <a:ext cx="192" cy="2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16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5</a:t>
              </a:r>
            </a:p>
          </p:txBody>
        </p:sp>
        <p:sp>
          <p:nvSpPr>
            <p:cNvPr id="51237" name="Text Box 37"/>
            <p:cNvSpPr txBox="1">
              <a:spLocks noChangeArrowheads="1"/>
            </p:cNvSpPr>
            <p:nvPr/>
          </p:nvSpPr>
          <p:spPr bwMode="auto">
            <a:xfrm>
              <a:off x="1440" y="2707"/>
              <a:ext cx="192" cy="2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16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6</a:t>
              </a:r>
            </a:p>
          </p:txBody>
        </p:sp>
        <p:sp>
          <p:nvSpPr>
            <p:cNvPr id="51238" name="Text Box 38"/>
            <p:cNvSpPr txBox="1">
              <a:spLocks noChangeArrowheads="1"/>
            </p:cNvSpPr>
            <p:nvPr/>
          </p:nvSpPr>
          <p:spPr bwMode="auto">
            <a:xfrm>
              <a:off x="1440" y="2899"/>
              <a:ext cx="192" cy="2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16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7</a:t>
              </a:r>
            </a:p>
          </p:txBody>
        </p:sp>
        <p:sp>
          <p:nvSpPr>
            <p:cNvPr id="51239" name="Text Box 39"/>
            <p:cNvSpPr txBox="1">
              <a:spLocks noChangeArrowheads="1"/>
            </p:cNvSpPr>
            <p:nvPr/>
          </p:nvSpPr>
          <p:spPr bwMode="auto">
            <a:xfrm>
              <a:off x="1317" y="1239"/>
              <a:ext cx="624" cy="2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16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块号</a:t>
              </a:r>
            </a:p>
          </p:txBody>
        </p:sp>
        <p:sp>
          <p:nvSpPr>
            <p:cNvPr id="51240" name="Text Box 40"/>
            <p:cNvSpPr txBox="1">
              <a:spLocks noChangeArrowheads="1"/>
            </p:cNvSpPr>
            <p:nvPr/>
          </p:nvSpPr>
          <p:spPr bwMode="auto">
            <a:xfrm>
              <a:off x="1842" y="1239"/>
              <a:ext cx="624" cy="2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16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Cache</a:t>
              </a:r>
            </a:p>
          </p:txBody>
        </p:sp>
        <p:sp>
          <p:nvSpPr>
            <p:cNvPr id="51241" name="Text Box 41"/>
            <p:cNvSpPr txBox="1">
              <a:spLocks noChangeArrowheads="1"/>
            </p:cNvSpPr>
            <p:nvPr/>
          </p:nvSpPr>
          <p:spPr bwMode="auto">
            <a:xfrm>
              <a:off x="4233" y="798"/>
              <a:ext cx="192" cy="2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16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0</a:t>
              </a:r>
            </a:p>
          </p:txBody>
        </p:sp>
        <p:sp>
          <p:nvSpPr>
            <p:cNvPr id="51242" name="Text Box 42"/>
            <p:cNvSpPr txBox="1">
              <a:spLocks noChangeArrowheads="1"/>
            </p:cNvSpPr>
            <p:nvPr/>
          </p:nvSpPr>
          <p:spPr bwMode="auto">
            <a:xfrm>
              <a:off x="4233" y="991"/>
              <a:ext cx="192" cy="2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16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</a:p>
          </p:txBody>
        </p:sp>
        <p:sp>
          <p:nvSpPr>
            <p:cNvPr id="51243" name="Text Box 43"/>
            <p:cNvSpPr txBox="1">
              <a:spLocks noChangeArrowheads="1"/>
            </p:cNvSpPr>
            <p:nvPr/>
          </p:nvSpPr>
          <p:spPr bwMode="auto">
            <a:xfrm>
              <a:off x="4233" y="1184"/>
              <a:ext cx="192" cy="2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16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</a:p>
          </p:txBody>
        </p:sp>
        <p:sp>
          <p:nvSpPr>
            <p:cNvPr id="51244" name="Text Box 44"/>
            <p:cNvSpPr txBox="1">
              <a:spLocks noChangeArrowheads="1"/>
            </p:cNvSpPr>
            <p:nvPr/>
          </p:nvSpPr>
          <p:spPr bwMode="auto">
            <a:xfrm>
              <a:off x="4233" y="1376"/>
              <a:ext cx="192" cy="2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16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</a:p>
          </p:txBody>
        </p:sp>
        <p:sp>
          <p:nvSpPr>
            <p:cNvPr id="51245" name="Text Box 45"/>
            <p:cNvSpPr txBox="1">
              <a:spLocks noChangeArrowheads="1"/>
            </p:cNvSpPr>
            <p:nvPr/>
          </p:nvSpPr>
          <p:spPr bwMode="auto">
            <a:xfrm>
              <a:off x="4233" y="1567"/>
              <a:ext cx="192" cy="2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16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</a:p>
          </p:txBody>
        </p:sp>
        <p:sp>
          <p:nvSpPr>
            <p:cNvPr id="51246" name="Text Box 46"/>
            <p:cNvSpPr txBox="1">
              <a:spLocks noChangeArrowheads="1"/>
            </p:cNvSpPr>
            <p:nvPr/>
          </p:nvSpPr>
          <p:spPr bwMode="auto">
            <a:xfrm>
              <a:off x="4233" y="1759"/>
              <a:ext cx="192" cy="2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16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5</a:t>
              </a:r>
            </a:p>
          </p:txBody>
        </p:sp>
        <p:sp>
          <p:nvSpPr>
            <p:cNvPr id="51247" name="Text Box 47"/>
            <p:cNvSpPr txBox="1">
              <a:spLocks noChangeArrowheads="1"/>
            </p:cNvSpPr>
            <p:nvPr/>
          </p:nvSpPr>
          <p:spPr bwMode="auto">
            <a:xfrm>
              <a:off x="4233" y="1951"/>
              <a:ext cx="192" cy="2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16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6</a:t>
              </a:r>
            </a:p>
          </p:txBody>
        </p:sp>
        <p:sp>
          <p:nvSpPr>
            <p:cNvPr id="51248" name="Text Box 48"/>
            <p:cNvSpPr txBox="1">
              <a:spLocks noChangeArrowheads="1"/>
            </p:cNvSpPr>
            <p:nvPr/>
          </p:nvSpPr>
          <p:spPr bwMode="auto">
            <a:xfrm>
              <a:off x="4233" y="2144"/>
              <a:ext cx="192" cy="2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16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7</a:t>
              </a:r>
            </a:p>
          </p:txBody>
        </p:sp>
        <p:sp>
          <p:nvSpPr>
            <p:cNvPr id="51249" name="Text Box 49"/>
            <p:cNvSpPr txBox="1">
              <a:spLocks noChangeArrowheads="1"/>
            </p:cNvSpPr>
            <p:nvPr/>
          </p:nvSpPr>
          <p:spPr bwMode="auto">
            <a:xfrm>
              <a:off x="4227" y="2330"/>
              <a:ext cx="192" cy="2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16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8</a:t>
              </a:r>
            </a:p>
          </p:txBody>
        </p:sp>
        <p:sp>
          <p:nvSpPr>
            <p:cNvPr id="51250" name="Text Box 50"/>
            <p:cNvSpPr txBox="1">
              <a:spLocks noChangeArrowheads="1"/>
            </p:cNvSpPr>
            <p:nvPr/>
          </p:nvSpPr>
          <p:spPr bwMode="auto">
            <a:xfrm>
              <a:off x="4227" y="2523"/>
              <a:ext cx="192" cy="2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16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9</a:t>
              </a:r>
            </a:p>
          </p:txBody>
        </p:sp>
        <p:sp>
          <p:nvSpPr>
            <p:cNvPr id="51251" name="Text Box 51"/>
            <p:cNvSpPr txBox="1">
              <a:spLocks noChangeArrowheads="1"/>
            </p:cNvSpPr>
            <p:nvPr/>
          </p:nvSpPr>
          <p:spPr bwMode="auto">
            <a:xfrm>
              <a:off x="4227" y="2715"/>
              <a:ext cx="333" cy="2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16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10</a:t>
              </a:r>
            </a:p>
          </p:txBody>
        </p:sp>
        <p:sp>
          <p:nvSpPr>
            <p:cNvPr id="51252" name="Text Box 52"/>
            <p:cNvSpPr txBox="1">
              <a:spLocks noChangeArrowheads="1"/>
            </p:cNvSpPr>
            <p:nvPr/>
          </p:nvSpPr>
          <p:spPr bwMode="auto">
            <a:xfrm>
              <a:off x="4227" y="2908"/>
              <a:ext cx="381" cy="2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16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11</a:t>
              </a:r>
            </a:p>
          </p:txBody>
        </p:sp>
        <p:sp>
          <p:nvSpPr>
            <p:cNvPr id="51253" name="Text Box 53"/>
            <p:cNvSpPr txBox="1">
              <a:spLocks noChangeArrowheads="1"/>
            </p:cNvSpPr>
            <p:nvPr/>
          </p:nvSpPr>
          <p:spPr bwMode="auto">
            <a:xfrm>
              <a:off x="4227" y="3101"/>
              <a:ext cx="381" cy="2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16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12</a:t>
              </a:r>
            </a:p>
          </p:txBody>
        </p:sp>
        <p:sp>
          <p:nvSpPr>
            <p:cNvPr id="51254" name="Text Box 54"/>
            <p:cNvSpPr txBox="1">
              <a:spLocks noChangeArrowheads="1"/>
            </p:cNvSpPr>
            <p:nvPr/>
          </p:nvSpPr>
          <p:spPr bwMode="auto">
            <a:xfrm>
              <a:off x="4227" y="3292"/>
              <a:ext cx="429" cy="2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16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13</a:t>
              </a:r>
            </a:p>
          </p:txBody>
        </p:sp>
        <p:sp>
          <p:nvSpPr>
            <p:cNvPr id="51255" name="Text Box 55"/>
            <p:cNvSpPr txBox="1">
              <a:spLocks noChangeArrowheads="1"/>
            </p:cNvSpPr>
            <p:nvPr/>
          </p:nvSpPr>
          <p:spPr bwMode="auto">
            <a:xfrm>
              <a:off x="4227" y="3483"/>
              <a:ext cx="381" cy="2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16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14</a:t>
              </a:r>
            </a:p>
          </p:txBody>
        </p:sp>
        <p:sp>
          <p:nvSpPr>
            <p:cNvPr id="51256" name="Text Box 56"/>
            <p:cNvSpPr txBox="1">
              <a:spLocks noChangeArrowheads="1"/>
            </p:cNvSpPr>
            <p:nvPr/>
          </p:nvSpPr>
          <p:spPr bwMode="auto">
            <a:xfrm>
              <a:off x="4227" y="3676"/>
              <a:ext cx="381" cy="2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16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15</a:t>
              </a:r>
            </a:p>
          </p:txBody>
        </p:sp>
        <p:sp>
          <p:nvSpPr>
            <p:cNvPr id="51257" name="Text Box 57"/>
            <p:cNvSpPr txBox="1">
              <a:spLocks noChangeArrowheads="1"/>
            </p:cNvSpPr>
            <p:nvPr/>
          </p:nvSpPr>
          <p:spPr bwMode="auto">
            <a:xfrm>
              <a:off x="4107" y="525"/>
              <a:ext cx="624" cy="2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16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块号</a:t>
              </a:r>
            </a:p>
          </p:txBody>
        </p:sp>
        <p:sp>
          <p:nvSpPr>
            <p:cNvPr id="51258" name="Text Box 58"/>
            <p:cNvSpPr txBox="1">
              <a:spLocks noChangeArrowheads="1"/>
            </p:cNvSpPr>
            <p:nvPr/>
          </p:nvSpPr>
          <p:spPr bwMode="auto">
            <a:xfrm>
              <a:off x="3639" y="519"/>
              <a:ext cx="624" cy="2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16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主存</a:t>
              </a:r>
            </a:p>
          </p:txBody>
        </p:sp>
        <p:sp>
          <p:nvSpPr>
            <p:cNvPr id="51259" name="Line 59"/>
            <p:cNvSpPr>
              <a:spLocks noChangeShapeType="1"/>
            </p:cNvSpPr>
            <p:nvPr/>
          </p:nvSpPr>
          <p:spPr bwMode="auto">
            <a:xfrm flipH="1" flipV="1">
              <a:off x="2448" y="1671"/>
              <a:ext cx="960" cy="96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1260" name="Line 60"/>
            <p:cNvSpPr>
              <a:spLocks noChangeShapeType="1"/>
            </p:cNvSpPr>
            <p:nvPr/>
          </p:nvSpPr>
          <p:spPr bwMode="auto">
            <a:xfrm flipH="1" flipV="1">
              <a:off x="2448" y="1863"/>
              <a:ext cx="960" cy="76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1261" name="Line 61"/>
            <p:cNvSpPr>
              <a:spLocks noChangeShapeType="1"/>
            </p:cNvSpPr>
            <p:nvPr/>
          </p:nvSpPr>
          <p:spPr bwMode="auto">
            <a:xfrm flipH="1" flipV="1">
              <a:off x="2448" y="2055"/>
              <a:ext cx="960" cy="57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1262" name="Line 62"/>
            <p:cNvSpPr>
              <a:spLocks noChangeShapeType="1"/>
            </p:cNvSpPr>
            <p:nvPr/>
          </p:nvSpPr>
          <p:spPr bwMode="auto">
            <a:xfrm flipH="1" flipV="1">
              <a:off x="2448" y="2247"/>
              <a:ext cx="960" cy="38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1263" name="Line 63"/>
            <p:cNvSpPr>
              <a:spLocks noChangeShapeType="1"/>
            </p:cNvSpPr>
            <p:nvPr/>
          </p:nvSpPr>
          <p:spPr bwMode="auto">
            <a:xfrm flipH="1" flipV="1">
              <a:off x="2448" y="2439"/>
              <a:ext cx="960" cy="19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1264" name="Line 64"/>
            <p:cNvSpPr>
              <a:spLocks noChangeShapeType="1"/>
            </p:cNvSpPr>
            <p:nvPr/>
          </p:nvSpPr>
          <p:spPr bwMode="auto">
            <a:xfrm flipH="1" flipV="1">
              <a:off x="2448" y="2631"/>
              <a:ext cx="96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1265" name="Line 65"/>
            <p:cNvSpPr>
              <a:spLocks noChangeShapeType="1"/>
            </p:cNvSpPr>
            <p:nvPr/>
          </p:nvSpPr>
          <p:spPr bwMode="auto">
            <a:xfrm flipH="1">
              <a:off x="2448" y="2631"/>
              <a:ext cx="960" cy="19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1266" name="Line 66"/>
            <p:cNvSpPr>
              <a:spLocks noChangeShapeType="1"/>
            </p:cNvSpPr>
            <p:nvPr/>
          </p:nvSpPr>
          <p:spPr bwMode="auto">
            <a:xfrm flipH="1">
              <a:off x="2448" y="2631"/>
              <a:ext cx="960" cy="38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51205" name="Text Box 68"/>
          <p:cNvSpPr txBox="1">
            <a:spLocks noChangeArrowheads="1"/>
          </p:cNvSpPr>
          <p:nvPr/>
        </p:nvSpPr>
        <p:spPr bwMode="auto">
          <a:xfrm>
            <a:off x="6934200" y="2514600"/>
            <a:ext cx="3505200" cy="3170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优点</a:t>
            </a:r>
          </a:p>
          <a:p>
            <a:pPr eaLnBrk="1" hangingPunct="1">
              <a:spcBef>
                <a:spcPct val="50000"/>
              </a:spcBef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块的冲突率最小，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Cache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的利用率也最高</a:t>
            </a:r>
          </a:p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缺点</a:t>
            </a:r>
          </a:p>
          <a:p>
            <a:pPr eaLnBrk="1" hangingPunct="1">
              <a:spcBef>
                <a:spcPct val="50000"/>
              </a:spcBef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控制复杂度高</a:t>
            </a:r>
          </a:p>
          <a:p>
            <a:pPr eaLnBrk="1" hangingPunct="1">
              <a:spcBef>
                <a:spcPct val="50000"/>
              </a:spcBef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代价也高</a:t>
            </a:r>
          </a:p>
          <a:p>
            <a:pPr eaLnBrk="1" hangingPunct="1">
              <a:spcBef>
                <a:spcPct val="50000"/>
              </a:spcBef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影响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Cache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的访问速度</a:t>
            </a:r>
          </a:p>
        </p:txBody>
      </p:sp>
      <p:sp>
        <p:nvSpPr>
          <p:cNvPr id="51206" name="Text Box 4"/>
          <p:cNvSpPr txBox="1">
            <a:spLocks noChangeArrowheads="1"/>
          </p:cNvSpPr>
          <p:nvPr/>
        </p:nvSpPr>
        <p:spPr bwMode="auto">
          <a:xfrm>
            <a:off x="2495550" y="549275"/>
            <a:ext cx="7488238" cy="5909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buNone/>
            </a:pPr>
            <a:r>
              <a:rPr kumimoji="1" lang="zh-CN" altLang="en-US" sz="3600" dirty="0">
                <a:latin typeface="微软雅黑" pitchFamily="34" charset="-122"/>
                <a:ea typeface="微软雅黑" pitchFamily="34" charset="-122"/>
                <a:cs typeface="+mj-cs"/>
              </a:rPr>
              <a:t>全相联映射</a:t>
            </a:r>
            <a:r>
              <a:rPr kumimoji="1" lang="en-US" altLang="zh-CN" sz="3600" dirty="0">
                <a:latin typeface="微软雅黑" pitchFamily="34" charset="-122"/>
                <a:ea typeface="微软雅黑" pitchFamily="34" charset="-122"/>
                <a:cs typeface="+mj-cs"/>
              </a:rPr>
              <a:t>- Fully Associative</a:t>
            </a:r>
            <a:endParaRPr kumimoji="1" lang="zh-CN" altLang="en-US" sz="3600" dirty="0">
              <a:latin typeface="微软雅黑" pitchFamily="34" charset="-122"/>
              <a:ea typeface="微软雅黑" pitchFamily="34" charset="-122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220621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8077200" y="5929313"/>
            <a:ext cx="21336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BEB368A-3766-47C8-80D1-CDBD5DB35377}" type="slidenum"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pPr>
                <a:spcBef>
                  <a:spcPct val="0"/>
                </a:spcBef>
                <a:buFontTx/>
                <a:buNone/>
              </a:pPr>
              <a:t>7</a:t>
            </a:fld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2227" name="Text Box 8"/>
          <p:cNvSpPr txBox="1">
            <a:spLocks noChangeArrowheads="1"/>
          </p:cNvSpPr>
          <p:nvPr/>
        </p:nvSpPr>
        <p:spPr bwMode="auto">
          <a:xfrm>
            <a:off x="2208214" y="981075"/>
            <a:ext cx="770413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直接映象是指主存中的每一块只能被放置到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Cache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中的唯一位置 </a:t>
            </a:r>
          </a:p>
        </p:txBody>
      </p:sp>
      <p:sp>
        <p:nvSpPr>
          <p:cNvPr id="52228" name="Text Box 59"/>
          <p:cNvSpPr txBox="1">
            <a:spLocks noChangeArrowheads="1"/>
          </p:cNvSpPr>
          <p:nvPr/>
        </p:nvSpPr>
        <p:spPr bwMode="auto">
          <a:xfrm>
            <a:off x="6073775" y="1406525"/>
            <a:ext cx="90328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rPr>
              <a:t>块号</a:t>
            </a:r>
          </a:p>
        </p:txBody>
      </p:sp>
      <p:grpSp>
        <p:nvGrpSpPr>
          <p:cNvPr id="52229" name="Group 77"/>
          <p:cNvGrpSpPr>
            <a:grpSpLocks/>
          </p:cNvGrpSpPr>
          <p:nvPr/>
        </p:nvGrpSpPr>
        <p:grpSpPr bwMode="auto">
          <a:xfrm>
            <a:off x="1828800" y="5803901"/>
            <a:ext cx="5486400" cy="1029653"/>
            <a:chOff x="528" y="1728"/>
            <a:chExt cx="3792" cy="862"/>
          </a:xfrm>
        </p:grpSpPr>
        <p:sp>
          <p:nvSpPr>
            <p:cNvPr id="52306" name="Line 78"/>
            <p:cNvSpPr>
              <a:spLocks noChangeShapeType="1"/>
            </p:cNvSpPr>
            <p:nvPr/>
          </p:nvSpPr>
          <p:spPr bwMode="auto">
            <a:xfrm>
              <a:off x="1344" y="1728"/>
              <a:ext cx="2962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2307" name="Line 79"/>
            <p:cNvSpPr>
              <a:spLocks noChangeShapeType="1"/>
            </p:cNvSpPr>
            <p:nvPr/>
          </p:nvSpPr>
          <p:spPr bwMode="auto">
            <a:xfrm>
              <a:off x="1337" y="1728"/>
              <a:ext cx="1" cy="3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2308" name="Line 80"/>
            <p:cNvSpPr>
              <a:spLocks noChangeShapeType="1"/>
            </p:cNvSpPr>
            <p:nvPr/>
          </p:nvSpPr>
          <p:spPr bwMode="auto">
            <a:xfrm>
              <a:off x="3120" y="1728"/>
              <a:ext cx="1" cy="3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2309" name="Line 81"/>
            <p:cNvSpPr>
              <a:spLocks noChangeShapeType="1"/>
            </p:cNvSpPr>
            <p:nvPr/>
          </p:nvSpPr>
          <p:spPr bwMode="auto">
            <a:xfrm>
              <a:off x="4319" y="1728"/>
              <a:ext cx="1" cy="3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2310" name="Text Box 82"/>
            <p:cNvSpPr txBox="1">
              <a:spLocks noChangeArrowheads="1"/>
            </p:cNvSpPr>
            <p:nvPr/>
          </p:nvSpPr>
          <p:spPr bwMode="auto">
            <a:xfrm>
              <a:off x="528" y="1788"/>
              <a:ext cx="1583" cy="2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16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主存地址</a:t>
              </a:r>
              <a:r>
                <a:rPr lang="en-US" altLang="zh-CN" sz="1600" b="1" i="1">
                  <a:latin typeface="微软雅黑" panose="020B0503020204020204" pitchFamily="34" charset="-122"/>
                  <a:ea typeface="微软雅黑" panose="020B0503020204020204" pitchFamily="34" charset="-122"/>
                </a:rPr>
                <a:t>i</a:t>
              </a:r>
              <a:r>
                <a:rPr lang="zh-CN" altLang="en-US" sz="16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：</a:t>
              </a:r>
            </a:p>
          </p:txBody>
        </p:sp>
        <p:sp>
          <p:nvSpPr>
            <p:cNvPr id="52311" name="Text Box 83"/>
            <p:cNvSpPr txBox="1">
              <a:spLocks noChangeArrowheads="1"/>
            </p:cNvSpPr>
            <p:nvPr/>
          </p:nvSpPr>
          <p:spPr bwMode="auto">
            <a:xfrm>
              <a:off x="3504" y="1779"/>
              <a:ext cx="384" cy="2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1600" b="1" i="1">
                  <a:latin typeface="微软雅黑" panose="020B0503020204020204" pitchFamily="34" charset="-122"/>
                  <a:ea typeface="微软雅黑" panose="020B0503020204020204" pitchFamily="34" charset="-122"/>
                </a:rPr>
                <a:t>j</a:t>
              </a:r>
              <a:endParaRPr lang="en-US" altLang="zh-CN" sz="16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2312" name="Line 84"/>
            <p:cNvSpPr>
              <a:spLocks noChangeShapeType="1"/>
            </p:cNvSpPr>
            <p:nvPr/>
          </p:nvSpPr>
          <p:spPr bwMode="auto">
            <a:xfrm>
              <a:off x="1353" y="2208"/>
              <a:ext cx="2953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2313" name="Line 85"/>
            <p:cNvSpPr>
              <a:spLocks noChangeShapeType="1"/>
            </p:cNvSpPr>
            <p:nvPr/>
          </p:nvSpPr>
          <p:spPr bwMode="auto">
            <a:xfrm>
              <a:off x="3120" y="2215"/>
              <a:ext cx="1" cy="3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2314" name="Line 86"/>
            <p:cNvSpPr>
              <a:spLocks noChangeShapeType="1"/>
            </p:cNvSpPr>
            <p:nvPr/>
          </p:nvSpPr>
          <p:spPr bwMode="auto">
            <a:xfrm>
              <a:off x="4319" y="2208"/>
              <a:ext cx="1" cy="3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2315" name="Text Box 87"/>
            <p:cNvSpPr txBox="1">
              <a:spLocks noChangeArrowheads="1"/>
            </p:cNvSpPr>
            <p:nvPr/>
          </p:nvSpPr>
          <p:spPr bwMode="auto">
            <a:xfrm>
              <a:off x="3480" y="2307"/>
              <a:ext cx="527" cy="2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1600" b="1" i="1">
                  <a:latin typeface="微软雅黑" panose="020B0503020204020204" pitchFamily="34" charset="-122"/>
                  <a:ea typeface="微软雅黑" panose="020B0503020204020204" pitchFamily="34" charset="-122"/>
                </a:rPr>
                <a:t>m</a:t>
              </a:r>
              <a:r>
                <a:rPr lang="zh-CN" altLang="en-US" sz="16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位</a:t>
              </a:r>
            </a:p>
          </p:txBody>
        </p:sp>
        <p:sp>
          <p:nvSpPr>
            <p:cNvPr id="52316" name="Line 88"/>
            <p:cNvSpPr>
              <a:spLocks noChangeShapeType="1"/>
            </p:cNvSpPr>
            <p:nvPr/>
          </p:nvSpPr>
          <p:spPr bwMode="auto">
            <a:xfrm flipH="1">
              <a:off x="3120" y="2400"/>
              <a:ext cx="432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2317" name="Line 89"/>
            <p:cNvSpPr>
              <a:spLocks noChangeShapeType="1"/>
            </p:cNvSpPr>
            <p:nvPr/>
          </p:nvSpPr>
          <p:spPr bwMode="auto">
            <a:xfrm>
              <a:off x="3888" y="2408"/>
              <a:ext cx="432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52230" name="Text Box 94"/>
          <p:cNvSpPr txBox="1">
            <a:spLocks noChangeArrowheads="1"/>
          </p:cNvSpPr>
          <p:nvPr/>
        </p:nvSpPr>
        <p:spPr bwMode="auto">
          <a:xfrm>
            <a:off x="7162800" y="1974851"/>
            <a:ext cx="3352800" cy="270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优点</a:t>
            </a:r>
          </a:p>
          <a:p>
            <a:pPr eaLnBrk="1" hangingPunct="1">
              <a:spcBef>
                <a:spcPct val="50000"/>
              </a:spcBef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硬件实现简单</a:t>
            </a:r>
          </a:p>
          <a:p>
            <a:pPr eaLnBrk="1" hangingPunct="1">
              <a:spcBef>
                <a:spcPct val="50000"/>
              </a:spcBef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访问速度较快。</a:t>
            </a:r>
          </a:p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缺点</a:t>
            </a:r>
          </a:p>
          <a:p>
            <a:pPr eaLnBrk="1" hangingPunct="1">
              <a:spcBef>
                <a:spcPct val="50000"/>
              </a:spcBef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块的冲突率比较高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Cache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的命中率会很低</a:t>
            </a:r>
          </a:p>
        </p:txBody>
      </p:sp>
      <p:sp>
        <p:nvSpPr>
          <p:cNvPr id="52231" name="Text Box 96"/>
          <p:cNvSpPr txBox="1">
            <a:spLocks noChangeArrowheads="1"/>
          </p:cNvSpPr>
          <p:nvPr/>
        </p:nvSpPr>
        <p:spPr bwMode="auto">
          <a:xfrm>
            <a:off x="2590800" y="5246688"/>
            <a:ext cx="22098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18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Cache</a:t>
            </a:r>
            <a:r>
              <a:rPr lang="zh-CN" altLang="en-US" sz="18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的块数</a:t>
            </a:r>
          </a:p>
        </p:txBody>
      </p:sp>
      <p:grpSp>
        <p:nvGrpSpPr>
          <p:cNvPr id="52232" name="组合 100"/>
          <p:cNvGrpSpPr>
            <a:grpSpLocks/>
          </p:cNvGrpSpPr>
          <p:nvPr/>
        </p:nvGrpSpPr>
        <p:grpSpPr bwMode="auto">
          <a:xfrm>
            <a:off x="2038350" y="1398589"/>
            <a:ext cx="4827588" cy="4110037"/>
            <a:chOff x="514591" y="824657"/>
            <a:chExt cx="4826643" cy="4110128"/>
          </a:xfrm>
        </p:grpSpPr>
        <p:sp>
          <p:nvSpPr>
            <p:cNvPr id="52235" name="Rectangle 9"/>
            <p:cNvSpPr>
              <a:spLocks noChangeArrowheads="1"/>
            </p:cNvSpPr>
            <p:nvPr/>
          </p:nvSpPr>
          <p:spPr bwMode="auto">
            <a:xfrm>
              <a:off x="1038346" y="2086738"/>
              <a:ext cx="1111170" cy="229469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2236" name="Rectangle 10"/>
            <p:cNvSpPr>
              <a:spLocks noChangeArrowheads="1"/>
            </p:cNvSpPr>
            <p:nvPr/>
          </p:nvSpPr>
          <p:spPr bwMode="auto">
            <a:xfrm>
              <a:off x="1038346" y="2316207"/>
              <a:ext cx="1111170" cy="229469"/>
            </a:xfrm>
            <a:prstGeom prst="rect">
              <a:avLst/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2237" name="Rectangle 11"/>
            <p:cNvSpPr>
              <a:spLocks noChangeArrowheads="1"/>
            </p:cNvSpPr>
            <p:nvPr/>
          </p:nvSpPr>
          <p:spPr bwMode="auto">
            <a:xfrm>
              <a:off x="1038346" y="2545676"/>
              <a:ext cx="1111170" cy="229469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2238" name="Rectangle 12"/>
            <p:cNvSpPr>
              <a:spLocks noChangeArrowheads="1"/>
            </p:cNvSpPr>
            <p:nvPr/>
          </p:nvSpPr>
          <p:spPr bwMode="auto">
            <a:xfrm>
              <a:off x="1038346" y="2775145"/>
              <a:ext cx="1111170" cy="229469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2239" name="Rectangle 13"/>
            <p:cNvSpPr>
              <a:spLocks noChangeArrowheads="1"/>
            </p:cNvSpPr>
            <p:nvPr/>
          </p:nvSpPr>
          <p:spPr bwMode="auto">
            <a:xfrm>
              <a:off x="1038346" y="3004614"/>
              <a:ext cx="1111170" cy="229469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2240" name="Rectangle 14"/>
            <p:cNvSpPr>
              <a:spLocks noChangeArrowheads="1"/>
            </p:cNvSpPr>
            <p:nvPr/>
          </p:nvSpPr>
          <p:spPr bwMode="auto">
            <a:xfrm>
              <a:off x="1038346" y="3234084"/>
              <a:ext cx="1111170" cy="229469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2241" name="Rectangle 15"/>
            <p:cNvSpPr>
              <a:spLocks noChangeArrowheads="1"/>
            </p:cNvSpPr>
            <p:nvPr/>
          </p:nvSpPr>
          <p:spPr bwMode="auto">
            <a:xfrm>
              <a:off x="1038346" y="3463553"/>
              <a:ext cx="1111170" cy="229469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2242" name="Rectangle 16"/>
            <p:cNvSpPr>
              <a:spLocks noChangeArrowheads="1"/>
            </p:cNvSpPr>
            <p:nvPr/>
          </p:nvSpPr>
          <p:spPr bwMode="auto">
            <a:xfrm>
              <a:off x="1038346" y="3693022"/>
              <a:ext cx="1111170" cy="229469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2243" name="Rectangle 17"/>
            <p:cNvSpPr>
              <a:spLocks noChangeArrowheads="1"/>
            </p:cNvSpPr>
            <p:nvPr/>
          </p:nvSpPr>
          <p:spPr bwMode="auto">
            <a:xfrm>
              <a:off x="3538477" y="1168861"/>
              <a:ext cx="1111170" cy="229469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2244" name="Rectangle 18"/>
            <p:cNvSpPr>
              <a:spLocks noChangeArrowheads="1"/>
            </p:cNvSpPr>
            <p:nvPr/>
          </p:nvSpPr>
          <p:spPr bwMode="auto">
            <a:xfrm>
              <a:off x="3538477" y="1398330"/>
              <a:ext cx="1111170" cy="229469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2245" name="Rectangle 19"/>
            <p:cNvSpPr>
              <a:spLocks noChangeArrowheads="1"/>
            </p:cNvSpPr>
            <p:nvPr/>
          </p:nvSpPr>
          <p:spPr bwMode="auto">
            <a:xfrm>
              <a:off x="3538477" y="1627799"/>
              <a:ext cx="1111170" cy="229469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2246" name="Rectangle 20"/>
            <p:cNvSpPr>
              <a:spLocks noChangeArrowheads="1"/>
            </p:cNvSpPr>
            <p:nvPr/>
          </p:nvSpPr>
          <p:spPr bwMode="auto">
            <a:xfrm>
              <a:off x="3538477" y="1857268"/>
              <a:ext cx="1111170" cy="229469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2247" name="Rectangle 21"/>
            <p:cNvSpPr>
              <a:spLocks noChangeArrowheads="1"/>
            </p:cNvSpPr>
            <p:nvPr/>
          </p:nvSpPr>
          <p:spPr bwMode="auto">
            <a:xfrm>
              <a:off x="3538477" y="2086738"/>
              <a:ext cx="1111170" cy="229469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2248" name="Rectangle 22"/>
            <p:cNvSpPr>
              <a:spLocks noChangeArrowheads="1"/>
            </p:cNvSpPr>
            <p:nvPr/>
          </p:nvSpPr>
          <p:spPr bwMode="auto">
            <a:xfrm>
              <a:off x="3538477" y="2316207"/>
              <a:ext cx="1111170" cy="229469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2249" name="Rectangle 23"/>
            <p:cNvSpPr>
              <a:spLocks noChangeArrowheads="1"/>
            </p:cNvSpPr>
            <p:nvPr/>
          </p:nvSpPr>
          <p:spPr bwMode="auto">
            <a:xfrm>
              <a:off x="3538477" y="2545676"/>
              <a:ext cx="1111170" cy="229469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2250" name="Rectangle 24"/>
            <p:cNvSpPr>
              <a:spLocks noChangeArrowheads="1"/>
            </p:cNvSpPr>
            <p:nvPr/>
          </p:nvSpPr>
          <p:spPr bwMode="auto">
            <a:xfrm>
              <a:off x="3538477" y="2775145"/>
              <a:ext cx="1111170" cy="229469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2251" name="Rectangle 25"/>
            <p:cNvSpPr>
              <a:spLocks noChangeArrowheads="1"/>
            </p:cNvSpPr>
            <p:nvPr/>
          </p:nvSpPr>
          <p:spPr bwMode="auto">
            <a:xfrm>
              <a:off x="3538477" y="3004614"/>
              <a:ext cx="1111170" cy="229469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2252" name="Rectangle 26"/>
            <p:cNvSpPr>
              <a:spLocks noChangeArrowheads="1"/>
            </p:cNvSpPr>
            <p:nvPr/>
          </p:nvSpPr>
          <p:spPr bwMode="auto">
            <a:xfrm>
              <a:off x="3538477" y="3234084"/>
              <a:ext cx="1111170" cy="229469"/>
            </a:xfrm>
            <a:prstGeom prst="rect">
              <a:avLst/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2253" name="Rectangle 27"/>
            <p:cNvSpPr>
              <a:spLocks noChangeArrowheads="1"/>
            </p:cNvSpPr>
            <p:nvPr/>
          </p:nvSpPr>
          <p:spPr bwMode="auto">
            <a:xfrm>
              <a:off x="3538477" y="3463553"/>
              <a:ext cx="1111170" cy="229469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2254" name="Rectangle 28"/>
            <p:cNvSpPr>
              <a:spLocks noChangeArrowheads="1"/>
            </p:cNvSpPr>
            <p:nvPr/>
          </p:nvSpPr>
          <p:spPr bwMode="auto">
            <a:xfrm>
              <a:off x="3538477" y="3693022"/>
              <a:ext cx="1111170" cy="229469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2255" name="Rectangle 29"/>
            <p:cNvSpPr>
              <a:spLocks noChangeArrowheads="1"/>
            </p:cNvSpPr>
            <p:nvPr/>
          </p:nvSpPr>
          <p:spPr bwMode="auto">
            <a:xfrm>
              <a:off x="3538477" y="3922491"/>
              <a:ext cx="1111170" cy="229469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2256" name="Rectangle 30"/>
            <p:cNvSpPr>
              <a:spLocks noChangeArrowheads="1"/>
            </p:cNvSpPr>
            <p:nvPr/>
          </p:nvSpPr>
          <p:spPr bwMode="auto">
            <a:xfrm>
              <a:off x="3538477" y="4151960"/>
              <a:ext cx="1111170" cy="229469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2257" name="Rectangle 31"/>
            <p:cNvSpPr>
              <a:spLocks noChangeArrowheads="1"/>
            </p:cNvSpPr>
            <p:nvPr/>
          </p:nvSpPr>
          <p:spPr bwMode="auto">
            <a:xfrm>
              <a:off x="3538477" y="4381430"/>
              <a:ext cx="1111170" cy="229469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2258" name="Rectangle 32"/>
            <p:cNvSpPr>
              <a:spLocks noChangeArrowheads="1"/>
            </p:cNvSpPr>
            <p:nvPr/>
          </p:nvSpPr>
          <p:spPr bwMode="auto">
            <a:xfrm>
              <a:off x="3538477" y="4610899"/>
              <a:ext cx="1111170" cy="229469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2259" name="Text Box 33"/>
            <p:cNvSpPr txBox="1">
              <a:spLocks noChangeArrowheads="1"/>
            </p:cNvSpPr>
            <p:nvPr/>
          </p:nvSpPr>
          <p:spPr bwMode="auto">
            <a:xfrm>
              <a:off x="689658" y="2059249"/>
              <a:ext cx="279239" cy="3370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16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0</a:t>
              </a:r>
            </a:p>
          </p:txBody>
        </p:sp>
        <p:sp>
          <p:nvSpPr>
            <p:cNvPr id="52260" name="Text Box 34"/>
            <p:cNvSpPr txBox="1">
              <a:spLocks noChangeArrowheads="1"/>
            </p:cNvSpPr>
            <p:nvPr/>
          </p:nvSpPr>
          <p:spPr bwMode="auto">
            <a:xfrm>
              <a:off x="689658" y="2291109"/>
              <a:ext cx="279239" cy="3370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16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</a:p>
          </p:txBody>
        </p:sp>
        <p:sp>
          <p:nvSpPr>
            <p:cNvPr id="52261" name="Text Box 35"/>
            <p:cNvSpPr txBox="1">
              <a:spLocks noChangeArrowheads="1"/>
            </p:cNvSpPr>
            <p:nvPr/>
          </p:nvSpPr>
          <p:spPr bwMode="auto">
            <a:xfrm>
              <a:off x="689658" y="2522968"/>
              <a:ext cx="279239" cy="3370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16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</a:p>
          </p:txBody>
        </p:sp>
        <p:sp>
          <p:nvSpPr>
            <p:cNvPr id="52262" name="Text Box 36"/>
            <p:cNvSpPr txBox="1">
              <a:spLocks noChangeArrowheads="1"/>
            </p:cNvSpPr>
            <p:nvPr/>
          </p:nvSpPr>
          <p:spPr bwMode="auto">
            <a:xfrm>
              <a:off x="689658" y="2752437"/>
              <a:ext cx="279239" cy="3358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16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</a:p>
          </p:txBody>
        </p:sp>
        <p:sp>
          <p:nvSpPr>
            <p:cNvPr id="52263" name="Text Box 37"/>
            <p:cNvSpPr txBox="1">
              <a:spLocks noChangeArrowheads="1"/>
            </p:cNvSpPr>
            <p:nvPr/>
          </p:nvSpPr>
          <p:spPr bwMode="auto">
            <a:xfrm>
              <a:off x="689658" y="2980711"/>
              <a:ext cx="279239" cy="3358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16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</a:p>
          </p:txBody>
        </p:sp>
        <p:sp>
          <p:nvSpPr>
            <p:cNvPr id="52264" name="Text Box 38"/>
            <p:cNvSpPr txBox="1">
              <a:spLocks noChangeArrowheads="1"/>
            </p:cNvSpPr>
            <p:nvPr/>
          </p:nvSpPr>
          <p:spPr bwMode="auto">
            <a:xfrm>
              <a:off x="689658" y="3210181"/>
              <a:ext cx="279239" cy="3370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16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5</a:t>
              </a:r>
            </a:p>
          </p:txBody>
        </p:sp>
        <p:sp>
          <p:nvSpPr>
            <p:cNvPr id="52265" name="Text Box 39"/>
            <p:cNvSpPr txBox="1">
              <a:spLocks noChangeArrowheads="1"/>
            </p:cNvSpPr>
            <p:nvPr/>
          </p:nvSpPr>
          <p:spPr bwMode="auto">
            <a:xfrm>
              <a:off x="689658" y="3440845"/>
              <a:ext cx="279239" cy="3370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16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6</a:t>
              </a:r>
            </a:p>
          </p:txBody>
        </p:sp>
        <p:sp>
          <p:nvSpPr>
            <p:cNvPr id="52266" name="Text Box 40"/>
            <p:cNvSpPr txBox="1">
              <a:spLocks noChangeArrowheads="1"/>
            </p:cNvSpPr>
            <p:nvPr/>
          </p:nvSpPr>
          <p:spPr bwMode="auto">
            <a:xfrm>
              <a:off x="689658" y="3667924"/>
              <a:ext cx="279239" cy="3370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16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7</a:t>
              </a:r>
            </a:p>
          </p:txBody>
        </p:sp>
        <p:sp>
          <p:nvSpPr>
            <p:cNvPr id="52267" name="Text Box 41"/>
            <p:cNvSpPr txBox="1">
              <a:spLocks noChangeArrowheads="1"/>
            </p:cNvSpPr>
            <p:nvPr/>
          </p:nvSpPr>
          <p:spPr bwMode="auto">
            <a:xfrm>
              <a:off x="514591" y="1688752"/>
              <a:ext cx="905719" cy="3358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16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块号</a:t>
              </a:r>
            </a:p>
          </p:txBody>
        </p:sp>
        <p:sp>
          <p:nvSpPr>
            <p:cNvPr id="52268" name="Text Box 42"/>
            <p:cNvSpPr txBox="1">
              <a:spLocks noChangeArrowheads="1"/>
            </p:cNvSpPr>
            <p:nvPr/>
          </p:nvSpPr>
          <p:spPr bwMode="auto">
            <a:xfrm>
              <a:off x="1272733" y="1688752"/>
              <a:ext cx="902825" cy="3358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16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Cache</a:t>
              </a:r>
            </a:p>
          </p:txBody>
        </p:sp>
        <p:sp>
          <p:nvSpPr>
            <p:cNvPr id="52269" name="Text Box 43"/>
            <p:cNvSpPr txBox="1">
              <a:spLocks noChangeArrowheads="1"/>
            </p:cNvSpPr>
            <p:nvPr/>
          </p:nvSpPr>
          <p:spPr bwMode="auto">
            <a:xfrm>
              <a:off x="4735010" y="1158104"/>
              <a:ext cx="274899" cy="3370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16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0</a:t>
              </a:r>
            </a:p>
          </p:txBody>
        </p:sp>
        <p:sp>
          <p:nvSpPr>
            <p:cNvPr id="52270" name="Text Box 44"/>
            <p:cNvSpPr txBox="1">
              <a:spLocks noChangeArrowheads="1"/>
            </p:cNvSpPr>
            <p:nvPr/>
          </p:nvSpPr>
          <p:spPr bwMode="auto">
            <a:xfrm>
              <a:off x="4735010" y="1388769"/>
              <a:ext cx="274899" cy="3358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16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</a:p>
          </p:txBody>
        </p:sp>
        <p:sp>
          <p:nvSpPr>
            <p:cNvPr id="52271" name="Text Box 45"/>
            <p:cNvSpPr txBox="1">
              <a:spLocks noChangeArrowheads="1"/>
            </p:cNvSpPr>
            <p:nvPr/>
          </p:nvSpPr>
          <p:spPr bwMode="auto">
            <a:xfrm>
              <a:off x="4735010" y="1618238"/>
              <a:ext cx="274899" cy="3370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16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</a:p>
          </p:txBody>
        </p:sp>
        <p:sp>
          <p:nvSpPr>
            <p:cNvPr id="52272" name="Text Box 46"/>
            <p:cNvSpPr txBox="1">
              <a:spLocks noChangeArrowheads="1"/>
            </p:cNvSpPr>
            <p:nvPr/>
          </p:nvSpPr>
          <p:spPr bwMode="auto">
            <a:xfrm>
              <a:off x="4735010" y="1846512"/>
              <a:ext cx="274899" cy="3370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16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</a:p>
          </p:txBody>
        </p:sp>
        <p:sp>
          <p:nvSpPr>
            <p:cNvPr id="52273" name="Text Box 47"/>
            <p:cNvSpPr txBox="1">
              <a:spLocks noChangeArrowheads="1"/>
            </p:cNvSpPr>
            <p:nvPr/>
          </p:nvSpPr>
          <p:spPr bwMode="auto">
            <a:xfrm>
              <a:off x="4735010" y="2077176"/>
              <a:ext cx="274899" cy="3370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16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</a:p>
          </p:txBody>
        </p:sp>
        <p:sp>
          <p:nvSpPr>
            <p:cNvPr id="52274" name="Text Box 48"/>
            <p:cNvSpPr txBox="1">
              <a:spLocks noChangeArrowheads="1"/>
            </p:cNvSpPr>
            <p:nvPr/>
          </p:nvSpPr>
          <p:spPr bwMode="auto">
            <a:xfrm>
              <a:off x="4735010" y="2307841"/>
              <a:ext cx="274899" cy="3358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16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5</a:t>
              </a:r>
            </a:p>
          </p:txBody>
        </p:sp>
        <p:sp>
          <p:nvSpPr>
            <p:cNvPr id="52275" name="Text Box 49"/>
            <p:cNvSpPr txBox="1">
              <a:spLocks noChangeArrowheads="1"/>
            </p:cNvSpPr>
            <p:nvPr/>
          </p:nvSpPr>
          <p:spPr bwMode="auto">
            <a:xfrm>
              <a:off x="4735010" y="2536115"/>
              <a:ext cx="274899" cy="3358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16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6</a:t>
              </a:r>
            </a:p>
          </p:txBody>
        </p:sp>
        <p:sp>
          <p:nvSpPr>
            <p:cNvPr id="52276" name="Text Box 50"/>
            <p:cNvSpPr txBox="1">
              <a:spLocks noChangeArrowheads="1"/>
            </p:cNvSpPr>
            <p:nvPr/>
          </p:nvSpPr>
          <p:spPr bwMode="auto">
            <a:xfrm>
              <a:off x="4735010" y="2764389"/>
              <a:ext cx="274899" cy="3370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16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7</a:t>
              </a:r>
            </a:p>
          </p:txBody>
        </p:sp>
        <p:sp>
          <p:nvSpPr>
            <p:cNvPr id="52277" name="Text Box 51"/>
            <p:cNvSpPr txBox="1">
              <a:spLocks noChangeArrowheads="1"/>
            </p:cNvSpPr>
            <p:nvPr/>
          </p:nvSpPr>
          <p:spPr bwMode="auto">
            <a:xfrm>
              <a:off x="4724882" y="2990273"/>
              <a:ext cx="273452" cy="3358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16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8</a:t>
              </a:r>
            </a:p>
          </p:txBody>
        </p:sp>
        <p:sp>
          <p:nvSpPr>
            <p:cNvPr id="52278" name="Text Box 52"/>
            <p:cNvSpPr txBox="1">
              <a:spLocks noChangeArrowheads="1"/>
            </p:cNvSpPr>
            <p:nvPr/>
          </p:nvSpPr>
          <p:spPr bwMode="auto">
            <a:xfrm>
              <a:off x="4724882" y="3219742"/>
              <a:ext cx="273452" cy="3370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16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9</a:t>
              </a:r>
            </a:p>
          </p:txBody>
        </p:sp>
        <p:sp>
          <p:nvSpPr>
            <p:cNvPr id="52279" name="Text Box 53"/>
            <p:cNvSpPr txBox="1">
              <a:spLocks noChangeArrowheads="1"/>
            </p:cNvSpPr>
            <p:nvPr/>
          </p:nvSpPr>
          <p:spPr bwMode="auto">
            <a:xfrm>
              <a:off x="4724882" y="3450406"/>
              <a:ext cx="480349" cy="3370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16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10</a:t>
              </a:r>
            </a:p>
          </p:txBody>
        </p:sp>
        <p:sp>
          <p:nvSpPr>
            <p:cNvPr id="52280" name="Text Box 54"/>
            <p:cNvSpPr txBox="1">
              <a:spLocks noChangeArrowheads="1"/>
            </p:cNvSpPr>
            <p:nvPr/>
          </p:nvSpPr>
          <p:spPr bwMode="auto">
            <a:xfrm>
              <a:off x="4724882" y="3681070"/>
              <a:ext cx="548351" cy="3358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16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11</a:t>
              </a:r>
            </a:p>
          </p:txBody>
        </p:sp>
        <p:sp>
          <p:nvSpPr>
            <p:cNvPr id="52281" name="Text Box 55"/>
            <p:cNvSpPr txBox="1">
              <a:spLocks noChangeArrowheads="1"/>
            </p:cNvSpPr>
            <p:nvPr/>
          </p:nvSpPr>
          <p:spPr bwMode="auto">
            <a:xfrm>
              <a:off x="4724882" y="3908149"/>
              <a:ext cx="548351" cy="3358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16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12</a:t>
              </a:r>
            </a:p>
          </p:txBody>
        </p:sp>
        <p:sp>
          <p:nvSpPr>
            <p:cNvPr id="52282" name="Text Box 56"/>
            <p:cNvSpPr txBox="1">
              <a:spLocks noChangeArrowheads="1"/>
            </p:cNvSpPr>
            <p:nvPr/>
          </p:nvSpPr>
          <p:spPr bwMode="auto">
            <a:xfrm>
              <a:off x="4724882" y="4138814"/>
              <a:ext cx="616352" cy="3370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16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13</a:t>
              </a:r>
            </a:p>
          </p:txBody>
        </p:sp>
        <p:sp>
          <p:nvSpPr>
            <p:cNvPr id="52283" name="Text Box 57"/>
            <p:cNvSpPr txBox="1">
              <a:spLocks noChangeArrowheads="1"/>
            </p:cNvSpPr>
            <p:nvPr/>
          </p:nvSpPr>
          <p:spPr bwMode="auto">
            <a:xfrm>
              <a:off x="4724882" y="4365893"/>
              <a:ext cx="548351" cy="3370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16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14</a:t>
              </a:r>
            </a:p>
          </p:txBody>
        </p:sp>
        <p:sp>
          <p:nvSpPr>
            <p:cNvPr id="52284" name="Text Box 58"/>
            <p:cNvSpPr txBox="1">
              <a:spLocks noChangeArrowheads="1"/>
            </p:cNvSpPr>
            <p:nvPr/>
          </p:nvSpPr>
          <p:spPr bwMode="auto">
            <a:xfrm>
              <a:off x="4724882" y="4597752"/>
              <a:ext cx="548351" cy="3370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16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15</a:t>
              </a:r>
            </a:p>
          </p:txBody>
        </p:sp>
        <p:sp>
          <p:nvSpPr>
            <p:cNvPr id="52285" name="Text Box 60"/>
            <p:cNvSpPr txBox="1">
              <a:spLocks noChangeArrowheads="1"/>
            </p:cNvSpPr>
            <p:nvPr/>
          </p:nvSpPr>
          <p:spPr bwMode="auto">
            <a:xfrm>
              <a:off x="3874143" y="824657"/>
              <a:ext cx="902825" cy="3370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16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主存</a:t>
              </a:r>
            </a:p>
          </p:txBody>
        </p:sp>
        <p:sp>
          <p:nvSpPr>
            <p:cNvPr id="52286" name="Line 61"/>
            <p:cNvSpPr>
              <a:spLocks noChangeShapeType="1"/>
            </p:cNvSpPr>
            <p:nvPr/>
          </p:nvSpPr>
          <p:spPr bwMode="auto">
            <a:xfrm flipH="1">
              <a:off x="2149515" y="1283595"/>
              <a:ext cx="1388962" cy="91787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2287" name="Line 62"/>
            <p:cNvSpPr>
              <a:spLocks noChangeShapeType="1"/>
            </p:cNvSpPr>
            <p:nvPr/>
          </p:nvSpPr>
          <p:spPr bwMode="auto">
            <a:xfrm flipH="1">
              <a:off x="2149515" y="1513065"/>
              <a:ext cx="1388962" cy="91787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2288" name="Line 63"/>
            <p:cNvSpPr>
              <a:spLocks noChangeShapeType="1"/>
            </p:cNvSpPr>
            <p:nvPr/>
          </p:nvSpPr>
          <p:spPr bwMode="auto">
            <a:xfrm flipH="1">
              <a:off x="2149515" y="1742534"/>
              <a:ext cx="1388962" cy="91787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2289" name="Line 64"/>
            <p:cNvSpPr>
              <a:spLocks noChangeShapeType="1"/>
            </p:cNvSpPr>
            <p:nvPr/>
          </p:nvSpPr>
          <p:spPr bwMode="auto">
            <a:xfrm flipH="1">
              <a:off x="2149515" y="1972003"/>
              <a:ext cx="1388962" cy="91787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2290" name="Line 65"/>
            <p:cNvSpPr>
              <a:spLocks noChangeShapeType="1"/>
            </p:cNvSpPr>
            <p:nvPr/>
          </p:nvSpPr>
          <p:spPr bwMode="auto">
            <a:xfrm flipH="1">
              <a:off x="2149515" y="2201472"/>
              <a:ext cx="1388962" cy="91787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2291" name="Line 66"/>
            <p:cNvSpPr>
              <a:spLocks noChangeShapeType="1"/>
            </p:cNvSpPr>
            <p:nvPr/>
          </p:nvSpPr>
          <p:spPr bwMode="auto">
            <a:xfrm flipH="1">
              <a:off x="2149515" y="2430941"/>
              <a:ext cx="1388962" cy="91787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2292" name="Line 67"/>
            <p:cNvSpPr>
              <a:spLocks noChangeShapeType="1"/>
            </p:cNvSpPr>
            <p:nvPr/>
          </p:nvSpPr>
          <p:spPr bwMode="auto">
            <a:xfrm flipH="1">
              <a:off x="2149515" y="2660411"/>
              <a:ext cx="1388962" cy="91787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2293" name="Line 68"/>
            <p:cNvSpPr>
              <a:spLocks noChangeShapeType="1"/>
            </p:cNvSpPr>
            <p:nvPr/>
          </p:nvSpPr>
          <p:spPr bwMode="auto">
            <a:xfrm flipH="1">
              <a:off x="2149515" y="2889880"/>
              <a:ext cx="1388962" cy="91787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2294" name="Line 69"/>
            <p:cNvSpPr>
              <a:spLocks noChangeShapeType="1"/>
            </p:cNvSpPr>
            <p:nvPr/>
          </p:nvSpPr>
          <p:spPr bwMode="auto">
            <a:xfrm flipH="1" flipV="1">
              <a:off x="2149515" y="2201472"/>
              <a:ext cx="1388962" cy="91787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2295" name="Line 70"/>
            <p:cNvSpPr>
              <a:spLocks noChangeShapeType="1"/>
            </p:cNvSpPr>
            <p:nvPr/>
          </p:nvSpPr>
          <p:spPr bwMode="auto">
            <a:xfrm flipH="1" flipV="1">
              <a:off x="2149515" y="2430941"/>
              <a:ext cx="1388962" cy="91787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2296" name="Line 71"/>
            <p:cNvSpPr>
              <a:spLocks noChangeShapeType="1"/>
            </p:cNvSpPr>
            <p:nvPr/>
          </p:nvSpPr>
          <p:spPr bwMode="auto">
            <a:xfrm flipH="1" flipV="1">
              <a:off x="2149515" y="2660411"/>
              <a:ext cx="1388962" cy="91787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2297" name="Line 72"/>
            <p:cNvSpPr>
              <a:spLocks noChangeShapeType="1"/>
            </p:cNvSpPr>
            <p:nvPr/>
          </p:nvSpPr>
          <p:spPr bwMode="auto">
            <a:xfrm flipH="1" flipV="1">
              <a:off x="2149515" y="2889880"/>
              <a:ext cx="1388962" cy="91787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2298" name="Line 73"/>
            <p:cNvSpPr>
              <a:spLocks noChangeShapeType="1"/>
            </p:cNvSpPr>
            <p:nvPr/>
          </p:nvSpPr>
          <p:spPr bwMode="auto">
            <a:xfrm flipH="1" flipV="1">
              <a:off x="2149515" y="3119349"/>
              <a:ext cx="1388962" cy="91787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2299" name="Line 74"/>
            <p:cNvSpPr>
              <a:spLocks noChangeShapeType="1"/>
            </p:cNvSpPr>
            <p:nvPr/>
          </p:nvSpPr>
          <p:spPr bwMode="auto">
            <a:xfrm flipH="1" flipV="1">
              <a:off x="2149515" y="3348818"/>
              <a:ext cx="1388962" cy="91787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2300" name="Line 75"/>
            <p:cNvSpPr>
              <a:spLocks noChangeShapeType="1"/>
            </p:cNvSpPr>
            <p:nvPr/>
          </p:nvSpPr>
          <p:spPr bwMode="auto">
            <a:xfrm flipH="1" flipV="1">
              <a:off x="2149515" y="3578287"/>
              <a:ext cx="1388962" cy="91787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2301" name="Line 76"/>
            <p:cNvSpPr>
              <a:spLocks noChangeShapeType="1"/>
            </p:cNvSpPr>
            <p:nvPr/>
          </p:nvSpPr>
          <p:spPr bwMode="auto">
            <a:xfrm flipH="1" flipV="1">
              <a:off x="2149515" y="3807757"/>
              <a:ext cx="1388962" cy="91787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2302" name="Rectangle 91"/>
            <p:cNvSpPr>
              <a:spLocks noChangeArrowheads="1"/>
            </p:cNvSpPr>
            <p:nvPr/>
          </p:nvSpPr>
          <p:spPr bwMode="auto">
            <a:xfrm>
              <a:off x="609600" y="4139357"/>
              <a:ext cx="213360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1" i="1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j</a:t>
              </a:r>
              <a:r>
                <a:rPr lang="en-US" altLang="zh-CN" sz="2000" b="1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=</a:t>
              </a:r>
              <a:r>
                <a:rPr lang="en-US" altLang="zh-CN" sz="2000" b="1" i="1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</a:t>
              </a:r>
              <a:r>
                <a:rPr lang="en-US" altLang="zh-CN" sz="2000" b="1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mod</a:t>
              </a:r>
              <a:r>
                <a:rPr lang="zh-CN" altLang="en-US" sz="2000" b="1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</a:t>
              </a:r>
              <a:r>
                <a:rPr lang="en-US" altLang="zh-CN" sz="2000" b="1" i="1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M</a:t>
              </a:r>
              <a:r>
                <a:rPr lang="zh-CN" altLang="en-US" sz="2000" b="1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） </a:t>
              </a:r>
            </a:p>
          </p:txBody>
        </p:sp>
        <p:sp>
          <p:nvSpPr>
            <p:cNvPr id="52303" name="Freeform 92"/>
            <p:cNvSpPr>
              <a:spLocks/>
            </p:cNvSpPr>
            <p:nvPr/>
          </p:nvSpPr>
          <p:spPr bwMode="auto">
            <a:xfrm>
              <a:off x="1066800" y="3377357"/>
              <a:ext cx="3048000" cy="838200"/>
            </a:xfrm>
            <a:custGeom>
              <a:avLst/>
              <a:gdLst>
                <a:gd name="T0" fmla="*/ 0 w 1920"/>
                <a:gd name="T1" fmla="*/ 2147483646 h 720"/>
                <a:gd name="T2" fmla="*/ 2147483646 w 1920"/>
                <a:gd name="T3" fmla="*/ 0 h 720"/>
                <a:gd name="T4" fmla="*/ 2147483646 w 1920"/>
                <a:gd name="T5" fmla="*/ 0 h 720"/>
                <a:gd name="T6" fmla="*/ 0 60000 65536"/>
                <a:gd name="T7" fmla="*/ 0 60000 65536"/>
                <a:gd name="T8" fmla="*/ 0 60000 65536"/>
                <a:gd name="T9" fmla="*/ 0 w 1920"/>
                <a:gd name="T10" fmla="*/ 0 h 720"/>
                <a:gd name="T11" fmla="*/ 1920 w 1920"/>
                <a:gd name="T12" fmla="*/ 720 h 72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20" h="720">
                  <a:moveTo>
                    <a:pt x="0" y="720"/>
                  </a:moveTo>
                  <a:lnTo>
                    <a:pt x="1920" y="0"/>
                  </a:lnTo>
                  <a:lnTo>
                    <a:pt x="1872" y="0"/>
                  </a:lnTo>
                </a:path>
              </a:pathLst>
            </a:custGeom>
            <a:noFill/>
            <a:ln w="28575" cmpd="sng">
              <a:solidFill>
                <a:srgbClr val="FF0000"/>
              </a:solidFill>
              <a:round/>
              <a:headEnd type="none" w="med" len="med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2304" name="Line 93"/>
            <p:cNvSpPr>
              <a:spLocks noChangeShapeType="1"/>
            </p:cNvSpPr>
            <p:nvPr/>
          </p:nvSpPr>
          <p:spPr bwMode="auto">
            <a:xfrm flipV="1">
              <a:off x="825500" y="2462957"/>
              <a:ext cx="622300" cy="173990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2305" name="Line 97"/>
            <p:cNvSpPr>
              <a:spLocks noChangeShapeType="1"/>
            </p:cNvSpPr>
            <p:nvPr/>
          </p:nvSpPr>
          <p:spPr bwMode="auto">
            <a:xfrm>
              <a:off x="1879600" y="4444157"/>
              <a:ext cx="1588" cy="38100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52233" name="Rectangle 98"/>
          <p:cNvSpPr>
            <a:spLocks noChangeArrowheads="1"/>
          </p:cNvSpPr>
          <p:nvPr/>
        </p:nvSpPr>
        <p:spPr bwMode="auto">
          <a:xfrm>
            <a:off x="7877176" y="5611813"/>
            <a:ext cx="97174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1" i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M=2</a:t>
            </a:r>
            <a:r>
              <a:rPr lang="en-US" altLang="zh-CN" sz="2000" b="1" i="1" baseline="300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</a:p>
        </p:txBody>
      </p:sp>
      <p:sp>
        <p:nvSpPr>
          <p:cNvPr id="52234" name="Text Box 4"/>
          <p:cNvSpPr txBox="1">
            <a:spLocks noChangeArrowheads="1"/>
          </p:cNvSpPr>
          <p:nvPr/>
        </p:nvSpPr>
        <p:spPr bwMode="auto">
          <a:xfrm>
            <a:off x="2208214" y="260350"/>
            <a:ext cx="7488237" cy="5909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buNone/>
            </a:pPr>
            <a:r>
              <a:rPr kumimoji="1" lang="zh-CN" altLang="en-US" sz="3600" dirty="0">
                <a:latin typeface="微软雅黑" pitchFamily="34" charset="-122"/>
                <a:ea typeface="微软雅黑" pitchFamily="34" charset="-122"/>
                <a:cs typeface="+mj-cs"/>
              </a:rPr>
              <a:t>直接映射</a:t>
            </a:r>
            <a:r>
              <a:rPr kumimoji="1" lang="en-US" altLang="zh-CN" sz="3600" dirty="0">
                <a:latin typeface="微软雅黑" pitchFamily="34" charset="-122"/>
                <a:ea typeface="微软雅黑" pitchFamily="34" charset="-122"/>
                <a:cs typeface="+mj-cs"/>
              </a:rPr>
              <a:t>- Direct Mapped</a:t>
            </a:r>
            <a:endParaRPr kumimoji="1" lang="zh-CN" altLang="en-US" sz="3600" dirty="0">
              <a:latin typeface="微软雅黑" pitchFamily="34" charset="-122"/>
              <a:ea typeface="微软雅黑" pitchFamily="34" charset="-122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2016912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8077200" y="5689600"/>
            <a:ext cx="21336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2008FE4-F8BC-4760-AA91-D9E27285801E}" type="slidenum"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pPr>
                <a:spcBef>
                  <a:spcPct val="0"/>
                </a:spcBef>
                <a:buFontTx/>
                <a:buNone/>
              </a:pPr>
              <a:t>8</a:t>
            </a:fld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3251" name="Text Box 57"/>
          <p:cNvSpPr txBox="1">
            <a:spLocks noChangeArrowheads="1"/>
          </p:cNvSpPr>
          <p:nvPr/>
        </p:nvSpPr>
        <p:spPr bwMode="auto">
          <a:xfrm>
            <a:off x="6661151" y="4522788"/>
            <a:ext cx="62071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1600" b="1">
                <a:latin typeface="微软雅黑" panose="020B0503020204020204" pitchFamily="34" charset="-122"/>
                <a:ea typeface="微软雅黑" panose="020B0503020204020204" pitchFamily="34" charset="-122"/>
              </a:rPr>
              <a:t>13</a:t>
            </a:r>
          </a:p>
        </p:txBody>
      </p:sp>
      <p:sp>
        <p:nvSpPr>
          <p:cNvPr id="53252" name="Text Box 60"/>
          <p:cNvSpPr txBox="1">
            <a:spLocks noChangeArrowheads="1"/>
          </p:cNvSpPr>
          <p:nvPr/>
        </p:nvSpPr>
        <p:spPr bwMode="auto">
          <a:xfrm>
            <a:off x="6486526" y="1204913"/>
            <a:ext cx="9048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rPr>
              <a:t>块号</a:t>
            </a:r>
          </a:p>
        </p:txBody>
      </p:sp>
      <p:grpSp>
        <p:nvGrpSpPr>
          <p:cNvPr id="53253" name="Group 62"/>
          <p:cNvGrpSpPr>
            <a:grpSpLocks/>
          </p:cNvGrpSpPr>
          <p:nvPr/>
        </p:nvGrpSpPr>
        <p:grpSpPr bwMode="auto">
          <a:xfrm>
            <a:off x="1774826" y="5465764"/>
            <a:ext cx="5497513" cy="1030086"/>
            <a:chOff x="528" y="1728"/>
            <a:chExt cx="3792" cy="859"/>
          </a:xfrm>
        </p:grpSpPr>
        <p:sp>
          <p:nvSpPr>
            <p:cNvPr id="53338" name="Line 63"/>
            <p:cNvSpPr>
              <a:spLocks noChangeShapeType="1"/>
            </p:cNvSpPr>
            <p:nvPr/>
          </p:nvSpPr>
          <p:spPr bwMode="auto">
            <a:xfrm>
              <a:off x="1344" y="1728"/>
              <a:ext cx="2962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3339" name="Line 64"/>
            <p:cNvSpPr>
              <a:spLocks noChangeShapeType="1"/>
            </p:cNvSpPr>
            <p:nvPr/>
          </p:nvSpPr>
          <p:spPr bwMode="auto">
            <a:xfrm>
              <a:off x="1337" y="1728"/>
              <a:ext cx="1" cy="3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3340" name="Line 65"/>
            <p:cNvSpPr>
              <a:spLocks noChangeShapeType="1"/>
            </p:cNvSpPr>
            <p:nvPr/>
          </p:nvSpPr>
          <p:spPr bwMode="auto">
            <a:xfrm>
              <a:off x="3120" y="1728"/>
              <a:ext cx="1" cy="3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3341" name="Line 66"/>
            <p:cNvSpPr>
              <a:spLocks noChangeShapeType="1"/>
            </p:cNvSpPr>
            <p:nvPr/>
          </p:nvSpPr>
          <p:spPr bwMode="auto">
            <a:xfrm>
              <a:off x="4319" y="1728"/>
              <a:ext cx="1" cy="3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3342" name="Text Box 67"/>
            <p:cNvSpPr txBox="1">
              <a:spLocks noChangeArrowheads="1"/>
            </p:cNvSpPr>
            <p:nvPr/>
          </p:nvSpPr>
          <p:spPr bwMode="auto">
            <a:xfrm>
              <a:off x="528" y="1788"/>
              <a:ext cx="1584" cy="2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16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主存地址</a:t>
              </a:r>
              <a:r>
                <a:rPr lang="en-US" altLang="zh-CN" sz="1600" b="1" i="1">
                  <a:latin typeface="微软雅黑" panose="020B0503020204020204" pitchFamily="34" charset="-122"/>
                  <a:ea typeface="微软雅黑" panose="020B0503020204020204" pitchFamily="34" charset="-122"/>
                </a:rPr>
                <a:t>i</a:t>
              </a:r>
              <a:r>
                <a:rPr lang="zh-CN" altLang="en-US" sz="16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：</a:t>
              </a:r>
            </a:p>
          </p:txBody>
        </p:sp>
        <p:sp>
          <p:nvSpPr>
            <p:cNvPr id="53343" name="Text Box 68"/>
            <p:cNvSpPr txBox="1">
              <a:spLocks noChangeArrowheads="1"/>
            </p:cNvSpPr>
            <p:nvPr/>
          </p:nvSpPr>
          <p:spPr bwMode="auto">
            <a:xfrm>
              <a:off x="3505" y="1777"/>
              <a:ext cx="382" cy="2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1600" b="1" i="1">
                  <a:latin typeface="微软雅黑" panose="020B0503020204020204" pitchFamily="34" charset="-122"/>
                  <a:ea typeface="微软雅黑" panose="020B0503020204020204" pitchFamily="34" charset="-122"/>
                </a:rPr>
                <a:t>k</a:t>
              </a:r>
              <a:endParaRPr lang="en-US" altLang="zh-CN" sz="16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3344" name="Line 69"/>
            <p:cNvSpPr>
              <a:spLocks noChangeShapeType="1"/>
            </p:cNvSpPr>
            <p:nvPr/>
          </p:nvSpPr>
          <p:spPr bwMode="auto">
            <a:xfrm>
              <a:off x="1353" y="2208"/>
              <a:ext cx="2953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3345" name="Line 70"/>
            <p:cNvSpPr>
              <a:spLocks noChangeShapeType="1"/>
            </p:cNvSpPr>
            <p:nvPr/>
          </p:nvSpPr>
          <p:spPr bwMode="auto">
            <a:xfrm>
              <a:off x="3120" y="2215"/>
              <a:ext cx="1" cy="3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3346" name="Line 71"/>
            <p:cNvSpPr>
              <a:spLocks noChangeShapeType="1"/>
            </p:cNvSpPr>
            <p:nvPr/>
          </p:nvSpPr>
          <p:spPr bwMode="auto">
            <a:xfrm>
              <a:off x="4319" y="2208"/>
              <a:ext cx="1" cy="3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3347" name="Text Box 72"/>
            <p:cNvSpPr txBox="1">
              <a:spLocks noChangeArrowheads="1"/>
            </p:cNvSpPr>
            <p:nvPr/>
          </p:nvSpPr>
          <p:spPr bwMode="auto">
            <a:xfrm>
              <a:off x="3480" y="2305"/>
              <a:ext cx="528" cy="2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1600" b="1" i="1">
                  <a:latin typeface="微软雅黑" panose="020B0503020204020204" pitchFamily="34" charset="-122"/>
                  <a:ea typeface="微软雅黑" panose="020B0503020204020204" pitchFamily="34" charset="-122"/>
                </a:rPr>
                <a:t>g</a:t>
              </a:r>
              <a:r>
                <a:rPr lang="zh-CN" altLang="en-US" sz="16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位</a:t>
              </a:r>
            </a:p>
          </p:txBody>
        </p:sp>
        <p:sp>
          <p:nvSpPr>
            <p:cNvPr id="53348" name="Line 73"/>
            <p:cNvSpPr>
              <a:spLocks noChangeShapeType="1"/>
            </p:cNvSpPr>
            <p:nvPr/>
          </p:nvSpPr>
          <p:spPr bwMode="auto">
            <a:xfrm flipH="1">
              <a:off x="3120" y="2400"/>
              <a:ext cx="432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3349" name="Line 74"/>
            <p:cNvSpPr>
              <a:spLocks noChangeShapeType="1"/>
            </p:cNvSpPr>
            <p:nvPr/>
          </p:nvSpPr>
          <p:spPr bwMode="auto">
            <a:xfrm>
              <a:off x="3888" y="2408"/>
              <a:ext cx="432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53254" name="Text Box 100"/>
          <p:cNvSpPr txBox="1">
            <a:spLocks noChangeArrowheads="1"/>
          </p:cNvSpPr>
          <p:nvPr/>
        </p:nvSpPr>
        <p:spPr bwMode="auto">
          <a:xfrm>
            <a:off x="7032625" y="1865313"/>
            <a:ext cx="3455988" cy="163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  <a:buFontTx/>
              <a:buNone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组相联是指主存中的每一块可以被放置到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Cache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中唯一的一个组中的任何位置（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Cache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被等分为若干组，每组由若干个块构成） </a:t>
            </a:r>
          </a:p>
        </p:txBody>
      </p:sp>
      <p:sp>
        <p:nvSpPr>
          <p:cNvPr id="53255" name="Text Box 102"/>
          <p:cNvSpPr txBox="1">
            <a:spLocks noChangeArrowheads="1"/>
          </p:cNvSpPr>
          <p:nvPr/>
        </p:nvSpPr>
        <p:spPr bwMode="auto">
          <a:xfrm>
            <a:off x="7319964" y="4252913"/>
            <a:ext cx="324008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  <a:buFontTx/>
              <a:buNone/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全相联和直接映射的折中</a:t>
            </a:r>
          </a:p>
        </p:txBody>
      </p:sp>
      <p:grpSp>
        <p:nvGrpSpPr>
          <p:cNvPr id="53256" name="组合 108"/>
          <p:cNvGrpSpPr>
            <a:grpSpLocks/>
          </p:cNvGrpSpPr>
          <p:nvPr/>
        </p:nvGrpSpPr>
        <p:grpSpPr bwMode="auto">
          <a:xfrm>
            <a:off x="1676401" y="1196975"/>
            <a:ext cx="5535613" cy="4242832"/>
            <a:chOff x="152400" y="1752600"/>
            <a:chExt cx="5535228" cy="4242832"/>
          </a:xfrm>
        </p:grpSpPr>
        <p:sp>
          <p:nvSpPr>
            <p:cNvPr id="53259" name="Rectangle 10"/>
            <p:cNvSpPr>
              <a:spLocks noChangeArrowheads="1"/>
            </p:cNvSpPr>
            <p:nvPr/>
          </p:nvSpPr>
          <p:spPr bwMode="auto">
            <a:xfrm>
              <a:off x="678667" y="3018868"/>
              <a:ext cx="1113425" cy="23023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3260" name="Rectangle 11"/>
            <p:cNvSpPr>
              <a:spLocks noChangeArrowheads="1"/>
            </p:cNvSpPr>
            <p:nvPr/>
          </p:nvSpPr>
          <p:spPr bwMode="auto">
            <a:xfrm>
              <a:off x="678667" y="3249099"/>
              <a:ext cx="1113425" cy="23023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3261" name="Rectangle 12"/>
            <p:cNvSpPr>
              <a:spLocks noChangeArrowheads="1"/>
            </p:cNvSpPr>
            <p:nvPr/>
          </p:nvSpPr>
          <p:spPr bwMode="auto">
            <a:xfrm>
              <a:off x="678667" y="3479329"/>
              <a:ext cx="1113425" cy="230231"/>
            </a:xfrm>
            <a:prstGeom prst="rect">
              <a:avLst/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3262" name="Rectangle 13"/>
            <p:cNvSpPr>
              <a:spLocks noChangeArrowheads="1"/>
            </p:cNvSpPr>
            <p:nvPr/>
          </p:nvSpPr>
          <p:spPr bwMode="auto">
            <a:xfrm>
              <a:off x="678667" y="3709560"/>
              <a:ext cx="1113425" cy="230231"/>
            </a:xfrm>
            <a:prstGeom prst="rect">
              <a:avLst/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3263" name="Rectangle 14"/>
            <p:cNvSpPr>
              <a:spLocks noChangeArrowheads="1"/>
            </p:cNvSpPr>
            <p:nvPr/>
          </p:nvSpPr>
          <p:spPr bwMode="auto">
            <a:xfrm>
              <a:off x="678667" y="3939790"/>
              <a:ext cx="1113425" cy="23023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3264" name="Rectangle 15"/>
            <p:cNvSpPr>
              <a:spLocks noChangeArrowheads="1"/>
            </p:cNvSpPr>
            <p:nvPr/>
          </p:nvSpPr>
          <p:spPr bwMode="auto">
            <a:xfrm>
              <a:off x="678667" y="4170021"/>
              <a:ext cx="1113425" cy="23023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3265" name="Rectangle 16"/>
            <p:cNvSpPr>
              <a:spLocks noChangeArrowheads="1"/>
            </p:cNvSpPr>
            <p:nvPr/>
          </p:nvSpPr>
          <p:spPr bwMode="auto">
            <a:xfrm>
              <a:off x="678667" y="4400251"/>
              <a:ext cx="1113425" cy="23023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3266" name="Rectangle 17"/>
            <p:cNvSpPr>
              <a:spLocks noChangeArrowheads="1"/>
            </p:cNvSpPr>
            <p:nvPr/>
          </p:nvSpPr>
          <p:spPr bwMode="auto">
            <a:xfrm>
              <a:off x="678667" y="4630482"/>
              <a:ext cx="1113425" cy="23023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3267" name="Rectangle 18"/>
            <p:cNvSpPr>
              <a:spLocks noChangeArrowheads="1"/>
            </p:cNvSpPr>
            <p:nvPr/>
          </p:nvSpPr>
          <p:spPr bwMode="auto">
            <a:xfrm>
              <a:off x="3949352" y="2097946"/>
              <a:ext cx="1113425" cy="23023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3268" name="Rectangle 19"/>
            <p:cNvSpPr>
              <a:spLocks noChangeArrowheads="1"/>
            </p:cNvSpPr>
            <p:nvPr/>
          </p:nvSpPr>
          <p:spPr bwMode="auto">
            <a:xfrm>
              <a:off x="3949352" y="2328176"/>
              <a:ext cx="1113425" cy="23023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3269" name="Rectangle 20"/>
            <p:cNvSpPr>
              <a:spLocks noChangeArrowheads="1"/>
            </p:cNvSpPr>
            <p:nvPr/>
          </p:nvSpPr>
          <p:spPr bwMode="auto">
            <a:xfrm>
              <a:off x="3949352" y="2558407"/>
              <a:ext cx="1113425" cy="23023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3270" name="Rectangle 21"/>
            <p:cNvSpPr>
              <a:spLocks noChangeArrowheads="1"/>
            </p:cNvSpPr>
            <p:nvPr/>
          </p:nvSpPr>
          <p:spPr bwMode="auto">
            <a:xfrm>
              <a:off x="3949352" y="2788637"/>
              <a:ext cx="1113425" cy="23023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3271" name="Rectangle 22"/>
            <p:cNvSpPr>
              <a:spLocks noChangeArrowheads="1"/>
            </p:cNvSpPr>
            <p:nvPr/>
          </p:nvSpPr>
          <p:spPr bwMode="auto">
            <a:xfrm>
              <a:off x="3949352" y="3018868"/>
              <a:ext cx="1113425" cy="23023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3272" name="Rectangle 23"/>
            <p:cNvSpPr>
              <a:spLocks noChangeArrowheads="1"/>
            </p:cNvSpPr>
            <p:nvPr/>
          </p:nvSpPr>
          <p:spPr bwMode="auto">
            <a:xfrm>
              <a:off x="3949352" y="3249099"/>
              <a:ext cx="1113425" cy="23023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3273" name="Rectangle 24"/>
            <p:cNvSpPr>
              <a:spLocks noChangeArrowheads="1"/>
            </p:cNvSpPr>
            <p:nvPr/>
          </p:nvSpPr>
          <p:spPr bwMode="auto">
            <a:xfrm>
              <a:off x="3949352" y="3479329"/>
              <a:ext cx="1113425" cy="23023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3274" name="Rectangle 25"/>
            <p:cNvSpPr>
              <a:spLocks noChangeArrowheads="1"/>
            </p:cNvSpPr>
            <p:nvPr/>
          </p:nvSpPr>
          <p:spPr bwMode="auto">
            <a:xfrm>
              <a:off x="3949352" y="3709560"/>
              <a:ext cx="1113425" cy="23023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3275" name="Rectangle 26"/>
            <p:cNvSpPr>
              <a:spLocks noChangeArrowheads="1"/>
            </p:cNvSpPr>
            <p:nvPr/>
          </p:nvSpPr>
          <p:spPr bwMode="auto">
            <a:xfrm>
              <a:off x="3949352" y="3939790"/>
              <a:ext cx="1113425" cy="23023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3276" name="Rectangle 27"/>
            <p:cNvSpPr>
              <a:spLocks noChangeArrowheads="1"/>
            </p:cNvSpPr>
            <p:nvPr/>
          </p:nvSpPr>
          <p:spPr bwMode="auto">
            <a:xfrm>
              <a:off x="3949352" y="4170021"/>
              <a:ext cx="1113425" cy="230231"/>
            </a:xfrm>
            <a:prstGeom prst="rect">
              <a:avLst/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3277" name="Rectangle 28"/>
            <p:cNvSpPr>
              <a:spLocks noChangeArrowheads="1"/>
            </p:cNvSpPr>
            <p:nvPr/>
          </p:nvSpPr>
          <p:spPr bwMode="auto">
            <a:xfrm>
              <a:off x="3949352" y="4400251"/>
              <a:ext cx="1113425" cy="23023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3278" name="Rectangle 29"/>
            <p:cNvSpPr>
              <a:spLocks noChangeArrowheads="1"/>
            </p:cNvSpPr>
            <p:nvPr/>
          </p:nvSpPr>
          <p:spPr bwMode="auto">
            <a:xfrm>
              <a:off x="3949352" y="4630482"/>
              <a:ext cx="1113425" cy="23023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3279" name="Rectangle 30"/>
            <p:cNvSpPr>
              <a:spLocks noChangeArrowheads="1"/>
            </p:cNvSpPr>
            <p:nvPr/>
          </p:nvSpPr>
          <p:spPr bwMode="auto">
            <a:xfrm>
              <a:off x="3949352" y="4860712"/>
              <a:ext cx="1113425" cy="23023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3280" name="Rectangle 31"/>
            <p:cNvSpPr>
              <a:spLocks noChangeArrowheads="1"/>
            </p:cNvSpPr>
            <p:nvPr/>
          </p:nvSpPr>
          <p:spPr bwMode="auto">
            <a:xfrm>
              <a:off x="3949352" y="5090943"/>
              <a:ext cx="1113425" cy="23023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3281" name="Rectangle 32"/>
            <p:cNvSpPr>
              <a:spLocks noChangeArrowheads="1"/>
            </p:cNvSpPr>
            <p:nvPr/>
          </p:nvSpPr>
          <p:spPr bwMode="auto">
            <a:xfrm>
              <a:off x="3949352" y="5321174"/>
              <a:ext cx="1113425" cy="23023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3282" name="Rectangle 33"/>
            <p:cNvSpPr>
              <a:spLocks noChangeArrowheads="1"/>
            </p:cNvSpPr>
            <p:nvPr/>
          </p:nvSpPr>
          <p:spPr bwMode="auto">
            <a:xfrm>
              <a:off x="3949352" y="5551404"/>
              <a:ext cx="1113425" cy="23023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3283" name="Text Box 34"/>
            <p:cNvSpPr txBox="1">
              <a:spLocks noChangeArrowheads="1"/>
            </p:cNvSpPr>
            <p:nvPr/>
          </p:nvSpPr>
          <p:spPr bwMode="auto">
            <a:xfrm>
              <a:off x="332172" y="2993687"/>
              <a:ext cx="276906" cy="3369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16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0</a:t>
              </a:r>
            </a:p>
          </p:txBody>
        </p:sp>
        <p:sp>
          <p:nvSpPr>
            <p:cNvPr id="53284" name="Text Box 35"/>
            <p:cNvSpPr txBox="1">
              <a:spLocks noChangeArrowheads="1"/>
            </p:cNvSpPr>
            <p:nvPr/>
          </p:nvSpPr>
          <p:spPr bwMode="auto">
            <a:xfrm>
              <a:off x="332172" y="3226315"/>
              <a:ext cx="276906" cy="3357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16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</a:p>
          </p:txBody>
        </p:sp>
        <p:sp>
          <p:nvSpPr>
            <p:cNvPr id="53285" name="Text Box 36"/>
            <p:cNvSpPr txBox="1">
              <a:spLocks noChangeArrowheads="1"/>
            </p:cNvSpPr>
            <p:nvPr/>
          </p:nvSpPr>
          <p:spPr bwMode="auto">
            <a:xfrm>
              <a:off x="332172" y="3456546"/>
              <a:ext cx="276906" cy="3357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16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</a:p>
          </p:txBody>
        </p:sp>
        <p:sp>
          <p:nvSpPr>
            <p:cNvPr id="53286" name="Text Box 37"/>
            <p:cNvSpPr txBox="1">
              <a:spLocks noChangeArrowheads="1"/>
            </p:cNvSpPr>
            <p:nvPr/>
          </p:nvSpPr>
          <p:spPr bwMode="auto">
            <a:xfrm>
              <a:off x="332172" y="3685577"/>
              <a:ext cx="276906" cy="3369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16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</a:p>
          </p:txBody>
        </p:sp>
        <p:sp>
          <p:nvSpPr>
            <p:cNvPr id="53287" name="Text Box 38"/>
            <p:cNvSpPr txBox="1">
              <a:spLocks noChangeArrowheads="1"/>
            </p:cNvSpPr>
            <p:nvPr/>
          </p:nvSpPr>
          <p:spPr bwMode="auto">
            <a:xfrm>
              <a:off x="332172" y="3915808"/>
              <a:ext cx="276906" cy="3369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16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</a:p>
          </p:txBody>
        </p:sp>
        <p:sp>
          <p:nvSpPr>
            <p:cNvPr id="53288" name="Text Box 39"/>
            <p:cNvSpPr txBox="1">
              <a:spLocks noChangeArrowheads="1"/>
            </p:cNvSpPr>
            <p:nvPr/>
          </p:nvSpPr>
          <p:spPr bwMode="auto">
            <a:xfrm>
              <a:off x="332172" y="4146038"/>
              <a:ext cx="276906" cy="3369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16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5</a:t>
              </a:r>
            </a:p>
          </p:txBody>
        </p:sp>
        <p:sp>
          <p:nvSpPr>
            <p:cNvPr id="53289" name="Text Box 40"/>
            <p:cNvSpPr txBox="1">
              <a:spLocks noChangeArrowheads="1"/>
            </p:cNvSpPr>
            <p:nvPr/>
          </p:nvSpPr>
          <p:spPr bwMode="auto">
            <a:xfrm>
              <a:off x="332172" y="4376269"/>
              <a:ext cx="276906" cy="3369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16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6</a:t>
              </a:r>
            </a:p>
          </p:txBody>
        </p:sp>
        <p:sp>
          <p:nvSpPr>
            <p:cNvPr id="53290" name="Text Box 41"/>
            <p:cNvSpPr txBox="1">
              <a:spLocks noChangeArrowheads="1"/>
            </p:cNvSpPr>
            <p:nvPr/>
          </p:nvSpPr>
          <p:spPr bwMode="auto">
            <a:xfrm>
              <a:off x="332172" y="4606500"/>
              <a:ext cx="276906" cy="3369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16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7</a:t>
              </a:r>
            </a:p>
          </p:txBody>
        </p:sp>
        <p:sp>
          <p:nvSpPr>
            <p:cNvPr id="53291" name="Text Box 42"/>
            <p:cNvSpPr txBox="1">
              <a:spLocks noChangeArrowheads="1"/>
            </p:cNvSpPr>
            <p:nvPr/>
          </p:nvSpPr>
          <p:spPr bwMode="auto">
            <a:xfrm>
              <a:off x="152400" y="2615965"/>
              <a:ext cx="904658" cy="3369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16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块号</a:t>
              </a:r>
            </a:p>
          </p:txBody>
        </p:sp>
        <p:sp>
          <p:nvSpPr>
            <p:cNvPr id="53292" name="Text Box 43"/>
            <p:cNvSpPr txBox="1">
              <a:spLocks noChangeArrowheads="1"/>
            </p:cNvSpPr>
            <p:nvPr/>
          </p:nvSpPr>
          <p:spPr bwMode="auto">
            <a:xfrm>
              <a:off x="913530" y="2615965"/>
              <a:ext cx="904658" cy="3369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16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Cache</a:t>
              </a:r>
            </a:p>
          </p:txBody>
        </p:sp>
        <p:sp>
          <p:nvSpPr>
            <p:cNvPr id="53293" name="Text Box 44"/>
            <p:cNvSpPr txBox="1">
              <a:spLocks noChangeArrowheads="1"/>
            </p:cNvSpPr>
            <p:nvPr/>
          </p:nvSpPr>
          <p:spPr bwMode="auto">
            <a:xfrm>
              <a:off x="5145414" y="2087154"/>
              <a:ext cx="278356" cy="3369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16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0</a:t>
              </a:r>
            </a:p>
          </p:txBody>
        </p:sp>
        <p:sp>
          <p:nvSpPr>
            <p:cNvPr id="53294" name="Text Box 45"/>
            <p:cNvSpPr txBox="1">
              <a:spLocks noChangeArrowheads="1"/>
            </p:cNvSpPr>
            <p:nvPr/>
          </p:nvSpPr>
          <p:spPr bwMode="auto">
            <a:xfrm>
              <a:off x="5145414" y="2319783"/>
              <a:ext cx="278356" cy="3357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16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</a:p>
          </p:txBody>
        </p:sp>
        <p:sp>
          <p:nvSpPr>
            <p:cNvPr id="53295" name="Text Box 46"/>
            <p:cNvSpPr txBox="1">
              <a:spLocks noChangeArrowheads="1"/>
            </p:cNvSpPr>
            <p:nvPr/>
          </p:nvSpPr>
          <p:spPr bwMode="auto">
            <a:xfrm>
              <a:off x="5145414" y="2550013"/>
              <a:ext cx="278356" cy="3357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16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</a:p>
          </p:txBody>
        </p:sp>
        <p:sp>
          <p:nvSpPr>
            <p:cNvPr id="53296" name="Text Box 47"/>
            <p:cNvSpPr txBox="1">
              <a:spLocks noChangeArrowheads="1"/>
            </p:cNvSpPr>
            <p:nvPr/>
          </p:nvSpPr>
          <p:spPr bwMode="auto">
            <a:xfrm>
              <a:off x="5145414" y="2780244"/>
              <a:ext cx="278356" cy="3357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16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</a:p>
          </p:txBody>
        </p:sp>
        <p:sp>
          <p:nvSpPr>
            <p:cNvPr id="53297" name="Text Box 48"/>
            <p:cNvSpPr txBox="1">
              <a:spLocks noChangeArrowheads="1"/>
            </p:cNvSpPr>
            <p:nvPr/>
          </p:nvSpPr>
          <p:spPr bwMode="auto">
            <a:xfrm>
              <a:off x="5145414" y="3010474"/>
              <a:ext cx="278356" cy="3357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16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</a:p>
          </p:txBody>
        </p:sp>
        <p:sp>
          <p:nvSpPr>
            <p:cNvPr id="53298" name="Text Box 49"/>
            <p:cNvSpPr txBox="1">
              <a:spLocks noChangeArrowheads="1"/>
            </p:cNvSpPr>
            <p:nvPr/>
          </p:nvSpPr>
          <p:spPr bwMode="auto">
            <a:xfrm>
              <a:off x="5145414" y="3239506"/>
              <a:ext cx="278356" cy="3369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16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5</a:t>
              </a:r>
            </a:p>
          </p:txBody>
        </p:sp>
        <p:sp>
          <p:nvSpPr>
            <p:cNvPr id="53299" name="Text Box 50"/>
            <p:cNvSpPr txBox="1">
              <a:spLocks noChangeArrowheads="1"/>
            </p:cNvSpPr>
            <p:nvPr/>
          </p:nvSpPr>
          <p:spPr bwMode="auto">
            <a:xfrm>
              <a:off x="5145414" y="3469736"/>
              <a:ext cx="278356" cy="3369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16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6</a:t>
              </a:r>
            </a:p>
          </p:txBody>
        </p:sp>
        <p:sp>
          <p:nvSpPr>
            <p:cNvPr id="53300" name="Text Box 51"/>
            <p:cNvSpPr txBox="1">
              <a:spLocks noChangeArrowheads="1"/>
            </p:cNvSpPr>
            <p:nvPr/>
          </p:nvSpPr>
          <p:spPr bwMode="auto">
            <a:xfrm>
              <a:off x="5145414" y="3699967"/>
              <a:ext cx="278356" cy="3369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16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7</a:t>
              </a:r>
            </a:p>
          </p:txBody>
        </p:sp>
        <p:sp>
          <p:nvSpPr>
            <p:cNvPr id="53301" name="Text Box 52"/>
            <p:cNvSpPr txBox="1">
              <a:spLocks noChangeArrowheads="1"/>
            </p:cNvSpPr>
            <p:nvPr/>
          </p:nvSpPr>
          <p:spPr bwMode="auto">
            <a:xfrm>
              <a:off x="5136715" y="3925401"/>
              <a:ext cx="278356" cy="3369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16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8</a:t>
              </a:r>
            </a:p>
          </p:txBody>
        </p:sp>
        <p:sp>
          <p:nvSpPr>
            <p:cNvPr id="53302" name="Text Box 53"/>
            <p:cNvSpPr txBox="1">
              <a:spLocks noChangeArrowheads="1"/>
            </p:cNvSpPr>
            <p:nvPr/>
          </p:nvSpPr>
          <p:spPr bwMode="auto">
            <a:xfrm>
              <a:off x="5136715" y="4155631"/>
              <a:ext cx="278356" cy="3369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16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9</a:t>
              </a:r>
            </a:p>
          </p:txBody>
        </p:sp>
        <p:sp>
          <p:nvSpPr>
            <p:cNvPr id="53303" name="Text Box 54"/>
            <p:cNvSpPr txBox="1">
              <a:spLocks noChangeArrowheads="1"/>
            </p:cNvSpPr>
            <p:nvPr/>
          </p:nvSpPr>
          <p:spPr bwMode="auto">
            <a:xfrm>
              <a:off x="5136715" y="4388260"/>
              <a:ext cx="481324" cy="3357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16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10</a:t>
              </a:r>
            </a:p>
          </p:txBody>
        </p:sp>
        <p:sp>
          <p:nvSpPr>
            <p:cNvPr id="53304" name="Text Box 55"/>
            <p:cNvSpPr txBox="1">
              <a:spLocks noChangeArrowheads="1"/>
            </p:cNvSpPr>
            <p:nvPr/>
          </p:nvSpPr>
          <p:spPr bwMode="auto">
            <a:xfrm>
              <a:off x="5136715" y="4618491"/>
              <a:ext cx="550913" cy="3357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16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11</a:t>
              </a:r>
            </a:p>
          </p:txBody>
        </p:sp>
        <p:sp>
          <p:nvSpPr>
            <p:cNvPr id="53305" name="Text Box 56"/>
            <p:cNvSpPr txBox="1">
              <a:spLocks noChangeArrowheads="1"/>
            </p:cNvSpPr>
            <p:nvPr/>
          </p:nvSpPr>
          <p:spPr bwMode="auto">
            <a:xfrm>
              <a:off x="5136715" y="4848721"/>
              <a:ext cx="550913" cy="3357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16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12</a:t>
              </a:r>
            </a:p>
          </p:txBody>
        </p:sp>
        <p:sp>
          <p:nvSpPr>
            <p:cNvPr id="53306" name="Text Box 58"/>
            <p:cNvSpPr txBox="1">
              <a:spLocks noChangeArrowheads="1"/>
            </p:cNvSpPr>
            <p:nvPr/>
          </p:nvSpPr>
          <p:spPr bwMode="auto">
            <a:xfrm>
              <a:off x="5136715" y="5309182"/>
              <a:ext cx="550913" cy="3357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16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14</a:t>
              </a:r>
            </a:p>
          </p:txBody>
        </p:sp>
        <p:sp>
          <p:nvSpPr>
            <p:cNvPr id="53307" name="Text Box 59"/>
            <p:cNvSpPr txBox="1">
              <a:spLocks noChangeArrowheads="1"/>
            </p:cNvSpPr>
            <p:nvPr/>
          </p:nvSpPr>
          <p:spPr bwMode="auto">
            <a:xfrm>
              <a:off x="5136715" y="5538214"/>
              <a:ext cx="550913" cy="3369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16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15</a:t>
              </a:r>
            </a:p>
          </p:txBody>
        </p:sp>
        <p:sp>
          <p:nvSpPr>
            <p:cNvPr id="53308" name="Text Box 61"/>
            <p:cNvSpPr txBox="1">
              <a:spLocks noChangeArrowheads="1"/>
            </p:cNvSpPr>
            <p:nvPr/>
          </p:nvSpPr>
          <p:spPr bwMode="auto">
            <a:xfrm>
              <a:off x="4282800" y="1752600"/>
              <a:ext cx="904658" cy="3369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16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主存</a:t>
              </a:r>
            </a:p>
          </p:txBody>
        </p:sp>
        <p:sp>
          <p:nvSpPr>
            <p:cNvPr id="53309" name="AutoShape 75"/>
            <p:cNvSpPr>
              <a:spLocks/>
            </p:cNvSpPr>
            <p:nvPr/>
          </p:nvSpPr>
          <p:spPr bwMode="auto">
            <a:xfrm>
              <a:off x="1822537" y="3029660"/>
              <a:ext cx="139178" cy="460461"/>
            </a:xfrm>
            <a:prstGeom prst="rightBrace">
              <a:avLst>
                <a:gd name="adj1" fmla="val 33329"/>
                <a:gd name="adj2" fmla="val 50000"/>
              </a:avLst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3310" name="AutoShape 76"/>
            <p:cNvSpPr>
              <a:spLocks/>
            </p:cNvSpPr>
            <p:nvPr/>
          </p:nvSpPr>
          <p:spPr bwMode="auto">
            <a:xfrm>
              <a:off x="1822537" y="3490121"/>
              <a:ext cx="139178" cy="460461"/>
            </a:xfrm>
            <a:prstGeom prst="rightBrace">
              <a:avLst>
                <a:gd name="adj1" fmla="val 33329"/>
                <a:gd name="adj2" fmla="val 50000"/>
              </a:avLst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3311" name="AutoShape 77"/>
            <p:cNvSpPr>
              <a:spLocks/>
            </p:cNvSpPr>
            <p:nvPr/>
          </p:nvSpPr>
          <p:spPr bwMode="auto">
            <a:xfrm>
              <a:off x="1822537" y="3950582"/>
              <a:ext cx="139178" cy="460461"/>
            </a:xfrm>
            <a:prstGeom prst="rightBrace">
              <a:avLst>
                <a:gd name="adj1" fmla="val 33329"/>
                <a:gd name="adj2" fmla="val 50000"/>
              </a:avLst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3312" name="AutoShape 78"/>
            <p:cNvSpPr>
              <a:spLocks/>
            </p:cNvSpPr>
            <p:nvPr/>
          </p:nvSpPr>
          <p:spPr bwMode="auto">
            <a:xfrm>
              <a:off x="1822537" y="4411043"/>
              <a:ext cx="139178" cy="460461"/>
            </a:xfrm>
            <a:prstGeom prst="rightBrace">
              <a:avLst>
                <a:gd name="adj1" fmla="val 33329"/>
                <a:gd name="adj2" fmla="val 50000"/>
              </a:avLst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3313" name="Text Box 79"/>
            <p:cNvSpPr txBox="1">
              <a:spLocks noChangeArrowheads="1"/>
            </p:cNvSpPr>
            <p:nvPr/>
          </p:nvSpPr>
          <p:spPr bwMode="auto">
            <a:xfrm>
              <a:off x="2031304" y="3119594"/>
              <a:ext cx="904658" cy="3369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16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第</a:t>
              </a:r>
              <a:r>
                <a:rPr lang="en-US" altLang="zh-CN" sz="16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0</a:t>
              </a:r>
              <a:r>
                <a:rPr lang="zh-CN" altLang="en-US" sz="16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组</a:t>
              </a:r>
            </a:p>
          </p:txBody>
        </p:sp>
        <p:sp>
          <p:nvSpPr>
            <p:cNvPr id="53314" name="Text Box 80"/>
            <p:cNvSpPr txBox="1">
              <a:spLocks noChangeArrowheads="1"/>
            </p:cNvSpPr>
            <p:nvPr/>
          </p:nvSpPr>
          <p:spPr bwMode="auto">
            <a:xfrm>
              <a:off x="2031304" y="3581254"/>
              <a:ext cx="904658" cy="3369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16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第</a:t>
              </a:r>
              <a:r>
                <a:rPr lang="en-US" altLang="zh-CN" sz="16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r>
                <a:rPr lang="zh-CN" altLang="en-US" sz="16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组</a:t>
              </a:r>
            </a:p>
          </p:txBody>
        </p:sp>
        <p:sp>
          <p:nvSpPr>
            <p:cNvPr id="53315" name="Text Box 81"/>
            <p:cNvSpPr txBox="1">
              <a:spLocks noChangeArrowheads="1"/>
            </p:cNvSpPr>
            <p:nvPr/>
          </p:nvSpPr>
          <p:spPr bwMode="auto">
            <a:xfrm>
              <a:off x="2031304" y="4041715"/>
              <a:ext cx="904658" cy="3369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16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第</a:t>
              </a:r>
              <a:r>
                <a:rPr lang="en-US" altLang="zh-CN" sz="16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r>
                <a:rPr lang="zh-CN" altLang="en-US" sz="16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组</a:t>
              </a:r>
            </a:p>
          </p:txBody>
        </p:sp>
        <p:sp>
          <p:nvSpPr>
            <p:cNvPr id="53316" name="Text Box 82"/>
            <p:cNvSpPr txBox="1">
              <a:spLocks noChangeArrowheads="1"/>
            </p:cNvSpPr>
            <p:nvPr/>
          </p:nvSpPr>
          <p:spPr bwMode="auto">
            <a:xfrm>
              <a:off x="2031304" y="4502176"/>
              <a:ext cx="904658" cy="3369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16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第</a:t>
              </a:r>
              <a:r>
                <a:rPr lang="en-US" altLang="zh-CN" sz="16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r>
                <a:rPr lang="zh-CN" altLang="en-US" sz="16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组</a:t>
              </a:r>
            </a:p>
          </p:txBody>
        </p:sp>
        <p:sp>
          <p:nvSpPr>
            <p:cNvPr id="53317" name="Line 83"/>
            <p:cNvSpPr>
              <a:spLocks noChangeShapeType="1"/>
            </p:cNvSpPr>
            <p:nvPr/>
          </p:nvSpPr>
          <p:spPr bwMode="auto">
            <a:xfrm flipH="1">
              <a:off x="2588016" y="2223853"/>
              <a:ext cx="1391781" cy="97848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3318" name="Line 84"/>
            <p:cNvSpPr>
              <a:spLocks noChangeShapeType="1"/>
            </p:cNvSpPr>
            <p:nvPr/>
          </p:nvSpPr>
          <p:spPr bwMode="auto">
            <a:xfrm flipH="1">
              <a:off x="2657605" y="2454084"/>
              <a:ext cx="1322192" cy="120871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3319" name="Line 85"/>
            <p:cNvSpPr>
              <a:spLocks noChangeShapeType="1"/>
            </p:cNvSpPr>
            <p:nvPr/>
          </p:nvSpPr>
          <p:spPr bwMode="auto">
            <a:xfrm flipH="1">
              <a:off x="2588016" y="2684314"/>
              <a:ext cx="1391781" cy="143894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3320" name="Line 86"/>
            <p:cNvSpPr>
              <a:spLocks noChangeShapeType="1"/>
            </p:cNvSpPr>
            <p:nvPr/>
          </p:nvSpPr>
          <p:spPr bwMode="auto">
            <a:xfrm flipH="1">
              <a:off x="2588016" y="2914545"/>
              <a:ext cx="1391781" cy="166917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3321" name="Line 87"/>
            <p:cNvSpPr>
              <a:spLocks noChangeShapeType="1"/>
            </p:cNvSpPr>
            <p:nvPr/>
          </p:nvSpPr>
          <p:spPr bwMode="auto">
            <a:xfrm flipH="1">
              <a:off x="2588016" y="3144775"/>
              <a:ext cx="1391781" cy="5755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3322" name="Line 88"/>
            <p:cNvSpPr>
              <a:spLocks noChangeShapeType="1"/>
            </p:cNvSpPr>
            <p:nvPr/>
          </p:nvSpPr>
          <p:spPr bwMode="auto">
            <a:xfrm flipH="1">
              <a:off x="2657605" y="3375006"/>
              <a:ext cx="1322192" cy="34534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3323" name="Line 89"/>
            <p:cNvSpPr>
              <a:spLocks noChangeShapeType="1"/>
            </p:cNvSpPr>
            <p:nvPr/>
          </p:nvSpPr>
          <p:spPr bwMode="auto">
            <a:xfrm flipH="1">
              <a:off x="2588016" y="3605236"/>
              <a:ext cx="1391781" cy="57557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3324" name="Line 90"/>
            <p:cNvSpPr>
              <a:spLocks noChangeShapeType="1"/>
            </p:cNvSpPr>
            <p:nvPr/>
          </p:nvSpPr>
          <p:spPr bwMode="auto">
            <a:xfrm flipH="1">
              <a:off x="2657605" y="3835467"/>
              <a:ext cx="1322192" cy="80580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3325" name="Line 91"/>
            <p:cNvSpPr>
              <a:spLocks noChangeShapeType="1"/>
            </p:cNvSpPr>
            <p:nvPr/>
          </p:nvSpPr>
          <p:spPr bwMode="auto">
            <a:xfrm flipH="1" flipV="1">
              <a:off x="2588016" y="3202333"/>
              <a:ext cx="1391781" cy="86336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3326" name="Line 92"/>
            <p:cNvSpPr>
              <a:spLocks noChangeShapeType="1"/>
            </p:cNvSpPr>
            <p:nvPr/>
          </p:nvSpPr>
          <p:spPr bwMode="auto">
            <a:xfrm flipH="1" flipV="1">
              <a:off x="2657605" y="3777909"/>
              <a:ext cx="1322192" cy="51801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3327" name="Line 93"/>
            <p:cNvSpPr>
              <a:spLocks noChangeShapeType="1"/>
            </p:cNvSpPr>
            <p:nvPr/>
          </p:nvSpPr>
          <p:spPr bwMode="auto">
            <a:xfrm flipH="1" flipV="1">
              <a:off x="2657605" y="4180813"/>
              <a:ext cx="1322192" cy="34534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3328" name="Line 94"/>
            <p:cNvSpPr>
              <a:spLocks noChangeShapeType="1"/>
            </p:cNvSpPr>
            <p:nvPr/>
          </p:nvSpPr>
          <p:spPr bwMode="auto">
            <a:xfrm flipH="1" flipV="1">
              <a:off x="2588016" y="4641274"/>
              <a:ext cx="1391781" cy="11511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3329" name="Line 95"/>
            <p:cNvSpPr>
              <a:spLocks noChangeShapeType="1"/>
            </p:cNvSpPr>
            <p:nvPr/>
          </p:nvSpPr>
          <p:spPr bwMode="auto">
            <a:xfrm flipH="1" flipV="1">
              <a:off x="2588016" y="3259891"/>
              <a:ext cx="1391781" cy="172672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3330" name="Line 96"/>
            <p:cNvSpPr>
              <a:spLocks noChangeShapeType="1"/>
            </p:cNvSpPr>
            <p:nvPr/>
          </p:nvSpPr>
          <p:spPr bwMode="auto">
            <a:xfrm flipH="1" flipV="1">
              <a:off x="2657605" y="3777909"/>
              <a:ext cx="1322192" cy="143894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3331" name="Line 97"/>
            <p:cNvSpPr>
              <a:spLocks noChangeShapeType="1"/>
            </p:cNvSpPr>
            <p:nvPr/>
          </p:nvSpPr>
          <p:spPr bwMode="auto">
            <a:xfrm flipH="1" flipV="1">
              <a:off x="2588016" y="4238370"/>
              <a:ext cx="1391781" cy="120871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3332" name="Line 98"/>
            <p:cNvSpPr>
              <a:spLocks noChangeShapeType="1"/>
            </p:cNvSpPr>
            <p:nvPr/>
          </p:nvSpPr>
          <p:spPr bwMode="auto">
            <a:xfrm flipH="1" flipV="1">
              <a:off x="2588016" y="4698832"/>
              <a:ext cx="1391781" cy="97848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3333" name="Text Box 101"/>
            <p:cNvSpPr txBox="1">
              <a:spLocks noChangeArrowheads="1"/>
            </p:cNvSpPr>
            <p:nvPr/>
          </p:nvSpPr>
          <p:spPr bwMode="auto">
            <a:xfrm>
              <a:off x="381000" y="5105400"/>
              <a:ext cx="228600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1800" b="1" i="1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k</a:t>
              </a:r>
              <a:r>
                <a:rPr lang="en-US" altLang="zh-CN" sz="1800" b="1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= </a:t>
              </a:r>
              <a:r>
                <a:rPr lang="en-US" altLang="zh-CN" sz="1800" b="1" i="1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</a:t>
              </a:r>
              <a:r>
                <a:rPr lang="en-US" altLang="zh-CN" sz="1800" b="1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mod </a:t>
              </a:r>
              <a:r>
                <a:rPr lang="zh-CN" altLang="en-US" sz="1800" b="1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</a:t>
              </a:r>
              <a:r>
                <a:rPr lang="en-US" altLang="zh-CN" sz="1800" b="1" i="1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G</a:t>
              </a:r>
              <a:r>
                <a:rPr lang="zh-CN" altLang="en-US" sz="1800" b="1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） </a:t>
              </a:r>
            </a:p>
          </p:txBody>
        </p:sp>
        <p:sp>
          <p:nvSpPr>
            <p:cNvPr id="53334" name="Line 103"/>
            <p:cNvSpPr>
              <a:spLocks noChangeShapeType="1"/>
            </p:cNvSpPr>
            <p:nvPr/>
          </p:nvSpPr>
          <p:spPr bwMode="auto">
            <a:xfrm flipV="1">
              <a:off x="609600" y="3733800"/>
              <a:ext cx="1447800" cy="144780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3335" name="Line 104"/>
            <p:cNvSpPr>
              <a:spLocks noChangeShapeType="1"/>
            </p:cNvSpPr>
            <p:nvPr/>
          </p:nvSpPr>
          <p:spPr bwMode="auto">
            <a:xfrm flipV="1">
              <a:off x="990600" y="4343400"/>
              <a:ext cx="3505200" cy="91440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3336" name="Text Box 105"/>
            <p:cNvSpPr txBox="1">
              <a:spLocks noChangeArrowheads="1"/>
            </p:cNvSpPr>
            <p:nvPr/>
          </p:nvSpPr>
          <p:spPr bwMode="auto">
            <a:xfrm>
              <a:off x="1295400" y="5626100"/>
              <a:ext cx="220980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180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Cache</a:t>
              </a:r>
              <a:r>
                <a:rPr lang="zh-CN" altLang="en-US" sz="180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的组数</a:t>
              </a:r>
            </a:p>
          </p:txBody>
        </p:sp>
        <p:sp>
          <p:nvSpPr>
            <p:cNvPr id="53337" name="Line 106"/>
            <p:cNvSpPr>
              <a:spLocks noChangeShapeType="1"/>
            </p:cNvSpPr>
            <p:nvPr/>
          </p:nvSpPr>
          <p:spPr bwMode="auto">
            <a:xfrm>
              <a:off x="2050132" y="5280992"/>
              <a:ext cx="1588" cy="38100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53257" name="Rectangle 107"/>
          <p:cNvSpPr>
            <a:spLocks noChangeArrowheads="1"/>
          </p:cNvSpPr>
          <p:nvPr/>
        </p:nvSpPr>
        <p:spPr bwMode="auto">
          <a:xfrm>
            <a:off x="4079876" y="4581525"/>
            <a:ext cx="84830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1" i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G=2</a:t>
            </a:r>
            <a:r>
              <a:rPr lang="en-US" altLang="zh-CN" sz="2000" b="1" i="1" baseline="300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</a:t>
            </a:r>
          </a:p>
        </p:txBody>
      </p:sp>
      <p:sp>
        <p:nvSpPr>
          <p:cNvPr id="53258" name="Text Box 4"/>
          <p:cNvSpPr txBox="1">
            <a:spLocks noChangeArrowheads="1"/>
          </p:cNvSpPr>
          <p:nvPr/>
        </p:nvSpPr>
        <p:spPr bwMode="auto">
          <a:xfrm>
            <a:off x="2208214" y="260350"/>
            <a:ext cx="7488237" cy="5909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buNone/>
            </a:pPr>
            <a:r>
              <a:rPr kumimoji="1" lang="zh-CN" altLang="en-US" sz="3600" dirty="0">
                <a:latin typeface="微软雅黑" pitchFamily="34" charset="-122"/>
                <a:ea typeface="微软雅黑" pitchFamily="34" charset="-122"/>
                <a:cs typeface="+mj-cs"/>
              </a:rPr>
              <a:t>组相联映射</a:t>
            </a:r>
            <a:r>
              <a:rPr kumimoji="1" lang="en-US" altLang="zh-CN" sz="3600" dirty="0">
                <a:latin typeface="微软雅黑" pitchFamily="34" charset="-122"/>
                <a:ea typeface="微软雅黑" pitchFamily="34" charset="-122"/>
                <a:cs typeface="+mj-cs"/>
              </a:rPr>
              <a:t>- Set</a:t>
            </a:r>
            <a:r>
              <a:rPr kumimoji="1" lang="zh-CN" altLang="en-US" sz="3600" dirty="0">
                <a:latin typeface="微软雅黑" pitchFamily="34" charset="-122"/>
                <a:ea typeface="微软雅黑" pitchFamily="34" charset="-122"/>
                <a:cs typeface="+mj-cs"/>
              </a:rPr>
              <a:t> </a:t>
            </a:r>
            <a:r>
              <a:rPr kumimoji="1" lang="en-US" altLang="zh-CN" sz="3600" dirty="0">
                <a:latin typeface="微软雅黑" pitchFamily="34" charset="-122"/>
                <a:ea typeface="微软雅黑" pitchFamily="34" charset="-122"/>
                <a:cs typeface="+mj-cs"/>
              </a:rPr>
              <a:t>Associative</a:t>
            </a:r>
            <a:endParaRPr kumimoji="1" lang="zh-CN" altLang="en-US" sz="3600" dirty="0">
              <a:latin typeface="微软雅黑" pitchFamily="34" charset="-122"/>
              <a:ea typeface="微软雅黑" pitchFamily="34" charset="-122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0470005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6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B39C9B1-F6D5-4FCA-B6CF-24B99B49AD96}" type="slidenum"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pPr>
                <a:spcBef>
                  <a:spcPct val="0"/>
                </a:spcBef>
                <a:buFontTx/>
                <a:buNone/>
              </a:pPr>
              <a:t>9</a:t>
            </a:fld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299" name="Line 2"/>
          <p:cNvSpPr>
            <a:spLocks noChangeShapeType="1"/>
          </p:cNvSpPr>
          <p:nvPr/>
        </p:nvSpPr>
        <p:spPr bwMode="auto">
          <a:xfrm>
            <a:off x="3962400" y="5335588"/>
            <a:ext cx="0" cy="152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300" name="Rectangle 3" descr="Large confetti"/>
          <p:cNvSpPr>
            <a:spLocks noChangeArrowheads="1"/>
          </p:cNvSpPr>
          <p:nvPr/>
        </p:nvSpPr>
        <p:spPr bwMode="auto">
          <a:xfrm>
            <a:off x="3282950" y="3741738"/>
            <a:ext cx="4864100" cy="368300"/>
          </a:xfrm>
          <a:prstGeom prst="rect">
            <a:avLst/>
          </a:prstGeom>
          <a:pattFill prst="lgConfetti">
            <a:fgClr>
              <a:schemeClr val="hlink"/>
            </a:fgClr>
            <a:bgClr>
              <a:srgbClr val="FFFFFF"/>
            </a:bgClr>
          </a:patt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zh-CN" sz="1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301" name="Rectangle 5"/>
          <p:cNvSpPr>
            <a:spLocks noChangeArrowheads="1"/>
          </p:cNvSpPr>
          <p:nvPr/>
        </p:nvSpPr>
        <p:spPr bwMode="auto">
          <a:xfrm>
            <a:off x="3289300" y="2986088"/>
            <a:ext cx="4851400" cy="14986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zh-CN" sz="1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302" name="Line 6"/>
          <p:cNvSpPr>
            <a:spLocks noChangeShapeType="1"/>
          </p:cNvSpPr>
          <p:nvPr/>
        </p:nvSpPr>
        <p:spPr bwMode="auto">
          <a:xfrm>
            <a:off x="3276600" y="3354388"/>
            <a:ext cx="4876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303" name="Line 7"/>
          <p:cNvSpPr>
            <a:spLocks noChangeShapeType="1"/>
          </p:cNvSpPr>
          <p:nvPr/>
        </p:nvSpPr>
        <p:spPr bwMode="auto">
          <a:xfrm>
            <a:off x="3276600" y="3735388"/>
            <a:ext cx="4876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304" name="Line 8"/>
          <p:cNvSpPr>
            <a:spLocks noChangeShapeType="1"/>
          </p:cNvSpPr>
          <p:nvPr/>
        </p:nvSpPr>
        <p:spPr bwMode="auto">
          <a:xfrm>
            <a:off x="3276600" y="4116388"/>
            <a:ext cx="4876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305" name="Line 9"/>
          <p:cNvSpPr>
            <a:spLocks noChangeShapeType="1"/>
          </p:cNvSpPr>
          <p:nvPr/>
        </p:nvSpPr>
        <p:spPr bwMode="auto">
          <a:xfrm>
            <a:off x="4495800" y="2820988"/>
            <a:ext cx="0" cy="1676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306" name="Line 10"/>
          <p:cNvSpPr>
            <a:spLocks noChangeShapeType="1"/>
          </p:cNvSpPr>
          <p:nvPr/>
        </p:nvSpPr>
        <p:spPr bwMode="auto">
          <a:xfrm>
            <a:off x="5410200" y="2973388"/>
            <a:ext cx="0" cy="1524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307" name="Line 11"/>
          <p:cNvSpPr>
            <a:spLocks noChangeShapeType="1"/>
          </p:cNvSpPr>
          <p:nvPr/>
        </p:nvSpPr>
        <p:spPr bwMode="auto">
          <a:xfrm>
            <a:off x="3581400" y="2820988"/>
            <a:ext cx="0" cy="1676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308" name="Rectangle 12"/>
          <p:cNvSpPr>
            <a:spLocks noChangeArrowheads="1"/>
          </p:cNvSpPr>
          <p:nvPr/>
        </p:nvSpPr>
        <p:spPr bwMode="auto">
          <a:xfrm>
            <a:off x="3565525" y="2622550"/>
            <a:ext cx="759375" cy="4007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  Tag</a:t>
            </a:r>
          </a:p>
        </p:txBody>
      </p:sp>
      <p:sp>
        <p:nvSpPr>
          <p:cNvPr id="55309" name="Rectangle 13"/>
          <p:cNvSpPr>
            <a:spLocks noChangeArrowheads="1"/>
          </p:cNvSpPr>
          <p:nvPr/>
        </p:nvSpPr>
        <p:spPr bwMode="auto">
          <a:xfrm>
            <a:off x="5622925" y="2622550"/>
            <a:ext cx="1495602" cy="4007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Data Block</a:t>
            </a:r>
          </a:p>
        </p:txBody>
      </p:sp>
      <p:sp>
        <p:nvSpPr>
          <p:cNvPr id="55310" name="Rectangle 14"/>
          <p:cNvSpPr>
            <a:spLocks noChangeArrowheads="1"/>
          </p:cNvSpPr>
          <p:nvPr/>
        </p:nvSpPr>
        <p:spPr bwMode="auto">
          <a:xfrm>
            <a:off x="3108325" y="2622550"/>
            <a:ext cx="509755" cy="4007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  V</a:t>
            </a:r>
          </a:p>
        </p:txBody>
      </p:sp>
      <p:sp>
        <p:nvSpPr>
          <p:cNvPr id="55311" name="Line 15"/>
          <p:cNvSpPr>
            <a:spLocks noChangeShapeType="1"/>
          </p:cNvSpPr>
          <p:nvPr/>
        </p:nvSpPr>
        <p:spPr bwMode="auto">
          <a:xfrm>
            <a:off x="6324600" y="2973388"/>
            <a:ext cx="0" cy="1524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312" name="Line 16"/>
          <p:cNvSpPr>
            <a:spLocks noChangeShapeType="1"/>
          </p:cNvSpPr>
          <p:nvPr/>
        </p:nvSpPr>
        <p:spPr bwMode="auto">
          <a:xfrm>
            <a:off x="7239000" y="2973388"/>
            <a:ext cx="0" cy="1524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313" name="Rectangle 17"/>
          <p:cNvSpPr>
            <a:spLocks noChangeArrowheads="1"/>
          </p:cNvSpPr>
          <p:nvPr/>
        </p:nvSpPr>
        <p:spPr bwMode="auto">
          <a:xfrm>
            <a:off x="2603500" y="1538288"/>
            <a:ext cx="4318000" cy="5080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zh-CN" sz="1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55314" name="Group 18"/>
          <p:cNvGrpSpPr>
            <a:grpSpLocks/>
          </p:cNvGrpSpPr>
          <p:nvPr/>
        </p:nvGrpSpPr>
        <p:grpSpPr bwMode="auto">
          <a:xfrm>
            <a:off x="3351214" y="5649914"/>
            <a:ext cx="325437" cy="473075"/>
            <a:chOff x="1151" y="3414"/>
            <a:chExt cx="205" cy="298"/>
          </a:xfrm>
        </p:grpSpPr>
        <p:sp>
          <p:nvSpPr>
            <p:cNvPr id="55376" name="Line 19"/>
            <p:cNvSpPr>
              <a:spLocks noChangeShapeType="1"/>
            </p:cNvSpPr>
            <p:nvPr/>
          </p:nvSpPr>
          <p:spPr bwMode="auto">
            <a:xfrm>
              <a:off x="1354" y="3414"/>
              <a:ext cx="0" cy="20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5377" name="Line 20"/>
            <p:cNvSpPr>
              <a:spLocks noChangeShapeType="1"/>
            </p:cNvSpPr>
            <p:nvPr/>
          </p:nvSpPr>
          <p:spPr bwMode="auto">
            <a:xfrm>
              <a:off x="1152" y="3414"/>
              <a:ext cx="0" cy="20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5378" name="Line 21"/>
            <p:cNvSpPr>
              <a:spLocks noChangeShapeType="1"/>
            </p:cNvSpPr>
            <p:nvPr/>
          </p:nvSpPr>
          <p:spPr bwMode="auto">
            <a:xfrm flipH="1">
              <a:off x="1153" y="3416"/>
              <a:ext cx="20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5379" name="Arc 22"/>
            <p:cNvSpPr>
              <a:spLocks/>
            </p:cNvSpPr>
            <p:nvPr/>
          </p:nvSpPr>
          <p:spPr bwMode="auto">
            <a:xfrm>
              <a:off x="1249" y="3617"/>
              <a:ext cx="107" cy="94"/>
            </a:xfrm>
            <a:custGeom>
              <a:avLst/>
              <a:gdLst>
                <a:gd name="T0" fmla="*/ 0 w 21805"/>
                <a:gd name="T1" fmla="*/ 0 h 21600"/>
                <a:gd name="T2" fmla="*/ 0 w 21805"/>
                <a:gd name="T3" fmla="*/ 0 h 21600"/>
                <a:gd name="T4" fmla="*/ 0 w 21805"/>
                <a:gd name="T5" fmla="*/ 0 h 21600"/>
                <a:gd name="T6" fmla="*/ 0 60000 65536"/>
                <a:gd name="T7" fmla="*/ 0 60000 65536"/>
                <a:gd name="T8" fmla="*/ 0 60000 65536"/>
                <a:gd name="T9" fmla="*/ 0 w 21805"/>
                <a:gd name="T10" fmla="*/ 0 h 21600"/>
                <a:gd name="T11" fmla="*/ 21805 w 21805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805" h="21600" fill="none" extrusionOk="0">
                  <a:moveTo>
                    <a:pt x="21805" y="0"/>
                  </a:moveTo>
                  <a:cubicBezTo>
                    <a:pt x="21805" y="11929"/>
                    <a:pt x="12134" y="21600"/>
                    <a:pt x="205" y="21600"/>
                  </a:cubicBezTo>
                  <a:cubicBezTo>
                    <a:pt x="136" y="21599"/>
                    <a:pt x="68" y="21599"/>
                    <a:pt x="-1" y="21599"/>
                  </a:cubicBezTo>
                </a:path>
                <a:path w="21805" h="21600" stroke="0" extrusionOk="0">
                  <a:moveTo>
                    <a:pt x="21805" y="0"/>
                  </a:moveTo>
                  <a:cubicBezTo>
                    <a:pt x="21805" y="11929"/>
                    <a:pt x="12134" y="21600"/>
                    <a:pt x="205" y="21600"/>
                  </a:cubicBezTo>
                  <a:cubicBezTo>
                    <a:pt x="136" y="21599"/>
                    <a:pt x="68" y="21599"/>
                    <a:pt x="-1" y="21599"/>
                  </a:cubicBezTo>
                  <a:lnTo>
                    <a:pt x="205" y="0"/>
                  </a:lnTo>
                  <a:lnTo>
                    <a:pt x="21805" y="0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5380" name="Arc 23"/>
            <p:cNvSpPr>
              <a:spLocks/>
            </p:cNvSpPr>
            <p:nvPr/>
          </p:nvSpPr>
          <p:spPr bwMode="auto">
            <a:xfrm>
              <a:off x="1151" y="3618"/>
              <a:ext cx="106" cy="94"/>
            </a:xfrm>
            <a:custGeom>
              <a:avLst/>
              <a:gdLst>
                <a:gd name="T0" fmla="*/ 0 w 21600"/>
                <a:gd name="T1" fmla="*/ 0 h 21599"/>
                <a:gd name="T2" fmla="*/ 0 w 21600"/>
                <a:gd name="T3" fmla="*/ 0 h 21599"/>
                <a:gd name="T4" fmla="*/ 0 w 21600"/>
                <a:gd name="T5" fmla="*/ 0 h 21599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599"/>
                <a:gd name="T11" fmla="*/ 21600 w 21600"/>
                <a:gd name="T12" fmla="*/ 21599 h 2159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599" fill="none" extrusionOk="0">
                  <a:moveTo>
                    <a:pt x="21394" y="21599"/>
                  </a:moveTo>
                  <a:cubicBezTo>
                    <a:pt x="9546" y="21486"/>
                    <a:pt x="-1" y="11849"/>
                    <a:pt x="-1" y="-1"/>
                  </a:cubicBezTo>
                </a:path>
                <a:path w="21600" h="21599" stroke="0" extrusionOk="0">
                  <a:moveTo>
                    <a:pt x="21394" y="21599"/>
                  </a:moveTo>
                  <a:cubicBezTo>
                    <a:pt x="9546" y="21486"/>
                    <a:pt x="-1" y="11849"/>
                    <a:pt x="-1" y="-1"/>
                  </a:cubicBezTo>
                  <a:lnTo>
                    <a:pt x="21600" y="0"/>
                  </a:lnTo>
                  <a:lnTo>
                    <a:pt x="21394" y="21599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55315" name="AutoShape 24"/>
          <p:cNvSpPr>
            <a:spLocks noChangeArrowheads="1"/>
          </p:cNvSpPr>
          <p:nvPr/>
        </p:nvSpPr>
        <p:spPr bwMode="auto">
          <a:xfrm rot="10800000" flipH="1" flipV="1">
            <a:off x="5803900" y="5807076"/>
            <a:ext cx="1117600" cy="277813"/>
          </a:xfrm>
          <a:custGeom>
            <a:avLst/>
            <a:gdLst>
              <a:gd name="T0" fmla="*/ 2147483646 w 21600"/>
              <a:gd name="T1" fmla="*/ 2147483646 h 21600"/>
              <a:gd name="T2" fmla="*/ 2147483646 w 21600"/>
              <a:gd name="T3" fmla="*/ 2147483646 h 21600"/>
              <a:gd name="T4" fmla="*/ 2147483646 w 21600"/>
              <a:gd name="T5" fmla="*/ 2147483646 h 21600"/>
              <a:gd name="T6" fmla="*/ 2147483646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00 w 21600"/>
              <a:gd name="T13" fmla="*/ 4500 h 21600"/>
              <a:gd name="T14" fmla="*/ 17100 w 21600"/>
              <a:gd name="T15" fmla="*/ 171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399" y="21600"/>
                </a:lnTo>
                <a:lnTo>
                  <a:pt x="16201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316" name="Oval 25"/>
          <p:cNvSpPr>
            <a:spLocks noChangeArrowheads="1"/>
          </p:cNvSpPr>
          <p:nvPr/>
        </p:nvSpPr>
        <p:spPr bwMode="auto">
          <a:xfrm>
            <a:off x="3697288" y="4891088"/>
            <a:ext cx="508000" cy="508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zh-CN" sz="1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317" name="Rectangle 26"/>
          <p:cNvSpPr>
            <a:spLocks noChangeArrowheads="1"/>
          </p:cNvSpPr>
          <p:nvPr/>
        </p:nvSpPr>
        <p:spPr bwMode="auto">
          <a:xfrm>
            <a:off x="3730625" y="4946650"/>
            <a:ext cx="452047" cy="4007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 =</a:t>
            </a:r>
          </a:p>
        </p:txBody>
      </p:sp>
      <p:sp>
        <p:nvSpPr>
          <p:cNvPr id="55318" name="Rectangle 27"/>
          <p:cNvSpPr>
            <a:spLocks noChangeArrowheads="1"/>
          </p:cNvSpPr>
          <p:nvPr/>
        </p:nvSpPr>
        <p:spPr bwMode="auto">
          <a:xfrm>
            <a:off x="6156326" y="1524001"/>
            <a:ext cx="880049" cy="6469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rPr>
              <a:t>Block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rPr>
              <a:t>Offset</a:t>
            </a:r>
          </a:p>
        </p:txBody>
      </p:sp>
      <p:sp>
        <p:nvSpPr>
          <p:cNvPr id="55319" name="Line 28"/>
          <p:cNvSpPr>
            <a:spLocks noChangeShapeType="1"/>
          </p:cNvSpPr>
          <p:nvPr/>
        </p:nvSpPr>
        <p:spPr bwMode="auto">
          <a:xfrm>
            <a:off x="6172200" y="1525588"/>
            <a:ext cx="0" cy="533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320" name="Line 29"/>
          <p:cNvSpPr>
            <a:spLocks noChangeShapeType="1"/>
          </p:cNvSpPr>
          <p:nvPr/>
        </p:nvSpPr>
        <p:spPr bwMode="auto">
          <a:xfrm>
            <a:off x="4038600" y="1525588"/>
            <a:ext cx="0" cy="533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321" name="Rectangle 30"/>
          <p:cNvSpPr>
            <a:spLocks noChangeArrowheads="1"/>
          </p:cNvSpPr>
          <p:nvPr/>
        </p:nvSpPr>
        <p:spPr bwMode="auto">
          <a:xfrm>
            <a:off x="2879725" y="1568450"/>
            <a:ext cx="759375" cy="4007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  Tag</a:t>
            </a:r>
          </a:p>
        </p:txBody>
      </p:sp>
      <p:sp>
        <p:nvSpPr>
          <p:cNvPr id="55322" name="Rectangle 31"/>
          <p:cNvSpPr>
            <a:spLocks noChangeArrowheads="1"/>
          </p:cNvSpPr>
          <p:nvPr/>
        </p:nvSpPr>
        <p:spPr bwMode="auto">
          <a:xfrm>
            <a:off x="4581525" y="1568450"/>
            <a:ext cx="859210" cy="4007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Index</a:t>
            </a:r>
          </a:p>
        </p:txBody>
      </p:sp>
      <p:sp>
        <p:nvSpPr>
          <p:cNvPr id="55323" name="Line 32"/>
          <p:cNvSpPr>
            <a:spLocks noChangeShapeType="1"/>
          </p:cNvSpPr>
          <p:nvPr/>
        </p:nvSpPr>
        <p:spPr bwMode="auto">
          <a:xfrm>
            <a:off x="3429000" y="3963988"/>
            <a:ext cx="0" cy="1066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324" name="Line 33"/>
          <p:cNvSpPr>
            <a:spLocks noChangeShapeType="1"/>
          </p:cNvSpPr>
          <p:nvPr/>
        </p:nvSpPr>
        <p:spPr bwMode="auto">
          <a:xfrm>
            <a:off x="3962400" y="3963988"/>
            <a:ext cx="0" cy="914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325" name="Line 34"/>
          <p:cNvSpPr>
            <a:spLocks noChangeShapeType="1"/>
          </p:cNvSpPr>
          <p:nvPr/>
        </p:nvSpPr>
        <p:spPr bwMode="auto">
          <a:xfrm>
            <a:off x="3505200" y="6097588"/>
            <a:ext cx="0" cy="152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326" name="Line 35"/>
          <p:cNvSpPr>
            <a:spLocks noChangeShapeType="1"/>
          </p:cNvSpPr>
          <p:nvPr/>
        </p:nvSpPr>
        <p:spPr bwMode="auto">
          <a:xfrm flipH="1">
            <a:off x="2971800" y="6249988"/>
            <a:ext cx="533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327" name="Line 36"/>
          <p:cNvSpPr>
            <a:spLocks noChangeShapeType="1"/>
          </p:cNvSpPr>
          <p:nvPr/>
        </p:nvSpPr>
        <p:spPr bwMode="auto">
          <a:xfrm flipH="1">
            <a:off x="3581400" y="5487988"/>
            <a:ext cx="381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328" name="Line 37"/>
          <p:cNvSpPr>
            <a:spLocks noChangeShapeType="1"/>
          </p:cNvSpPr>
          <p:nvPr/>
        </p:nvSpPr>
        <p:spPr bwMode="auto">
          <a:xfrm>
            <a:off x="3581400" y="5487988"/>
            <a:ext cx="0" cy="152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329" name="Line 38"/>
          <p:cNvSpPr>
            <a:spLocks noChangeShapeType="1"/>
          </p:cNvSpPr>
          <p:nvPr/>
        </p:nvSpPr>
        <p:spPr bwMode="auto">
          <a:xfrm>
            <a:off x="4964113" y="3963988"/>
            <a:ext cx="0" cy="1371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330" name="Line 39"/>
          <p:cNvSpPr>
            <a:spLocks noChangeShapeType="1"/>
          </p:cNvSpPr>
          <p:nvPr/>
        </p:nvSpPr>
        <p:spPr bwMode="auto">
          <a:xfrm flipH="1">
            <a:off x="4953000" y="5335588"/>
            <a:ext cx="914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331" name="Line 40"/>
          <p:cNvSpPr>
            <a:spLocks noChangeShapeType="1"/>
          </p:cNvSpPr>
          <p:nvPr/>
        </p:nvSpPr>
        <p:spPr bwMode="auto">
          <a:xfrm>
            <a:off x="5867400" y="5335588"/>
            <a:ext cx="0" cy="457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332" name="Line 41"/>
          <p:cNvSpPr>
            <a:spLocks noChangeShapeType="1"/>
          </p:cNvSpPr>
          <p:nvPr/>
        </p:nvSpPr>
        <p:spPr bwMode="auto">
          <a:xfrm>
            <a:off x="5851525" y="3963988"/>
            <a:ext cx="0" cy="1143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333" name="Line 42"/>
          <p:cNvSpPr>
            <a:spLocks noChangeShapeType="1"/>
          </p:cNvSpPr>
          <p:nvPr/>
        </p:nvSpPr>
        <p:spPr bwMode="auto">
          <a:xfrm flipH="1">
            <a:off x="5867400" y="5106988"/>
            <a:ext cx="304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334" name="Line 43"/>
          <p:cNvSpPr>
            <a:spLocks noChangeShapeType="1"/>
          </p:cNvSpPr>
          <p:nvPr/>
        </p:nvSpPr>
        <p:spPr bwMode="auto">
          <a:xfrm>
            <a:off x="6172200" y="5106988"/>
            <a:ext cx="0" cy="685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335" name="Line 44"/>
          <p:cNvSpPr>
            <a:spLocks noChangeShapeType="1"/>
          </p:cNvSpPr>
          <p:nvPr/>
        </p:nvSpPr>
        <p:spPr bwMode="auto">
          <a:xfrm>
            <a:off x="6553200" y="5106988"/>
            <a:ext cx="0" cy="685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336" name="Line 45"/>
          <p:cNvSpPr>
            <a:spLocks noChangeShapeType="1"/>
          </p:cNvSpPr>
          <p:nvPr/>
        </p:nvSpPr>
        <p:spPr bwMode="auto">
          <a:xfrm>
            <a:off x="6858000" y="5335588"/>
            <a:ext cx="0" cy="457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337" name="Line 46"/>
          <p:cNvSpPr>
            <a:spLocks noChangeShapeType="1"/>
          </p:cNvSpPr>
          <p:nvPr/>
        </p:nvSpPr>
        <p:spPr bwMode="auto">
          <a:xfrm flipH="1">
            <a:off x="6553200" y="5106988"/>
            <a:ext cx="304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338" name="Line 47"/>
          <p:cNvSpPr>
            <a:spLocks noChangeShapeType="1"/>
          </p:cNvSpPr>
          <p:nvPr/>
        </p:nvSpPr>
        <p:spPr bwMode="auto">
          <a:xfrm flipH="1">
            <a:off x="6858000" y="5335588"/>
            <a:ext cx="838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339" name="Line 48"/>
          <p:cNvSpPr>
            <a:spLocks noChangeShapeType="1"/>
          </p:cNvSpPr>
          <p:nvPr/>
        </p:nvSpPr>
        <p:spPr bwMode="auto">
          <a:xfrm>
            <a:off x="6881813" y="3963988"/>
            <a:ext cx="0" cy="1143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340" name="Line 49"/>
          <p:cNvSpPr>
            <a:spLocks noChangeShapeType="1"/>
          </p:cNvSpPr>
          <p:nvPr/>
        </p:nvSpPr>
        <p:spPr bwMode="auto">
          <a:xfrm>
            <a:off x="7702550" y="3963988"/>
            <a:ext cx="0" cy="1371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341" name="Line 50"/>
          <p:cNvSpPr>
            <a:spLocks noChangeShapeType="1"/>
          </p:cNvSpPr>
          <p:nvPr/>
        </p:nvSpPr>
        <p:spPr bwMode="auto">
          <a:xfrm>
            <a:off x="6400800" y="6097588"/>
            <a:ext cx="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342" name="Line 51"/>
          <p:cNvSpPr>
            <a:spLocks noChangeShapeType="1"/>
          </p:cNvSpPr>
          <p:nvPr/>
        </p:nvSpPr>
        <p:spPr bwMode="auto">
          <a:xfrm flipH="1">
            <a:off x="6400800" y="6326188"/>
            <a:ext cx="990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stealth" w="med" len="lg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343" name="Line 52"/>
          <p:cNvSpPr>
            <a:spLocks noChangeShapeType="1"/>
          </p:cNvSpPr>
          <p:nvPr/>
        </p:nvSpPr>
        <p:spPr bwMode="auto">
          <a:xfrm>
            <a:off x="5105400" y="2058988"/>
            <a:ext cx="0" cy="304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344" name="Line 53"/>
          <p:cNvSpPr>
            <a:spLocks noChangeShapeType="1"/>
          </p:cNvSpPr>
          <p:nvPr/>
        </p:nvSpPr>
        <p:spPr bwMode="auto">
          <a:xfrm flipH="1">
            <a:off x="3048000" y="2363788"/>
            <a:ext cx="2057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345" name="Line 54"/>
          <p:cNvSpPr>
            <a:spLocks noChangeShapeType="1"/>
          </p:cNvSpPr>
          <p:nvPr/>
        </p:nvSpPr>
        <p:spPr bwMode="auto">
          <a:xfrm>
            <a:off x="3276600" y="2058988"/>
            <a:ext cx="0" cy="152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346" name="Line 55"/>
          <p:cNvSpPr>
            <a:spLocks noChangeShapeType="1"/>
          </p:cNvSpPr>
          <p:nvPr/>
        </p:nvSpPr>
        <p:spPr bwMode="auto">
          <a:xfrm>
            <a:off x="3048000" y="2363788"/>
            <a:ext cx="0" cy="1524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347" name="Line 56"/>
          <p:cNvSpPr>
            <a:spLocks noChangeShapeType="1"/>
          </p:cNvSpPr>
          <p:nvPr/>
        </p:nvSpPr>
        <p:spPr bwMode="auto">
          <a:xfrm flipH="1">
            <a:off x="3048000" y="3887788"/>
            <a:ext cx="228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stealth" w="med" len="med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348" name="Line 57"/>
          <p:cNvSpPr>
            <a:spLocks noChangeShapeType="1"/>
          </p:cNvSpPr>
          <p:nvPr/>
        </p:nvSpPr>
        <p:spPr bwMode="auto">
          <a:xfrm flipH="1">
            <a:off x="2590800" y="2211388"/>
            <a:ext cx="685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349" name="Line 58"/>
          <p:cNvSpPr>
            <a:spLocks noChangeShapeType="1"/>
          </p:cNvSpPr>
          <p:nvPr/>
        </p:nvSpPr>
        <p:spPr bwMode="auto">
          <a:xfrm>
            <a:off x="2590800" y="2211388"/>
            <a:ext cx="0" cy="2895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350" name="Line 59"/>
          <p:cNvSpPr>
            <a:spLocks noChangeShapeType="1"/>
          </p:cNvSpPr>
          <p:nvPr/>
        </p:nvSpPr>
        <p:spPr bwMode="auto">
          <a:xfrm flipH="1">
            <a:off x="2590800" y="5106988"/>
            <a:ext cx="762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351" name="Line 60"/>
          <p:cNvSpPr>
            <a:spLocks noChangeShapeType="1"/>
          </p:cNvSpPr>
          <p:nvPr/>
        </p:nvSpPr>
        <p:spPr bwMode="auto">
          <a:xfrm flipH="1">
            <a:off x="3276600" y="5106988"/>
            <a:ext cx="381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stealth" w="med" len="med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352" name="Oval 61"/>
          <p:cNvSpPr>
            <a:spLocks noChangeArrowheads="1"/>
          </p:cNvSpPr>
          <p:nvPr/>
        </p:nvSpPr>
        <p:spPr bwMode="auto">
          <a:xfrm>
            <a:off x="3398838" y="3900488"/>
            <a:ext cx="63500" cy="63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zh-CN" sz="1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353" name="Oval 62"/>
          <p:cNvSpPr>
            <a:spLocks noChangeArrowheads="1"/>
          </p:cNvSpPr>
          <p:nvPr/>
        </p:nvSpPr>
        <p:spPr bwMode="auto">
          <a:xfrm>
            <a:off x="3927475" y="3900488"/>
            <a:ext cx="63500" cy="63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zh-CN" sz="1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354" name="Oval 63"/>
          <p:cNvSpPr>
            <a:spLocks noChangeArrowheads="1"/>
          </p:cNvSpPr>
          <p:nvPr/>
        </p:nvSpPr>
        <p:spPr bwMode="auto">
          <a:xfrm>
            <a:off x="4932363" y="3900488"/>
            <a:ext cx="63500" cy="63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zh-CN" sz="1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355" name="Oval 64"/>
          <p:cNvSpPr>
            <a:spLocks noChangeArrowheads="1"/>
          </p:cNvSpPr>
          <p:nvPr/>
        </p:nvSpPr>
        <p:spPr bwMode="auto">
          <a:xfrm>
            <a:off x="5819775" y="3900488"/>
            <a:ext cx="63500" cy="63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zh-CN" sz="1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356" name="Oval 65"/>
          <p:cNvSpPr>
            <a:spLocks noChangeArrowheads="1"/>
          </p:cNvSpPr>
          <p:nvPr/>
        </p:nvSpPr>
        <p:spPr bwMode="auto">
          <a:xfrm>
            <a:off x="6850063" y="3900488"/>
            <a:ext cx="63500" cy="63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zh-CN" sz="1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357" name="Oval 66"/>
          <p:cNvSpPr>
            <a:spLocks noChangeArrowheads="1"/>
          </p:cNvSpPr>
          <p:nvPr/>
        </p:nvSpPr>
        <p:spPr bwMode="auto">
          <a:xfrm>
            <a:off x="7670800" y="3900488"/>
            <a:ext cx="63500" cy="63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zh-CN" sz="1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358" name="Line 67"/>
          <p:cNvSpPr>
            <a:spLocks noChangeShapeType="1"/>
          </p:cNvSpPr>
          <p:nvPr/>
        </p:nvSpPr>
        <p:spPr bwMode="auto">
          <a:xfrm>
            <a:off x="3429000" y="5183188"/>
            <a:ext cx="0" cy="457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359" name="Line 68"/>
          <p:cNvSpPr>
            <a:spLocks noChangeShapeType="1"/>
          </p:cNvSpPr>
          <p:nvPr/>
        </p:nvSpPr>
        <p:spPr bwMode="auto">
          <a:xfrm>
            <a:off x="6553200" y="2058988"/>
            <a:ext cx="0" cy="304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360" name="Line 69"/>
          <p:cNvSpPr>
            <a:spLocks noChangeShapeType="1"/>
          </p:cNvSpPr>
          <p:nvPr/>
        </p:nvSpPr>
        <p:spPr bwMode="auto">
          <a:xfrm flipH="1">
            <a:off x="6553200" y="2363788"/>
            <a:ext cx="2590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361" name="Line 70"/>
          <p:cNvSpPr>
            <a:spLocks noChangeShapeType="1"/>
          </p:cNvSpPr>
          <p:nvPr/>
        </p:nvSpPr>
        <p:spPr bwMode="auto">
          <a:xfrm>
            <a:off x="9144000" y="2363788"/>
            <a:ext cx="0" cy="3581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362" name="Line 71"/>
          <p:cNvSpPr>
            <a:spLocks noChangeShapeType="1"/>
          </p:cNvSpPr>
          <p:nvPr/>
        </p:nvSpPr>
        <p:spPr bwMode="auto">
          <a:xfrm flipH="1">
            <a:off x="6781800" y="5945188"/>
            <a:ext cx="2362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363" name="Line 72"/>
          <p:cNvSpPr>
            <a:spLocks noChangeShapeType="1"/>
          </p:cNvSpPr>
          <p:nvPr/>
        </p:nvSpPr>
        <p:spPr bwMode="auto">
          <a:xfrm flipH="1">
            <a:off x="2667000" y="2135188"/>
            <a:ext cx="152400" cy="152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364" name="Line 73"/>
          <p:cNvSpPr>
            <a:spLocks noChangeShapeType="1"/>
          </p:cNvSpPr>
          <p:nvPr/>
        </p:nvSpPr>
        <p:spPr bwMode="auto">
          <a:xfrm flipH="1">
            <a:off x="4724400" y="2287588"/>
            <a:ext cx="152400" cy="152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365" name="Line 74"/>
          <p:cNvSpPr>
            <a:spLocks noChangeShapeType="1"/>
          </p:cNvSpPr>
          <p:nvPr/>
        </p:nvSpPr>
        <p:spPr bwMode="auto">
          <a:xfrm flipH="1">
            <a:off x="7239000" y="2287588"/>
            <a:ext cx="152400" cy="152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366" name="Line 75"/>
          <p:cNvSpPr>
            <a:spLocks noChangeShapeType="1"/>
          </p:cNvSpPr>
          <p:nvPr/>
        </p:nvSpPr>
        <p:spPr bwMode="auto">
          <a:xfrm flipH="1">
            <a:off x="3886200" y="4573588"/>
            <a:ext cx="152400" cy="152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367" name="Rectangle 76"/>
          <p:cNvSpPr>
            <a:spLocks noChangeArrowheads="1"/>
          </p:cNvSpPr>
          <p:nvPr/>
        </p:nvSpPr>
        <p:spPr bwMode="auto">
          <a:xfrm>
            <a:off x="2574925" y="2241550"/>
            <a:ext cx="357470" cy="4007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 t</a:t>
            </a:r>
          </a:p>
        </p:txBody>
      </p:sp>
      <p:sp>
        <p:nvSpPr>
          <p:cNvPr id="55368" name="Rectangle 77"/>
          <p:cNvSpPr>
            <a:spLocks noChangeArrowheads="1"/>
          </p:cNvSpPr>
          <p:nvPr/>
        </p:nvSpPr>
        <p:spPr bwMode="auto">
          <a:xfrm>
            <a:off x="4632325" y="2393950"/>
            <a:ext cx="400751" cy="4007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 k</a:t>
            </a:r>
          </a:p>
        </p:txBody>
      </p:sp>
      <p:sp>
        <p:nvSpPr>
          <p:cNvPr id="55369" name="Rectangle 78"/>
          <p:cNvSpPr>
            <a:spLocks noChangeArrowheads="1"/>
          </p:cNvSpPr>
          <p:nvPr/>
        </p:nvSpPr>
        <p:spPr bwMode="auto">
          <a:xfrm>
            <a:off x="7146926" y="2393950"/>
            <a:ext cx="436017" cy="4007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 b</a:t>
            </a:r>
          </a:p>
        </p:txBody>
      </p:sp>
      <p:sp>
        <p:nvSpPr>
          <p:cNvPr id="55370" name="Rectangle 79"/>
          <p:cNvSpPr>
            <a:spLocks noChangeArrowheads="1"/>
          </p:cNvSpPr>
          <p:nvPr/>
        </p:nvSpPr>
        <p:spPr bwMode="auto">
          <a:xfrm>
            <a:off x="4022725" y="4527550"/>
            <a:ext cx="357470" cy="4007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 t</a:t>
            </a:r>
          </a:p>
        </p:txBody>
      </p:sp>
      <p:sp>
        <p:nvSpPr>
          <p:cNvPr id="55371" name="Rectangle 80"/>
          <p:cNvSpPr>
            <a:spLocks noChangeArrowheads="1"/>
          </p:cNvSpPr>
          <p:nvPr/>
        </p:nvSpPr>
        <p:spPr bwMode="auto">
          <a:xfrm>
            <a:off x="2422526" y="6051550"/>
            <a:ext cx="607539" cy="4007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HIT</a:t>
            </a:r>
          </a:p>
        </p:txBody>
      </p:sp>
      <p:sp>
        <p:nvSpPr>
          <p:cNvPr id="55372" name="Rectangle 81"/>
          <p:cNvSpPr>
            <a:spLocks noChangeArrowheads="1"/>
          </p:cNvSpPr>
          <p:nvPr/>
        </p:nvSpPr>
        <p:spPr bwMode="auto">
          <a:xfrm>
            <a:off x="7375525" y="6127750"/>
            <a:ext cx="2460161" cy="4007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Data Word or Byte</a:t>
            </a:r>
          </a:p>
        </p:txBody>
      </p:sp>
      <p:sp>
        <p:nvSpPr>
          <p:cNvPr id="55373" name="Line 82"/>
          <p:cNvSpPr>
            <a:spLocks noChangeShapeType="1"/>
          </p:cNvSpPr>
          <p:nvPr/>
        </p:nvSpPr>
        <p:spPr bwMode="auto">
          <a:xfrm>
            <a:off x="8305800" y="2973388"/>
            <a:ext cx="0" cy="1524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med" len="med"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374" name="Rectangle 83"/>
          <p:cNvSpPr>
            <a:spLocks noChangeArrowheads="1"/>
          </p:cNvSpPr>
          <p:nvPr/>
        </p:nvSpPr>
        <p:spPr bwMode="auto">
          <a:xfrm>
            <a:off x="8289926" y="3536950"/>
            <a:ext cx="774251" cy="7085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  2</a:t>
            </a:r>
            <a:r>
              <a:rPr lang="en-US" altLang="zh-CN" sz="2000" baseline="30000"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lines</a:t>
            </a:r>
          </a:p>
        </p:txBody>
      </p:sp>
      <p:sp>
        <p:nvSpPr>
          <p:cNvPr id="55375" name="Text Box 4"/>
          <p:cNvSpPr txBox="1">
            <a:spLocks noChangeArrowheads="1"/>
          </p:cNvSpPr>
          <p:nvPr/>
        </p:nvSpPr>
        <p:spPr bwMode="auto">
          <a:xfrm>
            <a:off x="2495550" y="549275"/>
            <a:ext cx="7488238" cy="5909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buNone/>
            </a:pPr>
            <a:r>
              <a:rPr kumimoji="1" lang="zh-CN" altLang="en-US" sz="3600" dirty="0">
                <a:latin typeface="微软雅黑" pitchFamily="34" charset="-122"/>
                <a:ea typeface="微软雅黑" pitchFamily="34" charset="-122"/>
                <a:cs typeface="+mj-cs"/>
              </a:rPr>
              <a:t>直接映射</a:t>
            </a:r>
            <a:r>
              <a:rPr kumimoji="1" lang="en-US" altLang="zh-CN" sz="3600" dirty="0">
                <a:latin typeface="微软雅黑" pitchFamily="34" charset="-122"/>
                <a:ea typeface="微软雅黑" pitchFamily="34" charset="-122"/>
                <a:cs typeface="+mj-cs"/>
              </a:rPr>
              <a:t>Cache</a:t>
            </a:r>
            <a:endParaRPr kumimoji="1" lang="zh-CN" altLang="en-US" sz="3600" dirty="0">
              <a:latin typeface="微软雅黑" pitchFamily="34" charset="-122"/>
              <a:ea typeface="微软雅黑" pitchFamily="34" charset="-122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0114900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6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276D032-36CD-4C05-B829-8BD8C7EE3954}" type="slidenum">
              <a:rPr lang="zh-CN" altLang="en-US" sz="1400"/>
              <a:pPr>
                <a:spcBef>
                  <a:spcPct val="0"/>
                </a:spcBef>
                <a:buFontTx/>
                <a:buNone/>
              </a:pPr>
              <a:t>10</a:t>
            </a:fld>
            <a:endParaRPr lang="zh-CN" altLang="en-US" sz="1400"/>
          </a:p>
        </p:txBody>
      </p:sp>
      <p:sp>
        <p:nvSpPr>
          <p:cNvPr id="56323" name="Line 2"/>
          <p:cNvSpPr>
            <a:spLocks noChangeShapeType="1"/>
          </p:cNvSpPr>
          <p:nvPr/>
        </p:nvSpPr>
        <p:spPr bwMode="auto">
          <a:xfrm>
            <a:off x="3962400" y="5264150"/>
            <a:ext cx="0" cy="152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6324" name="Rectangle 3" descr="Large confetti"/>
          <p:cNvSpPr>
            <a:spLocks noChangeArrowheads="1"/>
          </p:cNvSpPr>
          <p:nvPr/>
        </p:nvSpPr>
        <p:spPr bwMode="auto">
          <a:xfrm>
            <a:off x="3282950" y="3670300"/>
            <a:ext cx="4864100" cy="368300"/>
          </a:xfrm>
          <a:prstGeom prst="rect">
            <a:avLst/>
          </a:prstGeom>
          <a:pattFill prst="lgConfetti">
            <a:fgClr>
              <a:schemeClr val="hlink"/>
            </a:fgClr>
            <a:bgClr>
              <a:srgbClr val="FFFFFF"/>
            </a:bgClr>
          </a:patt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zh-CN" sz="1800"/>
          </a:p>
        </p:txBody>
      </p:sp>
      <p:sp>
        <p:nvSpPr>
          <p:cNvPr id="56325" name="Rectangle 5"/>
          <p:cNvSpPr>
            <a:spLocks noChangeArrowheads="1"/>
          </p:cNvSpPr>
          <p:nvPr/>
        </p:nvSpPr>
        <p:spPr bwMode="auto">
          <a:xfrm>
            <a:off x="3289300" y="2914650"/>
            <a:ext cx="4851400" cy="14986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zh-CN" sz="1800"/>
          </a:p>
        </p:txBody>
      </p:sp>
      <p:sp>
        <p:nvSpPr>
          <p:cNvPr id="56326" name="Line 6"/>
          <p:cNvSpPr>
            <a:spLocks noChangeShapeType="1"/>
          </p:cNvSpPr>
          <p:nvPr/>
        </p:nvSpPr>
        <p:spPr bwMode="auto">
          <a:xfrm>
            <a:off x="3276600" y="3282950"/>
            <a:ext cx="4876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6327" name="Line 7"/>
          <p:cNvSpPr>
            <a:spLocks noChangeShapeType="1"/>
          </p:cNvSpPr>
          <p:nvPr/>
        </p:nvSpPr>
        <p:spPr bwMode="auto">
          <a:xfrm>
            <a:off x="3276600" y="3663950"/>
            <a:ext cx="4876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6328" name="Line 8"/>
          <p:cNvSpPr>
            <a:spLocks noChangeShapeType="1"/>
          </p:cNvSpPr>
          <p:nvPr/>
        </p:nvSpPr>
        <p:spPr bwMode="auto">
          <a:xfrm>
            <a:off x="3276600" y="4044950"/>
            <a:ext cx="4876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6329" name="Line 9"/>
          <p:cNvSpPr>
            <a:spLocks noChangeShapeType="1"/>
          </p:cNvSpPr>
          <p:nvPr/>
        </p:nvSpPr>
        <p:spPr bwMode="auto">
          <a:xfrm>
            <a:off x="4495800" y="2749550"/>
            <a:ext cx="0" cy="1676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6330" name="Line 10"/>
          <p:cNvSpPr>
            <a:spLocks noChangeShapeType="1"/>
          </p:cNvSpPr>
          <p:nvPr/>
        </p:nvSpPr>
        <p:spPr bwMode="auto">
          <a:xfrm>
            <a:off x="5410200" y="2901950"/>
            <a:ext cx="0" cy="1524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6331" name="Line 11"/>
          <p:cNvSpPr>
            <a:spLocks noChangeShapeType="1"/>
          </p:cNvSpPr>
          <p:nvPr/>
        </p:nvSpPr>
        <p:spPr bwMode="auto">
          <a:xfrm>
            <a:off x="3581400" y="2749550"/>
            <a:ext cx="0" cy="1676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6332" name="Rectangle 12"/>
          <p:cNvSpPr>
            <a:spLocks noChangeArrowheads="1"/>
          </p:cNvSpPr>
          <p:nvPr/>
        </p:nvSpPr>
        <p:spPr bwMode="auto">
          <a:xfrm>
            <a:off x="3565525" y="2551113"/>
            <a:ext cx="808298" cy="4007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>
                <a:latin typeface="Verdana" panose="020B0604030504040204" pitchFamily="34" charset="0"/>
              </a:rPr>
              <a:t>  Tag</a:t>
            </a:r>
          </a:p>
        </p:txBody>
      </p:sp>
      <p:sp>
        <p:nvSpPr>
          <p:cNvPr id="56333" name="Rectangle 13"/>
          <p:cNvSpPr>
            <a:spLocks noChangeArrowheads="1"/>
          </p:cNvSpPr>
          <p:nvPr/>
        </p:nvSpPr>
        <p:spPr bwMode="auto">
          <a:xfrm>
            <a:off x="5622925" y="2551113"/>
            <a:ext cx="1569340" cy="4007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>
                <a:latin typeface="Verdana" panose="020B0604030504040204" pitchFamily="34" charset="0"/>
              </a:rPr>
              <a:t>Data Block</a:t>
            </a:r>
          </a:p>
        </p:txBody>
      </p:sp>
      <p:sp>
        <p:nvSpPr>
          <p:cNvPr id="56334" name="Rectangle 14"/>
          <p:cNvSpPr>
            <a:spLocks noChangeArrowheads="1"/>
          </p:cNvSpPr>
          <p:nvPr/>
        </p:nvSpPr>
        <p:spPr bwMode="auto">
          <a:xfrm>
            <a:off x="3108325" y="2551113"/>
            <a:ext cx="540212" cy="4007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>
                <a:latin typeface="Verdana" panose="020B0604030504040204" pitchFamily="34" charset="0"/>
              </a:rPr>
              <a:t>  V</a:t>
            </a:r>
          </a:p>
        </p:txBody>
      </p:sp>
      <p:sp>
        <p:nvSpPr>
          <p:cNvPr id="56335" name="Line 15"/>
          <p:cNvSpPr>
            <a:spLocks noChangeShapeType="1"/>
          </p:cNvSpPr>
          <p:nvPr/>
        </p:nvSpPr>
        <p:spPr bwMode="auto">
          <a:xfrm>
            <a:off x="6324600" y="2901950"/>
            <a:ext cx="0" cy="1524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6336" name="Line 16"/>
          <p:cNvSpPr>
            <a:spLocks noChangeShapeType="1"/>
          </p:cNvSpPr>
          <p:nvPr/>
        </p:nvSpPr>
        <p:spPr bwMode="auto">
          <a:xfrm>
            <a:off x="7239000" y="2901950"/>
            <a:ext cx="0" cy="1524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6337" name="Rectangle 17"/>
          <p:cNvSpPr>
            <a:spLocks noChangeArrowheads="1"/>
          </p:cNvSpPr>
          <p:nvPr/>
        </p:nvSpPr>
        <p:spPr bwMode="auto">
          <a:xfrm>
            <a:off x="2603500" y="1466850"/>
            <a:ext cx="4318000" cy="5080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zh-CN" sz="1800"/>
          </a:p>
        </p:txBody>
      </p:sp>
      <p:grpSp>
        <p:nvGrpSpPr>
          <p:cNvPr id="56338" name="Group 18"/>
          <p:cNvGrpSpPr>
            <a:grpSpLocks/>
          </p:cNvGrpSpPr>
          <p:nvPr/>
        </p:nvGrpSpPr>
        <p:grpSpPr bwMode="auto">
          <a:xfrm>
            <a:off x="3351214" y="5578476"/>
            <a:ext cx="325437" cy="473075"/>
            <a:chOff x="1151" y="3414"/>
            <a:chExt cx="205" cy="298"/>
          </a:xfrm>
        </p:grpSpPr>
        <p:sp>
          <p:nvSpPr>
            <p:cNvPr id="56400" name="Line 19"/>
            <p:cNvSpPr>
              <a:spLocks noChangeShapeType="1"/>
            </p:cNvSpPr>
            <p:nvPr/>
          </p:nvSpPr>
          <p:spPr bwMode="auto">
            <a:xfrm>
              <a:off x="1354" y="3414"/>
              <a:ext cx="0" cy="20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6401" name="Line 20"/>
            <p:cNvSpPr>
              <a:spLocks noChangeShapeType="1"/>
            </p:cNvSpPr>
            <p:nvPr/>
          </p:nvSpPr>
          <p:spPr bwMode="auto">
            <a:xfrm>
              <a:off x="1152" y="3414"/>
              <a:ext cx="0" cy="20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6402" name="Line 21"/>
            <p:cNvSpPr>
              <a:spLocks noChangeShapeType="1"/>
            </p:cNvSpPr>
            <p:nvPr/>
          </p:nvSpPr>
          <p:spPr bwMode="auto">
            <a:xfrm flipH="1">
              <a:off x="1153" y="3416"/>
              <a:ext cx="20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6403" name="Arc 22"/>
            <p:cNvSpPr>
              <a:spLocks/>
            </p:cNvSpPr>
            <p:nvPr/>
          </p:nvSpPr>
          <p:spPr bwMode="auto">
            <a:xfrm>
              <a:off x="1249" y="3617"/>
              <a:ext cx="107" cy="94"/>
            </a:xfrm>
            <a:custGeom>
              <a:avLst/>
              <a:gdLst>
                <a:gd name="T0" fmla="*/ 0 w 21805"/>
                <a:gd name="T1" fmla="*/ 0 h 21600"/>
                <a:gd name="T2" fmla="*/ 0 w 21805"/>
                <a:gd name="T3" fmla="*/ 0 h 21600"/>
                <a:gd name="T4" fmla="*/ 0 w 21805"/>
                <a:gd name="T5" fmla="*/ 0 h 21600"/>
                <a:gd name="T6" fmla="*/ 0 60000 65536"/>
                <a:gd name="T7" fmla="*/ 0 60000 65536"/>
                <a:gd name="T8" fmla="*/ 0 60000 65536"/>
                <a:gd name="T9" fmla="*/ 0 w 21805"/>
                <a:gd name="T10" fmla="*/ 0 h 21600"/>
                <a:gd name="T11" fmla="*/ 21805 w 21805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805" h="21600" fill="none" extrusionOk="0">
                  <a:moveTo>
                    <a:pt x="21805" y="0"/>
                  </a:moveTo>
                  <a:cubicBezTo>
                    <a:pt x="21805" y="11929"/>
                    <a:pt x="12134" y="21600"/>
                    <a:pt x="205" y="21600"/>
                  </a:cubicBezTo>
                  <a:cubicBezTo>
                    <a:pt x="136" y="21599"/>
                    <a:pt x="68" y="21599"/>
                    <a:pt x="-1" y="21599"/>
                  </a:cubicBezTo>
                </a:path>
                <a:path w="21805" h="21600" stroke="0" extrusionOk="0">
                  <a:moveTo>
                    <a:pt x="21805" y="0"/>
                  </a:moveTo>
                  <a:cubicBezTo>
                    <a:pt x="21805" y="11929"/>
                    <a:pt x="12134" y="21600"/>
                    <a:pt x="205" y="21600"/>
                  </a:cubicBezTo>
                  <a:cubicBezTo>
                    <a:pt x="136" y="21599"/>
                    <a:pt x="68" y="21599"/>
                    <a:pt x="-1" y="21599"/>
                  </a:cubicBezTo>
                  <a:lnTo>
                    <a:pt x="205" y="0"/>
                  </a:lnTo>
                  <a:lnTo>
                    <a:pt x="21805" y="0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6404" name="Arc 23"/>
            <p:cNvSpPr>
              <a:spLocks/>
            </p:cNvSpPr>
            <p:nvPr/>
          </p:nvSpPr>
          <p:spPr bwMode="auto">
            <a:xfrm>
              <a:off x="1151" y="3618"/>
              <a:ext cx="106" cy="94"/>
            </a:xfrm>
            <a:custGeom>
              <a:avLst/>
              <a:gdLst>
                <a:gd name="T0" fmla="*/ 0 w 21600"/>
                <a:gd name="T1" fmla="*/ 0 h 21599"/>
                <a:gd name="T2" fmla="*/ 0 w 21600"/>
                <a:gd name="T3" fmla="*/ 0 h 21599"/>
                <a:gd name="T4" fmla="*/ 0 w 21600"/>
                <a:gd name="T5" fmla="*/ 0 h 21599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599"/>
                <a:gd name="T11" fmla="*/ 21600 w 21600"/>
                <a:gd name="T12" fmla="*/ 21599 h 2159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599" fill="none" extrusionOk="0">
                  <a:moveTo>
                    <a:pt x="21394" y="21599"/>
                  </a:moveTo>
                  <a:cubicBezTo>
                    <a:pt x="9546" y="21486"/>
                    <a:pt x="-1" y="11849"/>
                    <a:pt x="-1" y="-1"/>
                  </a:cubicBezTo>
                </a:path>
                <a:path w="21600" h="21599" stroke="0" extrusionOk="0">
                  <a:moveTo>
                    <a:pt x="21394" y="21599"/>
                  </a:moveTo>
                  <a:cubicBezTo>
                    <a:pt x="9546" y="21486"/>
                    <a:pt x="-1" y="11849"/>
                    <a:pt x="-1" y="-1"/>
                  </a:cubicBezTo>
                  <a:lnTo>
                    <a:pt x="21600" y="0"/>
                  </a:lnTo>
                  <a:lnTo>
                    <a:pt x="21394" y="21599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56339" name="AutoShape 24"/>
          <p:cNvSpPr>
            <a:spLocks noChangeArrowheads="1"/>
          </p:cNvSpPr>
          <p:nvPr/>
        </p:nvSpPr>
        <p:spPr bwMode="auto">
          <a:xfrm rot="10800000" flipH="1" flipV="1">
            <a:off x="5803900" y="5735638"/>
            <a:ext cx="1117600" cy="277812"/>
          </a:xfrm>
          <a:custGeom>
            <a:avLst/>
            <a:gdLst>
              <a:gd name="T0" fmla="*/ 2147483646 w 21600"/>
              <a:gd name="T1" fmla="*/ 2147483646 h 21600"/>
              <a:gd name="T2" fmla="*/ 2147483646 w 21600"/>
              <a:gd name="T3" fmla="*/ 2147483646 h 21600"/>
              <a:gd name="T4" fmla="*/ 2147483646 w 21600"/>
              <a:gd name="T5" fmla="*/ 2147483646 h 21600"/>
              <a:gd name="T6" fmla="*/ 2147483646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00 w 21600"/>
              <a:gd name="T13" fmla="*/ 4500 h 21600"/>
              <a:gd name="T14" fmla="*/ 17100 w 21600"/>
              <a:gd name="T15" fmla="*/ 171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399" y="21600"/>
                </a:lnTo>
                <a:lnTo>
                  <a:pt x="16201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6340" name="Oval 25"/>
          <p:cNvSpPr>
            <a:spLocks noChangeArrowheads="1"/>
          </p:cNvSpPr>
          <p:nvPr/>
        </p:nvSpPr>
        <p:spPr bwMode="auto">
          <a:xfrm>
            <a:off x="3697288" y="4819650"/>
            <a:ext cx="508000" cy="508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zh-CN" sz="1800"/>
          </a:p>
        </p:txBody>
      </p:sp>
      <p:sp>
        <p:nvSpPr>
          <p:cNvPr id="56341" name="Rectangle 26"/>
          <p:cNvSpPr>
            <a:spLocks noChangeArrowheads="1"/>
          </p:cNvSpPr>
          <p:nvPr/>
        </p:nvSpPr>
        <p:spPr bwMode="auto">
          <a:xfrm>
            <a:off x="3730625" y="4875213"/>
            <a:ext cx="485710" cy="4007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>
                <a:latin typeface="Verdana" panose="020B0604030504040204" pitchFamily="34" charset="0"/>
              </a:rPr>
              <a:t> =</a:t>
            </a:r>
          </a:p>
        </p:txBody>
      </p:sp>
      <p:sp>
        <p:nvSpPr>
          <p:cNvPr id="56342" name="Rectangle 27"/>
          <p:cNvSpPr>
            <a:spLocks noChangeArrowheads="1"/>
          </p:cNvSpPr>
          <p:nvPr/>
        </p:nvSpPr>
        <p:spPr bwMode="auto">
          <a:xfrm>
            <a:off x="6156326" y="1452564"/>
            <a:ext cx="880049" cy="6469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>
                <a:latin typeface="Verdana" panose="020B0604030504040204" pitchFamily="34" charset="0"/>
              </a:rPr>
              <a:t>Block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>
                <a:latin typeface="Verdana" panose="020B0604030504040204" pitchFamily="34" charset="0"/>
              </a:rPr>
              <a:t>Offset</a:t>
            </a:r>
          </a:p>
        </p:txBody>
      </p:sp>
      <p:sp>
        <p:nvSpPr>
          <p:cNvPr id="56343" name="Line 28"/>
          <p:cNvSpPr>
            <a:spLocks noChangeShapeType="1"/>
          </p:cNvSpPr>
          <p:nvPr/>
        </p:nvSpPr>
        <p:spPr bwMode="auto">
          <a:xfrm>
            <a:off x="6172200" y="1454150"/>
            <a:ext cx="0" cy="533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6344" name="Line 29"/>
          <p:cNvSpPr>
            <a:spLocks noChangeShapeType="1"/>
          </p:cNvSpPr>
          <p:nvPr/>
        </p:nvSpPr>
        <p:spPr bwMode="auto">
          <a:xfrm>
            <a:off x="4343400" y="1466850"/>
            <a:ext cx="0" cy="533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6345" name="Rectangle 30"/>
          <p:cNvSpPr>
            <a:spLocks noChangeArrowheads="1"/>
          </p:cNvSpPr>
          <p:nvPr/>
        </p:nvSpPr>
        <p:spPr bwMode="auto">
          <a:xfrm>
            <a:off x="2917826" y="1497013"/>
            <a:ext cx="937757" cy="4007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>
                <a:latin typeface="Verdana" panose="020B0604030504040204" pitchFamily="34" charset="0"/>
              </a:rPr>
              <a:t> </a:t>
            </a:r>
            <a:r>
              <a:rPr lang="en-US" altLang="zh-CN" sz="1800">
                <a:latin typeface="Verdana" panose="020B0604030504040204" pitchFamily="34" charset="0"/>
              </a:rPr>
              <a:t>Index</a:t>
            </a:r>
            <a:endParaRPr lang="en-US" altLang="zh-CN" sz="2000">
              <a:latin typeface="Verdana" panose="020B0604030504040204" pitchFamily="34" charset="0"/>
            </a:endParaRPr>
          </a:p>
        </p:txBody>
      </p:sp>
      <p:sp>
        <p:nvSpPr>
          <p:cNvPr id="56346" name="Line 31"/>
          <p:cNvSpPr>
            <a:spLocks noChangeShapeType="1"/>
          </p:cNvSpPr>
          <p:nvPr/>
        </p:nvSpPr>
        <p:spPr bwMode="auto">
          <a:xfrm>
            <a:off x="3429000" y="3892550"/>
            <a:ext cx="0" cy="1066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6347" name="Line 32"/>
          <p:cNvSpPr>
            <a:spLocks noChangeShapeType="1"/>
          </p:cNvSpPr>
          <p:nvPr/>
        </p:nvSpPr>
        <p:spPr bwMode="auto">
          <a:xfrm>
            <a:off x="3962400" y="3892550"/>
            <a:ext cx="0" cy="914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6348" name="Line 33"/>
          <p:cNvSpPr>
            <a:spLocks noChangeShapeType="1"/>
          </p:cNvSpPr>
          <p:nvPr/>
        </p:nvSpPr>
        <p:spPr bwMode="auto">
          <a:xfrm>
            <a:off x="3505200" y="6026150"/>
            <a:ext cx="0" cy="152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6349" name="Line 34"/>
          <p:cNvSpPr>
            <a:spLocks noChangeShapeType="1"/>
          </p:cNvSpPr>
          <p:nvPr/>
        </p:nvSpPr>
        <p:spPr bwMode="auto">
          <a:xfrm flipH="1">
            <a:off x="2971800" y="6178550"/>
            <a:ext cx="533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6350" name="Line 35"/>
          <p:cNvSpPr>
            <a:spLocks noChangeShapeType="1"/>
          </p:cNvSpPr>
          <p:nvPr/>
        </p:nvSpPr>
        <p:spPr bwMode="auto">
          <a:xfrm flipH="1">
            <a:off x="3581400" y="5416550"/>
            <a:ext cx="381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6351" name="Line 36"/>
          <p:cNvSpPr>
            <a:spLocks noChangeShapeType="1"/>
          </p:cNvSpPr>
          <p:nvPr/>
        </p:nvSpPr>
        <p:spPr bwMode="auto">
          <a:xfrm>
            <a:off x="3581400" y="5416550"/>
            <a:ext cx="0" cy="152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6352" name="Line 37"/>
          <p:cNvSpPr>
            <a:spLocks noChangeShapeType="1"/>
          </p:cNvSpPr>
          <p:nvPr/>
        </p:nvSpPr>
        <p:spPr bwMode="auto">
          <a:xfrm>
            <a:off x="4964113" y="3892550"/>
            <a:ext cx="0" cy="1371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6353" name="Line 38"/>
          <p:cNvSpPr>
            <a:spLocks noChangeShapeType="1"/>
          </p:cNvSpPr>
          <p:nvPr/>
        </p:nvSpPr>
        <p:spPr bwMode="auto">
          <a:xfrm flipH="1">
            <a:off x="4953000" y="5264150"/>
            <a:ext cx="914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6354" name="Line 39"/>
          <p:cNvSpPr>
            <a:spLocks noChangeShapeType="1"/>
          </p:cNvSpPr>
          <p:nvPr/>
        </p:nvSpPr>
        <p:spPr bwMode="auto">
          <a:xfrm>
            <a:off x="5867400" y="5264150"/>
            <a:ext cx="0" cy="457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6355" name="Line 40"/>
          <p:cNvSpPr>
            <a:spLocks noChangeShapeType="1"/>
          </p:cNvSpPr>
          <p:nvPr/>
        </p:nvSpPr>
        <p:spPr bwMode="auto">
          <a:xfrm>
            <a:off x="5851525" y="3892550"/>
            <a:ext cx="0" cy="1143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6356" name="Line 41"/>
          <p:cNvSpPr>
            <a:spLocks noChangeShapeType="1"/>
          </p:cNvSpPr>
          <p:nvPr/>
        </p:nvSpPr>
        <p:spPr bwMode="auto">
          <a:xfrm flipH="1">
            <a:off x="5867400" y="5035550"/>
            <a:ext cx="304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6357" name="Line 42"/>
          <p:cNvSpPr>
            <a:spLocks noChangeShapeType="1"/>
          </p:cNvSpPr>
          <p:nvPr/>
        </p:nvSpPr>
        <p:spPr bwMode="auto">
          <a:xfrm>
            <a:off x="6172200" y="5035550"/>
            <a:ext cx="0" cy="685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6358" name="Line 43"/>
          <p:cNvSpPr>
            <a:spLocks noChangeShapeType="1"/>
          </p:cNvSpPr>
          <p:nvPr/>
        </p:nvSpPr>
        <p:spPr bwMode="auto">
          <a:xfrm>
            <a:off x="6553200" y="5035550"/>
            <a:ext cx="0" cy="685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6359" name="Line 44"/>
          <p:cNvSpPr>
            <a:spLocks noChangeShapeType="1"/>
          </p:cNvSpPr>
          <p:nvPr/>
        </p:nvSpPr>
        <p:spPr bwMode="auto">
          <a:xfrm>
            <a:off x="6858000" y="5264150"/>
            <a:ext cx="0" cy="457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6360" name="Line 45"/>
          <p:cNvSpPr>
            <a:spLocks noChangeShapeType="1"/>
          </p:cNvSpPr>
          <p:nvPr/>
        </p:nvSpPr>
        <p:spPr bwMode="auto">
          <a:xfrm flipH="1">
            <a:off x="6553200" y="5035550"/>
            <a:ext cx="304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6361" name="Line 46"/>
          <p:cNvSpPr>
            <a:spLocks noChangeShapeType="1"/>
          </p:cNvSpPr>
          <p:nvPr/>
        </p:nvSpPr>
        <p:spPr bwMode="auto">
          <a:xfrm flipH="1">
            <a:off x="6858000" y="5264150"/>
            <a:ext cx="838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6362" name="Line 47"/>
          <p:cNvSpPr>
            <a:spLocks noChangeShapeType="1"/>
          </p:cNvSpPr>
          <p:nvPr/>
        </p:nvSpPr>
        <p:spPr bwMode="auto">
          <a:xfrm>
            <a:off x="6881813" y="3892550"/>
            <a:ext cx="0" cy="1143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6363" name="Line 48"/>
          <p:cNvSpPr>
            <a:spLocks noChangeShapeType="1"/>
          </p:cNvSpPr>
          <p:nvPr/>
        </p:nvSpPr>
        <p:spPr bwMode="auto">
          <a:xfrm>
            <a:off x="7702550" y="3892550"/>
            <a:ext cx="0" cy="1371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6364" name="Line 49"/>
          <p:cNvSpPr>
            <a:spLocks noChangeShapeType="1"/>
          </p:cNvSpPr>
          <p:nvPr/>
        </p:nvSpPr>
        <p:spPr bwMode="auto">
          <a:xfrm>
            <a:off x="6400800" y="6026150"/>
            <a:ext cx="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6365" name="Line 50"/>
          <p:cNvSpPr>
            <a:spLocks noChangeShapeType="1"/>
          </p:cNvSpPr>
          <p:nvPr/>
        </p:nvSpPr>
        <p:spPr bwMode="auto">
          <a:xfrm flipH="1">
            <a:off x="6400800" y="6254750"/>
            <a:ext cx="990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stealth" w="med" len="lg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6366" name="Line 51"/>
          <p:cNvSpPr>
            <a:spLocks noChangeShapeType="1"/>
          </p:cNvSpPr>
          <p:nvPr/>
        </p:nvSpPr>
        <p:spPr bwMode="auto">
          <a:xfrm>
            <a:off x="3492500" y="1962150"/>
            <a:ext cx="0" cy="1651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6367" name="Line 52"/>
          <p:cNvSpPr>
            <a:spLocks noChangeShapeType="1"/>
          </p:cNvSpPr>
          <p:nvPr/>
        </p:nvSpPr>
        <p:spPr bwMode="auto">
          <a:xfrm flipH="1" flipV="1">
            <a:off x="3035300" y="2127250"/>
            <a:ext cx="444500" cy="127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6368" name="Line 53"/>
          <p:cNvSpPr>
            <a:spLocks noChangeShapeType="1"/>
          </p:cNvSpPr>
          <p:nvPr/>
        </p:nvSpPr>
        <p:spPr bwMode="auto">
          <a:xfrm>
            <a:off x="5181600" y="1974850"/>
            <a:ext cx="0" cy="4953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6369" name="Line 54"/>
          <p:cNvSpPr>
            <a:spLocks noChangeShapeType="1"/>
          </p:cNvSpPr>
          <p:nvPr/>
        </p:nvSpPr>
        <p:spPr bwMode="auto">
          <a:xfrm>
            <a:off x="3048000" y="2139950"/>
            <a:ext cx="0" cy="1676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6370" name="Line 55"/>
          <p:cNvSpPr>
            <a:spLocks noChangeShapeType="1"/>
          </p:cNvSpPr>
          <p:nvPr/>
        </p:nvSpPr>
        <p:spPr bwMode="auto">
          <a:xfrm flipH="1">
            <a:off x="3048000" y="3816350"/>
            <a:ext cx="228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stealth" w="med" len="med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6371" name="Line 56"/>
          <p:cNvSpPr>
            <a:spLocks noChangeShapeType="1"/>
          </p:cNvSpPr>
          <p:nvPr/>
        </p:nvSpPr>
        <p:spPr bwMode="auto">
          <a:xfrm flipH="1">
            <a:off x="2578100" y="2457450"/>
            <a:ext cx="2616200" cy="127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6372" name="Line 57"/>
          <p:cNvSpPr>
            <a:spLocks noChangeShapeType="1"/>
          </p:cNvSpPr>
          <p:nvPr/>
        </p:nvSpPr>
        <p:spPr bwMode="auto">
          <a:xfrm>
            <a:off x="2590800" y="2457450"/>
            <a:ext cx="0" cy="25781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6373" name="Line 58"/>
          <p:cNvSpPr>
            <a:spLocks noChangeShapeType="1"/>
          </p:cNvSpPr>
          <p:nvPr/>
        </p:nvSpPr>
        <p:spPr bwMode="auto">
          <a:xfrm flipH="1">
            <a:off x="2590800" y="5035550"/>
            <a:ext cx="762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6374" name="Line 59"/>
          <p:cNvSpPr>
            <a:spLocks noChangeShapeType="1"/>
          </p:cNvSpPr>
          <p:nvPr/>
        </p:nvSpPr>
        <p:spPr bwMode="auto">
          <a:xfrm flipH="1">
            <a:off x="3276600" y="5035550"/>
            <a:ext cx="381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stealth" w="med" len="med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6375" name="Oval 60"/>
          <p:cNvSpPr>
            <a:spLocks noChangeArrowheads="1"/>
          </p:cNvSpPr>
          <p:nvPr/>
        </p:nvSpPr>
        <p:spPr bwMode="auto">
          <a:xfrm>
            <a:off x="3398838" y="3829050"/>
            <a:ext cx="63500" cy="63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zh-CN" sz="1800"/>
          </a:p>
        </p:txBody>
      </p:sp>
      <p:sp>
        <p:nvSpPr>
          <p:cNvPr id="56376" name="Oval 61"/>
          <p:cNvSpPr>
            <a:spLocks noChangeArrowheads="1"/>
          </p:cNvSpPr>
          <p:nvPr/>
        </p:nvSpPr>
        <p:spPr bwMode="auto">
          <a:xfrm>
            <a:off x="3927475" y="3829050"/>
            <a:ext cx="63500" cy="63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zh-CN" sz="1800"/>
          </a:p>
        </p:txBody>
      </p:sp>
      <p:sp>
        <p:nvSpPr>
          <p:cNvPr id="56377" name="Oval 62"/>
          <p:cNvSpPr>
            <a:spLocks noChangeArrowheads="1"/>
          </p:cNvSpPr>
          <p:nvPr/>
        </p:nvSpPr>
        <p:spPr bwMode="auto">
          <a:xfrm>
            <a:off x="4932363" y="3829050"/>
            <a:ext cx="63500" cy="63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zh-CN" sz="1800"/>
          </a:p>
        </p:txBody>
      </p:sp>
      <p:sp>
        <p:nvSpPr>
          <p:cNvPr id="56378" name="Oval 63"/>
          <p:cNvSpPr>
            <a:spLocks noChangeArrowheads="1"/>
          </p:cNvSpPr>
          <p:nvPr/>
        </p:nvSpPr>
        <p:spPr bwMode="auto">
          <a:xfrm>
            <a:off x="5819775" y="3829050"/>
            <a:ext cx="63500" cy="63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zh-CN" sz="1800"/>
          </a:p>
        </p:txBody>
      </p:sp>
      <p:sp>
        <p:nvSpPr>
          <p:cNvPr id="56379" name="Oval 64"/>
          <p:cNvSpPr>
            <a:spLocks noChangeArrowheads="1"/>
          </p:cNvSpPr>
          <p:nvPr/>
        </p:nvSpPr>
        <p:spPr bwMode="auto">
          <a:xfrm>
            <a:off x="6850063" y="3829050"/>
            <a:ext cx="63500" cy="63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zh-CN" sz="1800"/>
          </a:p>
        </p:txBody>
      </p:sp>
      <p:sp>
        <p:nvSpPr>
          <p:cNvPr id="56380" name="Oval 65"/>
          <p:cNvSpPr>
            <a:spLocks noChangeArrowheads="1"/>
          </p:cNvSpPr>
          <p:nvPr/>
        </p:nvSpPr>
        <p:spPr bwMode="auto">
          <a:xfrm>
            <a:off x="7670800" y="3829050"/>
            <a:ext cx="63500" cy="63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zh-CN" sz="1800"/>
          </a:p>
        </p:txBody>
      </p:sp>
      <p:sp>
        <p:nvSpPr>
          <p:cNvPr id="56381" name="Line 66"/>
          <p:cNvSpPr>
            <a:spLocks noChangeShapeType="1"/>
          </p:cNvSpPr>
          <p:nvPr/>
        </p:nvSpPr>
        <p:spPr bwMode="auto">
          <a:xfrm>
            <a:off x="3429000" y="5111750"/>
            <a:ext cx="0" cy="457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6382" name="Line 67"/>
          <p:cNvSpPr>
            <a:spLocks noChangeShapeType="1"/>
          </p:cNvSpPr>
          <p:nvPr/>
        </p:nvSpPr>
        <p:spPr bwMode="auto">
          <a:xfrm>
            <a:off x="6553200" y="1987550"/>
            <a:ext cx="0" cy="304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6383" name="Line 68"/>
          <p:cNvSpPr>
            <a:spLocks noChangeShapeType="1"/>
          </p:cNvSpPr>
          <p:nvPr/>
        </p:nvSpPr>
        <p:spPr bwMode="auto">
          <a:xfrm flipH="1">
            <a:off x="6553200" y="2292350"/>
            <a:ext cx="2590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6384" name="Line 69"/>
          <p:cNvSpPr>
            <a:spLocks noChangeShapeType="1"/>
          </p:cNvSpPr>
          <p:nvPr/>
        </p:nvSpPr>
        <p:spPr bwMode="auto">
          <a:xfrm>
            <a:off x="9144000" y="2292350"/>
            <a:ext cx="0" cy="3581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6385" name="Line 70"/>
          <p:cNvSpPr>
            <a:spLocks noChangeShapeType="1"/>
          </p:cNvSpPr>
          <p:nvPr/>
        </p:nvSpPr>
        <p:spPr bwMode="auto">
          <a:xfrm flipH="1">
            <a:off x="6781800" y="5873750"/>
            <a:ext cx="2362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6386" name="Line 71"/>
          <p:cNvSpPr>
            <a:spLocks noChangeShapeType="1"/>
          </p:cNvSpPr>
          <p:nvPr/>
        </p:nvSpPr>
        <p:spPr bwMode="auto">
          <a:xfrm flipH="1">
            <a:off x="4546600" y="2393950"/>
            <a:ext cx="152400" cy="152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6387" name="Line 72"/>
          <p:cNvSpPr>
            <a:spLocks noChangeShapeType="1"/>
          </p:cNvSpPr>
          <p:nvPr/>
        </p:nvSpPr>
        <p:spPr bwMode="auto">
          <a:xfrm flipH="1">
            <a:off x="3200400" y="2076450"/>
            <a:ext cx="152400" cy="152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6388" name="Line 73"/>
          <p:cNvSpPr>
            <a:spLocks noChangeShapeType="1"/>
          </p:cNvSpPr>
          <p:nvPr/>
        </p:nvSpPr>
        <p:spPr bwMode="auto">
          <a:xfrm flipH="1">
            <a:off x="7239000" y="2216150"/>
            <a:ext cx="152400" cy="152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6389" name="Line 74"/>
          <p:cNvSpPr>
            <a:spLocks noChangeShapeType="1"/>
          </p:cNvSpPr>
          <p:nvPr/>
        </p:nvSpPr>
        <p:spPr bwMode="auto">
          <a:xfrm flipH="1">
            <a:off x="3886200" y="4502150"/>
            <a:ext cx="152400" cy="152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6390" name="Rectangle 75"/>
          <p:cNvSpPr>
            <a:spLocks noChangeArrowheads="1"/>
          </p:cNvSpPr>
          <p:nvPr/>
        </p:nvSpPr>
        <p:spPr bwMode="auto">
          <a:xfrm>
            <a:off x="4441825" y="2055813"/>
            <a:ext cx="376706" cy="4007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>
                <a:latin typeface="Verdana" panose="020B0604030504040204" pitchFamily="34" charset="0"/>
              </a:rPr>
              <a:t> t</a:t>
            </a:r>
          </a:p>
        </p:txBody>
      </p:sp>
      <p:sp>
        <p:nvSpPr>
          <p:cNvPr id="56391" name="Rectangle 76"/>
          <p:cNvSpPr>
            <a:spLocks noChangeArrowheads="1"/>
          </p:cNvSpPr>
          <p:nvPr/>
        </p:nvSpPr>
        <p:spPr bwMode="auto">
          <a:xfrm>
            <a:off x="3082925" y="2144713"/>
            <a:ext cx="428002" cy="4007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>
                <a:latin typeface="Verdana" panose="020B0604030504040204" pitchFamily="34" charset="0"/>
              </a:rPr>
              <a:t> k</a:t>
            </a:r>
          </a:p>
        </p:txBody>
      </p:sp>
      <p:sp>
        <p:nvSpPr>
          <p:cNvPr id="56392" name="Rectangle 77"/>
          <p:cNvSpPr>
            <a:spLocks noChangeArrowheads="1"/>
          </p:cNvSpPr>
          <p:nvPr/>
        </p:nvSpPr>
        <p:spPr bwMode="auto">
          <a:xfrm>
            <a:off x="7146926" y="2322513"/>
            <a:ext cx="436017" cy="4007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>
                <a:latin typeface="Verdana" panose="020B0604030504040204" pitchFamily="34" charset="0"/>
              </a:rPr>
              <a:t> b</a:t>
            </a:r>
          </a:p>
        </p:txBody>
      </p:sp>
      <p:sp>
        <p:nvSpPr>
          <p:cNvPr id="56393" name="Rectangle 78"/>
          <p:cNvSpPr>
            <a:spLocks noChangeArrowheads="1"/>
          </p:cNvSpPr>
          <p:nvPr/>
        </p:nvSpPr>
        <p:spPr bwMode="auto">
          <a:xfrm>
            <a:off x="4022725" y="4456113"/>
            <a:ext cx="376706" cy="4007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>
                <a:latin typeface="Verdana" panose="020B0604030504040204" pitchFamily="34" charset="0"/>
              </a:rPr>
              <a:t> t</a:t>
            </a:r>
          </a:p>
        </p:txBody>
      </p:sp>
      <p:sp>
        <p:nvSpPr>
          <p:cNvPr id="56394" name="Rectangle 79"/>
          <p:cNvSpPr>
            <a:spLocks noChangeArrowheads="1"/>
          </p:cNvSpPr>
          <p:nvPr/>
        </p:nvSpPr>
        <p:spPr bwMode="auto">
          <a:xfrm>
            <a:off x="2422526" y="5980113"/>
            <a:ext cx="644407" cy="4007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>
                <a:latin typeface="Verdana" panose="020B0604030504040204" pitchFamily="34" charset="0"/>
              </a:rPr>
              <a:t>HIT</a:t>
            </a:r>
          </a:p>
        </p:txBody>
      </p:sp>
      <p:sp>
        <p:nvSpPr>
          <p:cNvPr id="56395" name="Rectangle 80"/>
          <p:cNvSpPr>
            <a:spLocks noChangeArrowheads="1"/>
          </p:cNvSpPr>
          <p:nvPr/>
        </p:nvSpPr>
        <p:spPr bwMode="auto">
          <a:xfrm>
            <a:off x="7375525" y="6056313"/>
            <a:ext cx="2573140" cy="4007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>
                <a:latin typeface="Verdana" panose="020B0604030504040204" pitchFamily="34" charset="0"/>
              </a:rPr>
              <a:t>Data Word or Byte</a:t>
            </a:r>
          </a:p>
        </p:txBody>
      </p:sp>
      <p:sp>
        <p:nvSpPr>
          <p:cNvPr id="56396" name="Line 81"/>
          <p:cNvSpPr>
            <a:spLocks noChangeShapeType="1"/>
          </p:cNvSpPr>
          <p:nvPr/>
        </p:nvSpPr>
        <p:spPr bwMode="auto">
          <a:xfrm>
            <a:off x="8305800" y="2901950"/>
            <a:ext cx="0" cy="1524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med" len="med"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6397" name="Rectangle 82"/>
          <p:cNvSpPr>
            <a:spLocks noChangeArrowheads="1"/>
          </p:cNvSpPr>
          <p:nvPr/>
        </p:nvSpPr>
        <p:spPr bwMode="auto">
          <a:xfrm>
            <a:off x="8289926" y="3465513"/>
            <a:ext cx="774251" cy="7085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>
                <a:latin typeface="Verdana" panose="020B0604030504040204" pitchFamily="34" charset="0"/>
              </a:rPr>
              <a:t>  2</a:t>
            </a:r>
            <a:r>
              <a:rPr lang="en-US" altLang="zh-CN" sz="2000" baseline="30000">
                <a:latin typeface="Verdana" panose="020B0604030504040204" pitchFamily="34" charset="0"/>
              </a:rPr>
              <a:t>k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>
                <a:latin typeface="Verdana" panose="020B0604030504040204" pitchFamily="34" charset="0"/>
              </a:rPr>
              <a:t>lines</a:t>
            </a:r>
          </a:p>
        </p:txBody>
      </p:sp>
      <p:sp>
        <p:nvSpPr>
          <p:cNvPr id="56398" name="Rectangle 83"/>
          <p:cNvSpPr>
            <a:spLocks noChangeArrowheads="1"/>
          </p:cNvSpPr>
          <p:nvPr/>
        </p:nvSpPr>
        <p:spPr bwMode="auto">
          <a:xfrm>
            <a:off x="4918075" y="1520826"/>
            <a:ext cx="60483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>
                <a:latin typeface="Verdana" panose="020B0604030504040204" pitchFamily="34" charset="0"/>
              </a:rPr>
              <a:t>Tag</a:t>
            </a:r>
          </a:p>
        </p:txBody>
      </p:sp>
      <p:sp>
        <p:nvSpPr>
          <p:cNvPr id="56399" name="Text Box 4"/>
          <p:cNvSpPr txBox="1">
            <a:spLocks noChangeArrowheads="1"/>
          </p:cNvSpPr>
          <p:nvPr/>
        </p:nvSpPr>
        <p:spPr bwMode="auto">
          <a:xfrm>
            <a:off x="2495550" y="549275"/>
            <a:ext cx="7488238" cy="5909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buNone/>
            </a:pPr>
            <a:r>
              <a:rPr kumimoji="1" lang="zh-CN" altLang="en-US" sz="3600" dirty="0">
                <a:latin typeface="微软雅黑" pitchFamily="34" charset="-122"/>
                <a:ea typeface="微软雅黑" pitchFamily="34" charset="-122"/>
                <a:cs typeface="+mj-cs"/>
              </a:rPr>
              <a:t>用于直接映射的地址</a:t>
            </a:r>
          </a:p>
        </p:txBody>
      </p:sp>
    </p:spTree>
    <p:extLst>
      <p:ext uri="{BB962C8B-B14F-4D97-AF65-F5344CB8AC3E}">
        <p14:creationId xmlns:p14="http://schemas.microsoft.com/office/powerpoint/2010/main" val="36093143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6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2A0C17B-9EB2-422B-B2D0-29C241504BAC}" type="slidenum"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pPr>
                <a:spcBef>
                  <a:spcPct val="0"/>
                </a:spcBef>
                <a:buFontTx/>
                <a:buNone/>
              </a:pPr>
              <a:t>11</a:t>
            </a:fld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7347" name="Text Box 4"/>
          <p:cNvSpPr txBox="1">
            <a:spLocks noChangeArrowheads="1"/>
          </p:cNvSpPr>
          <p:nvPr/>
        </p:nvSpPr>
        <p:spPr bwMode="auto">
          <a:xfrm>
            <a:off x="2495550" y="404813"/>
            <a:ext cx="7488238" cy="5909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buNone/>
            </a:pPr>
            <a:r>
              <a:rPr kumimoji="1" lang="zh-CN" altLang="en-US" sz="3600" dirty="0">
                <a:latin typeface="微软雅黑" pitchFamily="34" charset="-122"/>
                <a:ea typeface="微软雅黑" pitchFamily="34" charset="-122"/>
                <a:cs typeface="+mj-cs"/>
              </a:rPr>
              <a:t>二路组相联</a:t>
            </a:r>
            <a:r>
              <a:rPr kumimoji="1" lang="en-US" altLang="zh-CN" sz="3600" dirty="0">
                <a:latin typeface="微软雅黑" pitchFamily="34" charset="-122"/>
                <a:ea typeface="微软雅黑" pitchFamily="34" charset="-122"/>
                <a:cs typeface="+mj-cs"/>
              </a:rPr>
              <a:t>Cache</a:t>
            </a:r>
            <a:endParaRPr kumimoji="1" lang="zh-CN" altLang="en-US" sz="3600" dirty="0">
              <a:latin typeface="微软雅黑" pitchFamily="34" charset="-122"/>
              <a:ea typeface="微软雅黑" pitchFamily="34" charset="-122"/>
              <a:cs typeface="+mj-cs"/>
            </a:endParaRPr>
          </a:p>
        </p:txBody>
      </p:sp>
      <p:pic>
        <p:nvPicPr>
          <p:cNvPr id="5734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1450" y="1341439"/>
            <a:ext cx="7283450" cy="4892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325272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6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2E932F9-359F-45E2-9FCD-E125B1B7E96F}" type="slidenum"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pPr>
                <a:spcBef>
                  <a:spcPct val="0"/>
                </a:spcBef>
                <a:buFontTx/>
                <a:buNone/>
              </a:pPr>
              <a:t>12</a:t>
            </a:fld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8371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6989" y="1196976"/>
            <a:ext cx="7273925" cy="5046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8372" name="Text Box 4"/>
          <p:cNvSpPr txBox="1">
            <a:spLocks noChangeArrowheads="1"/>
          </p:cNvSpPr>
          <p:nvPr/>
        </p:nvSpPr>
        <p:spPr bwMode="auto">
          <a:xfrm>
            <a:off x="2495550" y="404813"/>
            <a:ext cx="7488238" cy="5909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buNone/>
            </a:pPr>
            <a:r>
              <a:rPr kumimoji="1" lang="zh-CN" altLang="en-US" sz="3600" dirty="0">
                <a:latin typeface="微软雅黑" pitchFamily="34" charset="-122"/>
                <a:ea typeface="微软雅黑" pitchFamily="34" charset="-122"/>
                <a:cs typeface="+mj-cs"/>
              </a:rPr>
              <a:t>全相联</a:t>
            </a:r>
            <a:r>
              <a:rPr kumimoji="1" lang="en-US" altLang="zh-CN" sz="3600" dirty="0">
                <a:latin typeface="微软雅黑" pitchFamily="34" charset="-122"/>
                <a:ea typeface="微软雅黑" pitchFamily="34" charset="-122"/>
                <a:cs typeface="+mj-cs"/>
              </a:rPr>
              <a:t>Cache</a:t>
            </a:r>
            <a:endParaRPr kumimoji="1" lang="zh-CN" altLang="en-US" sz="3600" dirty="0">
              <a:latin typeface="微软雅黑" pitchFamily="34" charset="-122"/>
              <a:ea typeface="微软雅黑" pitchFamily="34" charset="-122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7057450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486652-5D52-DC4D-B85C-901E5D9D77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75896" y="629268"/>
            <a:ext cx="4869493" cy="1286160"/>
          </a:xfrm>
        </p:spPr>
        <p:txBody>
          <a:bodyPr anchor="b">
            <a:normAutofit/>
          </a:bodyPr>
          <a:lstStyle/>
          <a:p>
            <a:r>
              <a:rPr kumimoji="1" lang="zh-CN" altLang="en-US" sz="3600" dirty="0">
                <a:latin typeface="微软雅黑" pitchFamily="34" charset="-122"/>
                <a:ea typeface="微软雅黑" pitchFamily="34" charset="-122"/>
              </a:rPr>
              <a:t>缓存命中延时</a:t>
            </a: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DFEFC21A-4D5F-6E4C-92AC-B3B3043BBB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3947" y="2428662"/>
            <a:ext cx="4468392" cy="2724251"/>
          </a:xfrm>
        </p:spPr>
        <p:txBody>
          <a:bodyPr>
            <a:normAutofit/>
          </a:bodyPr>
          <a:lstStyle/>
          <a:p>
            <a:r>
              <a:rPr kumimoji="1" lang="zh-CN" altLang="en-US" sz="1800" dirty="0">
                <a:latin typeface="微软雅黑" pitchFamily="34" charset="-122"/>
                <a:ea typeface="微软雅黑" pitchFamily="34" charset="-122"/>
              </a:rPr>
              <a:t>缓存命中延时是</a:t>
            </a:r>
            <a:r>
              <a:rPr kumimoji="1" lang="en-US" altLang="zh-CN" sz="1800" dirty="0">
                <a:latin typeface="微软雅黑" pitchFamily="34" charset="-122"/>
                <a:ea typeface="微软雅黑" pitchFamily="34" charset="-122"/>
              </a:rPr>
              <a:t>CPU</a:t>
            </a:r>
            <a:r>
              <a:rPr kumimoji="1" lang="zh-CN" altLang="en-US" sz="1800" dirty="0">
                <a:latin typeface="微软雅黑" pitchFamily="34" charset="-122"/>
                <a:ea typeface="微软雅黑" pitchFamily="34" charset="-122"/>
              </a:rPr>
              <a:t>读写请求到达缓存，直到读写请求在缓存命中，</a:t>
            </a:r>
            <a:endParaRPr kumimoji="1" lang="en-US" altLang="zh-CN" sz="1800" dirty="0">
              <a:latin typeface="微软雅黑" pitchFamily="34" charset="-122"/>
              <a:ea typeface="微软雅黑" pitchFamily="34" charset="-122"/>
            </a:endParaRPr>
          </a:p>
          <a:p>
            <a:pPr marL="0" indent="0">
              <a:buNone/>
            </a:pPr>
            <a:r>
              <a:rPr kumimoji="1" lang="en-US" altLang="zh-CN" sz="1800" dirty="0">
                <a:latin typeface="微软雅黑" pitchFamily="34" charset="-122"/>
                <a:ea typeface="微软雅黑" pitchFamily="34" charset="-122"/>
              </a:rPr>
              <a:t>  </a:t>
            </a:r>
            <a:r>
              <a:rPr kumimoji="1" lang="zh-CN" altLang="en-US" sz="1800" dirty="0">
                <a:latin typeface="微软雅黑" pitchFamily="34" charset="-122"/>
                <a:ea typeface="微软雅黑" pitchFamily="34" charset="-122"/>
              </a:rPr>
              <a:t>最后缓存提供数据给</a:t>
            </a:r>
            <a:r>
              <a:rPr kumimoji="1" lang="en-US" altLang="zh-CN" sz="1800" dirty="0">
                <a:latin typeface="微软雅黑" pitchFamily="34" charset="-122"/>
                <a:ea typeface="微软雅黑" pitchFamily="34" charset="-122"/>
              </a:rPr>
              <a:t>CPU</a:t>
            </a:r>
            <a:r>
              <a:rPr kumimoji="1" lang="zh-CN" altLang="en-US" sz="1800" dirty="0">
                <a:latin typeface="微软雅黑" pitchFamily="34" charset="-122"/>
                <a:ea typeface="微软雅黑" pitchFamily="34" charset="-122"/>
              </a:rPr>
              <a:t>所经过的时间</a:t>
            </a:r>
            <a:endParaRPr kumimoji="1" lang="en-US" altLang="zh-CN" sz="1800" dirty="0">
              <a:latin typeface="微软雅黑" pitchFamily="34" charset="-122"/>
              <a:ea typeface="微软雅黑" pitchFamily="34" charset="-122"/>
            </a:endParaRPr>
          </a:p>
          <a:p>
            <a:r>
              <a:rPr kumimoji="1" lang="zh-CN" altLang="en-US" sz="1800" dirty="0">
                <a:latin typeface="微软雅黑" pitchFamily="34" charset="-122"/>
                <a:ea typeface="微软雅黑" pitchFamily="34" charset="-122"/>
              </a:rPr>
              <a:t>缓存命中延时的来源：</a:t>
            </a:r>
            <a:endParaRPr kumimoji="1" lang="en-US" altLang="zh-CN" sz="1800" dirty="0">
              <a:latin typeface="微软雅黑" pitchFamily="34" charset="-122"/>
              <a:ea typeface="微软雅黑" pitchFamily="34" charset="-122"/>
            </a:endParaRPr>
          </a:p>
          <a:p>
            <a:pPr lvl="1"/>
            <a:r>
              <a:rPr kumimoji="1" lang="zh-CN" altLang="en-US" sz="1600" dirty="0">
                <a:latin typeface="微软雅黑" pitchFamily="34" charset="-122"/>
                <a:ea typeface="微软雅黑" pitchFamily="34" charset="-122"/>
              </a:rPr>
              <a:t>译码电路</a:t>
            </a:r>
            <a:endParaRPr kumimoji="1" lang="en-US" altLang="zh-CN" sz="1600" dirty="0">
              <a:latin typeface="微软雅黑" pitchFamily="34" charset="-122"/>
              <a:ea typeface="微软雅黑" pitchFamily="34" charset="-122"/>
            </a:endParaRPr>
          </a:p>
          <a:p>
            <a:pPr lvl="1"/>
            <a:r>
              <a:rPr kumimoji="1" lang="en-US" altLang="zh-CN" sz="1600" dirty="0">
                <a:latin typeface="微软雅黑" pitchFamily="34" charset="-122"/>
                <a:ea typeface="微软雅黑" pitchFamily="34" charset="-122"/>
              </a:rPr>
              <a:t>SRAM</a:t>
            </a:r>
            <a:r>
              <a:rPr kumimoji="1" lang="zh-CN" altLang="en-US" sz="1600" dirty="0">
                <a:latin typeface="微软雅黑" pitchFamily="34" charset="-122"/>
                <a:ea typeface="微软雅黑" pitchFamily="34" charset="-122"/>
              </a:rPr>
              <a:t>时序</a:t>
            </a:r>
            <a:endParaRPr kumimoji="1" lang="en-US" altLang="zh-CN" sz="1600" dirty="0">
              <a:latin typeface="微软雅黑" pitchFamily="34" charset="-122"/>
              <a:ea typeface="微软雅黑" pitchFamily="34" charset="-122"/>
            </a:endParaRPr>
          </a:p>
          <a:p>
            <a:pPr lvl="1"/>
            <a:r>
              <a:rPr kumimoji="1" lang="zh-CN" altLang="en-US" sz="1600" dirty="0">
                <a:latin typeface="微软雅黑" pitchFamily="34" charset="-122"/>
                <a:ea typeface="微软雅黑" pitchFamily="34" charset="-122"/>
              </a:rPr>
              <a:t>比较器和数据选择器</a:t>
            </a:r>
          </a:p>
          <a:p>
            <a:r>
              <a:rPr kumimoji="1" lang="zh-CN" altLang="en-US" sz="1800" dirty="0">
                <a:latin typeface="微软雅黑" pitchFamily="34" charset="-122"/>
                <a:ea typeface="微软雅黑" pitchFamily="34" charset="-122"/>
              </a:rPr>
              <a:t>影响缓存的电路实现</a:t>
            </a:r>
            <a:endParaRPr kumimoji="1" lang="en-US" altLang="zh-CN" sz="18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1005839" y="1342360"/>
            <a:ext cx="1366222" cy="763793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CPU</a:t>
            </a:r>
            <a:endParaRPr lang="zh-CN" altLang="en-US" dirty="0"/>
          </a:p>
        </p:txBody>
      </p:sp>
      <p:sp>
        <p:nvSpPr>
          <p:cNvPr id="19" name="矩形 18"/>
          <p:cNvSpPr/>
          <p:nvPr/>
        </p:nvSpPr>
        <p:spPr>
          <a:xfrm>
            <a:off x="2973591" y="2477015"/>
            <a:ext cx="1961479" cy="1185689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内存</a:t>
            </a:r>
          </a:p>
        </p:txBody>
      </p:sp>
      <p:cxnSp>
        <p:nvCxnSpPr>
          <p:cNvPr id="20" name="直接箭头连接符 19"/>
          <p:cNvCxnSpPr/>
          <p:nvPr/>
        </p:nvCxnSpPr>
        <p:spPr>
          <a:xfrm>
            <a:off x="2186491" y="3063307"/>
            <a:ext cx="787100" cy="0"/>
          </a:xfrm>
          <a:prstGeom prst="straightConnector1">
            <a:avLst/>
          </a:prstGeom>
          <a:ln w="1905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/>
          <p:cNvSpPr/>
          <p:nvPr/>
        </p:nvSpPr>
        <p:spPr>
          <a:xfrm>
            <a:off x="1191408" y="2774920"/>
            <a:ext cx="995083" cy="549193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缓存</a:t>
            </a:r>
          </a:p>
        </p:txBody>
      </p:sp>
      <p:cxnSp>
        <p:nvCxnSpPr>
          <p:cNvPr id="22" name="直接箭头连接符 21"/>
          <p:cNvCxnSpPr>
            <a:endCxn id="21" idx="0"/>
          </p:cNvCxnSpPr>
          <p:nvPr/>
        </p:nvCxnSpPr>
        <p:spPr>
          <a:xfrm>
            <a:off x="1688949" y="2106153"/>
            <a:ext cx="1" cy="668767"/>
          </a:xfrm>
          <a:prstGeom prst="straightConnector1">
            <a:avLst/>
          </a:prstGeom>
          <a:ln w="1905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16275" y="2299905"/>
            <a:ext cx="11887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4 cycles</a:t>
            </a:r>
            <a:endParaRPr lang="zh-CN" alt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2112083" y="2692006"/>
            <a:ext cx="9359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100</a:t>
            </a:r>
          </a:p>
          <a:p>
            <a:r>
              <a:rPr lang="en-US" altLang="zh-CN" dirty="0"/>
              <a:t>cycles</a:t>
            </a:r>
            <a:endParaRPr lang="zh-CN" altLang="en-US" dirty="0"/>
          </a:p>
        </p:txBody>
      </p:sp>
      <p:cxnSp>
        <p:nvCxnSpPr>
          <p:cNvPr id="25" name="直接箭头连接符 24"/>
          <p:cNvCxnSpPr/>
          <p:nvPr/>
        </p:nvCxnSpPr>
        <p:spPr>
          <a:xfrm>
            <a:off x="1518619" y="2106153"/>
            <a:ext cx="1" cy="668767"/>
          </a:xfrm>
          <a:prstGeom prst="straightConnector1">
            <a:avLst/>
          </a:prstGeom>
          <a:ln w="1905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25"/>
          <p:cNvCxnSpPr/>
          <p:nvPr/>
        </p:nvCxnSpPr>
        <p:spPr>
          <a:xfrm>
            <a:off x="1843141" y="2117245"/>
            <a:ext cx="1" cy="668767"/>
          </a:xfrm>
          <a:prstGeom prst="straightConnector1">
            <a:avLst/>
          </a:prstGeom>
          <a:ln w="1905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箭头连接符 26"/>
          <p:cNvCxnSpPr/>
          <p:nvPr/>
        </p:nvCxnSpPr>
        <p:spPr>
          <a:xfrm>
            <a:off x="1995542" y="2117245"/>
            <a:ext cx="1" cy="668767"/>
          </a:xfrm>
          <a:prstGeom prst="straightConnector1">
            <a:avLst/>
          </a:prstGeom>
          <a:ln w="1905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/>
          <p:cNvCxnSpPr/>
          <p:nvPr/>
        </p:nvCxnSpPr>
        <p:spPr>
          <a:xfrm>
            <a:off x="2125529" y="2106152"/>
            <a:ext cx="1" cy="668767"/>
          </a:xfrm>
          <a:prstGeom prst="straightConnector1">
            <a:avLst/>
          </a:prstGeom>
          <a:ln w="1905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3"/>
          <p:cNvCxnSpPr/>
          <p:nvPr/>
        </p:nvCxnSpPr>
        <p:spPr>
          <a:xfrm flipH="1">
            <a:off x="892885" y="3184264"/>
            <a:ext cx="625736" cy="16781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/>
        </p:nvCxnSpPr>
        <p:spPr>
          <a:xfrm>
            <a:off x="1843141" y="3184264"/>
            <a:ext cx="1362638" cy="119409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椭圆 7"/>
          <p:cNvSpPr/>
          <p:nvPr/>
        </p:nvSpPr>
        <p:spPr>
          <a:xfrm>
            <a:off x="764689" y="4034118"/>
            <a:ext cx="3000487" cy="2823882"/>
          </a:xfrm>
          <a:prstGeom prst="ellipse">
            <a:avLst/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2153319" y="4496696"/>
            <a:ext cx="862182" cy="26356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Tag 1</a:t>
            </a:r>
            <a:endParaRPr lang="zh-CN" altLang="en-US" dirty="0"/>
          </a:p>
        </p:txBody>
      </p:sp>
      <p:sp>
        <p:nvSpPr>
          <p:cNvPr id="30" name="矩形 29"/>
          <p:cNvSpPr/>
          <p:nvPr/>
        </p:nvSpPr>
        <p:spPr>
          <a:xfrm>
            <a:off x="1664741" y="4889351"/>
            <a:ext cx="862182" cy="26356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Tag 2</a:t>
            </a:r>
            <a:endParaRPr lang="zh-CN" altLang="en-US" dirty="0"/>
          </a:p>
        </p:txBody>
      </p:sp>
      <p:sp>
        <p:nvSpPr>
          <p:cNvPr id="31" name="矩形 30"/>
          <p:cNvSpPr/>
          <p:nvPr/>
        </p:nvSpPr>
        <p:spPr>
          <a:xfrm>
            <a:off x="782394" y="5314278"/>
            <a:ext cx="1213148" cy="26356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 err="1"/>
              <a:t>Addr_Tag</a:t>
            </a:r>
            <a:endParaRPr lang="zh-CN" altLang="en-US" dirty="0"/>
          </a:p>
        </p:txBody>
      </p:sp>
      <p:sp>
        <p:nvSpPr>
          <p:cNvPr id="17" name="椭圆 16"/>
          <p:cNvSpPr/>
          <p:nvPr/>
        </p:nvSpPr>
        <p:spPr>
          <a:xfrm>
            <a:off x="2095832" y="5701553"/>
            <a:ext cx="306818" cy="301214"/>
          </a:xfrm>
          <a:prstGeom prst="ellipse">
            <a:avLst/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=</a:t>
            </a:r>
            <a:endParaRPr lang="zh-CN" altLang="en-US" dirty="0"/>
          </a:p>
        </p:txBody>
      </p:sp>
      <p:sp>
        <p:nvSpPr>
          <p:cNvPr id="32" name="椭圆 31"/>
          <p:cNvSpPr/>
          <p:nvPr/>
        </p:nvSpPr>
        <p:spPr>
          <a:xfrm>
            <a:off x="2595390" y="5701553"/>
            <a:ext cx="306818" cy="301214"/>
          </a:xfrm>
          <a:prstGeom prst="ellipse">
            <a:avLst/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=</a:t>
            </a:r>
            <a:endParaRPr lang="zh-CN" altLang="en-US" dirty="0"/>
          </a:p>
        </p:txBody>
      </p:sp>
      <p:cxnSp>
        <p:nvCxnSpPr>
          <p:cNvPr id="36" name="肘形连接符 35"/>
          <p:cNvCxnSpPr>
            <a:stCxn id="31" idx="3"/>
            <a:endCxn id="17" idx="1"/>
          </p:cNvCxnSpPr>
          <p:nvPr/>
        </p:nvCxnSpPr>
        <p:spPr>
          <a:xfrm>
            <a:off x="1995542" y="5446059"/>
            <a:ext cx="145222" cy="299606"/>
          </a:xfrm>
          <a:prstGeom prst="bentConnector2">
            <a:avLst/>
          </a:prstGeom>
          <a:ln w="127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肘形连接符 37"/>
          <p:cNvCxnSpPr>
            <a:stCxn id="31" idx="3"/>
            <a:endCxn id="32" idx="1"/>
          </p:cNvCxnSpPr>
          <p:nvPr/>
        </p:nvCxnSpPr>
        <p:spPr>
          <a:xfrm>
            <a:off x="1995542" y="5446059"/>
            <a:ext cx="644780" cy="299606"/>
          </a:xfrm>
          <a:prstGeom prst="bentConnector2">
            <a:avLst/>
          </a:prstGeom>
          <a:ln w="127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箭头连接符 43"/>
          <p:cNvCxnSpPr>
            <a:endCxn id="17" idx="7"/>
          </p:cNvCxnSpPr>
          <p:nvPr/>
        </p:nvCxnSpPr>
        <p:spPr>
          <a:xfrm>
            <a:off x="2357718" y="5152913"/>
            <a:ext cx="0" cy="592752"/>
          </a:xfrm>
          <a:prstGeom prst="straightConnector1">
            <a:avLst/>
          </a:prstGeom>
          <a:ln w="127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箭头连接符 47"/>
          <p:cNvCxnSpPr>
            <a:endCxn id="32" idx="7"/>
          </p:cNvCxnSpPr>
          <p:nvPr/>
        </p:nvCxnSpPr>
        <p:spPr>
          <a:xfrm>
            <a:off x="2857276" y="4760258"/>
            <a:ext cx="0" cy="985407"/>
          </a:xfrm>
          <a:prstGeom prst="straightConnector1">
            <a:avLst/>
          </a:prstGeom>
          <a:ln w="127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箭头连接符 51"/>
          <p:cNvCxnSpPr>
            <a:stCxn id="17" idx="4"/>
          </p:cNvCxnSpPr>
          <p:nvPr/>
        </p:nvCxnSpPr>
        <p:spPr>
          <a:xfrm>
            <a:off x="2249241" y="6002767"/>
            <a:ext cx="0" cy="382793"/>
          </a:xfrm>
          <a:prstGeom prst="straightConnector1">
            <a:avLst/>
          </a:prstGeom>
          <a:ln w="127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箭头连接符 52"/>
          <p:cNvCxnSpPr/>
          <p:nvPr/>
        </p:nvCxnSpPr>
        <p:spPr>
          <a:xfrm>
            <a:off x="2750140" y="6002766"/>
            <a:ext cx="0" cy="382793"/>
          </a:xfrm>
          <a:prstGeom prst="straightConnector1">
            <a:avLst/>
          </a:prstGeom>
          <a:ln w="127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1600200" y="6024885"/>
            <a:ext cx="7137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rgbClr val="FF0000"/>
                </a:solidFill>
              </a:rPr>
              <a:t>true</a:t>
            </a:r>
            <a:endParaRPr lang="zh-CN" altLang="en-US" sz="1600" dirty="0">
              <a:solidFill>
                <a:srgbClr val="FF0000"/>
              </a:solidFill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2743867" y="6021590"/>
            <a:ext cx="7137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false</a:t>
            </a:r>
            <a:endParaRPr lang="zh-CN" altLang="en-US" sz="1600" dirty="0"/>
          </a:p>
        </p:txBody>
      </p:sp>
      <p:sp>
        <p:nvSpPr>
          <p:cNvPr id="3" name="矩形 2"/>
          <p:cNvSpPr/>
          <p:nvPr/>
        </p:nvSpPr>
        <p:spPr>
          <a:xfrm>
            <a:off x="1805266" y="6385559"/>
            <a:ext cx="1168325" cy="32721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 err="1"/>
              <a:t>data_sel</a:t>
            </a:r>
            <a:endParaRPr lang="zh-CN" altLang="en-US" dirty="0"/>
          </a:p>
        </p:txBody>
      </p:sp>
      <p:cxnSp>
        <p:nvCxnSpPr>
          <p:cNvPr id="9" name="肘形连接符 8"/>
          <p:cNvCxnSpPr>
            <a:stCxn id="3" idx="1"/>
            <a:endCxn id="18" idx="1"/>
          </p:cNvCxnSpPr>
          <p:nvPr/>
        </p:nvCxnSpPr>
        <p:spPr>
          <a:xfrm rot="10800000">
            <a:off x="1005840" y="1724257"/>
            <a:ext cx="799427" cy="4824908"/>
          </a:xfrm>
          <a:prstGeom prst="bentConnector3">
            <a:avLst>
              <a:gd name="adj1" fmla="val 209335"/>
            </a:avLst>
          </a:prstGeom>
          <a:ln w="127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82554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486652-5D52-DC4D-B85C-901E5D9D77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75896" y="629268"/>
            <a:ext cx="4869493" cy="1286160"/>
          </a:xfrm>
        </p:spPr>
        <p:txBody>
          <a:bodyPr anchor="b">
            <a:normAutofit/>
          </a:bodyPr>
          <a:lstStyle/>
          <a:p>
            <a:r>
              <a:rPr kumimoji="1" lang="zh-CN" altLang="en-US" sz="3600" dirty="0">
                <a:latin typeface="微软雅黑" pitchFamily="34" charset="-122"/>
                <a:ea typeface="微软雅黑" pitchFamily="34" charset="-122"/>
              </a:rPr>
              <a:t>缓存缺失</a:t>
            </a: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DFEFC21A-4D5F-6E4C-92AC-B3B3043BBB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3946" y="2428662"/>
            <a:ext cx="5684007" cy="2724251"/>
          </a:xfrm>
        </p:spPr>
        <p:txBody>
          <a:bodyPr>
            <a:normAutofit/>
          </a:bodyPr>
          <a:lstStyle/>
          <a:p>
            <a:r>
              <a:rPr kumimoji="1" lang="zh-CN" altLang="en-US" sz="1800" dirty="0">
                <a:latin typeface="微软雅黑" pitchFamily="34" charset="-122"/>
                <a:ea typeface="微软雅黑" pitchFamily="34" charset="-122"/>
              </a:rPr>
              <a:t>缓存不是完美的</a:t>
            </a:r>
            <a:endParaRPr kumimoji="1" lang="en-US" altLang="zh-CN" sz="1800" dirty="0">
              <a:latin typeface="微软雅黑" pitchFamily="34" charset="-122"/>
              <a:ea typeface="微软雅黑" pitchFamily="34" charset="-122"/>
            </a:endParaRPr>
          </a:p>
          <a:p>
            <a:r>
              <a:rPr kumimoji="1" lang="zh-CN" altLang="en-US" sz="1800" dirty="0">
                <a:latin typeface="微软雅黑" pitchFamily="34" charset="-122"/>
                <a:ea typeface="微软雅黑" pitchFamily="34" charset="-122"/>
              </a:rPr>
              <a:t>缓存缺失是指</a:t>
            </a:r>
            <a:r>
              <a:rPr kumimoji="1" lang="en-US" altLang="zh-CN" sz="1800" dirty="0">
                <a:latin typeface="微软雅黑" pitchFamily="34" charset="-122"/>
                <a:ea typeface="微软雅黑" pitchFamily="34" charset="-122"/>
              </a:rPr>
              <a:t>CPU</a:t>
            </a:r>
            <a:r>
              <a:rPr kumimoji="1" lang="zh-CN" altLang="en-US" sz="1800" dirty="0">
                <a:latin typeface="微软雅黑" pitchFamily="34" charset="-122"/>
                <a:ea typeface="微软雅黑" pitchFamily="34" charset="-122"/>
              </a:rPr>
              <a:t>请求的块不在缓存中</a:t>
            </a:r>
            <a:endParaRPr kumimoji="1" lang="en-US" altLang="zh-CN" sz="1800" dirty="0">
              <a:latin typeface="微软雅黑" pitchFamily="34" charset="-122"/>
              <a:ea typeface="微软雅黑" pitchFamily="34" charset="-122"/>
            </a:endParaRPr>
          </a:p>
          <a:p>
            <a:pPr lvl="1"/>
            <a:r>
              <a:rPr kumimoji="1" lang="zh-CN" altLang="en-US" sz="1400" dirty="0">
                <a:latin typeface="微软雅黑" pitchFamily="34" charset="-122"/>
                <a:ea typeface="微软雅黑" pitchFamily="34" charset="-122"/>
              </a:rPr>
              <a:t>缓存缺失是通过标签比对来判断的</a:t>
            </a:r>
            <a:endParaRPr kumimoji="1" lang="en-US" altLang="zh-CN" sz="1400" dirty="0">
              <a:latin typeface="微软雅黑" pitchFamily="34" charset="-122"/>
              <a:ea typeface="微软雅黑" pitchFamily="34" charset="-122"/>
            </a:endParaRPr>
          </a:p>
          <a:p>
            <a:pPr lvl="1"/>
            <a:endParaRPr kumimoji="1" lang="en-US" altLang="zh-CN" sz="1400" dirty="0">
              <a:latin typeface="微软雅黑" pitchFamily="34" charset="-122"/>
              <a:ea typeface="微软雅黑" pitchFamily="34" charset="-122"/>
            </a:endParaRPr>
          </a:p>
          <a:p>
            <a:pPr lvl="1"/>
            <a:r>
              <a:rPr kumimoji="1" lang="zh-CN" altLang="en-US" sz="1400" dirty="0">
                <a:latin typeface="微软雅黑" pitchFamily="34" charset="-122"/>
                <a:ea typeface="微软雅黑" pitchFamily="34" charset="-122"/>
              </a:rPr>
              <a:t>缓存缺失，代表请求的块需要到更低一级的存储层次中寻找（下一级缓存或者内存）</a:t>
            </a:r>
            <a:endParaRPr kumimoji="1" lang="en-US" altLang="zh-CN" sz="1400" dirty="0">
              <a:latin typeface="微软雅黑" pitchFamily="34" charset="-122"/>
              <a:ea typeface="微软雅黑" pitchFamily="34" charset="-122"/>
            </a:endParaRPr>
          </a:p>
          <a:p>
            <a:pPr lvl="1"/>
            <a:endParaRPr kumimoji="1" lang="en-US" altLang="zh-CN" sz="1400" dirty="0">
              <a:latin typeface="微软雅黑" pitchFamily="34" charset="-122"/>
              <a:ea typeface="微软雅黑" pitchFamily="34" charset="-122"/>
            </a:endParaRPr>
          </a:p>
          <a:p>
            <a:pPr lvl="1"/>
            <a:r>
              <a:rPr kumimoji="1" lang="zh-CN" altLang="en-US" sz="1400" dirty="0">
                <a:latin typeface="微软雅黑" pitchFamily="34" charset="-122"/>
                <a:ea typeface="微软雅黑" pitchFamily="34" charset="-122"/>
              </a:rPr>
              <a:t>在取回缺失数据后，缓存将其送达</a:t>
            </a:r>
            <a:r>
              <a:rPr kumimoji="1" lang="en-US" altLang="zh-CN" sz="1400" dirty="0">
                <a:latin typeface="微软雅黑" pitchFamily="34" charset="-122"/>
                <a:ea typeface="微软雅黑" pitchFamily="34" charset="-122"/>
              </a:rPr>
              <a:t>CPU</a:t>
            </a:r>
            <a:r>
              <a:rPr kumimoji="1" lang="zh-CN" altLang="en-US" sz="1400" dirty="0">
                <a:latin typeface="微软雅黑" pitchFamily="34" charset="-122"/>
                <a:ea typeface="微软雅黑" pitchFamily="34" charset="-122"/>
              </a:rPr>
              <a:t>，此时也分</a:t>
            </a:r>
            <a:r>
              <a:rPr kumimoji="1" lang="en-US" altLang="zh-CN" sz="1400" dirty="0">
                <a:latin typeface="微软雅黑" pitchFamily="34" charset="-122"/>
                <a:ea typeface="微软雅黑" pitchFamily="34" charset="-122"/>
              </a:rPr>
              <a:t>2</a:t>
            </a:r>
            <a:r>
              <a:rPr kumimoji="1" lang="zh-CN" altLang="en-US" sz="1400" dirty="0">
                <a:latin typeface="微软雅黑" pitchFamily="34" charset="-122"/>
                <a:ea typeface="微软雅黑" pitchFamily="34" charset="-122"/>
              </a:rPr>
              <a:t>种策略：</a:t>
            </a:r>
            <a:endParaRPr kumimoji="1" lang="en-US" altLang="zh-CN" sz="1400" dirty="0">
              <a:latin typeface="微软雅黑" pitchFamily="34" charset="-122"/>
              <a:ea typeface="微软雅黑" pitchFamily="34" charset="-122"/>
            </a:endParaRPr>
          </a:p>
          <a:p>
            <a:pPr lvl="2"/>
            <a:r>
              <a:rPr kumimoji="1" lang="zh-CN" altLang="en-US" sz="1400" dirty="0">
                <a:latin typeface="微软雅黑" pitchFamily="34" charset="-122"/>
                <a:ea typeface="微软雅黑" pitchFamily="34" charset="-122"/>
              </a:rPr>
              <a:t>写分配：将缺失数据分配在缓存中</a:t>
            </a:r>
            <a:endParaRPr kumimoji="1" lang="en-US" altLang="zh-CN" sz="1400" dirty="0">
              <a:latin typeface="微软雅黑" pitchFamily="34" charset="-122"/>
              <a:ea typeface="微软雅黑" pitchFamily="34" charset="-122"/>
            </a:endParaRPr>
          </a:p>
          <a:p>
            <a:pPr lvl="2"/>
            <a:r>
              <a:rPr kumimoji="1" lang="zh-CN" altLang="en-US" sz="1400" dirty="0">
                <a:latin typeface="微软雅黑" pitchFamily="34" charset="-122"/>
                <a:ea typeface="微软雅黑" pitchFamily="34" charset="-122"/>
              </a:rPr>
              <a:t>无写分配：不将缺失数据分配在缓存中</a:t>
            </a:r>
            <a:endParaRPr kumimoji="1" lang="zh-CN" altLang="en-US" sz="2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1005839" y="1342360"/>
            <a:ext cx="1366222" cy="763793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CPU</a:t>
            </a:r>
            <a:endParaRPr lang="zh-CN" altLang="en-US" dirty="0"/>
          </a:p>
        </p:txBody>
      </p:sp>
      <p:sp>
        <p:nvSpPr>
          <p:cNvPr id="19" name="矩形 18"/>
          <p:cNvSpPr/>
          <p:nvPr/>
        </p:nvSpPr>
        <p:spPr>
          <a:xfrm>
            <a:off x="2973591" y="2477015"/>
            <a:ext cx="1961479" cy="1185689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内存</a:t>
            </a:r>
          </a:p>
        </p:txBody>
      </p:sp>
      <p:cxnSp>
        <p:nvCxnSpPr>
          <p:cNvPr id="20" name="直接箭头连接符 19"/>
          <p:cNvCxnSpPr/>
          <p:nvPr/>
        </p:nvCxnSpPr>
        <p:spPr>
          <a:xfrm>
            <a:off x="2186491" y="3063307"/>
            <a:ext cx="787100" cy="0"/>
          </a:xfrm>
          <a:prstGeom prst="straightConnector1">
            <a:avLst/>
          </a:prstGeom>
          <a:ln w="1905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/>
          <p:cNvSpPr/>
          <p:nvPr/>
        </p:nvSpPr>
        <p:spPr>
          <a:xfrm>
            <a:off x="1191408" y="2774920"/>
            <a:ext cx="995083" cy="549193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缓存</a:t>
            </a:r>
          </a:p>
        </p:txBody>
      </p:sp>
      <p:cxnSp>
        <p:nvCxnSpPr>
          <p:cNvPr id="22" name="直接箭头连接符 21"/>
          <p:cNvCxnSpPr>
            <a:endCxn id="21" idx="0"/>
          </p:cNvCxnSpPr>
          <p:nvPr/>
        </p:nvCxnSpPr>
        <p:spPr>
          <a:xfrm>
            <a:off x="1688949" y="2106153"/>
            <a:ext cx="1" cy="668767"/>
          </a:xfrm>
          <a:prstGeom prst="straightConnector1">
            <a:avLst/>
          </a:prstGeom>
          <a:ln w="1905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411478" y="2266963"/>
            <a:ext cx="11887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4 cycles</a:t>
            </a:r>
            <a:endParaRPr lang="zh-CN" alt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2112083" y="2692006"/>
            <a:ext cx="9359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100</a:t>
            </a:r>
          </a:p>
          <a:p>
            <a:r>
              <a:rPr lang="en-US" altLang="zh-CN" dirty="0"/>
              <a:t>cycles</a:t>
            </a:r>
            <a:endParaRPr lang="zh-CN" altLang="en-US" dirty="0"/>
          </a:p>
        </p:txBody>
      </p:sp>
      <p:cxnSp>
        <p:nvCxnSpPr>
          <p:cNvPr id="25" name="直接箭头连接符 24"/>
          <p:cNvCxnSpPr/>
          <p:nvPr/>
        </p:nvCxnSpPr>
        <p:spPr>
          <a:xfrm>
            <a:off x="1518619" y="2106153"/>
            <a:ext cx="1" cy="668767"/>
          </a:xfrm>
          <a:prstGeom prst="straightConnector1">
            <a:avLst/>
          </a:prstGeom>
          <a:ln w="1905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25"/>
          <p:cNvCxnSpPr/>
          <p:nvPr/>
        </p:nvCxnSpPr>
        <p:spPr>
          <a:xfrm>
            <a:off x="1843141" y="2117245"/>
            <a:ext cx="1" cy="668767"/>
          </a:xfrm>
          <a:prstGeom prst="straightConnector1">
            <a:avLst/>
          </a:prstGeom>
          <a:ln w="1905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箭头连接符 26"/>
          <p:cNvCxnSpPr/>
          <p:nvPr/>
        </p:nvCxnSpPr>
        <p:spPr>
          <a:xfrm>
            <a:off x="1995542" y="2117245"/>
            <a:ext cx="1" cy="668767"/>
          </a:xfrm>
          <a:prstGeom prst="straightConnector1">
            <a:avLst/>
          </a:prstGeom>
          <a:ln w="1905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/>
          <p:cNvCxnSpPr/>
          <p:nvPr/>
        </p:nvCxnSpPr>
        <p:spPr>
          <a:xfrm>
            <a:off x="2125529" y="2106152"/>
            <a:ext cx="1" cy="668767"/>
          </a:xfrm>
          <a:prstGeom prst="straightConnector1">
            <a:avLst/>
          </a:prstGeom>
          <a:ln w="1905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3"/>
          <p:cNvCxnSpPr/>
          <p:nvPr/>
        </p:nvCxnSpPr>
        <p:spPr>
          <a:xfrm flipH="1">
            <a:off x="892885" y="3184264"/>
            <a:ext cx="625736" cy="16781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/>
        </p:nvCxnSpPr>
        <p:spPr>
          <a:xfrm>
            <a:off x="1843141" y="3184264"/>
            <a:ext cx="1362638" cy="119409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椭圆 7"/>
          <p:cNvSpPr/>
          <p:nvPr/>
        </p:nvSpPr>
        <p:spPr>
          <a:xfrm>
            <a:off x="764689" y="4034118"/>
            <a:ext cx="3000487" cy="2823882"/>
          </a:xfrm>
          <a:prstGeom prst="ellipse">
            <a:avLst/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2153319" y="4496696"/>
            <a:ext cx="862182" cy="26356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Tag 1</a:t>
            </a:r>
            <a:endParaRPr lang="zh-CN" altLang="en-US" dirty="0"/>
          </a:p>
        </p:txBody>
      </p:sp>
      <p:sp>
        <p:nvSpPr>
          <p:cNvPr id="30" name="矩形 29"/>
          <p:cNvSpPr/>
          <p:nvPr/>
        </p:nvSpPr>
        <p:spPr>
          <a:xfrm>
            <a:off x="1664741" y="4889351"/>
            <a:ext cx="862182" cy="26356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Tag 2</a:t>
            </a:r>
            <a:endParaRPr lang="zh-CN" altLang="en-US" dirty="0"/>
          </a:p>
        </p:txBody>
      </p:sp>
      <p:sp>
        <p:nvSpPr>
          <p:cNvPr id="31" name="矩形 30"/>
          <p:cNvSpPr/>
          <p:nvPr/>
        </p:nvSpPr>
        <p:spPr>
          <a:xfrm>
            <a:off x="782394" y="5314278"/>
            <a:ext cx="1213148" cy="26356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 err="1"/>
              <a:t>Addr_Tag</a:t>
            </a:r>
            <a:endParaRPr lang="zh-CN" altLang="en-US" dirty="0"/>
          </a:p>
        </p:txBody>
      </p:sp>
      <p:sp>
        <p:nvSpPr>
          <p:cNvPr id="17" name="椭圆 16"/>
          <p:cNvSpPr/>
          <p:nvPr/>
        </p:nvSpPr>
        <p:spPr>
          <a:xfrm>
            <a:off x="2095832" y="5701553"/>
            <a:ext cx="306818" cy="301214"/>
          </a:xfrm>
          <a:prstGeom prst="ellipse">
            <a:avLst/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=</a:t>
            </a:r>
            <a:endParaRPr lang="zh-CN" altLang="en-US" dirty="0"/>
          </a:p>
        </p:txBody>
      </p:sp>
      <p:sp>
        <p:nvSpPr>
          <p:cNvPr id="32" name="椭圆 31"/>
          <p:cNvSpPr/>
          <p:nvPr/>
        </p:nvSpPr>
        <p:spPr>
          <a:xfrm>
            <a:off x="2595390" y="5701553"/>
            <a:ext cx="306818" cy="301214"/>
          </a:xfrm>
          <a:prstGeom prst="ellipse">
            <a:avLst/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=</a:t>
            </a:r>
            <a:endParaRPr lang="zh-CN" altLang="en-US" dirty="0"/>
          </a:p>
        </p:txBody>
      </p:sp>
      <p:cxnSp>
        <p:nvCxnSpPr>
          <p:cNvPr id="36" name="肘形连接符 35"/>
          <p:cNvCxnSpPr>
            <a:stCxn id="31" idx="3"/>
            <a:endCxn id="17" idx="1"/>
          </p:cNvCxnSpPr>
          <p:nvPr/>
        </p:nvCxnSpPr>
        <p:spPr>
          <a:xfrm>
            <a:off x="1995542" y="5446059"/>
            <a:ext cx="145222" cy="299606"/>
          </a:xfrm>
          <a:prstGeom prst="bentConnector2">
            <a:avLst/>
          </a:prstGeom>
          <a:ln w="127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肘形连接符 37"/>
          <p:cNvCxnSpPr>
            <a:stCxn id="31" idx="3"/>
            <a:endCxn id="32" idx="1"/>
          </p:cNvCxnSpPr>
          <p:nvPr/>
        </p:nvCxnSpPr>
        <p:spPr>
          <a:xfrm>
            <a:off x="1995542" y="5446059"/>
            <a:ext cx="644780" cy="299606"/>
          </a:xfrm>
          <a:prstGeom prst="bentConnector2">
            <a:avLst/>
          </a:prstGeom>
          <a:ln w="127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箭头连接符 43"/>
          <p:cNvCxnSpPr>
            <a:endCxn id="17" idx="7"/>
          </p:cNvCxnSpPr>
          <p:nvPr/>
        </p:nvCxnSpPr>
        <p:spPr>
          <a:xfrm>
            <a:off x="2357718" y="5152913"/>
            <a:ext cx="0" cy="592752"/>
          </a:xfrm>
          <a:prstGeom prst="straightConnector1">
            <a:avLst/>
          </a:prstGeom>
          <a:ln w="127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箭头连接符 47"/>
          <p:cNvCxnSpPr>
            <a:endCxn id="32" idx="7"/>
          </p:cNvCxnSpPr>
          <p:nvPr/>
        </p:nvCxnSpPr>
        <p:spPr>
          <a:xfrm>
            <a:off x="2857276" y="4760258"/>
            <a:ext cx="0" cy="985407"/>
          </a:xfrm>
          <a:prstGeom prst="straightConnector1">
            <a:avLst/>
          </a:prstGeom>
          <a:ln w="127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箭头连接符 51"/>
          <p:cNvCxnSpPr>
            <a:stCxn id="17" idx="4"/>
          </p:cNvCxnSpPr>
          <p:nvPr/>
        </p:nvCxnSpPr>
        <p:spPr>
          <a:xfrm>
            <a:off x="2249241" y="6002767"/>
            <a:ext cx="0" cy="382793"/>
          </a:xfrm>
          <a:prstGeom prst="straightConnector1">
            <a:avLst/>
          </a:prstGeom>
          <a:ln w="127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箭头连接符 52"/>
          <p:cNvCxnSpPr/>
          <p:nvPr/>
        </p:nvCxnSpPr>
        <p:spPr>
          <a:xfrm>
            <a:off x="2750140" y="6002766"/>
            <a:ext cx="0" cy="382793"/>
          </a:xfrm>
          <a:prstGeom prst="straightConnector1">
            <a:avLst/>
          </a:prstGeom>
          <a:ln w="127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1600200" y="6024885"/>
            <a:ext cx="7137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false</a:t>
            </a:r>
            <a:endParaRPr lang="zh-CN" altLang="en-US" sz="1600" dirty="0"/>
          </a:p>
        </p:txBody>
      </p:sp>
      <p:sp>
        <p:nvSpPr>
          <p:cNvPr id="55" name="TextBox 54"/>
          <p:cNvSpPr txBox="1"/>
          <p:nvPr/>
        </p:nvSpPr>
        <p:spPr>
          <a:xfrm>
            <a:off x="2743867" y="6021590"/>
            <a:ext cx="7137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false</a:t>
            </a:r>
            <a:endParaRPr lang="zh-CN" altLang="en-US" sz="1600" dirty="0"/>
          </a:p>
        </p:txBody>
      </p:sp>
      <p:sp>
        <p:nvSpPr>
          <p:cNvPr id="56" name="TextBox 55"/>
          <p:cNvSpPr txBox="1"/>
          <p:nvPr/>
        </p:nvSpPr>
        <p:spPr>
          <a:xfrm>
            <a:off x="2279610" y="6360144"/>
            <a:ext cx="4946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?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756657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486652-5D52-DC4D-B85C-901E5D9D77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75896" y="629268"/>
            <a:ext cx="4869493" cy="1286160"/>
          </a:xfrm>
        </p:spPr>
        <p:txBody>
          <a:bodyPr anchor="b">
            <a:normAutofit/>
          </a:bodyPr>
          <a:lstStyle/>
          <a:p>
            <a:r>
              <a:rPr kumimoji="1" lang="zh-CN" altLang="en-US" sz="3600" dirty="0">
                <a:latin typeface="微软雅黑" pitchFamily="34" charset="-122"/>
                <a:ea typeface="微软雅黑" pitchFamily="34" charset="-122"/>
              </a:rPr>
              <a:t>缓存缺失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内容占位符 2">
                <a:extLst>
                  <a:ext uri="{FF2B5EF4-FFF2-40B4-BE49-F238E27FC236}">
                    <a16:creationId xmlns:a16="http://schemas.microsoft.com/office/drawing/2014/main" id="{DFEFC21A-4D5F-6E4C-92AC-B3B3043BBB7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503945" y="2428662"/>
                <a:ext cx="6469315" cy="4429338"/>
              </a:xfrm>
            </p:spPr>
            <p:txBody>
              <a:bodyPr>
                <a:normAutofit/>
              </a:bodyPr>
              <a:lstStyle/>
              <a:p>
                <a:r>
                  <a:rPr kumimoji="1" lang="zh-CN" altLang="en-US" sz="1800" dirty="0">
                    <a:latin typeface="微软雅黑" pitchFamily="34" charset="-122"/>
                    <a:ea typeface="微软雅黑" pitchFamily="34" charset="-122"/>
                  </a:rPr>
                  <a:t>发生缓存缺失时，</a:t>
                </a:r>
                <a:r>
                  <a:rPr kumimoji="1" lang="en-US" altLang="zh-CN" sz="1800" dirty="0">
                    <a:latin typeface="微软雅黑" pitchFamily="34" charset="-122"/>
                    <a:ea typeface="微软雅黑" pitchFamily="34" charset="-122"/>
                  </a:rPr>
                  <a:t>CPU</a:t>
                </a:r>
                <a:r>
                  <a:rPr kumimoji="1" lang="zh-CN" altLang="en-US" sz="1800" dirty="0">
                    <a:latin typeface="微软雅黑" pitchFamily="34" charset="-122"/>
                    <a:ea typeface="微软雅黑" pitchFamily="34" charset="-122"/>
                  </a:rPr>
                  <a:t>需要等待更多周期</a:t>
                </a:r>
                <a:endParaRPr kumimoji="1" lang="en-US" altLang="zh-CN" sz="1800" dirty="0">
                  <a:latin typeface="微软雅黑" pitchFamily="34" charset="-122"/>
                  <a:ea typeface="微软雅黑" pitchFamily="34" charset="-122"/>
                </a:endParaRPr>
              </a:p>
              <a:p>
                <a:r>
                  <a:rPr kumimoji="1" lang="zh-CN" altLang="en-US" sz="1800" dirty="0">
                    <a:latin typeface="微软雅黑" pitchFamily="34" charset="-122"/>
                    <a:ea typeface="微软雅黑" pitchFamily="34" charset="-122"/>
                  </a:rPr>
                  <a:t>缓存缺失越少越好</a:t>
                </a:r>
                <a:endParaRPr kumimoji="1" lang="en-US" altLang="zh-CN" sz="1800" dirty="0">
                  <a:latin typeface="微软雅黑" pitchFamily="34" charset="-122"/>
                  <a:ea typeface="微软雅黑" pitchFamily="34" charset="-122"/>
                </a:endParaRPr>
              </a:p>
              <a:p>
                <a:endParaRPr kumimoji="1" lang="en-US" altLang="zh-CN" sz="1800" dirty="0">
                  <a:latin typeface="微软雅黑" pitchFamily="34" charset="-122"/>
                  <a:ea typeface="微软雅黑" pitchFamily="34" charset="-122"/>
                </a:endParaRPr>
              </a:p>
              <a:p>
                <a:r>
                  <a:rPr kumimoji="1" lang="zh-CN" altLang="en-US" sz="1800" dirty="0">
                    <a:latin typeface="微软雅黑" pitchFamily="34" charset="-122"/>
                    <a:ea typeface="微软雅黑" pitchFamily="34" charset="-122"/>
                  </a:rPr>
                  <a:t>缺失率</a:t>
                </a:r>
                <a:r>
                  <a:rPr kumimoji="1" lang="en-US" altLang="zh-CN" sz="1800" dirty="0">
                    <a:latin typeface="微软雅黑" pitchFamily="34" charset="-122"/>
                    <a:ea typeface="微软雅黑" pitchFamily="34" charset="-122"/>
                  </a:rPr>
                  <a:t>(miss rate)</a:t>
                </a:r>
                <a:r>
                  <a:rPr kumimoji="1" lang="zh-CN" altLang="en-US" sz="1800" dirty="0">
                    <a:latin typeface="微软雅黑" pitchFamily="34" charset="-122"/>
                    <a:ea typeface="微软雅黑" pitchFamily="34" charset="-122"/>
                  </a:rPr>
                  <a:t>用来量化缓存缺失的频率</a:t>
                </a:r>
                <a:endParaRPr kumimoji="1" lang="en-US" altLang="zh-CN" sz="1800" dirty="0">
                  <a:latin typeface="微软雅黑" pitchFamily="34" charset="-122"/>
                  <a:ea typeface="微软雅黑" pitchFamily="34" charset="-122"/>
                </a:endParaRPr>
              </a:p>
              <a:p>
                <a14:m>
                  <m:oMath xmlns:m="http://schemas.openxmlformats.org/officeDocument/2006/math">
                    <m:r>
                      <a:rPr kumimoji="1" lang="en-US" altLang="zh-CN" sz="1800" b="0" i="1" smtClean="0">
                        <a:latin typeface="Cambria Math"/>
                      </a:rPr>
                      <m:t>𝑚𝑖𝑠𝑠</m:t>
                    </m:r>
                    <m:r>
                      <a:rPr kumimoji="1" lang="en-US" altLang="zh-CN" sz="1800" b="0" i="1" smtClean="0">
                        <a:latin typeface="Cambria Math"/>
                      </a:rPr>
                      <m:t> </m:t>
                    </m:r>
                    <m:r>
                      <a:rPr kumimoji="1" lang="en-US" altLang="zh-CN" sz="1800" b="0" i="1" smtClean="0">
                        <a:latin typeface="Cambria Math"/>
                      </a:rPr>
                      <m:t>𝑟𝑎𝑡𝑒</m:t>
                    </m:r>
                    <m:r>
                      <a:rPr kumimoji="1" lang="en-US" altLang="zh-CN" sz="1800" b="0" i="1" smtClean="0">
                        <a:latin typeface="Cambria Math"/>
                      </a:rPr>
                      <m:t>= </m:t>
                    </m:r>
                    <m:f>
                      <m:fPr>
                        <m:ctrlPr>
                          <a:rPr kumimoji="1" lang="en-US" altLang="zh-CN" sz="1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zh-CN" altLang="en-US" sz="1800" i="1">
                            <a:latin typeface="Cambria Math"/>
                          </a:rPr>
                          <m:t>发生</m:t>
                        </m:r>
                        <m:r>
                          <a:rPr kumimoji="1" lang="zh-CN" altLang="en-US" sz="1800" i="1" smtClean="0">
                            <a:latin typeface="Cambria Math"/>
                          </a:rPr>
                          <m:t>缺失</m:t>
                        </m:r>
                        <m:r>
                          <a:rPr kumimoji="1" lang="zh-CN" altLang="en-US" sz="1800" b="0" i="1" smtClean="0">
                            <a:latin typeface="Cambria Math"/>
                          </a:rPr>
                          <m:t>的</m:t>
                        </m:r>
                        <m:r>
                          <a:rPr kumimoji="1" lang="zh-CN" altLang="en-US" sz="1800" i="1">
                            <a:latin typeface="Cambria Math"/>
                          </a:rPr>
                          <m:t>请求</m:t>
                        </m:r>
                        <m:r>
                          <a:rPr kumimoji="1" lang="zh-CN" altLang="en-US" sz="1800" b="0" i="1" smtClean="0">
                            <a:latin typeface="Cambria Math"/>
                          </a:rPr>
                          <m:t>数</m:t>
                        </m:r>
                      </m:num>
                      <m:den>
                        <m:r>
                          <a:rPr kumimoji="1" lang="zh-CN" altLang="en-US" sz="1800" i="1">
                            <a:latin typeface="Cambria Math"/>
                          </a:rPr>
                          <m:t>缓存</m:t>
                        </m:r>
                        <m:r>
                          <a:rPr kumimoji="1" lang="zh-CN" altLang="en-US" sz="1800" b="0" i="1" smtClean="0">
                            <a:latin typeface="Cambria Math"/>
                          </a:rPr>
                          <m:t>总</m:t>
                        </m:r>
                        <m:r>
                          <a:rPr kumimoji="1" lang="zh-CN" altLang="en-US" sz="1800" i="1">
                            <a:latin typeface="Cambria Math"/>
                          </a:rPr>
                          <m:t>请求</m:t>
                        </m:r>
                        <m:r>
                          <a:rPr kumimoji="1" lang="zh-CN" altLang="en-US" sz="1800" b="0" i="1" smtClean="0">
                            <a:latin typeface="Cambria Math"/>
                          </a:rPr>
                          <m:t>数</m:t>
                        </m:r>
                      </m:den>
                    </m:f>
                  </m:oMath>
                </a14:m>
                <a:endParaRPr kumimoji="1" lang="en-US" altLang="zh-CN" sz="1800" dirty="0">
                  <a:latin typeface="微软雅黑" pitchFamily="34" charset="-122"/>
                  <a:ea typeface="微软雅黑" pitchFamily="34" charset="-122"/>
                </a:endParaRPr>
              </a:p>
              <a:p>
                <a:endParaRPr kumimoji="1" lang="en-US" altLang="zh-CN" sz="1800" dirty="0">
                  <a:latin typeface="微软雅黑" pitchFamily="34" charset="-122"/>
                  <a:ea typeface="微软雅黑" pitchFamily="34" charset="-122"/>
                </a:endParaRPr>
              </a:p>
              <a:p>
                <a:r>
                  <a:rPr kumimoji="1" lang="zh-CN" altLang="en-US" sz="1800" dirty="0">
                    <a:latin typeface="微软雅黑" pitchFamily="34" charset="-122"/>
                    <a:ea typeface="微软雅黑" pitchFamily="34" charset="-122"/>
                  </a:rPr>
                  <a:t>缺失惩罚</a:t>
                </a:r>
                <a:r>
                  <a:rPr kumimoji="1" lang="en-US" altLang="zh-CN" sz="1800" dirty="0">
                    <a:latin typeface="微软雅黑" pitchFamily="34" charset="-122"/>
                    <a:ea typeface="微软雅黑" pitchFamily="34" charset="-122"/>
                  </a:rPr>
                  <a:t>(miss penalty)</a:t>
                </a:r>
                <a:r>
                  <a:rPr kumimoji="1" lang="zh-CN" altLang="en-US" sz="1800" dirty="0">
                    <a:latin typeface="微软雅黑" pitchFamily="34" charset="-122"/>
                    <a:ea typeface="微软雅黑" pitchFamily="34" charset="-122"/>
                  </a:rPr>
                  <a:t> 量化缓存缺失需要花费的周期数</a:t>
                </a:r>
                <a:endParaRPr kumimoji="1" lang="en-US" altLang="zh-CN" sz="1800" dirty="0">
                  <a:latin typeface="微软雅黑" pitchFamily="34" charset="-122"/>
                  <a:ea typeface="微软雅黑" pitchFamily="34" charset="-122"/>
                </a:endParaRPr>
              </a:p>
              <a:p>
                <a14:m>
                  <m:oMath xmlns:m="http://schemas.openxmlformats.org/officeDocument/2006/math">
                    <m:r>
                      <a:rPr kumimoji="1" lang="en-US" altLang="zh-CN" sz="1800" b="0" i="1" smtClean="0">
                        <a:latin typeface="Cambria Math"/>
                      </a:rPr>
                      <m:t>𝑚𝑖𝑠𝑠</m:t>
                    </m:r>
                    <m:r>
                      <a:rPr kumimoji="1" lang="en-US" altLang="zh-CN" sz="1800" b="0" i="1" smtClean="0">
                        <a:latin typeface="Cambria Math"/>
                      </a:rPr>
                      <m:t> </m:t>
                    </m:r>
                    <m:r>
                      <a:rPr kumimoji="1" lang="en-US" altLang="zh-CN" sz="1800" b="0" i="1" smtClean="0">
                        <a:latin typeface="Cambria Math"/>
                      </a:rPr>
                      <m:t>𝑝𝑒𝑛𝑎𝑙𝑡𝑦</m:t>
                    </m:r>
                    <m:r>
                      <a:rPr kumimoji="1" lang="en-US" altLang="zh-CN" sz="1800" b="0" i="1" smtClean="0">
                        <a:latin typeface="Cambria Math"/>
                      </a:rPr>
                      <m:t>=</m:t>
                    </m:r>
                    <m:r>
                      <m:rPr>
                        <m:nor/>
                      </m:rPr>
                      <a:rPr kumimoji="1" lang="zh-CN" altLang="en-US" sz="1800" dirty="0">
                        <a:latin typeface="微软雅黑" pitchFamily="34" charset="-122"/>
                        <a:ea typeface="微软雅黑" pitchFamily="34" charset="-122"/>
                      </a:rPr>
                      <m:t>更低一级存储层次</m:t>
                    </m:r>
                    <m:r>
                      <a:rPr kumimoji="1" lang="zh-CN" altLang="en-US" sz="1800" b="0" i="1" dirty="0" smtClean="0">
                        <a:latin typeface="Cambria Math"/>
                        <a:ea typeface="微软雅黑" pitchFamily="34" charset="-122"/>
                      </a:rPr>
                      <m:t>的</m:t>
                    </m:r>
                    <m:r>
                      <a:rPr kumimoji="1" lang="zh-CN" altLang="en-US" sz="1800" i="1" dirty="0">
                        <a:latin typeface="Cambria Math"/>
                        <a:ea typeface="微软雅黑" pitchFamily="34" charset="-122"/>
                      </a:rPr>
                      <m:t>命中</m:t>
                    </m:r>
                    <m:r>
                      <a:rPr kumimoji="1" lang="zh-CN" altLang="en-US" sz="1800" i="1" dirty="0" smtClean="0">
                        <a:latin typeface="Cambria Math"/>
                        <a:ea typeface="微软雅黑" pitchFamily="34" charset="-122"/>
                      </a:rPr>
                      <m:t>延时</m:t>
                    </m:r>
                  </m:oMath>
                </a14:m>
                <a:endParaRPr kumimoji="1" lang="en-US" altLang="zh-CN" sz="1800" dirty="0">
                  <a:latin typeface="微软雅黑" pitchFamily="34" charset="-122"/>
                  <a:ea typeface="微软雅黑" pitchFamily="34" charset="-122"/>
                </a:endParaRPr>
              </a:p>
            </p:txBody>
          </p:sp>
        </mc:Choice>
        <mc:Fallback xmlns="">
          <p:sp>
            <p:nvSpPr>
              <p:cNvPr id="7" name="内容占位符 2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DFEFC21A-4D5F-6E4C-92AC-B3B3043BBB7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503945" y="2428662"/>
                <a:ext cx="6469315" cy="4429338"/>
              </a:xfrm>
              <a:blipFill rotWithShape="1">
                <a:blip r:embed="rId2"/>
                <a:stretch>
                  <a:fillRect l="-660" t="-12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矩形 15"/>
          <p:cNvSpPr/>
          <p:nvPr/>
        </p:nvSpPr>
        <p:spPr>
          <a:xfrm>
            <a:off x="1005839" y="1342360"/>
            <a:ext cx="1366222" cy="763793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CPU</a:t>
            </a:r>
            <a:endParaRPr lang="zh-CN" altLang="en-US" dirty="0"/>
          </a:p>
        </p:txBody>
      </p:sp>
      <p:sp>
        <p:nvSpPr>
          <p:cNvPr id="17" name="矩形 16"/>
          <p:cNvSpPr/>
          <p:nvPr/>
        </p:nvSpPr>
        <p:spPr>
          <a:xfrm>
            <a:off x="2973591" y="2477015"/>
            <a:ext cx="1961479" cy="1185689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内存</a:t>
            </a:r>
          </a:p>
        </p:txBody>
      </p:sp>
      <p:cxnSp>
        <p:nvCxnSpPr>
          <p:cNvPr id="30" name="直接箭头连接符 29"/>
          <p:cNvCxnSpPr/>
          <p:nvPr/>
        </p:nvCxnSpPr>
        <p:spPr>
          <a:xfrm>
            <a:off x="2186491" y="3063307"/>
            <a:ext cx="787100" cy="0"/>
          </a:xfrm>
          <a:prstGeom prst="straightConnector1">
            <a:avLst/>
          </a:prstGeom>
          <a:ln w="1905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矩形 30"/>
          <p:cNvSpPr/>
          <p:nvPr/>
        </p:nvSpPr>
        <p:spPr>
          <a:xfrm>
            <a:off x="1191408" y="2774920"/>
            <a:ext cx="995083" cy="549193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缓存</a:t>
            </a:r>
          </a:p>
        </p:txBody>
      </p:sp>
      <p:cxnSp>
        <p:nvCxnSpPr>
          <p:cNvPr id="32" name="直接箭头连接符 31"/>
          <p:cNvCxnSpPr>
            <a:endCxn id="31" idx="0"/>
          </p:cNvCxnSpPr>
          <p:nvPr/>
        </p:nvCxnSpPr>
        <p:spPr>
          <a:xfrm>
            <a:off x="1688949" y="2106153"/>
            <a:ext cx="1" cy="668767"/>
          </a:xfrm>
          <a:prstGeom prst="straightConnector1">
            <a:avLst/>
          </a:prstGeom>
          <a:ln w="1905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411478" y="2266963"/>
            <a:ext cx="11887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4 cycles</a:t>
            </a:r>
            <a:endParaRPr lang="zh-CN" altLang="en-US" dirty="0"/>
          </a:p>
        </p:txBody>
      </p:sp>
      <p:sp>
        <p:nvSpPr>
          <p:cNvPr id="34" name="TextBox 33"/>
          <p:cNvSpPr txBox="1"/>
          <p:nvPr/>
        </p:nvSpPr>
        <p:spPr>
          <a:xfrm>
            <a:off x="2112083" y="2692006"/>
            <a:ext cx="9359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100</a:t>
            </a:r>
          </a:p>
          <a:p>
            <a:r>
              <a:rPr lang="en-US" altLang="zh-CN" dirty="0"/>
              <a:t>cycles</a:t>
            </a:r>
            <a:endParaRPr lang="zh-CN" altLang="en-US" dirty="0"/>
          </a:p>
        </p:txBody>
      </p:sp>
      <p:cxnSp>
        <p:nvCxnSpPr>
          <p:cNvPr id="35" name="直接箭头连接符 34"/>
          <p:cNvCxnSpPr/>
          <p:nvPr/>
        </p:nvCxnSpPr>
        <p:spPr>
          <a:xfrm>
            <a:off x="1518619" y="2106153"/>
            <a:ext cx="1" cy="668767"/>
          </a:xfrm>
          <a:prstGeom prst="straightConnector1">
            <a:avLst/>
          </a:prstGeom>
          <a:ln w="1905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箭头连接符 35"/>
          <p:cNvCxnSpPr/>
          <p:nvPr/>
        </p:nvCxnSpPr>
        <p:spPr>
          <a:xfrm>
            <a:off x="1843141" y="2117245"/>
            <a:ext cx="1" cy="668767"/>
          </a:xfrm>
          <a:prstGeom prst="straightConnector1">
            <a:avLst/>
          </a:prstGeom>
          <a:ln w="1905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箭头连接符 36"/>
          <p:cNvCxnSpPr/>
          <p:nvPr/>
        </p:nvCxnSpPr>
        <p:spPr>
          <a:xfrm>
            <a:off x="1995542" y="2117245"/>
            <a:ext cx="1" cy="668767"/>
          </a:xfrm>
          <a:prstGeom prst="straightConnector1">
            <a:avLst/>
          </a:prstGeom>
          <a:ln w="1905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箭头连接符 37"/>
          <p:cNvCxnSpPr/>
          <p:nvPr/>
        </p:nvCxnSpPr>
        <p:spPr>
          <a:xfrm>
            <a:off x="2125529" y="2106152"/>
            <a:ext cx="1" cy="668767"/>
          </a:xfrm>
          <a:prstGeom prst="straightConnector1">
            <a:avLst/>
          </a:prstGeom>
          <a:ln w="1905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/>
          <p:cNvCxnSpPr/>
          <p:nvPr/>
        </p:nvCxnSpPr>
        <p:spPr>
          <a:xfrm flipH="1">
            <a:off x="892885" y="3184264"/>
            <a:ext cx="625736" cy="16781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/>
          <p:cNvCxnSpPr/>
          <p:nvPr/>
        </p:nvCxnSpPr>
        <p:spPr>
          <a:xfrm>
            <a:off x="1843141" y="3184264"/>
            <a:ext cx="1362638" cy="119409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椭圆 40"/>
          <p:cNvSpPr/>
          <p:nvPr/>
        </p:nvSpPr>
        <p:spPr>
          <a:xfrm>
            <a:off x="764689" y="4034118"/>
            <a:ext cx="3000487" cy="2823882"/>
          </a:xfrm>
          <a:prstGeom prst="ellipse">
            <a:avLst/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矩形 41"/>
          <p:cNvSpPr/>
          <p:nvPr/>
        </p:nvSpPr>
        <p:spPr>
          <a:xfrm>
            <a:off x="2153319" y="4496696"/>
            <a:ext cx="862182" cy="26356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Tag 1</a:t>
            </a:r>
            <a:endParaRPr lang="zh-CN" altLang="en-US" dirty="0"/>
          </a:p>
        </p:txBody>
      </p:sp>
      <p:sp>
        <p:nvSpPr>
          <p:cNvPr id="43" name="矩形 42"/>
          <p:cNvSpPr/>
          <p:nvPr/>
        </p:nvSpPr>
        <p:spPr>
          <a:xfrm>
            <a:off x="1664741" y="4889351"/>
            <a:ext cx="862182" cy="26356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Tag 2</a:t>
            </a:r>
            <a:endParaRPr lang="zh-CN" altLang="en-US" dirty="0"/>
          </a:p>
        </p:txBody>
      </p:sp>
      <p:sp>
        <p:nvSpPr>
          <p:cNvPr id="44" name="矩形 43"/>
          <p:cNvSpPr/>
          <p:nvPr/>
        </p:nvSpPr>
        <p:spPr>
          <a:xfrm>
            <a:off x="782394" y="5314278"/>
            <a:ext cx="1213148" cy="26356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 err="1"/>
              <a:t>Addr_Tag</a:t>
            </a:r>
            <a:endParaRPr lang="zh-CN" altLang="en-US" dirty="0"/>
          </a:p>
        </p:txBody>
      </p:sp>
      <p:sp>
        <p:nvSpPr>
          <p:cNvPr id="45" name="椭圆 44"/>
          <p:cNvSpPr/>
          <p:nvPr/>
        </p:nvSpPr>
        <p:spPr>
          <a:xfrm>
            <a:off x="2095832" y="5701553"/>
            <a:ext cx="306818" cy="301214"/>
          </a:xfrm>
          <a:prstGeom prst="ellipse">
            <a:avLst/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=</a:t>
            </a:r>
            <a:endParaRPr lang="zh-CN" altLang="en-US" dirty="0"/>
          </a:p>
        </p:txBody>
      </p:sp>
      <p:sp>
        <p:nvSpPr>
          <p:cNvPr id="46" name="椭圆 45"/>
          <p:cNvSpPr/>
          <p:nvPr/>
        </p:nvSpPr>
        <p:spPr>
          <a:xfrm>
            <a:off x="2595390" y="5701553"/>
            <a:ext cx="306818" cy="301214"/>
          </a:xfrm>
          <a:prstGeom prst="ellipse">
            <a:avLst/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=</a:t>
            </a:r>
            <a:endParaRPr lang="zh-CN" altLang="en-US" dirty="0"/>
          </a:p>
        </p:txBody>
      </p:sp>
      <p:cxnSp>
        <p:nvCxnSpPr>
          <p:cNvPr id="47" name="肘形连接符 46"/>
          <p:cNvCxnSpPr>
            <a:stCxn id="44" idx="3"/>
            <a:endCxn id="45" idx="1"/>
          </p:cNvCxnSpPr>
          <p:nvPr/>
        </p:nvCxnSpPr>
        <p:spPr>
          <a:xfrm>
            <a:off x="1995542" y="5446059"/>
            <a:ext cx="145222" cy="299606"/>
          </a:xfrm>
          <a:prstGeom prst="bentConnector2">
            <a:avLst/>
          </a:prstGeom>
          <a:ln w="127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肘形连接符 47"/>
          <p:cNvCxnSpPr>
            <a:stCxn id="44" idx="3"/>
            <a:endCxn id="46" idx="1"/>
          </p:cNvCxnSpPr>
          <p:nvPr/>
        </p:nvCxnSpPr>
        <p:spPr>
          <a:xfrm>
            <a:off x="1995542" y="5446059"/>
            <a:ext cx="644780" cy="299606"/>
          </a:xfrm>
          <a:prstGeom prst="bentConnector2">
            <a:avLst/>
          </a:prstGeom>
          <a:ln w="127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箭头连接符 48"/>
          <p:cNvCxnSpPr>
            <a:endCxn id="45" idx="7"/>
          </p:cNvCxnSpPr>
          <p:nvPr/>
        </p:nvCxnSpPr>
        <p:spPr>
          <a:xfrm>
            <a:off x="2357718" y="5152913"/>
            <a:ext cx="0" cy="592752"/>
          </a:xfrm>
          <a:prstGeom prst="straightConnector1">
            <a:avLst/>
          </a:prstGeom>
          <a:ln w="127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箭头连接符 49"/>
          <p:cNvCxnSpPr>
            <a:endCxn id="46" idx="7"/>
          </p:cNvCxnSpPr>
          <p:nvPr/>
        </p:nvCxnSpPr>
        <p:spPr>
          <a:xfrm>
            <a:off x="2857276" y="4760258"/>
            <a:ext cx="0" cy="985407"/>
          </a:xfrm>
          <a:prstGeom prst="straightConnector1">
            <a:avLst/>
          </a:prstGeom>
          <a:ln w="127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箭头连接符 50"/>
          <p:cNvCxnSpPr>
            <a:stCxn id="45" idx="4"/>
          </p:cNvCxnSpPr>
          <p:nvPr/>
        </p:nvCxnSpPr>
        <p:spPr>
          <a:xfrm>
            <a:off x="2249241" y="6002767"/>
            <a:ext cx="0" cy="382793"/>
          </a:xfrm>
          <a:prstGeom prst="straightConnector1">
            <a:avLst/>
          </a:prstGeom>
          <a:ln w="127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箭头连接符 51"/>
          <p:cNvCxnSpPr/>
          <p:nvPr/>
        </p:nvCxnSpPr>
        <p:spPr>
          <a:xfrm>
            <a:off x="2750140" y="6002766"/>
            <a:ext cx="0" cy="382793"/>
          </a:xfrm>
          <a:prstGeom prst="straightConnector1">
            <a:avLst/>
          </a:prstGeom>
          <a:ln w="127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1600200" y="6024885"/>
            <a:ext cx="7137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false</a:t>
            </a:r>
            <a:endParaRPr lang="zh-CN" altLang="en-US" sz="1600" dirty="0"/>
          </a:p>
        </p:txBody>
      </p:sp>
      <p:sp>
        <p:nvSpPr>
          <p:cNvPr id="54" name="TextBox 53"/>
          <p:cNvSpPr txBox="1"/>
          <p:nvPr/>
        </p:nvSpPr>
        <p:spPr>
          <a:xfrm>
            <a:off x="2743867" y="6021590"/>
            <a:ext cx="7137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false</a:t>
            </a:r>
            <a:endParaRPr lang="zh-CN" altLang="en-US" sz="1600" dirty="0"/>
          </a:p>
        </p:txBody>
      </p:sp>
      <p:sp>
        <p:nvSpPr>
          <p:cNvPr id="55" name="TextBox 54"/>
          <p:cNvSpPr txBox="1"/>
          <p:nvPr/>
        </p:nvSpPr>
        <p:spPr>
          <a:xfrm>
            <a:off x="2279610" y="6360144"/>
            <a:ext cx="4946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?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112876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7D4822-C52A-4AD0-B55E-616E852F1C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衡量</a:t>
            </a:r>
            <a:r>
              <a:rPr lang="en-US" altLang="zh-CN" dirty="0"/>
              <a:t>Cache</a:t>
            </a:r>
            <a:r>
              <a:rPr lang="zh-CN" altLang="en-US" dirty="0"/>
              <a:t>性能的指标</a:t>
            </a:r>
            <a:endParaRPr lang="en-US" altLang="zh-CN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3411E1E-D695-43D0-8CFE-F544CD01AD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dirty="0"/>
              <a:t>衡量</a:t>
            </a:r>
            <a:r>
              <a:rPr lang="en-US" altLang="zh-CN" dirty="0"/>
              <a:t>Cache</a:t>
            </a:r>
            <a:r>
              <a:rPr lang="zh-CN" altLang="en-US" dirty="0"/>
              <a:t>性能的指标</a:t>
            </a:r>
            <a:endParaRPr lang="en-US" altLang="zh-CN" dirty="0"/>
          </a:p>
          <a:p>
            <a:pPr lvl="1">
              <a:lnSpc>
                <a:spcPct val="120000"/>
              </a:lnSpc>
            </a:pPr>
            <a:r>
              <a:rPr lang="zh-CN" altLang="en-US" dirty="0"/>
              <a:t>命中时间：在</a:t>
            </a:r>
            <a:r>
              <a:rPr lang="en-US" altLang="zh-CN" dirty="0"/>
              <a:t>Cache</a:t>
            </a:r>
            <a:r>
              <a:rPr lang="zh-CN" altLang="en-US" dirty="0"/>
              <a:t>中命中目标即找到相应数据花费的时间</a:t>
            </a:r>
            <a:endParaRPr lang="en-US" altLang="zh-CN" dirty="0"/>
          </a:p>
          <a:p>
            <a:pPr lvl="1">
              <a:lnSpc>
                <a:spcPct val="120000"/>
              </a:lnSpc>
            </a:pPr>
            <a:r>
              <a:rPr lang="zh-CN" altLang="en-US" dirty="0"/>
              <a:t>缺失率：未能找到预期目标的</a:t>
            </a:r>
            <a:r>
              <a:rPr lang="en-US" altLang="zh-CN" dirty="0"/>
              <a:t>Cache</a:t>
            </a:r>
            <a:r>
              <a:rPr lang="zh-CN" altLang="en-US" dirty="0"/>
              <a:t>访问所占的比例，即未找到目标的访问数目除以总访问数目</a:t>
            </a:r>
            <a:endParaRPr lang="en-US" altLang="zh-CN" dirty="0"/>
          </a:p>
          <a:p>
            <a:pPr lvl="1">
              <a:lnSpc>
                <a:spcPct val="120000"/>
              </a:lnSpc>
            </a:pPr>
            <a:r>
              <a:rPr lang="zh-CN" altLang="en-US" dirty="0"/>
              <a:t>缺失代价：目标在</a:t>
            </a:r>
            <a:r>
              <a:rPr lang="en-US" altLang="zh-CN" dirty="0"/>
              <a:t>Cache</a:t>
            </a:r>
            <a:r>
              <a:rPr lang="zh-CN" altLang="en-US" dirty="0"/>
              <a:t>中缺失时，从内存中取得替代块的时间（即缺失成本）</a:t>
            </a:r>
            <a:endParaRPr lang="en-US" altLang="zh-CN" dirty="0"/>
          </a:p>
          <a:p>
            <a:pPr lvl="1">
              <a:lnSpc>
                <a:spcPct val="120000"/>
              </a:lnSpc>
            </a:pPr>
            <a:r>
              <a:rPr lang="zh-CN" altLang="en-US" dirty="0"/>
              <a:t>存储器平均访问时间</a:t>
            </a:r>
            <a:r>
              <a:rPr lang="en-US" altLang="zh-CN" dirty="0"/>
              <a:t>=</a:t>
            </a:r>
            <a:r>
              <a:rPr lang="zh-CN" altLang="en-US" dirty="0"/>
              <a:t>命中时间</a:t>
            </a:r>
            <a:r>
              <a:rPr lang="en-US" altLang="zh-CN" dirty="0"/>
              <a:t>+</a:t>
            </a:r>
            <a:r>
              <a:rPr lang="zh-CN" altLang="en-US" dirty="0"/>
              <a:t>缺失率</a:t>
            </a:r>
            <a:r>
              <a:rPr lang="en-US" altLang="zh-CN" dirty="0"/>
              <a:t>X</a:t>
            </a:r>
            <a:r>
              <a:rPr lang="zh-CN" altLang="en-US" dirty="0"/>
              <a:t>缺失代价</a:t>
            </a:r>
          </a:p>
        </p:txBody>
      </p:sp>
    </p:spTree>
    <p:extLst>
      <p:ext uri="{BB962C8B-B14F-4D97-AF65-F5344CB8AC3E}">
        <p14:creationId xmlns:p14="http://schemas.microsoft.com/office/powerpoint/2010/main" val="32508618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9DBF70-5F8B-4CFE-9C10-B4839DABC9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Cache</a:t>
            </a:r>
            <a:r>
              <a:rPr lang="zh-CN" altLang="en-US" dirty="0"/>
              <a:t>优化方法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840D8C7-2BB0-4A41-9AD9-E1BAA80E3A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dirty="0"/>
              <a:t>一些基本的</a:t>
            </a:r>
            <a:r>
              <a:rPr lang="en-US" altLang="zh-CN" dirty="0"/>
              <a:t>Cache</a:t>
            </a:r>
            <a:r>
              <a:rPr lang="zh-CN" altLang="en-US" dirty="0"/>
              <a:t>优化方法</a:t>
            </a:r>
            <a:endParaRPr lang="en-US" altLang="zh-CN" dirty="0"/>
          </a:p>
          <a:p>
            <a:pPr lvl="1">
              <a:lnSpc>
                <a:spcPct val="120000"/>
              </a:lnSpc>
            </a:pPr>
            <a:r>
              <a:rPr lang="en-US" altLang="zh-CN" dirty="0"/>
              <a:t>1</a:t>
            </a:r>
            <a:r>
              <a:rPr lang="zh-CN" altLang="en-US" dirty="0"/>
              <a:t>、增大块以降低缺失率</a:t>
            </a:r>
            <a:endParaRPr lang="en-US" altLang="zh-CN" dirty="0"/>
          </a:p>
          <a:p>
            <a:pPr lvl="1">
              <a:lnSpc>
                <a:spcPct val="120000"/>
              </a:lnSpc>
            </a:pPr>
            <a:r>
              <a:rPr lang="en-US" altLang="zh-CN" dirty="0"/>
              <a:t>2</a:t>
            </a:r>
            <a:r>
              <a:rPr lang="zh-CN" altLang="en-US" dirty="0"/>
              <a:t>、增大</a:t>
            </a:r>
            <a:r>
              <a:rPr lang="en-US" altLang="zh-CN" dirty="0"/>
              <a:t>Cache</a:t>
            </a:r>
            <a:r>
              <a:rPr lang="zh-CN" altLang="en-US" dirty="0"/>
              <a:t>容量以降低缺失率</a:t>
            </a:r>
            <a:endParaRPr lang="en-US" altLang="zh-CN" dirty="0"/>
          </a:p>
          <a:p>
            <a:pPr lvl="1">
              <a:lnSpc>
                <a:spcPct val="120000"/>
              </a:lnSpc>
            </a:pPr>
            <a:r>
              <a:rPr lang="en-US" altLang="zh-CN" dirty="0"/>
              <a:t>3</a:t>
            </a:r>
            <a:r>
              <a:rPr lang="zh-CN" altLang="en-US" dirty="0"/>
              <a:t>、提高相联程度以降低缺失率</a:t>
            </a:r>
            <a:endParaRPr lang="en-US" altLang="zh-CN" dirty="0"/>
          </a:p>
          <a:p>
            <a:pPr lvl="1">
              <a:lnSpc>
                <a:spcPct val="120000"/>
              </a:lnSpc>
            </a:pPr>
            <a:r>
              <a:rPr lang="en-US" altLang="zh-CN" dirty="0"/>
              <a:t>4</a:t>
            </a:r>
            <a:r>
              <a:rPr lang="zh-CN" altLang="en-US" dirty="0"/>
              <a:t>、采用多级</a:t>
            </a:r>
            <a:r>
              <a:rPr lang="en-US" altLang="zh-CN" dirty="0"/>
              <a:t>Cache</a:t>
            </a:r>
            <a:r>
              <a:rPr lang="zh-CN" altLang="en-US" dirty="0"/>
              <a:t>以降低缺失代价</a:t>
            </a:r>
            <a:endParaRPr lang="en-US" altLang="zh-CN" dirty="0"/>
          </a:p>
          <a:p>
            <a:pPr lvl="1">
              <a:lnSpc>
                <a:spcPct val="120000"/>
              </a:lnSpc>
            </a:pPr>
            <a:r>
              <a:rPr lang="en-US" altLang="zh-CN" dirty="0"/>
              <a:t>5</a:t>
            </a:r>
            <a:r>
              <a:rPr lang="zh-CN" altLang="en-US" dirty="0"/>
              <a:t>、为读取缺失指定高于写入操作的优先级，以降低缺失率</a:t>
            </a:r>
            <a:endParaRPr lang="en-US" altLang="zh-CN" dirty="0"/>
          </a:p>
          <a:p>
            <a:pPr lvl="1">
              <a:lnSpc>
                <a:spcPct val="120000"/>
              </a:lnSpc>
            </a:pPr>
            <a:r>
              <a:rPr lang="en-US" altLang="zh-CN" dirty="0"/>
              <a:t>6</a:t>
            </a:r>
            <a:r>
              <a:rPr lang="zh-CN" altLang="en-US" dirty="0"/>
              <a:t>、在缓存索引期间避免地址转换，以缩短命中时间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784872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897DD58-36F5-44FC-A543-944A69DD47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玄铁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C910 RTL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配置生成工具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C701846-CA60-4F80-B64F-369BCCC5D0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平头哥玄铁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C910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交付包含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RTL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配置、生成工具，通过配置工具勾选所需配置，可生成对应配置的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rtl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文件。 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使用步骤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source setup/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setup.csh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./Thead_C910_Core_Config</a:t>
            </a:r>
          </a:p>
          <a:p>
            <a:pPr lvl="1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、选择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配置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、点击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Generate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生成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rtl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、生成的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rtl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代码在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gen_rtl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目录下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AD4274B5-7A75-42E0-B2E3-AE261260358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7273637" y="2701636"/>
            <a:ext cx="3430732" cy="3973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24181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B8A1C55-F85F-4EA4-BE3D-2ADCD2FBFE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实验步骤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DAEC807-9505-43C3-8DC7-E61C18625D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7189415" cy="4351338"/>
          </a:xfrm>
        </p:spPr>
        <p:txBody>
          <a:bodyPr/>
          <a:lstStyle/>
          <a:p>
            <a:r>
              <a:rPr lang="en-US" altLang="zh-CN" dirty="0"/>
              <a:t>1</a:t>
            </a:r>
            <a:r>
              <a:rPr lang="zh-CN" altLang="en-US" dirty="0"/>
              <a:t>、</a:t>
            </a:r>
            <a:r>
              <a:rPr lang="zh-CN" altLang="zh-CN" dirty="0"/>
              <a:t>更改</a:t>
            </a:r>
            <a:r>
              <a:rPr lang="en-US" altLang="zh-CN" dirty="0"/>
              <a:t>cache</a:t>
            </a:r>
            <a:r>
              <a:rPr lang="zh-CN" altLang="zh-CN" dirty="0"/>
              <a:t>参数，生成不同</a:t>
            </a:r>
            <a:r>
              <a:rPr lang="en-US" altLang="zh-CN" dirty="0"/>
              <a:t>cache</a:t>
            </a:r>
            <a:r>
              <a:rPr lang="zh-CN" altLang="zh-CN" dirty="0"/>
              <a:t>配置的</a:t>
            </a:r>
            <a:r>
              <a:rPr lang="en-US" altLang="zh-CN" dirty="0"/>
              <a:t>RTL</a:t>
            </a:r>
            <a:r>
              <a:rPr lang="zh-CN" altLang="zh-CN" dirty="0"/>
              <a:t>代码</a:t>
            </a:r>
            <a:endParaRPr lang="en-US" altLang="zh-CN" dirty="0"/>
          </a:p>
          <a:p>
            <a:pPr lvl="1"/>
            <a:r>
              <a:rPr lang="en-US" altLang="zh-CN" dirty="0"/>
              <a:t>Core Num=1</a:t>
            </a:r>
            <a:r>
              <a:rPr lang="zh-CN" altLang="zh-CN" dirty="0"/>
              <a:t>，</a:t>
            </a:r>
            <a:endParaRPr lang="en-US" altLang="zh-CN" dirty="0"/>
          </a:p>
          <a:p>
            <a:pPr lvl="1"/>
            <a:r>
              <a:rPr lang="en-US" altLang="zh-CN" dirty="0"/>
              <a:t>VECTOR SIMD=No</a:t>
            </a:r>
            <a:r>
              <a:rPr lang="zh-CN" altLang="en-US" dirty="0"/>
              <a:t>，</a:t>
            </a:r>
            <a:endParaRPr lang="en-US" altLang="zh-CN" dirty="0"/>
          </a:p>
          <a:p>
            <a:pPr lvl="1"/>
            <a:r>
              <a:rPr lang="en-US" altLang="zh-CN" dirty="0"/>
              <a:t>L1 I Cache = 32KB</a:t>
            </a:r>
          </a:p>
          <a:p>
            <a:pPr lvl="1"/>
            <a:r>
              <a:rPr lang="en-US" altLang="zh-CN" dirty="0"/>
              <a:t>RTL Type=FPGA</a:t>
            </a:r>
            <a:r>
              <a:rPr lang="zh-CN" altLang="en-US" dirty="0"/>
              <a:t>，</a:t>
            </a:r>
            <a:endParaRPr lang="en-US" altLang="zh-CN" dirty="0"/>
          </a:p>
          <a:p>
            <a:pPr lvl="1"/>
            <a:r>
              <a:rPr lang="zh-CN" altLang="en-US" dirty="0"/>
              <a:t>其余</a:t>
            </a:r>
            <a:r>
              <a:rPr lang="en-US" altLang="zh-CN" dirty="0"/>
              <a:t>cache</a:t>
            </a:r>
            <a:r>
              <a:rPr lang="zh-CN" altLang="en-US" dirty="0"/>
              <a:t>参数遍历一遍，逐个生成</a:t>
            </a:r>
            <a:r>
              <a:rPr lang="zh-CN" altLang="en-US"/>
              <a:t>不同配置的</a:t>
            </a:r>
            <a:r>
              <a:rPr lang="en-US" altLang="zh-CN"/>
              <a:t>RTL</a:t>
            </a:r>
            <a:r>
              <a:rPr lang="zh-CN" altLang="en-US" dirty="0"/>
              <a:t>并保存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AB7D32E-0BA1-4D14-B9EC-45DE15D0698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8027615" y="2089120"/>
            <a:ext cx="3458441" cy="4544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82782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2AA148-E234-4498-848B-BA95CD736F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实验步骤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846EE75-A0E2-4F0F-BDDC-CDA41F2101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3</a:t>
            </a:r>
            <a:r>
              <a:rPr lang="zh-CN" altLang="en-US" dirty="0"/>
              <a:t>、用生成的</a:t>
            </a:r>
            <a:r>
              <a:rPr lang="en-US" altLang="zh-CN" dirty="0" err="1"/>
              <a:t>rtl</a:t>
            </a:r>
            <a:r>
              <a:rPr lang="zh-CN" altLang="en-US" dirty="0"/>
              <a:t>代码替换</a:t>
            </a:r>
            <a:r>
              <a:rPr lang="en-US" altLang="zh-CN" dirty="0"/>
              <a:t>SMART</a:t>
            </a:r>
            <a:r>
              <a:rPr lang="zh-CN" altLang="en-US" dirty="0"/>
              <a:t>平台原有的</a:t>
            </a:r>
            <a:r>
              <a:rPr lang="en-US" altLang="zh-CN" dirty="0" err="1"/>
              <a:t>cpu</a:t>
            </a:r>
            <a:r>
              <a:rPr lang="en-US" altLang="zh-CN" dirty="0"/>
              <a:t> </a:t>
            </a:r>
            <a:r>
              <a:rPr lang="en-US" altLang="zh-CN" dirty="0" err="1"/>
              <a:t>rtl</a:t>
            </a:r>
            <a:r>
              <a:rPr lang="zh-CN" altLang="en-US" dirty="0"/>
              <a:t>并仿真运行</a:t>
            </a:r>
            <a:endParaRPr lang="en-US" altLang="zh-CN" dirty="0"/>
          </a:p>
          <a:p>
            <a:pPr lvl="1"/>
            <a:r>
              <a:rPr lang="zh-CN" altLang="en-US" dirty="0"/>
              <a:t>对生成的</a:t>
            </a:r>
            <a:r>
              <a:rPr lang="en-US" altLang="zh-CN" dirty="0" err="1"/>
              <a:t>rtl</a:t>
            </a:r>
            <a:r>
              <a:rPr lang="zh-CN" altLang="en-US" dirty="0"/>
              <a:t>的修改参考实验文档。</a:t>
            </a:r>
            <a:endParaRPr lang="en-US" altLang="zh-CN" dirty="0"/>
          </a:p>
          <a:p>
            <a:pPr lvl="1"/>
            <a:r>
              <a:rPr lang="zh-CN" altLang="en-US" dirty="0"/>
              <a:t>在不同的配置下</a:t>
            </a:r>
            <a:r>
              <a:rPr lang="zh-CN" altLang="zh-CN" dirty="0"/>
              <a:t>运行示例的</a:t>
            </a:r>
            <a:r>
              <a:rPr lang="en-US" altLang="zh-CN" dirty="0" err="1"/>
              <a:t>cache_test.c</a:t>
            </a:r>
            <a:r>
              <a:rPr lang="zh-CN" altLang="zh-CN" dirty="0"/>
              <a:t>程序</a:t>
            </a:r>
            <a:r>
              <a:rPr lang="en-US" altLang="zh-CN" dirty="0"/>
              <a:t>(case/</a:t>
            </a:r>
            <a:r>
              <a:rPr lang="en-US" altLang="zh-CN" dirty="0" err="1"/>
              <a:t>cache_test</a:t>
            </a:r>
            <a:r>
              <a:rPr lang="en-US" altLang="zh-CN" dirty="0"/>
              <a:t>/</a:t>
            </a:r>
            <a:r>
              <a:rPr lang="en-US" altLang="zh-CN" dirty="0" err="1"/>
              <a:t>cache_test.c</a:t>
            </a:r>
            <a:r>
              <a:rPr lang="en-US" altLang="zh-CN" dirty="0"/>
              <a:t>)</a:t>
            </a:r>
            <a:r>
              <a:rPr lang="zh-CN" altLang="en-US" dirty="0"/>
              <a:t>。</a:t>
            </a:r>
            <a:endParaRPr lang="en-US" altLang="zh-CN" dirty="0"/>
          </a:p>
          <a:p>
            <a:pPr lvl="1"/>
            <a:r>
              <a:rPr lang="zh-CN" altLang="zh-CN" dirty="0"/>
              <a:t>记录数据，计算得到</a:t>
            </a:r>
            <a:r>
              <a:rPr lang="en-US" altLang="zh-CN" dirty="0"/>
              <a:t>CPI</a:t>
            </a:r>
            <a:r>
              <a:rPr lang="zh-CN" altLang="zh-CN" dirty="0"/>
              <a:t>和</a:t>
            </a:r>
            <a:r>
              <a:rPr lang="en-US" altLang="zh-CN" dirty="0"/>
              <a:t>cache</a:t>
            </a:r>
            <a:r>
              <a:rPr lang="zh-CN" altLang="zh-CN" dirty="0"/>
              <a:t>缺失率</a:t>
            </a:r>
            <a:r>
              <a:rPr lang="zh-CN" altLang="en-US" dirty="0"/>
              <a:t>，汇总成表。</a:t>
            </a:r>
            <a:endParaRPr lang="en-US" altLang="zh-CN" dirty="0"/>
          </a:p>
          <a:p>
            <a:pPr lvl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469392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41CF54-6786-4EDE-9837-84C24D1DD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实验步骤</a:t>
            </a:r>
          </a:p>
        </p:txBody>
      </p:sp>
      <p:graphicFrame>
        <p:nvGraphicFramePr>
          <p:cNvPr id="6" name="内容占位符 5">
            <a:extLst>
              <a:ext uri="{FF2B5EF4-FFF2-40B4-BE49-F238E27FC236}">
                <a16:creationId xmlns:a16="http://schemas.microsoft.com/office/drawing/2014/main" id="{6365905B-3938-4A6A-B237-952EC6DB101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21008465"/>
              </p:ext>
            </p:extLst>
          </p:nvPr>
        </p:nvGraphicFramePr>
        <p:xfrm>
          <a:off x="1798737" y="1690688"/>
          <a:ext cx="5931535" cy="2400300"/>
        </p:xfrm>
        <a:graphic>
          <a:graphicData uri="http://schemas.openxmlformats.org/drawingml/2006/table">
            <a:tbl>
              <a:tblPr firstRow="1" firstCol="1" bandRow="1"/>
              <a:tblGrid>
                <a:gridCol w="1400810">
                  <a:extLst>
                    <a:ext uri="{9D8B030D-6E8A-4147-A177-3AD203B41FA5}">
                      <a16:colId xmlns:a16="http://schemas.microsoft.com/office/drawing/2014/main" val="335887479"/>
                    </a:ext>
                  </a:extLst>
                </a:gridCol>
                <a:gridCol w="1400810">
                  <a:extLst>
                    <a:ext uri="{9D8B030D-6E8A-4147-A177-3AD203B41FA5}">
                      <a16:colId xmlns:a16="http://schemas.microsoft.com/office/drawing/2014/main" val="813394413"/>
                    </a:ext>
                  </a:extLst>
                </a:gridCol>
                <a:gridCol w="523875">
                  <a:extLst>
                    <a:ext uri="{9D8B030D-6E8A-4147-A177-3AD203B41FA5}">
                      <a16:colId xmlns:a16="http://schemas.microsoft.com/office/drawing/2014/main" val="1407515241"/>
                    </a:ext>
                  </a:extLst>
                </a:gridCol>
                <a:gridCol w="523875">
                  <a:extLst>
                    <a:ext uri="{9D8B030D-6E8A-4147-A177-3AD203B41FA5}">
                      <a16:colId xmlns:a16="http://schemas.microsoft.com/office/drawing/2014/main" val="2916556816"/>
                    </a:ext>
                  </a:extLst>
                </a:gridCol>
                <a:gridCol w="523875">
                  <a:extLst>
                    <a:ext uri="{9D8B030D-6E8A-4147-A177-3AD203B41FA5}">
                      <a16:colId xmlns:a16="http://schemas.microsoft.com/office/drawing/2014/main" val="1141146609"/>
                    </a:ext>
                  </a:extLst>
                </a:gridCol>
                <a:gridCol w="523875">
                  <a:extLst>
                    <a:ext uri="{9D8B030D-6E8A-4147-A177-3AD203B41FA5}">
                      <a16:colId xmlns:a16="http://schemas.microsoft.com/office/drawing/2014/main" val="462841365"/>
                    </a:ext>
                  </a:extLst>
                </a:gridCol>
                <a:gridCol w="519430">
                  <a:extLst>
                    <a:ext uri="{9D8B030D-6E8A-4147-A177-3AD203B41FA5}">
                      <a16:colId xmlns:a16="http://schemas.microsoft.com/office/drawing/2014/main" val="4247969725"/>
                    </a:ext>
                  </a:extLst>
                </a:gridCol>
                <a:gridCol w="514985">
                  <a:extLst>
                    <a:ext uri="{9D8B030D-6E8A-4147-A177-3AD203B41FA5}">
                      <a16:colId xmlns:a16="http://schemas.microsoft.com/office/drawing/2014/main" val="2452963515"/>
                    </a:ext>
                  </a:extLst>
                </a:gridCol>
              </a:tblGrid>
              <a:tr h="0">
                <a:tc rowSpan="3">
                  <a:txBody>
                    <a:bodyPr/>
                    <a:lstStyle/>
                    <a:p>
                      <a:pPr algn="just"/>
                      <a:r>
                        <a:rPr lang="en-US" sz="1050" kern="100" dirty="0">
                          <a:effectLst/>
                          <a:latin typeface="宋体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configure</a:t>
                      </a:r>
                      <a:endParaRPr lang="zh-CN" sz="105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050" kern="100">
                          <a:effectLst/>
                          <a:latin typeface="宋体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L1_Dcache size (32K/64K)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050" kern="100">
                          <a:effectLst/>
                          <a:latin typeface="宋体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32K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050" kern="100">
                          <a:effectLst/>
                          <a:latin typeface="宋体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32K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050" kern="100">
                          <a:effectLst/>
                          <a:latin typeface="宋体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32K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050" kern="100">
                          <a:effectLst/>
                          <a:latin typeface="宋体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32K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050" kern="100">
                          <a:effectLst/>
                          <a:latin typeface="宋体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32K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050" kern="100">
                          <a:effectLst/>
                          <a:latin typeface="宋体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…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08302541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050" kern="100">
                          <a:effectLst/>
                          <a:latin typeface="宋体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L2_Dcache size (512K/1M)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050" kern="100">
                          <a:effectLst/>
                          <a:latin typeface="宋体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512K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050" kern="100">
                          <a:effectLst/>
                          <a:latin typeface="宋体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512K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050" kern="100">
                          <a:effectLst/>
                          <a:latin typeface="宋体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512K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050" kern="100">
                          <a:effectLst/>
                          <a:latin typeface="宋体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512K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050" kern="100">
                          <a:effectLst/>
                          <a:latin typeface="宋体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1M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050" kern="100">
                          <a:effectLst/>
                          <a:latin typeface="宋体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…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260853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050" kern="100">
                          <a:effectLst/>
                          <a:latin typeface="宋体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N (1/2/3/4)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050" kern="100">
                          <a:effectLst/>
                          <a:latin typeface="宋体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050" kern="100">
                          <a:effectLst/>
                          <a:latin typeface="宋体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050" kern="100">
                          <a:effectLst/>
                          <a:latin typeface="宋体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050" kern="100">
                          <a:effectLst/>
                          <a:latin typeface="宋体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4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050" kern="100">
                          <a:effectLst/>
                          <a:latin typeface="宋体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050" kern="100">
                          <a:effectLst/>
                          <a:latin typeface="宋体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…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97454120"/>
                  </a:ext>
                </a:extLst>
              </a:tr>
              <a:tr h="0">
                <a:tc rowSpan="9">
                  <a:txBody>
                    <a:bodyPr/>
                    <a:lstStyle/>
                    <a:p>
                      <a:pPr algn="just"/>
                      <a:r>
                        <a:rPr lang="en-US" sz="1050" kern="100" dirty="0">
                          <a:effectLst/>
                          <a:latin typeface="宋体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result</a:t>
                      </a:r>
                      <a:endParaRPr lang="zh-CN" sz="105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050" kern="100">
                          <a:effectLst/>
                          <a:latin typeface="宋体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cycle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050" kern="100">
                          <a:effectLst/>
                          <a:latin typeface="宋体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050" kern="100">
                          <a:effectLst/>
                          <a:latin typeface="宋体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050" kern="100">
                          <a:effectLst/>
                          <a:latin typeface="宋体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050" kern="100">
                          <a:effectLst/>
                          <a:latin typeface="宋体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050" kern="100">
                          <a:effectLst/>
                          <a:latin typeface="宋体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050" kern="100">
                          <a:effectLst/>
                          <a:latin typeface="宋体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3656119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050" kern="100">
                          <a:effectLst/>
                          <a:latin typeface="宋体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insts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050" kern="100">
                          <a:effectLst/>
                          <a:latin typeface="宋体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050" kern="100">
                          <a:effectLst/>
                          <a:latin typeface="宋体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050" kern="100">
                          <a:effectLst/>
                          <a:latin typeface="宋体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050" kern="100">
                          <a:effectLst/>
                          <a:latin typeface="宋体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050" kern="100">
                          <a:effectLst/>
                          <a:latin typeface="宋体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050" kern="100">
                          <a:effectLst/>
                          <a:latin typeface="宋体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880295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050" kern="100">
                          <a:effectLst/>
                          <a:latin typeface="宋体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CPI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050" kern="100">
                          <a:effectLst/>
                          <a:latin typeface="宋体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050" kern="100">
                          <a:effectLst/>
                          <a:latin typeface="宋体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050" kern="100">
                          <a:effectLst/>
                          <a:latin typeface="宋体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050" kern="100">
                          <a:effectLst/>
                          <a:latin typeface="宋体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050" kern="100">
                          <a:effectLst/>
                          <a:latin typeface="宋体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050" kern="100">
                          <a:effectLst/>
                          <a:latin typeface="宋体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733434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050" kern="100">
                          <a:effectLst/>
                          <a:latin typeface="宋体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L1_Dread access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050" kern="100">
                          <a:effectLst/>
                          <a:latin typeface="宋体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050" kern="100">
                          <a:effectLst/>
                          <a:latin typeface="宋体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050" kern="100">
                          <a:effectLst/>
                          <a:latin typeface="宋体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050" kern="100">
                          <a:effectLst/>
                          <a:latin typeface="宋体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050" kern="100">
                          <a:effectLst/>
                          <a:latin typeface="宋体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050" kern="100">
                          <a:effectLst/>
                          <a:latin typeface="宋体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2501281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050" kern="100">
                          <a:effectLst/>
                          <a:latin typeface="宋体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L1_Dread miss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050" kern="100">
                          <a:effectLst/>
                          <a:latin typeface="宋体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050" kern="100">
                          <a:effectLst/>
                          <a:latin typeface="宋体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050" kern="100">
                          <a:effectLst/>
                          <a:latin typeface="宋体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050" kern="100">
                          <a:effectLst/>
                          <a:latin typeface="宋体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050" kern="100">
                          <a:effectLst/>
                          <a:latin typeface="宋体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050" kern="100">
                          <a:effectLst/>
                          <a:latin typeface="宋体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66173826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050" kern="100">
                          <a:effectLst/>
                          <a:latin typeface="宋体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L1_Dread miss_rate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050" kern="100">
                          <a:effectLst/>
                          <a:latin typeface="宋体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050" kern="100">
                          <a:effectLst/>
                          <a:latin typeface="宋体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050" kern="100">
                          <a:effectLst/>
                          <a:latin typeface="宋体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050" kern="100">
                          <a:effectLst/>
                          <a:latin typeface="宋体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050" kern="100">
                          <a:effectLst/>
                          <a:latin typeface="宋体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050" kern="100">
                          <a:effectLst/>
                          <a:latin typeface="宋体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7712352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050" kern="100">
                          <a:effectLst/>
                          <a:latin typeface="宋体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L1_Dwrite access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050" kern="100">
                          <a:effectLst/>
                          <a:latin typeface="宋体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050" kern="100">
                          <a:effectLst/>
                          <a:latin typeface="宋体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050" kern="100">
                          <a:effectLst/>
                          <a:latin typeface="宋体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050" kern="100">
                          <a:effectLst/>
                          <a:latin typeface="宋体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050" kern="100">
                          <a:effectLst/>
                          <a:latin typeface="宋体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050" kern="100">
                          <a:effectLst/>
                          <a:latin typeface="宋体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2190431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050" kern="100">
                          <a:effectLst/>
                          <a:latin typeface="宋体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L1_Dwrite miss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050" kern="100">
                          <a:effectLst/>
                          <a:latin typeface="宋体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050" kern="100">
                          <a:effectLst/>
                          <a:latin typeface="宋体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050" kern="100">
                          <a:effectLst/>
                          <a:latin typeface="宋体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050" kern="100">
                          <a:effectLst/>
                          <a:latin typeface="宋体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050" kern="100">
                          <a:effectLst/>
                          <a:latin typeface="宋体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050" kern="100">
                          <a:effectLst/>
                          <a:latin typeface="宋体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219137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050" kern="100">
                          <a:effectLst/>
                          <a:latin typeface="宋体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L1_Dwrite miss_rate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050" kern="100">
                          <a:effectLst/>
                          <a:latin typeface="宋体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050" kern="100">
                          <a:effectLst/>
                          <a:latin typeface="宋体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050" kern="100">
                          <a:effectLst/>
                          <a:latin typeface="宋体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050" kern="100">
                          <a:effectLst/>
                          <a:latin typeface="宋体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050" kern="100">
                          <a:effectLst/>
                          <a:latin typeface="宋体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050" kern="100" dirty="0">
                          <a:effectLst/>
                          <a:latin typeface="宋体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105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94041977"/>
                  </a:ext>
                </a:extLst>
              </a:tr>
            </a:tbl>
          </a:graphicData>
        </a:graphic>
      </p:graphicFrame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11036B3E-D378-416F-A018-17C069E6A3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2423970"/>
              </p:ext>
            </p:extLst>
          </p:nvPr>
        </p:nvGraphicFramePr>
        <p:xfrm>
          <a:off x="1798737" y="4252595"/>
          <a:ext cx="6023610" cy="2240280"/>
        </p:xfrm>
        <a:graphic>
          <a:graphicData uri="http://schemas.openxmlformats.org/drawingml/2006/table">
            <a:tbl>
              <a:tblPr firstRow="1" firstCol="1" bandRow="1"/>
              <a:tblGrid>
                <a:gridCol w="1381760">
                  <a:extLst>
                    <a:ext uri="{9D8B030D-6E8A-4147-A177-3AD203B41FA5}">
                      <a16:colId xmlns:a16="http://schemas.microsoft.com/office/drawing/2014/main" val="1582358749"/>
                    </a:ext>
                  </a:extLst>
                </a:gridCol>
                <a:gridCol w="1381760">
                  <a:extLst>
                    <a:ext uri="{9D8B030D-6E8A-4147-A177-3AD203B41FA5}">
                      <a16:colId xmlns:a16="http://schemas.microsoft.com/office/drawing/2014/main" val="2629256378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1982572804"/>
                    </a:ext>
                  </a:extLst>
                </a:gridCol>
                <a:gridCol w="543560">
                  <a:extLst>
                    <a:ext uri="{9D8B030D-6E8A-4147-A177-3AD203B41FA5}">
                      <a16:colId xmlns:a16="http://schemas.microsoft.com/office/drawing/2014/main" val="2959205180"/>
                    </a:ext>
                  </a:extLst>
                </a:gridCol>
                <a:gridCol w="543560">
                  <a:extLst>
                    <a:ext uri="{9D8B030D-6E8A-4147-A177-3AD203B41FA5}">
                      <a16:colId xmlns:a16="http://schemas.microsoft.com/office/drawing/2014/main" val="1514726176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865374954"/>
                    </a:ext>
                  </a:extLst>
                </a:gridCol>
                <a:gridCol w="543560">
                  <a:extLst>
                    <a:ext uri="{9D8B030D-6E8A-4147-A177-3AD203B41FA5}">
                      <a16:colId xmlns:a16="http://schemas.microsoft.com/office/drawing/2014/main" val="3892018258"/>
                    </a:ext>
                  </a:extLst>
                </a:gridCol>
                <a:gridCol w="543560">
                  <a:extLst>
                    <a:ext uri="{9D8B030D-6E8A-4147-A177-3AD203B41FA5}">
                      <a16:colId xmlns:a16="http://schemas.microsoft.com/office/drawing/2014/main" val="846109608"/>
                    </a:ext>
                  </a:extLst>
                </a:gridCol>
              </a:tblGrid>
              <a:tr h="0">
                <a:tc rowSpan="3">
                  <a:txBody>
                    <a:bodyPr/>
                    <a:lstStyle/>
                    <a:p>
                      <a:pPr algn="just"/>
                      <a:r>
                        <a:rPr lang="en-US" sz="1050" kern="100">
                          <a:effectLst/>
                          <a:latin typeface="宋体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configure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050" kern="100">
                          <a:effectLst/>
                          <a:latin typeface="宋体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L1_Dcache size (32K/64K)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050" kern="100">
                          <a:effectLst/>
                          <a:latin typeface="宋体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32K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050" kern="100">
                          <a:effectLst/>
                          <a:latin typeface="宋体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32K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050" kern="100">
                          <a:effectLst/>
                          <a:latin typeface="宋体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32K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050" kern="100">
                          <a:effectLst/>
                          <a:latin typeface="宋体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32K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050" kern="100">
                          <a:effectLst/>
                          <a:latin typeface="宋体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32K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050" kern="100">
                          <a:effectLst/>
                          <a:latin typeface="宋体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…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5325361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050" kern="100">
                          <a:effectLst/>
                          <a:latin typeface="宋体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L2_Dcache size (512K/1M/2M/4M)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050" kern="100">
                          <a:effectLst/>
                          <a:latin typeface="宋体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512K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050" kern="100">
                          <a:effectLst/>
                          <a:latin typeface="宋体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512K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050" kern="100">
                          <a:effectLst/>
                          <a:latin typeface="宋体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1M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050" kern="100">
                          <a:effectLst/>
                          <a:latin typeface="宋体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1M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050" kern="100">
                          <a:effectLst/>
                          <a:latin typeface="宋体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2M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050" kern="100">
                          <a:effectLst/>
                          <a:latin typeface="宋体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…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18600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050" kern="100">
                          <a:effectLst/>
                          <a:latin typeface="宋体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N (1/2)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050" kern="100">
                          <a:effectLst/>
                          <a:latin typeface="宋体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050" kern="100">
                          <a:effectLst/>
                          <a:latin typeface="宋体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050" kern="100">
                          <a:effectLst/>
                          <a:latin typeface="宋体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050" kern="100">
                          <a:effectLst/>
                          <a:latin typeface="宋体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050" kern="100">
                          <a:effectLst/>
                          <a:latin typeface="宋体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050" kern="100">
                          <a:effectLst/>
                          <a:latin typeface="宋体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…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2980047"/>
                  </a:ext>
                </a:extLst>
              </a:tr>
              <a:tr h="0">
                <a:tc rowSpan="9">
                  <a:txBody>
                    <a:bodyPr/>
                    <a:lstStyle/>
                    <a:p>
                      <a:pPr algn="just"/>
                      <a:r>
                        <a:rPr lang="en-US" sz="1050" kern="100">
                          <a:effectLst/>
                          <a:latin typeface="宋体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result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050" kern="100">
                          <a:effectLst/>
                          <a:latin typeface="宋体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cycle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050" kern="100">
                          <a:effectLst/>
                          <a:latin typeface="宋体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050" kern="100">
                          <a:effectLst/>
                          <a:latin typeface="宋体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050" kern="100">
                          <a:effectLst/>
                          <a:latin typeface="宋体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050" kern="100">
                          <a:effectLst/>
                          <a:latin typeface="宋体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050" kern="100">
                          <a:effectLst/>
                          <a:latin typeface="宋体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050" kern="100">
                          <a:effectLst/>
                          <a:latin typeface="宋体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9948810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050" kern="100">
                          <a:effectLst/>
                          <a:latin typeface="宋体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insts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050" kern="100">
                          <a:effectLst/>
                          <a:latin typeface="宋体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050" kern="100">
                          <a:effectLst/>
                          <a:latin typeface="宋体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050" kern="100">
                          <a:effectLst/>
                          <a:latin typeface="宋体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050" kern="100">
                          <a:effectLst/>
                          <a:latin typeface="宋体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050" kern="100">
                          <a:effectLst/>
                          <a:latin typeface="宋体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050" kern="100">
                          <a:effectLst/>
                          <a:latin typeface="宋体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16541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050" kern="100">
                          <a:effectLst/>
                          <a:latin typeface="宋体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CPI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050" kern="100">
                          <a:effectLst/>
                          <a:latin typeface="宋体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050" kern="100">
                          <a:effectLst/>
                          <a:latin typeface="宋体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050" kern="100">
                          <a:effectLst/>
                          <a:latin typeface="宋体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050" kern="100">
                          <a:effectLst/>
                          <a:latin typeface="宋体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050" kern="100">
                          <a:effectLst/>
                          <a:latin typeface="宋体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050" kern="100">
                          <a:effectLst/>
                          <a:latin typeface="宋体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907081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050" kern="100">
                          <a:effectLst/>
                          <a:latin typeface="宋体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L1_Dread access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050" kern="100">
                          <a:effectLst/>
                          <a:latin typeface="宋体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050" kern="100">
                          <a:effectLst/>
                          <a:latin typeface="宋体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050" kern="100">
                          <a:effectLst/>
                          <a:latin typeface="宋体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050" kern="100">
                          <a:effectLst/>
                          <a:latin typeface="宋体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050" kern="100">
                          <a:effectLst/>
                          <a:latin typeface="宋体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050" kern="100">
                          <a:effectLst/>
                          <a:latin typeface="宋体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2478501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050" kern="100">
                          <a:effectLst/>
                          <a:latin typeface="宋体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L1_Dread miss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050" kern="100">
                          <a:effectLst/>
                          <a:latin typeface="宋体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050" kern="100">
                          <a:effectLst/>
                          <a:latin typeface="宋体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050" kern="100">
                          <a:effectLst/>
                          <a:latin typeface="宋体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050" kern="100">
                          <a:effectLst/>
                          <a:latin typeface="宋体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050" kern="100">
                          <a:effectLst/>
                          <a:latin typeface="宋体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050" kern="100">
                          <a:effectLst/>
                          <a:latin typeface="宋体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8109705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050" kern="100">
                          <a:effectLst/>
                          <a:latin typeface="宋体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L1_Dread miss_rate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050" kern="100">
                          <a:effectLst/>
                          <a:latin typeface="宋体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050" kern="100">
                          <a:effectLst/>
                          <a:latin typeface="宋体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050" kern="100">
                          <a:effectLst/>
                          <a:latin typeface="宋体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050" kern="100">
                          <a:effectLst/>
                          <a:latin typeface="宋体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050" kern="100">
                          <a:effectLst/>
                          <a:latin typeface="宋体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050" kern="100">
                          <a:effectLst/>
                          <a:latin typeface="宋体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74281304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050" kern="100">
                          <a:effectLst/>
                          <a:latin typeface="宋体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L2_Dread access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050" kern="100">
                          <a:effectLst/>
                          <a:latin typeface="宋体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050" kern="100">
                          <a:effectLst/>
                          <a:latin typeface="宋体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050" kern="100">
                          <a:effectLst/>
                          <a:latin typeface="宋体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050" kern="100">
                          <a:effectLst/>
                          <a:latin typeface="宋体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050" kern="100">
                          <a:effectLst/>
                          <a:latin typeface="宋体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050" kern="100">
                          <a:effectLst/>
                          <a:latin typeface="宋体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5793097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050" kern="100">
                          <a:effectLst/>
                          <a:latin typeface="宋体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L2_Dread miss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050" kern="100">
                          <a:effectLst/>
                          <a:latin typeface="宋体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050" kern="100">
                          <a:effectLst/>
                          <a:latin typeface="宋体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050" kern="100">
                          <a:effectLst/>
                          <a:latin typeface="宋体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050" kern="100">
                          <a:effectLst/>
                          <a:latin typeface="宋体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050" kern="100">
                          <a:effectLst/>
                          <a:latin typeface="宋体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050" kern="100">
                          <a:effectLst/>
                          <a:latin typeface="宋体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87708476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050" kern="100">
                          <a:effectLst/>
                          <a:latin typeface="宋体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L2_Dread miss_rate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050" kern="100">
                          <a:effectLst/>
                          <a:latin typeface="宋体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050" kern="100">
                          <a:effectLst/>
                          <a:latin typeface="宋体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050" kern="100">
                          <a:effectLst/>
                          <a:latin typeface="宋体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050" kern="100">
                          <a:effectLst/>
                          <a:latin typeface="宋体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050" kern="100">
                          <a:effectLst/>
                          <a:latin typeface="宋体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050" kern="100" dirty="0">
                          <a:effectLst/>
                          <a:latin typeface="宋体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105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91529477"/>
                  </a:ext>
                </a:extLst>
              </a:tr>
            </a:tbl>
          </a:graphicData>
        </a:graphic>
      </p:graphicFrame>
      <p:sp>
        <p:nvSpPr>
          <p:cNvPr id="10" name="文本框 9">
            <a:extLst>
              <a:ext uri="{FF2B5EF4-FFF2-40B4-BE49-F238E27FC236}">
                <a16:creationId xmlns:a16="http://schemas.microsoft.com/office/drawing/2014/main" id="{582CB4BD-6999-485F-BF71-CF7896DF8CE1}"/>
              </a:ext>
            </a:extLst>
          </p:cNvPr>
          <p:cNvSpPr txBox="1"/>
          <p:nvPr/>
        </p:nvSpPr>
        <p:spPr>
          <a:xfrm>
            <a:off x="8710863" y="2890838"/>
            <a:ext cx="13612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L1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测试记录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5FE2231-FFD3-4ACC-B6E1-3C74B99CA494}"/>
              </a:ext>
            </a:extLst>
          </p:cNvPr>
          <p:cNvSpPr txBox="1"/>
          <p:nvPr/>
        </p:nvSpPr>
        <p:spPr>
          <a:xfrm>
            <a:off x="8710863" y="5188069"/>
            <a:ext cx="13612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L2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测试记录</a:t>
            </a:r>
          </a:p>
        </p:txBody>
      </p:sp>
    </p:spTree>
    <p:extLst>
      <p:ext uri="{BB962C8B-B14F-4D97-AF65-F5344CB8AC3E}">
        <p14:creationId xmlns:p14="http://schemas.microsoft.com/office/powerpoint/2010/main" val="36023627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2176</TotalTime>
  <Words>1562</Words>
  <Application>Microsoft Office PowerPoint</Application>
  <PresentationFormat>宽屏</PresentationFormat>
  <Paragraphs>491</Paragraphs>
  <Slides>21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28" baseType="lpstr">
      <vt:lpstr>等线</vt:lpstr>
      <vt:lpstr>宋体</vt:lpstr>
      <vt:lpstr>微软雅黑</vt:lpstr>
      <vt:lpstr>Arial</vt:lpstr>
      <vt:lpstr>Cambria Math</vt:lpstr>
      <vt:lpstr>Verdana</vt:lpstr>
      <vt:lpstr>Office 主题​​</vt:lpstr>
      <vt:lpstr>Cache操作实验</vt:lpstr>
      <vt:lpstr>目录</vt:lpstr>
      <vt:lpstr>内存墙——缓存的存在意义</vt:lpstr>
      <vt:lpstr>内存墙——缓存的存在意义</vt:lpstr>
      <vt:lpstr>存储器层次模型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缓存命中延时</vt:lpstr>
      <vt:lpstr>缓存缺失</vt:lpstr>
      <vt:lpstr>缓存缺失</vt:lpstr>
      <vt:lpstr>衡量Cache性能的指标</vt:lpstr>
      <vt:lpstr>Cache优化方法</vt:lpstr>
      <vt:lpstr>玄铁C910 RTL配置生成工具</vt:lpstr>
      <vt:lpstr>实验步骤</vt:lpstr>
      <vt:lpstr>实验步骤</vt:lpstr>
      <vt:lpstr>实验步骤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Cache操作实验</dc:title>
  <dc:creator>刘 旭东</dc:creator>
  <cp:lastModifiedBy>刘 旭东</cp:lastModifiedBy>
  <cp:revision>52</cp:revision>
  <dcterms:created xsi:type="dcterms:W3CDTF">2020-08-09T03:12:25Z</dcterms:created>
  <dcterms:modified xsi:type="dcterms:W3CDTF">2021-04-25T03:02:57Z</dcterms:modified>
</cp:coreProperties>
</file>