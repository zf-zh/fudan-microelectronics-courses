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</p:sldMasterIdLst>
  <p:sldIdLst>
    <p:sldId id="256" r:id="rId5"/>
    <p:sldId id="258" r:id="rId6"/>
    <p:sldId id="259" r:id="rId7"/>
    <p:sldId id="260" r:id="rId8"/>
    <p:sldId id="262" r:id="rId9"/>
    <p:sldId id="263" r:id="rId10"/>
    <p:sldId id="268" r:id="rId11"/>
    <p:sldId id="270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534670"/>
          </a:xfr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534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534670"/>
          </a:xfr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534670"/>
          </a:xfr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534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534670"/>
          </a:xfr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534670"/>
          </a:xfrm>
        </p:spPr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53467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534670"/>
          </a:xfrm>
        </p:spPr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355251" y="4106405"/>
            <a:ext cx="5338445" cy="807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59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与芯片系统设计</a:t>
            </a:r>
            <a:endParaRPr sz="5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3730155" y="3101327"/>
            <a:ext cx="4582159" cy="8108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sz="59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嵌入式处理器</a:t>
            </a:r>
            <a:endParaRPr sz="5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 8"/>
          <p:cNvSpPr/>
          <p:nvPr/>
        </p:nvSpPr>
        <p:spPr>
          <a:xfrm>
            <a:off x="3936479" y="628319"/>
            <a:ext cx="8255520" cy="300075"/>
          </a:xfrm>
          <a:prstGeom prst="rect">
            <a:avLst/>
          </a:prstGeom>
          <a:solidFill>
            <a:srgbClr val="0E41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17547" y="393035"/>
            <a:ext cx="2309329" cy="732066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0" y="633984"/>
            <a:ext cx="1397508" cy="288035"/>
          </a:xfrm>
          <a:prstGeom prst="rect">
            <a:avLst/>
          </a:prstGeom>
          <a:solidFill>
            <a:srgbClr val="0E41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5168" y="4060520"/>
            <a:ext cx="5601284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971550" y="956945"/>
          <a:ext cx="9234169" cy="5442585"/>
        </p:xfrm>
        <a:graphic>
          <a:graphicData uri="http://schemas.openxmlformats.org/drawingml/2006/table">
            <a:tbl>
              <a:tblPr/>
              <a:tblGrid>
                <a:gridCol w="1866900"/>
                <a:gridCol w="1770379"/>
                <a:gridCol w="5596889"/>
              </a:tblGrid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83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46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实验安排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第一周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</a:t>
                      </a:r>
                      <a:r>
                        <a:rPr lang="en-US"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en-US"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en-US"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lang="en-US" sz="1400" b="1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实验1</a:t>
                      </a:r>
                      <a:r>
                        <a:rPr sz="14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Linux Shell基本操作与GNU工具介绍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2026/3/13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实验2 体系结构仿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真器简介及RISC-V QEMU工具</a:t>
                      </a:r>
                      <a:r>
                        <a:rPr sz="14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GDB介绍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第三周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2026/3/20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实验3</a:t>
                      </a:r>
                      <a:r>
                        <a:rPr sz="14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RISC-V QEMU上运行Linux系统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第四周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2026/3/27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实验4</a:t>
                      </a:r>
                      <a:r>
                        <a:rPr sz="14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RISC-V汇编程序编程练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习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第五周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2026/4/3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实验5 QEMU上的YOLO算法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第六周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2026/4/10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习题课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第七周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2026/4/17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实验6 SMART平台介绍与仿真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第八周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2026/4/24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实验7 Cache操作实验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第九周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2026/5/1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zh-CN" sz="1400" b="1" strike="sngStrike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劳动节放假</a:t>
                      </a:r>
                      <a:endParaRPr lang="zh-CN" sz="1400" b="1" strike="sngStrike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2026/5/8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实验8</a:t>
                      </a:r>
                      <a:r>
                        <a:rPr sz="14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Pipeline实验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第十一周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2026/5/15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lang="zh-CN" sz="1400" b="1" strike="sngStrike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校运动会</a:t>
                      </a:r>
                      <a:r>
                        <a:rPr lang="zh-CN" sz="1400" b="1" strike="sngStrike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放假</a:t>
                      </a:r>
                      <a:endParaRPr lang="zh-CN" sz="1400" b="1" strike="sngStrike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第十二周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2026/5/22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实验9</a:t>
                      </a:r>
                      <a:r>
                        <a:rPr lang="en-US"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YOLO</a:t>
                      </a:r>
                      <a:r>
                        <a:rPr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卷积层的</a:t>
                      </a: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SMART</a:t>
                      </a:r>
                      <a:r>
                        <a:rPr sz="14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仿真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第十三周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2026/5/29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400" b="1" kern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实验10 wujian平台介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绍和FPGA调试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第十四周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2026/6/5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endParaRPr lang="zh-CN" sz="1400" b="1" kern="0" spc="-1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65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zh-CN" sz="1400" b="1" kern="0" spc="-1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实验11（大作业） D1开发板部署神经网络</a:t>
                      </a:r>
                      <a:endParaRPr sz="1400" b="1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3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5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第十五周</a:t>
                      </a:r>
                      <a:endParaRPr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b="1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1855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2026/6/12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box 34"/>
          <p:cNvSpPr/>
          <p:nvPr/>
        </p:nvSpPr>
        <p:spPr>
          <a:xfrm>
            <a:off x="0" y="100583"/>
            <a:ext cx="10188575" cy="734694"/>
          </a:xfrm>
          <a:prstGeom prst="rect">
            <a:avLst/>
          </a:prstGeom>
          <a:solidFill>
            <a:srgbClr val="8FAA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91210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sz="27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3500" b="1" kern="0" spc="20" dirty="0">
                <a:solidFill>
                  <a:srgbClr val="16263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实验安排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 36"/>
          <p:cNvSpPr/>
          <p:nvPr/>
        </p:nvSpPr>
        <p:spPr>
          <a:xfrm>
            <a:off x="0" y="6571488"/>
            <a:ext cx="12192000" cy="286511"/>
          </a:xfrm>
          <a:prstGeom prst="rect">
            <a:avLst/>
          </a:prstGeom>
          <a:solidFill>
            <a:srgbClr val="101C2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19816" y="41147"/>
            <a:ext cx="935735" cy="935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17990" y="1421860"/>
            <a:ext cx="4687570" cy="4417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5440" indent="-332740" algn="l" rtl="0" eaLnBrk="0">
              <a:lnSpc>
                <a:spcPct val="130000"/>
              </a:lnSpc>
              <a:spcBef>
                <a:spcPts val="0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每次实验均会提供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实验手册</a:t>
            </a:r>
            <a:r>
              <a:rPr sz="2000" b="1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，其中包含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背景知识、操作步骤、实验要求、实验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报告模板等。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4170" indent="-332105" algn="l" rtl="0" eaLnBrk="0">
              <a:lnSpc>
                <a:spcPct val="120000"/>
              </a:lnSpc>
              <a:spcBef>
                <a:spcPts val="60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实验报告模板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中提供了实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验报告基本框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架，</a:t>
            </a:r>
            <a:r>
              <a:rPr sz="2000" kern="0" spc="-4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同学们在此基础上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补充扩展。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265" indent="-329565" algn="l" rtl="0" eaLnBrk="0">
              <a:lnSpc>
                <a:spcPct val="130000"/>
              </a:lnSpc>
              <a:spcBef>
                <a:spcPts val="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实验报告以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数据详实准确、分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析深入全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为要</a:t>
            </a:r>
            <a:r>
              <a:rPr sz="2000" kern="0" spc="-3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，鼓励自主扩展和探索</a:t>
            </a:r>
            <a:r>
              <a:rPr sz="2000" kern="0" spc="-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，不必堆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砌字数。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0" y="100583"/>
            <a:ext cx="10188575" cy="734694"/>
          </a:xfrm>
          <a:prstGeom prst="rect">
            <a:avLst/>
          </a:prstGeom>
          <a:solidFill>
            <a:srgbClr val="8FAA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00100" algn="l" rtl="0" eaLnBrk="0">
              <a:lnSpc>
                <a:spcPct val="89000"/>
              </a:lnSpc>
              <a:spcBef>
                <a:spcPts val="0"/>
              </a:spcBef>
            </a:pPr>
            <a:r>
              <a:rPr lang="en-US" sz="27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700" b="1" kern="0" spc="1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3500" b="1" kern="0" spc="30" dirty="0">
                <a:solidFill>
                  <a:srgbClr val="16263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实验报告要求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 46"/>
          <p:cNvSpPr/>
          <p:nvPr/>
        </p:nvSpPr>
        <p:spPr>
          <a:xfrm>
            <a:off x="0" y="6571488"/>
            <a:ext cx="12192000" cy="286511"/>
          </a:xfrm>
          <a:prstGeom prst="rect">
            <a:avLst/>
          </a:prstGeom>
          <a:solidFill>
            <a:srgbClr val="101C2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719816" y="41147"/>
            <a:ext cx="935735" cy="9357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417990" y="1180814"/>
            <a:ext cx="10995025" cy="4664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习题作业的提交要</a:t>
            </a: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ts val="2325"/>
              </a:lnSpc>
              <a:spcBef>
                <a:spcPts val="630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sz="1700" b="1" kern="0" spc="10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纸质作业本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上完成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习题作业之后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，拍照或扫描制成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，发送到邮箱 </a:t>
            </a:r>
            <a:r>
              <a:rPr lang="en-US" altLang="zh-CN" sz="17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vaporliuyuxi@163.com</a:t>
            </a:r>
            <a:endParaRPr lang="en-US" altLang="zh-CN"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ct val="98000"/>
              </a:lnSpc>
              <a:spcBef>
                <a:spcPts val="725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每次提交作业时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本次作业内容的第一页页眉位置填写姓名、</a:t>
            </a:r>
            <a:r>
              <a:rPr sz="1700" b="1" kern="0" spc="-36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</a:t>
            </a:r>
            <a:r>
              <a:rPr sz="1700" b="1" kern="0" spc="-25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，扫描或拍照时注意包含以上信息。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54380" indent="-279400" algn="l" rtl="0" eaLnBrk="0">
              <a:lnSpc>
                <a:spcPct val="130000"/>
              </a:lnSpc>
              <a:spcBef>
                <a:spcPts val="560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4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伯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，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</a:t>
            </a: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22300822222-张三”。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务必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严格遵守命名规则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ts val="2375"/>
              </a:lnSpc>
              <a:spcBef>
                <a:spcPts val="270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每周二布置作业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次周周二23:59之前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提交作业。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600"/>
              </a:spcBef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实验报告的提交要求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315" indent="-267335" algn="l" rtl="0" eaLnBrk="0">
              <a:lnSpc>
                <a:spcPct val="125000"/>
              </a:lnSpc>
              <a:spcBef>
                <a:spcPts val="615"/>
              </a:spcBef>
              <a:tabLst>
                <a:tab pos="637540" algn="l"/>
              </a:tabLst>
            </a:pPr>
            <a:r>
              <a:rPr sz="1700" b="1" kern="0" spc="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b="1" kern="0" spc="32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9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参照模板完成电子版实验报告</a:t>
            </a:r>
            <a:r>
              <a:rPr sz="1700" b="1" kern="0" spc="-24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，与其他实验材料打包后发送到邮箱 </a:t>
            </a:r>
            <a:r>
              <a:rPr lang="en-US" altLang="zh-CN"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tianfs24@163.com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需要额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外提交的实验材料将在实验文档中说明。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54380" indent="-279400" algn="l" rtl="0" eaLnBrk="0">
              <a:lnSpc>
                <a:spcPct val="130000"/>
              </a:lnSpc>
              <a:spcBef>
                <a:spcPts val="515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4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件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7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伯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，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7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22300822222-张三”。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务必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严格遵守命名规则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74980" algn="l" rtl="0" eaLnBrk="0">
              <a:lnSpc>
                <a:spcPts val="2375"/>
              </a:lnSpc>
              <a:spcBef>
                <a:spcPts val="270"/>
              </a:spcBef>
              <a:tabLst>
                <a:tab pos="63754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700" kern="0" spc="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每周五进行实验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00" b="1" kern="0" spc="80" dirty="0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次周周五23:59之前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提交实验报告。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个别复杂实验可以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延迟提交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，会在课上说明。</a:t>
            </a:r>
            <a:endParaRPr sz="1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3597" y="5567502"/>
            <a:ext cx="162305" cy="253288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3597" y="4855031"/>
            <a:ext cx="162305" cy="253288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3597" y="4142561"/>
            <a:ext cx="162305" cy="253288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3597" y="2993847"/>
            <a:ext cx="162305" cy="25328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3597" y="2281377"/>
            <a:ext cx="162305" cy="25328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3597" y="1925142"/>
            <a:ext cx="162305" cy="25328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3597" y="1568907"/>
            <a:ext cx="162305" cy="25328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0" y="100583"/>
            <a:ext cx="10188575" cy="734694"/>
          </a:xfrm>
          <a:prstGeom prst="rect">
            <a:avLst/>
          </a:prstGeom>
          <a:solidFill>
            <a:srgbClr val="8FAAD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8510" algn="l" rtl="0" eaLnBrk="0">
              <a:lnSpc>
                <a:spcPct val="89000"/>
              </a:lnSpc>
              <a:spcBef>
                <a:spcPts val="5"/>
              </a:spcBef>
            </a:pPr>
            <a:r>
              <a:rPr lang="en-US" sz="2700" b="1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2700" b="1" kern="0" spc="10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3500" b="1" kern="0" spc="60" dirty="0">
                <a:solidFill>
                  <a:srgbClr val="222A3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作业提交方式</a:t>
            </a:r>
            <a:endParaRPr sz="3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 70"/>
          <p:cNvSpPr/>
          <p:nvPr/>
        </p:nvSpPr>
        <p:spPr>
          <a:xfrm>
            <a:off x="0" y="6571488"/>
            <a:ext cx="12192000" cy="286511"/>
          </a:xfrm>
          <a:prstGeom prst="rect">
            <a:avLst/>
          </a:prstGeom>
          <a:solidFill>
            <a:srgbClr val="101C2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719816" y="41147"/>
            <a:ext cx="935735" cy="9357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40002" y="120335"/>
            <a:ext cx="4596765" cy="608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开展实验</a:t>
            </a:r>
            <a:endParaRPr sz="3600" b="1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871" y="199503"/>
            <a:ext cx="371306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BVRKBC+MicrosoftYaHei-Bold" panose="02000500000000000000"/>
              </a:rPr>
              <a:t>4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BVRKBC+MicrosoftYaHei-Bold" panose="02000500000000000000"/>
            </a:endParaRPr>
          </a:p>
        </p:txBody>
      </p:sp>
      <p:sp>
        <p:nvSpPr>
          <p:cNvPr id="5" name="object 5"/>
          <p:cNvSpPr txBox="1"/>
          <p:nvPr>
            <p:custDataLst>
              <p:tags r:id="rId2"/>
            </p:custDataLst>
          </p:nvPr>
        </p:nvSpPr>
        <p:spPr>
          <a:xfrm>
            <a:off x="654050" y="1082484"/>
            <a:ext cx="3152139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SMART</a:t>
            </a:r>
            <a:r>
              <a:rPr sz="2000" b="1" dirty="0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平台介绍与仿真</a:t>
            </a:r>
            <a:endParaRPr sz="2000" b="1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>
            <p:custDataLst>
              <p:tags r:id="rId3"/>
            </p:custDataLst>
          </p:nvPr>
        </p:nvSpPr>
        <p:spPr>
          <a:xfrm>
            <a:off x="654050" y="1546912"/>
            <a:ext cx="11026776" cy="608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SMART</a:t>
            </a:r>
            <a:r>
              <a:rPr lang="zh-CN" altLang="en-US"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平台是用于平头哥的各系列</a:t>
            </a:r>
            <a:r>
              <a:rPr lang="en-US" altLang="zh-CN"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集成、调试仿真，以及功能验证的综合平台。</a:t>
            </a:r>
            <a:r>
              <a:rPr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初步探索SMART仿真流程</a:t>
            </a:r>
            <a:r>
              <a:rPr lang="zh-CN"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800" spc="19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续实验均在SMART平台上展开。</a:t>
            </a:r>
            <a:endParaRPr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>
            <p:custDataLst>
              <p:tags r:id="rId4"/>
            </p:custDataLst>
          </p:nvPr>
        </p:nvSpPr>
        <p:spPr>
          <a:xfrm>
            <a:off x="654050" y="2479484"/>
            <a:ext cx="23374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</a:t>
            </a:r>
            <a:r>
              <a:rPr sz="2000" b="1" dirty="0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操作实验</a:t>
            </a:r>
            <a:endParaRPr sz="2000" b="1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>
            <p:custDataLst>
              <p:tags r:id="rId5"/>
            </p:custDataLst>
          </p:nvPr>
        </p:nvSpPr>
        <p:spPr>
          <a:xfrm>
            <a:off x="654050" y="2952167"/>
            <a:ext cx="8976995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调整缓存参数，观察示例程序的CPI、缓存缺失率等，探索缓存配置对CPU性能的影响。</a:t>
            </a:r>
            <a:endParaRPr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 txBox="1"/>
          <p:nvPr>
            <p:custDataLst>
              <p:tags r:id="rId6"/>
            </p:custDataLst>
          </p:nvPr>
        </p:nvSpPr>
        <p:spPr>
          <a:xfrm>
            <a:off x="654050" y="3605339"/>
            <a:ext cx="20961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</a:t>
            </a:r>
            <a:r>
              <a:rPr sz="2000" b="1" dirty="0">
                <a:solidFill>
                  <a:srgbClr val="222A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endParaRPr sz="2000" b="1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>
            <p:custDataLst>
              <p:tags r:id="rId7"/>
            </p:custDataLst>
          </p:nvPr>
        </p:nvSpPr>
        <p:spPr>
          <a:xfrm>
            <a:off x="654050" y="4069132"/>
            <a:ext cx="10805795" cy="3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调整分支预测配置情况观察测试程序程序的CPI、分支预测准确率等，了解分支预测器对CPU性能的影响。</a:t>
            </a:r>
            <a:endParaRPr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>
            <p:custDataLst>
              <p:tags r:id="rId8"/>
            </p:custDataLst>
          </p:nvPr>
        </p:nvSpPr>
        <p:spPr>
          <a:xfrm>
            <a:off x="654050" y="4596574"/>
            <a:ext cx="385635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05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-1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YOLO卷积函数的SMART仿真</a:t>
            </a:r>
            <a:endParaRPr sz="2000" b="1" spc="-1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 txBox="1"/>
          <p:nvPr>
            <p:custDataLst>
              <p:tags r:id="rId9"/>
            </p:custDataLst>
          </p:nvPr>
        </p:nvSpPr>
        <p:spPr>
          <a:xfrm>
            <a:off x="654050" y="5052747"/>
            <a:ext cx="11026774" cy="751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sz="1800" spc="2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编写卷积函数，补全YOLO工程，部署在SMART平台上进行仿真和性能监测，熟悉嵌入式C裸机程序在玄铁</a:t>
            </a:r>
            <a:endParaRPr sz="1800" spc="25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>
              <a:lnSpc>
                <a:spcPts val="2375"/>
              </a:lnSpc>
              <a:spcBef>
                <a:spcPts val="815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C910上的开发流程和仿真原理。</a:t>
            </a:r>
            <a:endParaRPr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40002" y="120335"/>
            <a:ext cx="6739890" cy="608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大作业：D1开发板部署神经网络</a:t>
            </a:r>
            <a:endParaRPr sz="36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871" y="199503"/>
            <a:ext cx="371306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BVRKBC+MicrosoftYaHei-Bold" panose="02000500000000000000"/>
              </a:rPr>
              <a:t>5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BVRKBC+MicrosoftYaHei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271" y="1142714"/>
            <a:ext cx="171450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3165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spc="193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实验背景</a:t>
            </a:r>
            <a:endParaRPr sz="24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9424" y="1833244"/>
            <a:ext cx="3820159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5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AI的边缘侧落地（边缘计算）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marR="0">
              <a:lnSpc>
                <a:spcPts val="2645"/>
              </a:lnSpc>
              <a:spcBef>
                <a:spcPts val="52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实时数据处理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6624" y="2625724"/>
            <a:ext cx="3543934" cy="770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隐私保护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>
              <a:lnSpc>
                <a:spcPts val="2645"/>
              </a:lnSpc>
              <a:spcBef>
                <a:spcPts val="52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提升智能应用效率与可靠性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0870" y="3537297"/>
            <a:ext cx="193484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rPr>
              <a:t>广泛的实用意义</a:t>
            </a:r>
            <a:endParaRPr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9424" y="4208627"/>
            <a:ext cx="3323830" cy="1145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</a:t>
            </a:r>
            <a:r>
              <a:rPr sz="2000" spc="15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课程理论的实践应用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marR="0">
              <a:lnSpc>
                <a:spcPts val="2645"/>
              </a:lnSpc>
              <a:spcBef>
                <a:spcPts val="52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板载RISC-V架构CPU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marR="0">
              <a:lnSpc>
                <a:spcPts val="2645"/>
              </a:lnSpc>
              <a:spcBef>
                <a:spcPts val="47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缓存优化AI负载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6624" y="5397347"/>
            <a:ext cx="3543934" cy="3741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5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000" spc="1335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运用理论所学分析性能优化</a:t>
            </a:r>
            <a:endParaRPr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0870" y="5957929"/>
            <a:ext cx="1934845" cy="303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9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</a:rPr>
              <a:t>理论与实践结合</a:t>
            </a:r>
            <a:endParaRPr sz="2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021555" y="6304556"/>
            <a:ext cx="1219200" cy="239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85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0000"/>
                </a:solidFill>
                <a:latin typeface="FHOGOJ+MicrosoftYaHei" panose="02000500000000000000"/>
                <a:cs typeface="FHOGOJ+MicrosoftYaHei" panose="02000500000000000000"/>
              </a:rPr>
              <a:t>图源：来自网络</a:t>
            </a:r>
            <a:endParaRPr sz="1200" dirty="0">
              <a:solidFill>
                <a:srgbClr val="000000"/>
              </a:solidFill>
              <a:latin typeface="FHOGOJ+MicrosoftYaHei" panose="02000500000000000000"/>
              <a:cs typeface="FHOGOJ+MicrosoftYaHei" panose="02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40180" y="120650"/>
            <a:ext cx="8085455" cy="1217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大作业：D1开发板部署神经网络</a:t>
            </a:r>
            <a:endParaRPr sz="36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endParaRPr sz="3600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871" y="199503"/>
            <a:ext cx="371306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BVRKBC+MicrosoftYaHei-Bold" panose="02000500000000000000"/>
              </a:rPr>
              <a:t>5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BVRKBC+MicrosoftYaHei-Bold" panose="02000500000000000000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417271" y="1142714"/>
            <a:ext cx="1714500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3165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400" b="1" spc="193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24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endParaRPr lang="zh-CN" sz="24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72795" y="1730375"/>
            <a:ext cx="521017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在板载有真实的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RISC-V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上部署神经网络实现一个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手势识别系统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2795" y="2948305"/>
            <a:ext cx="530288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RISC-V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的硬件平台；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目标识别网络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，并对卷积层进行优化；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编译的基本流程；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性能监测并对优化进行分析。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2795" y="5032375"/>
            <a:ext cx="532257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25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把书中学习到的原理知识应用到实际的工程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开发中，并真切地感受到其发挥的作用。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50" y="1020445"/>
            <a:ext cx="5588000" cy="55302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40180" y="120650"/>
            <a:ext cx="8085455" cy="1217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大作业：D1开发板部署神经网络</a:t>
            </a:r>
            <a:endParaRPr sz="36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>
              <a:lnSpc>
                <a:spcPts val="4750"/>
              </a:lnSpc>
              <a:spcBef>
                <a:spcPts val="0"/>
              </a:spcBef>
              <a:spcAft>
                <a:spcPts val="0"/>
              </a:spcAft>
            </a:pPr>
            <a:endParaRPr sz="3600" dirty="0">
              <a:solidFill>
                <a:srgbClr val="222A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2871" y="199503"/>
            <a:ext cx="371306" cy="47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69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BVRKBC+MicrosoftYaHei-Bold" panose="02000500000000000000"/>
              </a:rPr>
              <a:t>5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BVRKBC+MicrosoftYaHei-Bold" panose="02000500000000000000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417195" y="1143000"/>
            <a:ext cx="2262505" cy="405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3165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sz="2800" spc="193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8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2800" b="1" dirty="0">
                <a:solidFill>
                  <a:srgbClr val="1626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  <a:endParaRPr lang="zh-CN" sz="2800" b="1" dirty="0">
              <a:solidFill>
                <a:srgbClr val="1626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85825" y="1730375"/>
            <a:ext cx="10456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开发板调用摄像头组件，运行轻量级神经网络完成实时手势识别。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" y="2431415"/>
            <a:ext cx="11993880" cy="4039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355251" y="4106405"/>
            <a:ext cx="5338445" cy="807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endParaRPr sz="5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4209415" y="3101340"/>
            <a:ext cx="3272790" cy="810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lang="zh-CN" sz="59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zh-CN" sz="5900" b="1" kern="0" spc="7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 8"/>
          <p:cNvSpPr/>
          <p:nvPr/>
        </p:nvSpPr>
        <p:spPr>
          <a:xfrm>
            <a:off x="3936479" y="628319"/>
            <a:ext cx="8255520" cy="300075"/>
          </a:xfrm>
          <a:prstGeom prst="rect">
            <a:avLst/>
          </a:prstGeom>
          <a:solidFill>
            <a:srgbClr val="0E41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517547" y="393035"/>
            <a:ext cx="2309329" cy="732066"/>
          </a:xfrm>
          <a:prstGeom prst="rect">
            <a:avLst/>
          </a:prstGeom>
        </p:spPr>
      </p:pic>
      <p:sp>
        <p:nvSpPr>
          <p:cNvPr id="12" name="rect 12"/>
          <p:cNvSpPr/>
          <p:nvPr/>
        </p:nvSpPr>
        <p:spPr>
          <a:xfrm>
            <a:off x="0" y="633984"/>
            <a:ext cx="1397508" cy="288035"/>
          </a:xfrm>
          <a:prstGeom prst="rect">
            <a:avLst/>
          </a:prstGeom>
          <a:solidFill>
            <a:srgbClr val="0E419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5168" y="4060520"/>
            <a:ext cx="5601284" cy="381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2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3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4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5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6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7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ags/tag8.xml><?xml version="1.0" encoding="utf-8"?>
<p:tagLst xmlns:p="http://schemas.openxmlformats.org/presentationml/2006/main">
  <p:tag name="KSO_WM_DIAGRAM_VIRTUALLY_FRAME" val="{&quot;height&quot;:376.975905511811,&quot;left&quot;:51.5,&quot;top&quot;:80.03496062992126,&quot;width&quot;:868.250078740157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WPS 演示</Application>
  <PresentationFormat/>
  <Paragraphs>203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BQQUIL+MicrosoftYaHei-Bold</vt:lpstr>
      <vt:lpstr>Segoe UI Symbol</vt:lpstr>
      <vt:lpstr>VLQJLJ+TrebuchetMS-Bold</vt:lpstr>
      <vt:lpstr>BVRKBC+MicrosoftYaHei-Bold</vt:lpstr>
      <vt:lpstr>Wingdings</vt:lpstr>
      <vt:lpstr>等线</vt:lpstr>
      <vt:lpstr>FHOGOJ+MicrosoftYaHei</vt:lpstr>
      <vt:lpstr>Arial Unicode MS</vt:lpstr>
      <vt:lpstr>Calibri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田丰硕</cp:lastModifiedBy>
  <cp:revision>20</cp:revision>
  <dcterms:created xsi:type="dcterms:W3CDTF">2026-03-03T16:22:00Z</dcterms:created>
  <dcterms:modified xsi:type="dcterms:W3CDTF">2026-03-04T03:07:43Z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2026-03-04T16:15:34Z</vt:filetime>
  </property>
  <property fmtid="{D5CDD505-2E9C-101B-9397-08002B2CF9AE}" pid="4" name="ICV">
    <vt:lpwstr>64499048F28E4371AC345C487E64A014_12</vt:lpwstr>
  </property>
  <property fmtid="{D5CDD505-2E9C-101B-9397-08002B2CF9AE}" pid="5" name="KSOProductBuildVer">
    <vt:lpwstr>2052-12.1.0.25225</vt:lpwstr>
  </property>
</Properties>
</file>