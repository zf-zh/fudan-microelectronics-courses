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sldIdLst>
    <p:sldId id="256" r:id="rId3"/>
    <p:sldId id="257" r:id="rId4"/>
    <p:sldId id="259" r:id="rId5"/>
    <p:sldId id="296" r:id="rId6"/>
    <p:sldId id="279" r:id="rId7"/>
    <p:sldId id="280" r:id="rId8"/>
    <p:sldId id="297" r:id="rId9"/>
    <p:sldId id="281" r:id="rId10"/>
    <p:sldId id="286" r:id="rId11"/>
    <p:sldId id="287" r:id="rId12"/>
    <p:sldId id="288" r:id="rId13"/>
    <p:sldId id="289" r:id="rId14"/>
    <p:sldId id="290" r:id="rId15"/>
    <p:sldId id="337" r:id="rId16"/>
    <p:sldId id="314" r:id="rId17"/>
    <p:sldId id="334" r:id="rId18"/>
    <p:sldId id="332" r:id="rId19"/>
    <p:sldId id="333" r:id="rId20"/>
    <p:sldId id="315" r:id="rId21"/>
    <p:sldId id="324" r:id="rId22"/>
    <p:sldId id="335" r:id="rId23"/>
    <p:sldId id="336" r:id="rId24"/>
    <p:sldId id="300" r:id="rId25"/>
    <p:sldId id="298" r:id="rId26"/>
    <p:sldId id="291" r:id="rId27"/>
    <p:sldId id="292" r:id="rId28"/>
    <p:sldId id="293" r:id="rId29"/>
    <p:sldId id="294" r:id="rId30"/>
    <p:sldId id="295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86"/>
  </p:normalViewPr>
  <p:slideViewPr>
    <p:cSldViewPr snapToGrid="0">
      <p:cViewPr varScale="1">
        <p:scale>
          <a:sx n="109" d="100"/>
          <a:sy n="109" d="100"/>
        </p:scale>
        <p:origin x="6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8F3DB-CEF8-4DD4-8E4A-F0628DCBE644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307C6-FA7C-4D4E-9E80-039A033D7C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8F3DB-CEF8-4DD4-8E4A-F0628DCBE644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307C6-FA7C-4D4E-9E80-039A033D7C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8F3DB-CEF8-4DD4-8E4A-F0628DCBE644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307C6-FA7C-4D4E-9E80-039A033D7C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8F3DB-CEF8-4DD4-8E4A-F0628DCBE644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307C6-FA7C-4D4E-9E80-039A033D7C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8F3DB-CEF8-4DD4-8E4A-F0628DCBE644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307C6-FA7C-4D4E-9E80-039A033D7C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8F3DB-CEF8-4DD4-8E4A-F0628DCBE644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307C6-FA7C-4D4E-9E80-039A033D7C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8F3DB-CEF8-4DD4-8E4A-F0628DCBE644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307C6-FA7C-4D4E-9E80-039A033D7C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8F3DB-CEF8-4DD4-8E4A-F0628DCBE644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307C6-FA7C-4D4E-9E80-039A033D7C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8F3DB-CEF8-4DD4-8E4A-F0628DCBE644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307C6-FA7C-4D4E-9E80-039A033D7C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8F3DB-CEF8-4DD4-8E4A-F0628DCBE644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307C6-FA7C-4D4E-9E80-039A033D7C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8F3DB-CEF8-4DD4-8E4A-F0628DCBE644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307C6-FA7C-4D4E-9E80-039A033D7C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8F3DB-CEF8-4DD4-8E4A-F0628DCBE644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C307C6-FA7C-4D4E-9E80-039A033D7CB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975521" y="73331"/>
            <a:ext cx="1216479" cy="1216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ichaeljclark/riscv-probe" TargetMode="Externa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www.zhihu.com/column/c_1236963527866175488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latin typeface="微软雅黑" charset="0"/>
                <a:ea typeface="微软雅黑" charset="0"/>
              </a:rPr>
              <a:t>QEMU</a:t>
            </a:r>
            <a:r>
              <a:rPr lang="zh-CN" altLang="zh-CN" dirty="0">
                <a:latin typeface="微软雅黑" charset="0"/>
                <a:ea typeface="微软雅黑" charset="0"/>
              </a:rPr>
              <a:t>运行</a:t>
            </a:r>
            <a:r>
              <a:rPr lang="zh-CN" altLang="en-US" dirty="0">
                <a:latin typeface="微软雅黑" charset="0"/>
                <a:ea typeface="微软雅黑" charset="0"/>
              </a:rPr>
              <a:t>裸机</a:t>
            </a:r>
            <a:r>
              <a:rPr lang="zh-CN" altLang="zh-CN" dirty="0">
                <a:latin typeface="微软雅黑" charset="0"/>
                <a:ea typeface="微软雅黑" charset="0"/>
              </a:rPr>
              <a:t>程序</a:t>
            </a:r>
            <a:r>
              <a:rPr lang="en-US" altLang="zh-CN" dirty="0">
                <a:latin typeface="微软雅黑" charset="0"/>
                <a:ea typeface="微软雅黑" charset="0"/>
              </a:rPr>
              <a:t/>
            </a:r>
            <a:br>
              <a:rPr lang="en-US" altLang="zh-CN" dirty="0">
                <a:latin typeface="微软雅黑" charset="0"/>
                <a:ea typeface="微软雅黑" charset="0"/>
              </a:rPr>
            </a:br>
            <a:r>
              <a:rPr lang="zh-CN" altLang="zh-CN" dirty="0">
                <a:latin typeface="微软雅黑" charset="0"/>
                <a:ea typeface="微软雅黑" charset="0"/>
              </a:rPr>
              <a:t>与</a:t>
            </a:r>
            <a:r>
              <a:rPr lang="en-US" altLang="zh-CN" dirty="0">
                <a:latin typeface="微软雅黑" charset="0"/>
                <a:ea typeface="微软雅黑" charset="0"/>
              </a:rPr>
              <a:t>Linux</a:t>
            </a:r>
            <a:r>
              <a:rPr lang="zh-CN" altLang="en-US" dirty="0">
                <a:latin typeface="微软雅黑" charset="0"/>
                <a:ea typeface="微软雅黑" charset="0"/>
              </a:rPr>
              <a:t>系统</a:t>
            </a:r>
            <a:r>
              <a:rPr lang="zh-CN" altLang="zh-CN" dirty="0">
                <a:latin typeface="微软雅黑" charset="0"/>
                <a:ea typeface="微软雅黑" charset="0"/>
              </a:rPr>
              <a:t>并调试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charset="0"/>
                <a:ea typeface="微软雅黑" charset="0"/>
              </a:rPr>
              <a:t>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>
              <a:latin typeface="微软雅黑" charset="0"/>
              <a:ea typeface="微软雅黑" charset="0"/>
            </a:endParaRPr>
          </a:p>
          <a:p>
            <a:r>
              <a:rPr lang="zh-CN" altLang="en-US" dirty="0">
                <a:latin typeface="微软雅黑" charset="0"/>
                <a:ea typeface="微软雅黑" charset="0"/>
              </a:rPr>
              <a:t>一、</a:t>
            </a:r>
            <a:r>
              <a:rPr lang="en-US" altLang="zh-CN" dirty="0">
                <a:latin typeface="微软雅黑" charset="0"/>
                <a:ea typeface="微软雅黑" charset="0"/>
              </a:rPr>
              <a:t>QEMU</a:t>
            </a:r>
            <a:r>
              <a:rPr lang="zh-CN" altLang="en-US" dirty="0">
                <a:latin typeface="微软雅黑" charset="0"/>
                <a:ea typeface="微软雅黑" charset="0"/>
              </a:rPr>
              <a:t>运行裸机程序并调试</a:t>
            </a:r>
            <a:endParaRPr lang="en-US" altLang="zh-CN" dirty="0">
              <a:latin typeface="微软雅黑" charset="0"/>
              <a:ea typeface="微软雅黑" charset="0"/>
            </a:endParaRPr>
          </a:p>
          <a:p>
            <a:pPr lvl="1"/>
            <a:r>
              <a:rPr lang="zh-CN" altLang="en-US" dirty="0">
                <a:latin typeface="微软雅黑" charset="0"/>
                <a:ea typeface="微软雅黑" charset="0"/>
              </a:rPr>
              <a:t>用户模式及其调试</a:t>
            </a:r>
            <a:endParaRPr lang="en-US" altLang="zh-CN" dirty="0">
              <a:latin typeface="微软雅黑" charset="0"/>
              <a:ea typeface="微软雅黑" charset="0"/>
            </a:endParaRPr>
          </a:p>
          <a:p>
            <a:pPr lvl="1"/>
            <a:r>
              <a:rPr lang="zh-CN" altLang="en-US" dirty="0">
                <a:latin typeface="微软雅黑" charset="0"/>
                <a:ea typeface="微软雅黑" charset="0"/>
              </a:rPr>
              <a:t>系统模式及其调试</a:t>
            </a:r>
            <a:endParaRPr lang="en-US" altLang="zh-CN" dirty="0">
              <a:latin typeface="微软雅黑" charset="0"/>
              <a:ea typeface="微软雅黑" charset="0"/>
            </a:endParaRPr>
          </a:p>
          <a:p>
            <a:endParaRPr lang="en-US" altLang="zh-CN" dirty="0">
              <a:latin typeface="微软雅黑" charset="0"/>
              <a:ea typeface="微软雅黑" charset="0"/>
            </a:endParaRPr>
          </a:p>
          <a:p>
            <a:r>
              <a:rPr lang="zh-CN" altLang="en-US" dirty="0">
                <a:latin typeface="微软雅黑" charset="0"/>
                <a:ea typeface="微软雅黑" charset="0"/>
              </a:rPr>
              <a:t>二、在</a:t>
            </a:r>
            <a:r>
              <a:rPr lang="en-US" altLang="zh-CN" dirty="0">
                <a:latin typeface="微软雅黑" charset="0"/>
                <a:ea typeface="微软雅黑" charset="0"/>
              </a:rPr>
              <a:t>RISC-V QEMU</a:t>
            </a:r>
            <a:r>
              <a:rPr lang="zh-CN" altLang="en-US" dirty="0">
                <a:latin typeface="微软雅黑" charset="0"/>
                <a:ea typeface="微软雅黑" charset="0"/>
              </a:rPr>
              <a:t>上运行</a:t>
            </a:r>
            <a:r>
              <a:rPr lang="en-US" altLang="zh-CN" dirty="0">
                <a:latin typeface="微软雅黑" charset="0"/>
                <a:ea typeface="微软雅黑" charset="0"/>
              </a:rPr>
              <a:t>Linux</a:t>
            </a:r>
            <a:r>
              <a:rPr lang="zh-CN" altLang="en-US" dirty="0">
                <a:latin typeface="微软雅黑" charset="0"/>
                <a:ea typeface="微软雅黑" charset="0"/>
              </a:rPr>
              <a:t>系统</a:t>
            </a:r>
            <a:endParaRPr lang="en-US" altLang="zh-CN" dirty="0">
              <a:latin typeface="微软雅黑" charset="0"/>
              <a:ea typeface="微软雅黑" charset="0"/>
            </a:endParaRPr>
          </a:p>
          <a:p>
            <a:pPr lvl="1"/>
            <a:r>
              <a:rPr lang="zh-CN" altLang="en-US" dirty="0">
                <a:latin typeface="微软雅黑" charset="0"/>
                <a:ea typeface="微软雅黑" charset="0"/>
              </a:rPr>
              <a:t>开源</a:t>
            </a:r>
            <a:r>
              <a:rPr lang="en-US" altLang="zh-CN" dirty="0" err="1">
                <a:latin typeface="微软雅黑" charset="0"/>
                <a:ea typeface="微软雅黑" charset="0"/>
              </a:rPr>
              <a:t>Buildroot</a:t>
            </a:r>
            <a:endParaRPr lang="en-US" altLang="zh-CN" dirty="0">
              <a:latin typeface="微软雅黑" charset="0"/>
              <a:ea typeface="微软雅黑" charset="0"/>
            </a:endParaRPr>
          </a:p>
          <a:p>
            <a:pPr lvl="1"/>
            <a:r>
              <a:rPr lang="zh-CN" altLang="en-US" dirty="0">
                <a:latin typeface="微软雅黑" charset="0"/>
                <a:ea typeface="微软雅黑" charset="0"/>
              </a:rPr>
              <a:t>平头哥</a:t>
            </a:r>
            <a:r>
              <a:rPr lang="en-US" altLang="zh-CN" dirty="0" err="1">
                <a:latin typeface="微软雅黑" charset="0"/>
                <a:ea typeface="微软雅黑" charset="0"/>
              </a:rPr>
              <a:t>Buildroot</a:t>
            </a:r>
            <a:endParaRPr lang="en-US" altLang="zh-CN" dirty="0">
              <a:latin typeface="微软雅黑" charset="0"/>
              <a:ea typeface="微软雅黑" charset="0"/>
            </a:endParaRPr>
          </a:p>
          <a:p>
            <a:endParaRPr lang="en-US" altLang="zh-CN" dirty="0"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charset="0"/>
                <a:ea typeface="微软雅黑" charset="0"/>
              </a:rPr>
              <a:t>一、</a:t>
            </a:r>
            <a:r>
              <a:rPr lang="en-US" altLang="zh-CN" dirty="0">
                <a:latin typeface="微软雅黑" charset="0"/>
                <a:ea typeface="微软雅黑" charset="0"/>
              </a:rPr>
              <a:t>QEMU</a:t>
            </a:r>
            <a:r>
              <a:rPr lang="zh-CN" altLang="en-US" dirty="0">
                <a:latin typeface="微软雅黑" charset="0"/>
                <a:ea typeface="微软雅黑" charset="0"/>
              </a:rPr>
              <a:t>运行裸机程序并调试</a:t>
            </a:r>
            <a:endParaRPr lang="en-US" altLang="zh-CN" dirty="0">
              <a:latin typeface="微软雅黑" charset="0"/>
              <a:ea typeface="微软雅黑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charset="0"/>
                <a:ea typeface="微软雅黑" charset="0"/>
              </a:rPr>
              <a:t>将使用示例程序：</a:t>
            </a:r>
            <a:r>
              <a:rPr lang="en-US" altLang="zh-CN" dirty="0" err="1">
                <a:latin typeface="微软雅黑" charset="0"/>
                <a:ea typeface="微软雅黑" charset="0"/>
              </a:rPr>
              <a:t>hello.c</a:t>
            </a:r>
            <a:endParaRPr lang="en-US" altLang="zh-CN" dirty="0"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endParaRPr lang="en-US" altLang="zh-CN" dirty="0">
              <a:latin typeface="微软雅黑" charset="0"/>
              <a:ea typeface="微软雅黑" charset="0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1746250" y="2716389"/>
            <a:ext cx="7126111" cy="3386667"/>
          </a:xfrm>
          <a:prstGeom prst="rect">
            <a:avLst/>
          </a:prstGeom>
          <a:solidFill>
            <a:srgbClr val="E2E6ED">
              <a:alpha val="100000"/>
            </a:srgbClr>
          </a:solidFill>
        </p:spPr>
        <p:txBody>
          <a:bodyPr wrap="square" rtlCol="0">
            <a:noAutofit/>
          </a:bodyPr>
          <a:lstStyle/>
          <a:p>
            <a:r>
              <a:rPr lang="zh-CN" altLang="en-US" sz="2400">
                <a:latin typeface="Consolas" panose="020B0609020204030204" pitchFamily="49" charset="0"/>
                <a:ea typeface="Consolas" panose="020B0609020204030204" pitchFamily="49" charset="0"/>
              </a:rPr>
              <a:t>#</a:t>
            </a:r>
            <a:r>
              <a:rPr lang="en-US" altLang="zh-CN" sz="2400">
                <a:latin typeface="Consolas" panose="020B0609020204030204" pitchFamily="49" charset="0"/>
                <a:ea typeface="Consolas" panose="020B0609020204030204" pitchFamily="49" charset="0"/>
              </a:rPr>
              <a:t>include &lt;stdio.h&gt;</a:t>
            </a:r>
          </a:p>
          <a:p>
            <a:endParaRPr lang="zh-CN" altLang="en-US" sz="2400">
              <a:latin typeface="Consolas" panose="020B0609020204030204" pitchFamily="49" charset="0"/>
              <a:ea typeface="Consolas" panose="020B0609020204030204" pitchFamily="49" charset="0"/>
            </a:endParaRPr>
          </a:p>
          <a:p>
            <a:r>
              <a:rPr lang="en-US" altLang="zh-CN" sz="2400">
                <a:latin typeface="Consolas" panose="020B0609020204030204" pitchFamily="49" charset="0"/>
                <a:ea typeface="Consolas" panose="020B0609020204030204" pitchFamily="49" charset="0"/>
              </a:rPr>
              <a:t>/*hello.c*/</a:t>
            </a:r>
          </a:p>
          <a:p>
            <a:r>
              <a:rPr lang="en-US" altLang="zh-CN" sz="2400">
                <a:latin typeface="Consolas" panose="020B0609020204030204" pitchFamily="49" charset="0"/>
                <a:ea typeface="Consolas" panose="020B0609020204030204" pitchFamily="49" charset="0"/>
              </a:rPr>
              <a:t>int</a:t>
            </a:r>
            <a:r>
              <a:rPr lang="zh-CN" altLang="en-US" sz="2400"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r>
              <a:rPr lang="en-US" altLang="zh-CN" sz="2400">
                <a:latin typeface="Consolas" panose="020B0609020204030204" pitchFamily="49" charset="0"/>
                <a:ea typeface="Consolas" panose="020B0609020204030204" pitchFamily="49" charset="0"/>
              </a:rPr>
              <a:t>main(int</a:t>
            </a:r>
            <a:r>
              <a:rPr lang="zh-CN" altLang="en-US" sz="2400"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r>
              <a:rPr lang="en-US" altLang="zh-CN" sz="2400">
                <a:latin typeface="Consolas" panose="020B0609020204030204" pitchFamily="49" charset="0"/>
                <a:ea typeface="Consolas" panose="020B0609020204030204" pitchFamily="49" charset="0"/>
              </a:rPr>
              <a:t>argc, char **argv)</a:t>
            </a:r>
          </a:p>
          <a:p>
            <a:r>
              <a:rPr lang="en-US" altLang="zh-CN" sz="2400">
                <a:latin typeface="Consolas" panose="020B0609020204030204" pitchFamily="49" charset="0"/>
                <a:ea typeface="Consolas" panose="020B0609020204030204" pitchFamily="49" charset="0"/>
              </a:rPr>
              <a:t>{</a:t>
            </a:r>
          </a:p>
          <a:p>
            <a:r>
              <a:rPr lang="zh-CN" altLang="en-US" sz="2400">
                <a:latin typeface="Consolas" panose="020B0609020204030204" pitchFamily="49" charset="0"/>
                <a:ea typeface="Consolas" panose="020B0609020204030204" pitchFamily="49" charset="0"/>
              </a:rPr>
              <a:t>    </a:t>
            </a:r>
            <a:r>
              <a:rPr lang="en-US" altLang="zh-CN" sz="2400">
                <a:latin typeface="Consolas" panose="020B0609020204030204" pitchFamily="49" charset="0"/>
                <a:ea typeface="Consolas" panose="020B0609020204030204" pitchFamily="49" charset="0"/>
              </a:rPr>
              <a:t>printf("hello\n");</a:t>
            </a:r>
          </a:p>
          <a:p>
            <a:r>
              <a:rPr lang="zh-CN" altLang="en-US" sz="2400">
                <a:latin typeface="Consolas" panose="020B0609020204030204" pitchFamily="49" charset="0"/>
                <a:ea typeface="Consolas" panose="020B0609020204030204" pitchFamily="49" charset="0"/>
              </a:rPr>
              <a:t>    </a:t>
            </a:r>
            <a:r>
              <a:rPr lang="en-US" altLang="zh-CN" sz="2400">
                <a:latin typeface="Consolas" panose="020B0609020204030204" pitchFamily="49" charset="0"/>
                <a:ea typeface="Consolas" panose="020B0609020204030204" pitchFamily="49" charset="0"/>
              </a:rPr>
              <a:t>return</a:t>
            </a:r>
            <a:r>
              <a:rPr lang="zh-CN" altLang="en-US" sz="2400"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r>
              <a:rPr lang="en-US" altLang="zh-CN" sz="2400">
                <a:latin typeface="Consolas" panose="020B0609020204030204" pitchFamily="49" charset="0"/>
                <a:ea typeface="Consolas" panose="020B0609020204030204" pitchFamily="49" charset="0"/>
              </a:rPr>
              <a:t>0;</a:t>
            </a:r>
          </a:p>
          <a:p>
            <a:r>
              <a:rPr lang="en-US" altLang="zh-CN" sz="2400">
                <a:latin typeface="Consolas" panose="020B0609020204030204" pitchFamily="49" charset="0"/>
                <a:ea typeface="Consolas" panose="020B0609020204030204" pitchFamily="49" charset="0"/>
              </a:rPr>
              <a:t>}</a:t>
            </a:r>
            <a:endParaRPr lang="zh-CN" altLang="en-US" sz="2400">
              <a:latin typeface="Consolas" panose="020B0609020204030204" pitchFamily="49" charset="0"/>
              <a:ea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charset="0"/>
                <a:ea typeface="微软雅黑" charset="0"/>
              </a:rPr>
              <a:t>一、</a:t>
            </a:r>
            <a:r>
              <a:rPr lang="en-US" altLang="zh-CN" dirty="0">
                <a:latin typeface="微软雅黑" charset="0"/>
                <a:ea typeface="微软雅黑" charset="0"/>
              </a:rPr>
              <a:t>QEMU</a:t>
            </a:r>
            <a:r>
              <a:rPr lang="zh-CN" altLang="en-US" dirty="0">
                <a:latin typeface="微软雅黑" charset="0"/>
                <a:ea typeface="微软雅黑" charset="0"/>
              </a:rPr>
              <a:t>运行裸机程序并调试</a:t>
            </a:r>
            <a:endParaRPr lang="en-US" altLang="zh-CN" dirty="0">
              <a:latin typeface="微软雅黑" charset="0"/>
              <a:ea typeface="微软雅黑" charset="0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/>
            <a:r>
              <a:rPr lang="en-US" altLang="zh-CN" dirty="0">
                <a:latin typeface="微软雅黑" charset="0"/>
                <a:ea typeface="微软雅黑" charset="0"/>
              </a:rPr>
              <a:t>QEMU</a:t>
            </a:r>
            <a:r>
              <a:rPr lang="zh-CN" altLang="en-US" dirty="0">
                <a:latin typeface="微软雅黑" charset="0"/>
                <a:ea typeface="微软雅黑" charset="0"/>
              </a:rPr>
              <a:t>用户模式</a:t>
            </a:r>
          </a:p>
          <a:p>
            <a:pPr marL="685800" lvl="1"/>
            <a:r>
              <a:rPr lang="zh-CN" altLang="en-US" dirty="0">
                <a:latin typeface="微软雅黑" charset="0"/>
                <a:ea typeface="微软雅黑" charset="0"/>
              </a:rPr>
              <a:t>在用户模式中，</a:t>
            </a:r>
            <a:r>
              <a:rPr lang="en-US" altLang="zh-CN" dirty="0">
                <a:latin typeface="微软雅黑" charset="0"/>
                <a:ea typeface="微软雅黑" charset="0"/>
              </a:rPr>
              <a:t>QEMU</a:t>
            </a:r>
            <a:r>
              <a:rPr lang="zh-CN" altLang="en-US" dirty="0">
                <a:latin typeface="微软雅黑" charset="0"/>
                <a:ea typeface="微软雅黑" charset="0"/>
              </a:rPr>
              <a:t>可以将按照指定指令集的程序（如使用</a:t>
            </a:r>
            <a:r>
              <a:rPr lang="en-US" altLang="zh-CN" dirty="0">
                <a:latin typeface="微软雅黑" charset="0"/>
                <a:ea typeface="微软雅黑" charset="0"/>
              </a:rPr>
              <a:t>RISC</a:t>
            </a:r>
            <a:r>
              <a:rPr lang="zh-CN" altLang="en-US" dirty="0">
                <a:latin typeface="微软雅黑" charset="0"/>
                <a:ea typeface="微软雅黑" charset="0"/>
              </a:rPr>
              <a:t>-</a:t>
            </a:r>
            <a:r>
              <a:rPr lang="en-US" altLang="zh-CN" dirty="0">
                <a:latin typeface="微软雅黑" charset="0"/>
                <a:ea typeface="微软雅黑" charset="0"/>
              </a:rPr>
              <a:t>V</a:t>
            </a:r>
            <a:r>
              <a:rPr lang="zh-CN" altLang="en-US" dirty="0">
                <a:latin typeface="微软雅黑" charset="0"/>
                <a:ea typeface="微软雅黑" charset="0"/>
              </a:rPr>
              <a:t>工具链编译的程序）运行在宿主机（如</a:t>
            </a:r>
            <a:r>
              <a:rPr lang="en-US" altLang="zh-CN" dirty="0">
                <a:latin typeface="微软雅黑" charset="0"/>
                <a:ea typeface="微软雅黑" charset="0"/>
              </a:rPr>
              <a:t>x86</a:t>
            </a:r>
            <a:r>
              <a:rPr lang="zh-CN" altLang="en-US" dirty="0">
                <a:latin typeface="微软雅黑" charset="0"/>
                <a:ea typeface="微软雅黑" charset="0"/>
              </a:rPr>
              <a:t>架构的</a:t>
            </a:r>
            <a:r>
              <a:rPr lang="en-US" altLang="zh-CN" dirty="0">
                <a:latin typeface="微软雅黑" charset="0"/>
                <a:ea typeface="微软雅黑" charset="0"/>
              </a:rPr>
              <a:t>PC</a:t>
            </a:r>
            <a:r>
              <a:rPr lang="zh-CN" altLang="en-US" dirty="0">
                <a:latin typeface="微软雅黑" charset="0"/>
                <a:ea typeface="微软雅黑" charset="0"/>
              </a:rPr>
              <a:t>）上。</a:t>
            </a:r>
          </a:p>
          <a:p>
            <a:pPr marL="685800" lvl="1"/>
            <a:r>
              <a:rPr lang="zh-CN" altLang="en-US" dirty="0">
                <a:latin typeface="微软雅黑" charset="0"/>
                <a:ea typeface="微软雅黑" charset="0"/>
              </a:rPr>
              <a:t>它的主要工作是将目标指令集的指令翻译程宿主机的指令，同时代理系统调用。</a:t>
            </a:r>
          </a:p>
          <a:p>
            <a:pPr marL="685800" lvl="1" algn="l"/>
            <a:r>
              <a:rPr lang="zh-CN" b="0" u="none">
                <a:solidFill>
                  <a:srgbClr val="333333"/>
                </a:solidFill>
                <a:latin typeface="微软雅黑" charset="0"/>
                <a:ea typeface="微软雅黑" charset="0"/>
              </a:rPr>
              <a:t>每一条目标机的执行指令都需要耗费少则数个，多则成千上万个宿主机的指令周期来模拟实现，速度方面不太理想。</a:t>
            </a:r>
            <a:endParaRPr lang="zh-CN" altLang="zh-CN" dirty="0"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endParaRPr lang="en-US" altLang="zh-CN" dirty="0"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charset="0"/>
                <a:ea typeface="微软雅黑" charset="0"/>
              </a:rPr>
              <a:t>一、</a:t>
            </a:r>
            <a:r>
              <a:rPr lang="en-US" altLang="zh-CN" dirty="0">
                <a:latin typeface="微软雅黑" charset="0"/>
                <a:ea typeface="微软雅黑" charset="0"/>
              </a:rPr>
              <a:t>QEMU</a:t>
            </a:r>
            <a:r>
              <a:rPr lang="zh-CN" altLang="en-US" dirty="0">
                <a:latin typeface="微软雅黑" charset="0"/>
                <a:ea typeface="微软雅黑" charset="0"/>
              </a:rPr>
              <a:t>运行裸机程序并调试</a:t>
            </a:r>
            <a:endParaRPr lang="en-US" altLang="zh-CN" dirty="0">
              <a:latin typeface="微软雅黑" charset="0"/>
              <a:ea typeface="微软雅黑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微软雅黑" charset="0"/>
                <a:ea typeface="微软雅黑" charset="0"/>
              </a:rPr>
              <a:t>QEMU</a:t>
            </a:r>
            <a:r>
              <a:rPr lang="zh-CN" altLang="en-US" dirty="0">
                <a:latin typeface="微软雅黑" charset="0"/>
                <a:ea typeface="微软雅黑" charset="0"/>
              </a:rPr>
              <a:t>用户模式（</a:t>
            </a:r>
            <a:r>
              <a:rPr lang="en-US" altLang="zh-CN" dirty="0">
                <a:latin typeface="微软雅黑" charset="0"/>
                <a:ea typeface="微软雅黑" charset="0"/>
              </a:rPr>
              <a:t>User Mode</a:t>
            </a:r>
            <a:r>
              <a:rPr lang="zh-CN" altLang="en-US" dirty="0">
                <a:latin typeface="微软雅黑" charset="0"/>
                <a:ea typeface="微软雅黑" charset="0"/>
              </a:rPr>
              <a:t>）示例</a:t>
            </a:r>
            <a:endParaRPr lang="en-US" altLang="zh-CN" dirty="0">
              <a:latin typeface="微软雅黑" charset="0"/>
              <a:ea typeface="微软雅黑" charset="0"/>
            </a:endParaRPr>
          </a:p>
          <a:p>
            <a:pPr lvl="1"/>
            <a:r>
              <a:rPr lang="zh-CN" altLang="en-US" dirty="0">
                <a:latin typeface="微软雅黑" charset="0"/>
                <a:ea typeface="微软雅黑" charset="0"/>
              </a:rPr>
              <a:t>使用</a:t>
            </a:r>
            <a:r>
              <a:rPr lang="en-US" altLang="zh-CN" dirty="0" err="1">
                <a:latin typeface="微软雅黑" charset="0"/>
                <a:ea typeface="微软雅黑" charset="0"/>
              </a:rPr>
              <a:t>newlib</a:t>
            </a:r>
            <a:r>
              <a:rPr lang="zh-CN" altLang="en-US" dirty="0">
                <a:latin typeface="微软雅黑" charset="0"/>
                <a:ea typeface="微软雅黑" charset="0"/>
              </a:rPr>
              <a:t>工具链编译源码：</a:t>
            </a:r>
            <a:endParaRPr lang="en-US" altLang="zh-CN" dirty="0">
              <a:latin typeface="微软雅黑" charset="0"/>
              <a:ea typeface="微软雅黑" charset="0"/>
            </a:endParaRPr>
          </a:p>
          <a:p>
            <a:pPr marL="457200" lvl="1" indent="0">
              <a:buNone/>
            </a:pP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</a:rPr>
              <a:t>	$ riscv64-unknown-elf-gcc -o hello 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</a:rPr>
              <a:t>hello.c</a:t>
            </a:r>
            <a:endParaRPr lang="en-US" altLang="zh-CN" dirty="0">
              <a:latin typeface="微软雅黑" charset="0"/>
              <a:ea typeface="微软雅黑" charset="0"/>
            </a:endParaRPr>
          </a:p>
          <a:p>
            <a:pPr marL="457200" lvl="1" indent="0">
              <a:buNone/>
            </a:pPr>
            <a:endParaRPr lang="en-US" altLang="zh-CN" dirty="0">
              <a:latin typeface="微软雅黑" charset="0"/>
              <a:ea typeface="微软雅黑" charset="0"/>
            </a:endParaRPr>
          </a:p>
          <a:p>
            <a:pPr lvl="1"/>
            <a:r>
              <a:rPr lang="zh-CN" altLang="en-US" dirty="0">
                <a:latin typeface="微软雅黑" charset="0"/>
                <a:ea typeface="微软雅黑" charset="0"/>
              </a:rPr>
              <a:t>使用</a:t>
            </a:r>
            <a:r>
              <a:rPr lang="en-US" altLang="zh-CN" dirty="0">
                <a:latin typeface="微软雅黑" charset="0"/>
                <a:ea typeface="微软雅黑" charset="0"/>
              </a:rPr>
              <a:t>QEMU</a:t>
            </a:r>
            <a:r>
              <a:rPr lang="zh-CN" altLang="en-US" dirty="0">
                <a:latin typeface="微软雅黑" charset="0"/>
                <a:ea typeface="微软雅黑" charset="0"/>
              </a:rPr>
              <a:t>用户模式执行：</a:t>
            </a:r>
            <a:endParaRPr lang="en-US" altLang="zh-CN" dirty="0"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  <a:ea typeface="Consolas" panose="020B0609020204030204" pitchFamily="49" charset="0"/>
              </a:rPr>
              <a:t>	$ qemu-riscv64 hello</a:t>
            </a:r>
            <a:endParaRPr lang="zh-CN" altLang="zh-CN" sz="2400" dirty="0"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endParaRPr lang="en-US" altLang="zh-CN" dirty="0"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endParaRPr lang="en-US" altLang="zh-CN" dirty="0"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charset="0"/>
                <a:ea typeface="微软雅黑" charset="0"/>
              </a:rPr>
              <a:t>一、</a:t>
            </a:r>
            <a:r>
              <a:rPr lang="en-US" altLang="zh-CN" dirty="0">
                <a:latin typeface="微软雅黑" charset="0"/>
                <a:ea typeface="微软雅黑" charset="0"/>
              </a:rPr>
              <a:t>QEMU</a:t>
            </a:r>
            <a:r>
              <a:rPr lang="zh-CN" altLang="en-US" dirty="0">
                <a:latin typeface="微软雅黑" charset="0"/>
                <a:ea typeface="微软雅黑" charset="0"/>
              </a:rPr>
              <a:t>运行裸机程序并调试</a:t>
            </a:r>
            <a:endParaRPr lang="en-US" altLang="zh-CN" dirty="0">
              <a:latin typeface="微软雅黑" charset="0"/>
              <a:ea typeface="微软雅黑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>
                <a:latin typeface="微软雅黑" charset="0"/>
                <a:ea typeface="微软雅黑" charset="0"/>
              </a:rPr>
              <a:t>QEMU</a:t>
            </a:r>
            <a:r>
              <a:rPr lang="zh-CN" altLang="en-US" dirty="0">
                <a:latin typeface="微软雅黑" charset="0"/>
                <a:ea typeface="微软雅黑" charset="0"/>
              </a:rPr>
              <a:t>用户模式（</a:t>
            </a:r>
            <a:r>
              <a:rPr lang="en-US" altLang="zh-CN" dirty="0">
                <a:latin typeface="微软雅黑" charset="0"/>
                <a:ea typeface="微软雅黑" charset="0"/>
              </a:rPr>
              <a:t>User Mode</a:t>
            </a:r>
            <a:r>
              <a:rPr lang="zh-CN" altLang="en-US" dirty="0">
                <a:latin typeface="微软雅黑" charset="0"/>
                <a:ea typeface="微软雅黑" charset="0"/>
              </a:rPr>
              <a:t>）示例</a:t>
            </a:r>
            <a:endParaRPr lang="en-US" altLang="zh-CN" dirty="0">
              <a:latin typeface="微软雅黑" charset="0"/>
              <a:ea typeface="微软雅黑" charset="0"/>
            </a:endParaRPr>
          </a:p>
          <a:p>
            <a:pPr lvl="1"/>
            <a:r>
              <a:rPr lang="zh-CN" altLang="en-US" dirty="0">
                <a:latin typeface="微软雅黑" charset="0"/>
                <a:ea typeface="微软雅黑" charset="0"/>
              </a:rPr>
              <a:t>用户模式命令一般格式</a:t>
            </a:r>
            <a:endParaRPr lang="en-US" altLang="zh-CN" dirty="0"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  <a:ea typeface="Consolas" panose="020B0609020204030204" pitchFamily="49" charset="0"/>
              </a:rPr>
              <a:t>	$ qemu-riscv64 [options] filename [arguments...]</a:t>
            </a:r>
            <a:endParaRPr lang="en-US" altLang="zh-CN" dirty="0">
              <a:latin typeface="微软雅黑" charset="0"/>
              <a:ea typeface="微软雅黑" charset="0"/>
            </a:endParaRPr>
          </a:p>
          <a:p>
            <a:pPr lvl="1"/>
            <a:r>
              <a:rPr lang="zh-CN" altLang="en-US" dirty="0">
                <a:latin typeface="微软雅黑" charset="0"/>
                <a:ea typeface="微软雅黑" charset="0"/>
              </a:rPr>
              <a:t>重要参数</a:t>
            </a:r>
            <a:endParaRPr lang="en-US" altLang="zh-CN" dirty="0"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  <a:ea typeface="Consolas" panose="020B0609020204030204" pitchFamily="49" charset="0"/>
              </a:rPr>
              <a:t>	-g port		QEMU_DGB		  </a:t>
            </a:r>
            <a:r>
              <a:rPr lang="zh-CN" altLang="en-US" sz="2400" dirty="0">
                <a:latin typeface="Consolas" panose="020B0609020204030204" pitchFamily="49" charset="0"/>
                <a:ea typeface="Consolas" panose="020B0609020204030204" pitchFamily="49" charset="0"/>
              </a:rPr>
              <a:t>指定</a:t>
            </a:r>
            <a:r>
              <a:rPr lang="en-US" altLang="zh-CN" sz="2400" dirty="0">
                <a:latin typeface="Consolas" panose="020B0609020204030204" pitchFamily="49" charset="0"/>
                <a:ea typeface="Consolas" panose="020B0609020204030204" pitchFamily="49" charset="0"/>
              </a:rPr>
              <a:t>gdb</a:t>
            </a:r>
            <a:r>
              <a:rPr lang="zh-CN" altLang="en-US" sz="2400" dirty="0">
                <a:latin typeface="Consolas" panose="020B0609020204030204" pitchFamily="49" charset="0"/>
                <a:ea typeface="Consolas" panose="020B0609020204030204" pitchFamily="49" charset="0"/>
              </a:rPr>
              <a:t>调试端口</a:t>
            </a:r>
            <a:endParaRPr lang="en-US" altLang="zh-CN" sz="2400" dirty="0">
              <a:latin typeface="Consolas" panose="020B0609020204030204" pitchFamily="49" charset="0"/>
              <a:ea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  <a:ea typeface="Consolas" panose="020B0609020204030204" pitchFamily="49" charset="0"/>
              </a:rPr>
              <a:t>	-L path		QEMU_LD_PREFIX	  </a:t>
            </a:r>
            <a:r>
              <a:rPr lang="zh-CN" altLang="en-US" sz="2400" dirty="0">
                <a:latin typeface="Consolas" panose="020B0609020204030204" pitchFamily="49" charset="0"/>
                <a:ea typeface="Consolas" panose="020B0609020204030204" pitchFamily="49" charset="0"/>
              </a:rPr>
              <a:t>指定动态链接库路径</a:t>
            </a:r>
            <a:endParaRPr lang="en-US" altLang="zh-CN" sz="2400" dirty="0">
              <a:latin typeface="Consolas" panose="020B0609020204030204" pitchFamily="49" charset="0"/>
              <a:ea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  <a:ea typeface="Consolas" panose="020B0609020204030204" pitchFamily="49" charset="0"/>
              </a:rPr>
              <a:t>	-s size		QEMU_STACK_SIZE	  </a:t>
            </a:r>
            <a:r>
              <a:rPr lang="zh-CN" altLang="en-US" sz="2400" dirty="0">
                <a:latin typeface="Consolas" panose="020B0609020204030204" pitchFamily="49" charset="0"/>
                <a:ea typeface="Consolas" panose="020B0609020204030204" pitchFamily="49" charset="0"/>
              </a:rPr>
              <a:t>指定运行栈大小</a:t>
            </a:r>
            <a:endParaRPr lang="en-US" altLang="zh-CN" sz="2400" dirty="0">
              <a:latin typeface="Consolas" panose="020B0609020204030204" pitchFamily="49" charset="0"/>
              <a:ea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  <a:ea typeface="Consolas" panose="020B0609020204030204" pitchFamily="49" charset="0"/>
              </a:rPr>
              <a:t>	-D </a:t>
            </a:r>
            <a:r>
              <a:rPr lang="en-US" altLang="zh-CN" sz="2400" dirty="0" err="1">
                <a:latin typeface="Consolas" panose="020B0609020204030204" pitchFamily="49" charset="0"/>
                <a:ea typeface="Consolas" panose="020B0609020204030204" pitchFamily="49" charset="0"/>
              </a:rPr>
              <a:t>logfile</a:t>
            </a:r>
            <a:r>
              <a:rPr lang="en-US" altLang="zh-CN" sz="2400" dirty="0">
                <a:latin typeface="Consolas" panose="020B0609020204030204" pitchFamily="49" charset="0"/>
                <a:ea typeface="Consolas" panose="020B0609020204030204" pitchFamily="49" charset="0"/>
              </a:rPr>
              <a:t>		QEMU_LOG_FILENAME  </a:t>
            </a:r>
            <a:r>
              <a:rPr lang="zh-CN" altLang="en-US" sz="2400" dirty="0">
                <a:latin typeface="Consolas" panose="020B0609020204030204" pitchFamily="49" charset="0"/>
                <a:ea typeface="Consolas" panose="020B0609020204030204" pitchFamily="49" charset="0"/>
              </a:rPr>
              <a:t>指定输出</a:t>
            </a:r>
            <a:r>
              <a:rPr lang="en-US" altLang="zh-CN" sz="2400" dirty="0">
                <a:latin typeface="Consolas" panose="020B0609020204030204" pitchFamily="49" charset="0"/>
                <a:ea typeface="Consolas" panose="020B0609020204030204" pitchFamily="49" charset="0"/>
              </a:rPr>
              <a:t>log</a:t>
            </a:r>
            <a:r>
              <a:rPr lang="zh-CN" altLang="en-US" sz="2400" dirty="0">
                <a:latin typeface="Consolas" panose="020B0609020204030204" pitchFamily="49" charset="0"/>
                <a:ea typeface="Consolas" panose="020B0609020204030204" pitchFamily="49" charset="0"/>
              </a:rPr>
              <a:t>文件名</a:t>
            </a:r>
            <a:endParaRPr lang="en-US" altLang="zh-CN" sz="2400" dirty="0">
              <a:latin typeface="Consolas" panose="020B0609020204030204" pitchFamily="49" charset="0"/>
              <a:ea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  <a:ea typeface="Consolas" panose="020B0609020204030204" pitchFamily="49" charset="0"/>
              </a:rPr>
              <a:t>	-trace		QEMU_TRACE		  </a:t>
            </a:r>
            <a:r>
              <a:rPr lang="zh-CN" altLang="en-US" sz="2400" dirty="0">
                <a:latin typeface="Consolas" panose="020B0609020204030204" pitchFamily="49" charset="0"/>
                <a:ea typeface="Consolas" panose="020B0609020204030204" pitchFamily="49" charset="0"/>
              </a:rPr>
              <a:t>配置</a:t>
            </a:r>
            <a:r>
              <a:rPr lang="en-US" altLang="zh-CN" sz="2400" dirty="0">
                <a:latin typeface="Consolas" panose="020B0609020204030204" pitchFamily="49" charset="0"/>
                <a:ea typeface="Consolas" panose="020B0609020204030204" pitchFamily="49" charset="0"/>
              </a:rPr>
              <a:t>trace</a:t>
            </a:r>
            <a:r>
              <a:rPr lang="zh-CN" altLang="en-US" sz="2400" dirty="0">
                <a:latin typeface="Consolas" panose="020B0609020204030204" pitchFamily="49" charset="0"/>
                <a:ea typeface="Consolas" panose="020B0609020204030204" pitchFamily="49" charset="0"/>
              </a:rPr>
              <a:t>模块参数</a:t>
            </a:r>
            <a:endParaRPr lang="en-US" altLang="zh-CN" sz="2400" dirty="0">
              <a:latin typeface="Consolas" panose="020B0609020204030204" pitchFamily="49" charset="0"/>
              <a:ea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  <a:ea typeface="Consolas" panose="020B0609020204030204" pitchFamily="49" charset="0"/>
              </a:rPr>
              <a:t>	…</a:t>
            </a:r>
            <a:endParaRPr lang="zh-CN" altLang="zh-CN" sz="2400" dirty="0"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endParaRPr lang="en-US" altLang="zh-CN" dirty="0"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endParaRPr lang="en-US" altLang="zh-CN" dirty="0"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charset="0"/>
                <a:ea typeface="微软雅黑" charset="0"/>
              </a:rPr>
              <a:t>一、</a:t>
            </a:r>
            <a:r>
              <a:rPr lang="en-US" altLang="zh-CN" dirty="0">
                <a:latin typeface="微软雅黑" charset="0"/>
                <a:ea typeface="微软雅黑" charset="0"/>
              </a:rPr>
              <a:t>QEMU</a:t>
            </a:r>
            <a:r>
              <a:rPr lang="zh-CN" altLang="en-US" dirty="0">
                <a:latin typeface="微软雅黑" charset="0"/>
                <a:ea typeface="微软雅黑" charset="0"/>
              </a:rPr>
              <a:t>运行裸机程序并调试</a:t>
            </a:r>
            <a:endParaRPr lang="en-US" altLang="zh-CN" dirty="0">
              <a:latin typeface="微软雅黑" charset="0"/>
              <a:ea typeface="微软雅黑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微软雅黑" charset="0"/>
                <a:ea typeface="微软雅黑" charset="0"/>
              </a:rPr>
              <a:t>QEMU</a:t>
            </a:r>
            <a:r>
              <a:rPr lang="zh-CN" altLang="en-US" dirty="0">
                <a:latin typeface="微软雅黑" charset="0"/>
                <a:ea typeface="微软雅黑" charset="0"/>
              </a:rPr>
              <a:t>系统模式（</a:t>
            </a:r>
            <a:r>
              <a:rPr lang="en-US" altLang="zh-CN" dirty="0">
                <a:latin typeface="微软雅黑" charset="0"/>
                <a:ea typeface="微软雅黑" charset="0"/>
              </a:rPr>
              <a:t>System Mode</a:t>
            </a:r>
            <a:r>
              <a:rPr lang="zh-CN" altLang="en-US" dirty="0">
                <a:latin typeface="微软雅黑" charset="0"/>
                <a:ea typeface="微软雅黑" charset="0"/>
              </a:rPr>
              <a:t>）</a:t>
            </a:r>
          </a:p>
          <a:p>
            <a:pPr marL="685800" lvl="1"/>
            <a:r>
              <a:rPr lang="zh-CN" altLang="en-US" dirty="0">
                <a:solidFill>
                  <a:srgbClr val="000000"/>
                </a:solidFill>
                <a:latin typeface="微软雅黑" charset="0"/>
                <a:ea typeface="微软雅黑" charset="0"/>
              </a:rPr>
              <a:t>在系统模式中，</a:t>
            </a:r>
            <a:r>
              <a:rPr lang="en-US" altLang="zh-CN" dirty="0">
                <a:solidFill>
                  <a:srgbClr val="000000"/>
                </a:solidFill>
                <a:latin typeface="微软雅黑" charset="0"/>
                <a:ea typeface="微软雅黑" charset="0"/>
              </a:rPr>
              <a:t>QEMU</a:t>
            </a:r>
            <a:r>
              <a:rPr lang="zh-CN" altLang="en-US" dirty="0">
                <a:solidFill>
                  <a:srgbClr val="000000"/>
                </a:solidFill>
                <a:latin typeface="微软雅黑" charset="0"/>
                <a:ea typeface="微软雅黑" charset="0"/>
              </a:rPr>
              <a:t>模拟出包括外设（比如网卡、磁盘等）在内的整个计算机系统，类似于我们经常使用的</a:t>
            </a:r>
            <a:r>
              <a:rPr lang="en-US" altLang="zh-CN" dirty="0">
                <a:solidFill>
                  <a:srgbClr val="000000"/>
                </a:solidFill>
                <a:latin typeface="微软雅黑" charset="0"/>
                <a:ea typeface="微软雅黑" charset="0"/>
              </a:rPr>
              <a:t>VMWare</a:t>
            </a:r>
            <a:r>
              <a:rPr lang="zh-CN" altLang="en-US" dirty="0">
                <a:solidFill>
                  <a:srgbClr val="000000"/>
                </a:solidFill>
                <a:latin typeface="微软雅黑" charset="0"/>
                <a:ea typeface="微软雅黑" charset="0"/>
              </a:rPr>
              <a:t>虚拟机，但</a:t>
            </a:r>
            <a:r>
              <a:rPr lang="en-US" altLang="zh-CN" dirty="0">
                <a:solidFill>
                  <a:srgbClr val="000000"/>
                </a:solidFill>
                <a:latin typeface="微软雅黑" charset="0"/>
                <a:ea typeface="微软雅黑" charset="0"/>
              </a:rPr>
              <a:t>VMWare</a:t>
            </a:r>
            <a:r>
              <a:rPr lang="zh-CN" altLang="en-US" dirty="0">
                <a:solidFill>
                  <a:srgbClr val="000000"/>
                </a:solidFill>
                <a:latin typeface="微软雅黑" charset="0"/>
                <a:ea typeface="微软雅黑" charset="0"/>
              </a:rPr>
              <a:t>只能构建和宿主机指令集相同</a:t>
            </a:r>
            <a:r>
              <a:rPr lang="en-US" altLang="zh-CN" dirty="0">
                <a:solidFill>
                  <a:srgbClr val="000000"/>
                </a:solidFill>
                <a:latin typeface="微软雅黑" charset="0"/>
                <a:ea typeface="微软雅黑" charset="0"/>
              </a:rPr>
              <a:t>(x86)</a:t>
            </a:r>
            <a:r>
              <a:rPr lang="zh-CN" altLang="en-US" dirty="0">
                <a:solidFill>
                  <a:srgbClr val="000000"/>
                </a:solidFill>
                <a:latin typeface="微软雅黑" charset="0"/>
                <a:ea typeface="微软雅黑" charset="0"/>
              </a:rPr>
              <a:t>的虚拟机，而</a:t>
            </a:r>
            <a:r>
              <a:rPr lang="en-US" altLang="zh-CN" dirty="0">
                <a:solidFill>
                  <a:srgbClr val="000000"/>
                </a:solidFill>
                <a:latin typeface="微软雅黑" charset="0"/>
                <a:ea typeface="微软雅黑" charset="0"/>
              </a:rPr>
              <a:t>QEMU</a:t>
            </a:r>
            <a:r>
              <a:rPr lang="zh-CN" altLang="en-US" dirty="0">
                <a:solidFill>
                  <a:srgbClr val="000000"/>
                </a:solidFill>
                <a:latin typeface="微软雅黑" charset="0"/>
                <a:ea typeface="微软雅黑" charset="0"/>
              </a:rPr>
              <a:t>能模拟包括</a:t>
            </a:r>
            <a:r>
              <a:rPr lang="en-US" altLang="zh-CN" dirty="0">
                <a:solidFill>
                  <a:srgbClr val="000000"/>
                </a:solidFill>
                <a:latin typeface="微软雅黑" charset="0"/>
                <a:ea typeface="微软雅黑" charset="0"/>
              </a:rPr>
              <a:t>RISC</a:t>
            </a:r>
            <a:r>
              <a:rPr lang="zh-CN" altLang="en-US" dirty="0">
                <a:solidFill>
                  <a:srgbClr val="000000"/>
                </a:solidFill>
                <a:latin typeface="微软雅黑" charset="0"/>
                <a:ea typeface="微软雅黑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微软雅黑" charset="0"/>
                <a:ea typeface="微软雅黑" charset="0"/>
              </a:rPr>
              <a:t>V</a:t>
            </a:r>
            <a:r>
              <a:rPr lang="zh-CN" altLang="en-US" dirty="0">
                <a:solidFill>
                  <a:srgbClr val="000000"/>
                </a:solidFill>
                <a:latin typeface="微软雅黑" charset="0"/>
                <a:ea typeface="微软雅黑" charset="0"/>
              </a:rPr>
              <a:t>在内的各种架构的计算机系统</a:t>
            </a:r>
          </a:p>
          <a:p>
            <a:pPr marL="685800" lvl="1"/>
            <a:r>
              <a:rPr lang="zh-CN" altLang="en-US" dirty="0">
                <a:solidFill>
                  <a:srgbClr val="000000"/>
                </a:solidFill>
                <a:latin typeface="微软雅黑" charset="0"/>
                <a:ea typeface="微软雅黑" charset="0"/>
              </a:rPr>
              <a:t>在系统模式中，还可以启动</a:t>
            </a:r>
            <a:r>
              <a:rPr lang="en-US" altLang="zh-CN" dirty="0">
                <a:solidFill>
                  <a:srgbClr val="000000"/>
                </a:solidFill>
                <a:latin typeface="微软雅黑" charset="0"/>
                <a:ea typeface="微软雅黑" charset="0"/>
              </a:rPr>
              <a:t>Linux</a:t>
            </a:r>
            <a:r>
              <a:rPr lang="zh-CN" altLang="en-US" dirty="0">
                <a:solidFill>
                  <a:srgbClr val="000000"/>
                </a:solidFill>
                <a:latin typeface="微软雅黑" charset="0"/>
                <a:ea typeface="微软雅黑" charset="0"/>
              </a:rPr>
              <a:t>、</a:t>
            </a:r>
            <a:r>
              <a:rPr lang="en-US" altLang="zh-CN" dirty="0">
                <a:solidFill>
                  <a:srgbClr val="000000"/>
                </a:solidFill>
                <a:latin typeface="微软雅黑" charset="0"/>
                <a:ea typeface="微软雅黑" charset="0"/>
              </a:rPr>
              <a:t>Windows</a:t>
            </a:r>
            <a:r>
              <a:rPr lang="zh-CN" altLang="en-US" dirty="0">
                <a:solidFill>
                  <a:srgbClr val="000000"/>
                </a:solidFill>
                <a:latin typeface="微软雅黑" charset="0"/>
                <a:ea typeface="微软雅黑" charset="0"/>
              </a:rPr>
              <a:t>等各种操作系统</a:t>
            </a:r>
            <a:endParaRPr lang="zh-CN" altLang="en-US" sz="2200" dirty="0">
              <a:solidFill>
                <a:srgbClr val="FF0000"/>
              </a:solidFill>
              <a:latin typeface="微软雅黑" charset="0"/>
              <a:ea typeface="微软雅黑" charset="0"/>
            </a:endParaRPr>
          </a:p>
          <a:p>
            <a:pPr marL="685800" lvl="1"/>
            <a:endParaRPr lang="zh-CN" altLang="en-US" sz="2200" dirty="0">
              <a:solidFill>
                <a:srgbClr val="FF0000"/>
              </a:solidFill>
              <a:latin typeface="微软雅黑" charset="0"/>
              <a:ea typeface="微软雅黑" charset="0"/>
            </a:endParaRPr>
          </a:p>
          <a:p>
            <a:pPr marL="685800" lvl="1"/>
            <a:endParaRPr lang="zh-CN" altLang="zh-CN" sz="1885" dirty="0">
              <a:solidFill>
                <a:srgbClr val="FF0000"/>
              </a:solidFill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endParaRPr lang="en-US" altLang="zh-CN" dirty="0"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endParaRPr lang="en-US" altLang="zh-CN" dirty="0"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charset="0"/>
                <a:ea typeface="微软雅黑" charset="0"/>
              </a:rPr>
              <a:t>一、</a:t>
            </a:r>
            <a:r>
              <a:rPr lang="en-US" altLang="zh-CN" dirty="0">
                <a:latin typeface="微软雅黑" charset="0"/>
                <a:ea typeface="微软雅黑" charset="0"/>
              </a:rPr>
              <a:t>QEMU</a:t>
            </a:r>
            <a:r>
              <a:rPr lang="zh-CN" altLang="en-US" dirty="0">
                <a:latin typeface="微软雅黑" charset="0"/>
                <a:ea typeface="微软雅黑" charset="0"/>
              </a:rPr>
              <a:t>运行裸机程序并调试</a:t>
            </a:r>
            <a:endParaRPr lang="en-US" altLang="zh-CN" dirty="0">
              <a:latin typeface="微软雅黑" charset="0"/>
              <a:ea typeface="微软雅黑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6667" y="1834444"/>
            <a:ext cx="11235972" cy="4885972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微软雅黑" charset="0"/>
                <a:ea typeface="微软雅黑" charset="0"/>
              </a:rPr>
              <a:t>QEMU</a:t>
            </a:r>
            <a:r>
              <a:rPr lang="zh-CN" altLang="en-US" dirty="0">
                <a:latin typeface="微软雅黑" charset="0"/>
                <a:ea typeface="微软雅黑" charset="0"/>
              </a:rPr>
              <a:t>系统模式（</a:t>
            </a:r>
            <a:r>
              <a:rPr lang="en-US" altLang="zh-CN" dirty="0">
                <a:latin typeface="微软雅黑" charset="0"/>
                <a:ea typeface="微软雅黑" charset="0"/>
              </a:rPr>
              <a:t>System Mode</a:t>
            </a:r>
            <a:r>
              <a:rPr lang="zh-CN" altLang="en-US" dirty="0">
                <a:latin typeface="微软雅黑" charset="0"/>
                <a:ea typeface="微软雅黑" charset="0"/>
              </a:rPr>
              <a:t>）示例</a:t>
            </a:r>
            <a:endParaRPr lang="en-US" altLang="zh-CN" dirty="0">
              <a:latin typeface="微软雅黑" charset="0"/>
              <a:ea typeface="微软雅黑" charset="0"/>
            </a:endParaRPr>
          </a:p>
          <a:p>
            <a:pPr lvl="1"/>
            <a:r>
              <a:rPr lang="zh-CN" altLang="en-US" dirty="0">
                <a:latin typeface="微软雅黑" charset="0"/>
                <a:ea typeface="微软雅黑" charset="0"/>
              </a:rPr>
              <a:t>下载</a:t>
            </a:r>
            <a:r>
              <a:rPr lang="en-US" altLang="zh-CN" dirty="0" err="1">
                <a:latin typeface="微软雅黑" charset="0"/>
                <a:ea typeface="微软雅黑" charset="0"/>
              </a:rPr>
              <a:t>riscv</a:t>
            </a:r>
            <a:r>
              <a:rPr lang="en-US" altLang="zh-CN" dirty="0">
                <a:latin typeface="微软雅黑" charset="0"/>
                <a:ea typeface="微软雅黑" charset="0"/>
              </a:rPr>
              <a:t>-probe</a:t>
            </a:r>
          </a:p>
          <a:p>
            <a:pPr marL="914400" lvl="2" indent="0">
              <a:buNone/>
            </a:pPr>
            <a:r>
              <a:rPr lang="en-US" altLang="zh-CN" sz="2200" dirty="0">
                <a:latin typeface="Consolas" panose="020B0609020204030204" pitchFamily="49" charset="0"/>
                <a:ea typeface="Consolas" panose="020B0609020204030204" pitchFamily="49" charset="0"/>
              </a:rPr>
              <a:t>$ </a:t>
            </a:r>
            <a:r>
              <a:rPr lang="en-US" altLang="zh-CN" sz="2200" dirty="0" err="1">
                <a:latin typeface="Consolas" panose="020B0609020204030204" pitchFamily="49" charset="0"/>
                <a:ea typeface="Consolas" panose="020B0609020204030204" pitchFamily="49" charset="0"/>
              </a:rPr>
              <a:t>git</a:t>
            </a:r>
            <a:r>
              <a:rPr lang="en-US" altLang="zh-CN" sz="2200" dirty="0">
                <a:latin typeface="Consolas" panose="020B0609020204030204" pitchFamily="49" charset="0"/>
                <a:ea typeface="Consolas" panose="020B0609020204030204" pitchFamily="49" charset="0"/>
              </a:rPr>
              <a:t> clone </a:t>
            </a:r>
            <a:r>
              <a:rPr lang="en-US" altLang="zh-CN" sz="2200" dirty="0">
                <a:latin typeface="Consolas" panose="020B0609020204030204" pitchFamily="49" charset="0"/>
                <a:ea typeface="Consolas" panose="020B0609020204030204" pitchFamily="49" charset="0"/>
                <a:hlinkClick r:id="rId2"/>
              </a:rPr>
              <a:t>https://github.com/michaeljclark/riscv-probe</a:t>
            </a:r>
            <a:endParaRPr lang="en-US" altLang="zh-CN" sz="2200" dirty="0">
              <a:latin typeface="微软雅黑" charset="0"/>
              <a:ea typeface="微软雅黑" charset="0"/>
            </a:endParaRPr>
          </a:p>
          <a:p>
            <a:pPr marL="914400" lvl="2" indent="0">
              <a:buNone/>
            </a:pPr>
            <a:endParaRPr lang="en-US" altLang="zh-CN" sz="2200" dirty="0">
              <a:latin typeface="微软雅黑" charset="0"/>
              <a:ea typeface="微软雅黑" charset="0"/>
            </a:endParaRPr>
          </a:p>
          <a:p>
            <a:pPr lvl="1"/>
            <a:r>
              <a:rPr lang="zh-CN" altLang="en-US" sz="2600" dirty="0">
                <a:latin typeface="微软雅黑" charset="0"/>
                <a:ea typeface="微软雅黑" charset="0"/>
              </a:rPr>
              <a:t>编译</a:t>
            </a:r>
            <a:endParaRPr lang="en-US" altLang="zh-CN" sz="2600" dirty="0"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r>
              <a:rPr lang="en-US" altLang="zh-CN" sz="2200" dirty="0">
                <a:latin typeface="Consolas" panose="020B0609020204030204" pitchFamily="49" charset="0"/>
                <a:ea typeface="Consolas" panose="020B0609020204030204" pitchFamily="49" charset="0"/>
              </a:rPr>
              <a:t>		$ make</a:t>
            </a:r>
            <a:endParaRPr lang="en-US" altLang="zh-CN" sz="2200" dirty="0"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endParaRPr lang="en-US" altLang="zh-CN" sz="2200" dirty="0">
              <a:latin typeface="微软雅黑" charset="0"/>
              <a:ea typeface="微软雅黑" charset="0"/>
            </a:endParaRPr>
          </a:p>
          <a:p>
            <a:pPr lvl="2"/>
            <a:r>
              <a:rPr lang="zh-CN" altLang="zh-CN" sz="2200" dirty="0">
                <a:latin typeface="微软雅黑" charset="0"/>
                <a:ea typeface="微软雅黑" charset="0"/>
              </a:rPr>
              <a:t>将默认使用前缀为</a:t>
            </a:r>
            <a:r>
              <a:rPr lang="en-US" altLang="zh-CN" sz="2200" dirty="0">
                <a:latin typeface="微软雅黑" charset="0"/>
                <a:ea typeface="微软雅黑" charset="0"/>
              </a:rPr>
              <a:t>riscv64-unknown-elf-</a:t>
            </a:r>
            <a:r>
              <a:rPr lang="zh-CN" altLang="zh-CN" sz="2200" dirty="0">
                <a:latin typeface="微软雅黑" charset="0"/>
                <a:ea typeface="微软雅黑" charset="0"/>
              </a:rPr>
              <a:t>的工具链对项目进行编译，如果该该工具了不在环境变量里面或者要使用指定路径的工具链，可以使用以下选项进行编译</a:t>
            </a:r>
            <a:r>
              <a:rPr lang="zh-CN" altLang="en-US" sz="2200" dirty="0">
                <a:latin typeface="微软雅黑" charset="0"/>
                <a:ea typeface="微软雅黑" charset="0"/>
                <a:sym typeface="Wingdings" panose="05000000000000000000" pitchFamily="2" charset="2"/>
              </a:rPr>
              <a:t>（红色部分</a:t>
            </a:r>
            <a:r>
              <a:rPr lang="zh-CN" altLang="zh-CN" sz="2200" dirty="0">
                <a:latin typeface="微软雅黑" charset="0"/>
                <a:ea typeface="微软雅黑" charset="0"/>
              </a:rPr>
              <a:t>应替换为欲使用的工具链前缀，必要时应当包含程序路径。 </a:t>
            </a:r>
            <a:r>
              <a:rPr lang="zh-CN" altLang="en-US" sz="2200" dirty="0">
                <a:latin typeface="微软雅黑" charset="0"/>
                <a:ea typeface="微软雅黑" charset="0"/>
                <a:sym typeface="Wingdings" panose="05000000000000000000" pitchFamily="2" charset="2"/>
              </a:rPr>
              <a:t>）</a:t>
            </a:r>
            <a:endParaRPr lang="zh-CN" altLang="zh-CN" dirty="0"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r>
              <a:rPr lang="en-US" altLang="zh-CN" sz="2200" dirty="0">
                <a:latin typeface="Consolas" panose="020B0609020204030204" pitchFamily="49" charset="0"/>
                <a:ea typeface="Consolas" panose="020B0609020204030204" pitchFamily="49" charset="0"/>
              </a:rPr>
              <a:t>		$ make CROSS_COMPILE</a:t>
            </a:r>
            <a:r>
              <a:rPr lang="en-US" altLang="zh-CN" sz="2200" dirty="0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</a:rPr>
              <a:t>=$(toolpath)</a:t>
            </a:r>
            <a:endParaRPr lang="zh-CN" altLang="zh-CN" sz="2200" dirty="0">
              <a:solidFill>
                <a:srgbClr val="FF0000"/>
              </a:solidFill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endParaRPr lang="en-US" altLang="zh-CN" dirty="0"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endParaRPr lang="en-US" altLang="zh-CN" dirty="0"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charset="0"/>
                <a:ea typeface="微软雅黑" charset="0"/>
              </a:rPr>
              <a:t>一、</a:t>
            </a:r>
            <a:r>
              <a:rPr lang="en-US" altLang="zh-CN" dirty="0">
                <a:latin typeface="微软雅黑" charset="0"/>
                <a:ea typeface="微软雅黑" charset="0"/>
              </a:rPr>
              <a:t>QEMU</a:t>
            </a:r>
            <a:r>
              <a:rPr lang="zh-CN" altLang="en-US" dirty="0">
                <a:latin typeface="微软雅黑" charset="0"/>
                <a:ea typeface="微软雅黑" charset="0"/>
              </a:rPr>
              <a:t>运行裸机程序并调试</a:t>
            </a:r>
            <a:endParaRPr lang="en-US" altLang="zh-CN" dirty="0">
              <a:latin typeface="微软雅黑" charset="0"/>
              <a:ea typeface="微软雅黑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>
                <a:latin typeface="微软雅黑" charset="0"/>
                <a:ea typeface="微软雅黑" charset="0"/>
              </a:rPr>
              <a:t>QEMU</a:t>
            </a:r>
            <a:r>
              <a:rPr lang="zh-CN" altLang="en-US" dirty="0">
                <a:latin typeface="微软雅黑" charset="0"/>
                <a:ea typeface="微软雅黑" charset="0"/>
              </a:rPr>
              <a:t>系统模式（</a:t>
            </a:r>
            <a:r>
              <a:rPr lang="en-US" altLang="zh-CN" dirty="0">
                <a:latin typeface="微软雅黑" charset="0"/>
                <a:ea typeface="微软雅黑" charset="0"/>
              </a:rPr>
              <a:t>System Mode</a:t>
            </a:r>
            <a:r>
              <a:rPr lang="zh-CN" altLang="en-US" dirty="0">
                <a:latin typeface="微软雅黑" charset="0"/>
                <a:ea typeface="微软雅黑" charset="0"/>
              </a:rPr>
              <a:t>）示例</a:t>
            </a:r>
            <a:endParaRPr lang="en-US" altLang="zh-CN" dirty="0">
              <a:latin typeface="微软雅黑" charset="0"/>
              <a:ea typeface="微软雅黑" charset="0"/>
            </a:endParaRPr>
          </a:p>
          <a:p>
            <a:pPr lvl="1"/>
            <a:r>
              <a:rPr lang="zh-CN" altLang="zh-CN" dirty="0">
                <a:latin typeface="微软雅黑" charset="0"/>
                <a:ea typeface="微软雅黑" charset="0"/>
              </a:rPr>
              <a:t>假设当前在编译完成后的</a:t>
            </a:r>
            <a:r>
              <a:rPr lang="en-US" altLang="zh-CN" dirty="0" err="1">
                <a:latin typeface="微软雅黑" charset="0"/>
                <a:ea typeface="微软雅黑" charset="0"/>
              </a:rPr>
              <a:t>riscv</a:t>
            </a:r>
            <a:r>
              <a:rPr lang="en-US" altLang="zh-CN" dirty="0">
                <a:latin typeface="微软雅黑" charset="0"/>
                <a:ea typeface="微软雅黑" charset="0"/>
              </a:rPr>
              <a:t>-probe</a:t>
            </a:r>
            <a:r>
              <a:rPr lang="zh-CN" altLang="zh-CN" dirty="0">
                <a:latin typeface="微软雅黑" charset="0"/>
                <a:ea typeface="微软雅黑" charset="0"/>
              </a:rPr>
              <a:t>文件下</a:t>
            </a:r>
            <a:endParaRPr lang="en-US" altLang="zh-CN" dirty="0"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r>
              <a:rPr lang="en-US" altLang="zh-CN" sz="2600" dirty="0">
                <a:latin typeface="Consolas" panose="020B0609020204030204" pitchFamily="49" charset="0"/>
                <a:ea typeface="Consolas" panose="020B0609020204030204" pitchFamily="49" charset="0"/>
              </a:rPr>
              <a:t>	$ qemu-system-riscv64 \</a:t>
            </a:r>
            <a:endParaRPr lang="zh-CN" altLang="zh-CN" sz="2600" dirty="0">
              <a:latin typeface="Consolas" panose="020B0609020204030204" pitchFamily="49" charset="0"/>
              <a:ea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600" dirty="0">
                <a:latin typeface="Consolas" panose="020B0609020204030204" pitchFamily="49" charset="0"/>
                <a:ea typeface="Consolas" panose="020B0609020204030204" pitchFamily="49" charset="0"/>
              </a:rPr>
              <a:t>	-</a:t>
            </a:r>
            <a:r>
              <a:rPr lang="en-US" altLang="zh-CN" sz="2600" dirty="0" err="1">
                <a:latin typeface="Consolas" panose="020B0609020204030204" pitchFamily="49" charset="0"/>
                <a:ea typeface="Consolas" panose="020B0609020204030204" pitchFamily="49" charset="0"/>
              </a:rPr>
              <a:t>nographic</a:t>
            </a:r>
            <a:r>
              <a:rPr lang="en-US" altLang="zh-CN" sz="2600" dirty="0">
                <a:latin typeface="Consolas" panose="020B0609020204030204" pitchFamily="49" charset="0"/>
                <a:ea typeface="Consolas" panose="020B0609020204030204" pitchFamily="49" charset="0"/>
              </a:rPr>
              <a:t> \</a:t>
            </a:r>
            <a:endParaRPr lang="zh-CN" altLang="zh-CN" sz="2600" dirty="0">
              <a:latin typeface="Consolas" panose="020B0609020204030204" pitchFamily="49" charset="0"/>
              <a:ea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600" dirty="0">
                <a:latin typeface="Consolas" panose="020B0609020204030204" pitchFamily="49" charset="0"/>
                <a:ea typeface="Consolas" panose="020B0609020204030204" pitchFamily="49" charset="0"/>
              </a:rPr>
              <a:t>	-machine spike \</a:t>
            </a:r>
            <a:endParaRPr lang="zh-CN" altLang="zh-CN" sz="2600" dirty="0">
              <a:latin typeface="Consolas" panose="020B0609020204030204" pitchFamily="49" charset="0"/>
              <a:ea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600" dirty="0">
                <a:latin typeface="Consolas" panose="020B0609020204030204" pitchFamily="49" charset="0"/>
                <a:ea typeface="Consolas" panose="020B0609020204030204" pitchFamily="49" charset="0"/>
              </a:rPr>
              <a:t>	-kernel build/bin/rv64imac/spike/hello</a:t>
            </a:r>
            <a:endParaRPr lang="en-US" altLang="zh-CN" sz="2600" dirty="0"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r>
              <a:rPr lang="en-US" altLang="zh-CN" sz="2600" dirty="0">
                <a:latin typeface="微软雅黑" charset="0"/>
                <a:ea typeface="微软雅黑" charset="0"/>
              </a:rPr>
              <a:t>	</a:t>
            </a:r>
            <a:r>
              <a:rPr lang="zh-CN" altLang="en-US" sz="2600" dirty="0">
                <a:latin typeface="微软雅黑" charset="0"/>
                <a:ea typeface="微软雅黑" charset="0"/>
              </a:rPr>
              <a:t>说明：</a:t>
            </a:r>
            <a:endParaRPr lang="en-US" altLang="zh-CN" sz="2600" dirty="0"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r>
              <a:rPr lang="en-US" altLang="zh-CN" sz="2200" dirty="0">
                <a:latin typeface="微软雅黑" charset="0"/>
                <a:ea typeface="微软雅黑" charset="0"/>
              </a:rPr>
              <a:t>	-</a:t>
            </a:r>
            <a:r>
              <a:rPr lang="en-US" altLang="zh-CN" sz="2200" dirty="0" err="1">
                <a:latin typeface="微软雅黑" charset="0"/>
                <a:ea typeface="微软雅黑" charset="0"/>
              </a:rPr>
              <a:t>nographic</a:t>
            </a:r>
            <a:r>
              <a:rPr lang="en-US" altLang="zh-CN" sz="2200" dirty="0">
                <a:latin typeface="微软雅黑" charset="0"/>
                <a:ea typeface="微软雅黑" charset="0"/>
              </a:rPr>
              <a:t> </a:t>
            </a:r>
            <a:r>
              <a:rPr lang="zh-CN" altLang="en-US" sz="2200" dirty="0">
                <a:latin typeface="微软雅黑" charset="0"/>
                <a:ea typeface="微软雅黑" charset="0"/>
              </a:rPr>
              <a:t>无图形界面</a:t>
            </a:r>
            <a:endParaRPr lang="en-US" altLang="zh-CN" sz="2200" dirty="0"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r>
              <a:rPr lang="en-US" altLang="zh-CN" sz="2200" dirty="0">
                <a:latin typeface="微软雅黑" charset="0"/>
                <a:ea typeface="微软雅黑" charset="0"/>
              </a:rPr>
              <a:t>	-machine </a:t>
            </a:r>
            <a:r>
              <a:rPr lang="zh-CN" altLang="en-US" sz="2200" dirty="0">
                <a:latin typeface="微软雅黑" charset="0"/>
                <a:ea typeface="微软雅黑" charset="0"/>
              </a:rPr>
              <a:t>指定目标机器，参数</a:t>
            </a:r>
            <a:r>
              <a:rPr lang="en-US" altLang="zh-CN" sz="2200" dirty="0">
                <a:latin typeface="微软雅黑" charset="0"/>
                <a:ea typeface="微软雅黑" charset="0"/>
              </a:rPr>
              <a:t>-machine help</a:t>
            </a:r>
            <a:r>
              <a:rPr lang="zh-CN" altLang="en-US" sz="2200" dirty="0">
                <a:latin typeface="微软雅黑" charset="0"/>
                <a:ea typeface="微软雅黑" charset="0"/>
              </a:rPr>
              <a:t>可以查看支持的机器列表</a:t>
            </a:r>
            <a:endParaRPr lang="en-US" altLang="zh-CN" sz="2200" dirty="0"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r>
              <a:rPr lang="en-US" altLang="zh-CN" sz="2200" dirty="0">
                <a:latin typeface="微软雅黑" charset="0"/>
                <a:ea typeface="微软雅黑" charset="0"/>
              </a:rPr>
              <a:t>	-kernel  </a:t>
            </a:r>
            <a:r>
              <a:rPr lang="zh-CN" altLang="en-US" sz="2200" dirty="0">
                <a:latin typeface="微软雅黑" charset="0"/>
                <a:ea typeface="微软雅黑" charset="0"/>
              </a:rPr>
              <a:t>指定二进制程序路径，可替换为自己写的测试程序</a:t>
            </a:r>
            <a:endParaRPr lang="en-US" altLang="zh-CN" sz="2200" dirty="0"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endParaRPr lang="en-US" altLang="zh-CN" dirty="0"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endParaRPr lang="en-US" altLang="zh-CN" dirty="0"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charset="0"/>
                <a:ea typeface="微软雅黑" charset="0"/>
              </a:rPr>
              <a:t>一、</a:t>
            </a:r>
            <a:r>
              <a:rPr lang="en-US" altLang="zh-CN" dirty="0">
                <a:latin typeface="微软雅黑" charset="0"/>
                <a:ea typeface="微软雅黑" charset="0"/>
              </a:rPr>
              <a:t>QEMU</a:t>
            </a:r>
            <a:r>
              <a:rPr lang="zh-CN" altLang="en-US" dirty="0">
                <a:latin typeface="微软雅黑" charset="0"/>
                <a:ea typeface="微软雅黑" charset="0"/>
              </a:rPr>
              <a:t>运行裸机程序并调试</a:t>
            </a:r>
            <a:endParaRPr lang="en-US" altLang="zh-CN" dirty="0">
              <a:latin typeface="微软雅黑" charset="0"/>
              <a:ea typeface="微软雅黑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微软雅黑" charset="0"/>
                <a:ea typeface="微软雅黑" charset="0"/>
              </a:rPr>
              <a:t>QEMU</a:t>
            </a:r>
            <a:r>
              <a:rPr lang="zh-CN" altLang="en-US" dirty="0">
                <a:latin typeface="微软雅黑" charset="0"/>
                <a:ea typeface="微软雅黑" charset="0"/>
              </a:rPr>
              <a:t>系统模式（</a:t>
            </a:r>
            <a:r>
              <a:rPr lang="en-US" altLang="zh-CN" dirty="0">
                <a:latin typeface="微软雅黑" charset="0"/>
                <a:ea typeface="微软雅黑" charset="0"/>
              </a:rPr>
              <a:t>System Mode</a:t>
            </a:r>
            <a:r>
              <a:rPr lang="zh-CN" altLang="en-US" dirty="0">
                <a:latin typeface="微软雅黑" charset="0"/>
                <a:ea typeface="微软雅黑" charset="0"/>
              </a:rPr>
              <a:t>）调试</a:t>
            </a:r>
            <a:endParaRPr lang="en-US" altLang="zh-CN" dirty="0"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r>
              <a:rPr lang="en-US" altLang="zh-CN" sz="2600" dirty="0">
                <a:latin typeface="Consolas" panose="020B0609020204030204" pitchFamily="49" charset="0"/>
                <a:ea typeface="Consolas" panose="020B0609020204030204" pitchFamily="49" charset="0"/>
              </a:rPr>
              <a:t>	$ qemu-system-riscv64 \</a:t>
            </a:r>
            <a:endParaRPr lang="zh-CN" altLang="zh-CN" sz="2600" dirty="0">
              <a:latin typeface="Consolas" panose="020B0609020204030204" pitchFamily="49" charset="0"/>
              <a:ea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600" dirty="0">
                <a:latin typeface="Consolas" panose="020B0609020204030204" pitchFamily="49" charset="0"/>
                <a:ea typeface="Consolas" panose="020B0609020204030204" pitchFamily="49" charset="0"/>
              </a:rPr>
              <a:t>		-</a:t>
            </a:r>
            <a:r>
              <a:rPr lang="en-US" altLang="zh-CN" sz="2600" dirty="0" err="1">
                <a:latin typeface="Consolas" panose="020B0609020204030204" pitchFamily="49" charset="0"/>
                <a:ea typeface="Consolas" panose="020B0609020204030204" pitchFamily="49" charset="0"/>
              </a:rPr>
              <a:t>nographic</a:t>
            </a:r>
            <a:r>
              <a:rPr lang="en-US" altLang="zh-CN" sz="2600" dirty="0">
                <a:latin typeface="Consolas" panose="020B0609020204030204" pitchFamily="49" charset="0"/>
                <a:ea typeface="Consolas" panose="020B0609020204030204" pitchFamily="49" charset="0"/>
              </a:rPr>
              <a:t> \</a:t>
            </a:r>
            <a:endParaRPr lang="zh-CN" altLang="zh-CN" sz="2600" dirty="0">
              <a:latin typeface="Consolas" panose="020B0609020204030204" pitchFamily="49" charset="0"/>
              <a:ea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600" dirty="0">
                <a:latin typeface="Consolas" panose="020B0609020204030204" pitchFamily="49" charset="0"/>
                <a:ea typeface="Consolas" panose="020B0609020204030204" pitchFamily="49" charset="0"/>
              </a:rPr>
              <a:t>		-machine spike \</a:t>
            </a:r>
            <a:endParaRPr lang="zh-CN" altLang="zh-CN" sz="2600" dirty="0">
              <a:latin typeface="Consolas" panose="020B0609020204030204" pitchFamily="49" charset="0"/>
              <a:ea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600" dirty="0">
                <a:latin typeface="Consolas" panose="020B0609020204030204" pitchFamily="49" charset="0"/>
                <a:ea typeface="Consolas" panose="020B0609020204030204" pitchFamily="49" charset="0"/>
              </a:rPr>
              <a:t>		-kernel build/bin/rv64imac/spike/hello \</a:t>
            </a:r>
          </a:p>
          <a:p>
            <a:pPr marL="0" indent="0">
              <a:buNone/>
            </a:pPr>
            <a:r>
              <a:rPr lang="en-US" altLang="zh-CN" sz="2600" dirty="0">
                <a:latin typeface="Consolas" panose="020B0609020204030204" pitchFamily="49" charset="0"/>
                <a:ea typeface="Consolas" panose="020B0609020204030204" pitchFamily="49" charset="0"/>
              </a:rPr>
              <a:t>		-</a:t>
            </a:r>
            <a:r>
              <a:rPr lang="en-US" altLang="zh-CN" sz="2600" dirty="0" err="1">
                <a:latin typeface="Consolas" panose="020B0609020204030204" pitchFamily="49" charset="0"/>
                <a:ea typeface="Consolas" panose="020B0609020204030204" pitchFamily="49" charset="0"/>
              </a:rPr>
              <a:t>gdb</a:t>
            </a:r>
            <a:r>
              <a:rPr lang="en-US" altLang="zh-CN" sz="2600" dirty="0"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r>
              <a:rPr lang="en-US" altLang="zh-CN" sz="2600" dirty="0" err="1">
                <a:latin typeface="Consolas" panose="020B0609020204030204" pitchFamily="49" charset="0"/>
                <a:ea typeface="Consolas" panose="020B0609020204030204" pitchFamily="49" charset="0"/>
              </a:rPr>
              <a:t>tcp</a:t>
            </a:r>
            <a:r>
              <a:rPr lang="en-US" altLang="zh-CN" sz="2600" dirty="0">
                <a:latin typeface="Consolas" panose="020B0609020204030204" pitchFamily="49" charset="0"/>
                <a:ea typeface="Consolas" panose="020B0609020204030204" pitchFamily="49" charset="0"/>
              </a:rPr>
              <a:t>::2333 –S</a:t>
            </a:r>
            <a:endParaRPr lang="en-US" altLang="zh-CN" sz="2600" dirty="0"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r>
              <a:rPr lang="zh-CN" altLang="en-US" sz="2600" dirty="0">
                <a:latin typeface="微软雅黑" charset="0"/>
                <a:ea typeface="微软雅黑" charset="0"/>
              </a:rPr>
              <a:t>	说明：</a:t>
            </a:r>
            <a:endParaRPr lang="en-US" altLang="zh-CN" sz="2600" dirty="0"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r>
              <a:rPr lang="en-US" altLang="zh-CN" sz="2200" dirty="0">
                <a:latin typeface="微软雅黑" charset="0"/>
                <a:ea typeface="微软雅黑" charset="0"/>
              </a:rPr>
              <a:t>	-</a:t>
            </a:r>
            <a:r>
              <a:rPr lang="en-US" altLang="zh-CN" sz="2200" dirty="0" err="1">
                <a:latin typeface="微软雅黑" charset="0"/>
                <a:ea typeface="微软雅黑" charset="0"/>
              </a:rPr>
              <a:t>gdb</a:t>
            </a:r>
            <a:r>
              <a:rPr lang="zh-CN" altLang="zh-CN" sz="2400" dirty="0">
                <a:latin typeface="微软雅黑" charset="0"/>
                <a:ea typeface="微软雅黑" charset="0"/>
              </a:rPr>
              <a:t>为调试指定一个远程</a:t>
            </a:r>
            <a:r>
              <a:rPr lang="en-US" altLang="zh-CN" sz="2400" dirty="0" err="1">
                <a:latin typeface="微软雅黑" charset="0"/>
                <a:ea typeface="微软雅黑" charset="0"/>
              </a:rPr>
              <a:t>tcp</a:t>
            </a:r>
            <a:r>
              <a:rPr lang="zh-CN" altLang="zh-CN" sz="2400" dirty="0">
                <a:latin typeface="微软雅黑" charset="0"/>
                <a:ea typeface="微软雅黑" charset="0"/>
              </a:rPr>
              <a:t>端口（可自行指定），</a:t>
            </a:r>
            <a:r>
              <a:rPr lang="en-US" altLang="zh-CN" sz="2400" dirty="0">
                <a:latin typeface="微软雅黑" charset="0"/>
                <a:ea typeface="微软雅黑" charset="0"/>
              </a:rPr>
              <a:t>-S</a:t>
            </a:r>
            <a:r>
              <a:rPr lang="zh-CN" altLang="zh-CN" sz="2400" dirty="0">
                <a:latin typeface="微软雅黑" charset="0"/>
                <a:ea typeface="微软雅黑" charset="0"/>
              </a:rPr>
              <a:t>使</a:t>
            </a:r>
            <a:r>
              <a:rPr lang="en-US" altLang="zh-CN" sz="2400" dirty="0">
                <a:latin typeface="微软雅黑" charset="0"/>
                <a:ea typeface="微软雅黑" charset="0"/>
              </a:rPr>
              <a:t>QEMU</a:t>
            </a:r>
            <a:r>
              <a:rPr lang="zh-CN" altLang="zh-CN" sz="2400" dirty="0">
                <a:latin typeface="微软雅黑" charset="0"/>
                <a:ea typeface="微软雅黑" charset="0"/>
              </a:rPr>
              <a:t>进入等</a:t>
            </a:r>
            <a:r>
              <a:rPr lang="en-US" altLang="zh-CN" sz="2400" dirty="0">
                <a:latin typeface="微软雅黑" charset="0"/>
                <a:ea typeface="微软雅黑" charset="0"/>
              </a:rPr>
              <a:t>	</a:t>
            </a:r>
            <a:r>
              <a:rPr lang="zh-CN" altLang="zh-CN" sz="2400" dirty="0">
                <a:latin typeface="微软雅黑" charset="0"/>
                <a:ea typeface="微软雅黑" charset="0"/>
              </a:rPr>
              <a:t>待装态。</a:t>
            </a:r>
            <a:endParaRPr lang="en-US" altLang="zh-CN" sz="2400" dirty="0"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endParaRPr lang="en-US" altLang="zh-CN" dirty="0"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endParaRPr lang="en-US" altLang="zh-CN" dirty="0"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charset="0"/>
                <a:ea typeface="微软雅黑" charset="0"/>
              </a:rPr>
              <a:t>一、</a:t>
            </a:r>
            <a:r>
              <a:rPr lang="en-US" altLang="zh-CN" dirty="0">
                <a:latin typeface="微软雅黑" charset="0"/>
                <a:ea typeface="微软雅黑" charset="0"/>
              </a:rPr>
              <a:t>QEMU</a:t>
            </a:r>
            <a:r>
              <a:rPr lang="zh-CN" altLang="en-US" dirty="0">
                <a:latin typeface="微软雅黑" charset="0"/>
                <a:ea typeface="微软雅黑" charset="0"/>
              </a:rPr>
              <a:t>运行裸机程序并调试</a:t>
            </a:r>
            <a:endParaRPr lang="en-US" altLang="zh-CN" dirty="0">
              <a:latin typeface="微软雅黑" charset="0"/>
              <a:ea typeface="微软雅黑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微软雅黑" charset="0"/>
                <a:ea typeface="微软雅黑" charset="0"/>
              </a:rPr>
              <a:t>QEMU</a:t>
            </a:r>
            <a:r>
              <a:rPr lang="zh-CN" altLang="en-US" dirty="0">
                <a:latin typeface="微软雅黑" charset="0"/>
                <a:ea typeface="微软雅黑" charset="0"/>
              </a:rPr>
              <a:t>系统模式（</a:t>
            </a:r>
            <a:r>
              <a:rPr lang="en-US" altLang="zh-CN" dirty="0">
                <a:latin typeface="微软雅黑" charset="0"/>
                <a:ea typeface="微软雅黑" charset="0"/>
              </a:rPr>
              <a:t>System Mode</a:t>
            </a:r>
            <a:r>
              <a:rPr lang="zh-CN" altLang="en-US" dirty="0">
                <a:latin typeface="微软雅黑" charset="0"/>
                <a:ea typeface="微软雅黑" charset="0"/>
              </a:rPr>
              <a:t>）调试</a:t>
            </a:r>
            <a:endParaRPr lang="en-US" altLang="zh-CN" dirty="0"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r>
              <a:rPr lang="en-US" altLang="zh-CN" sz="2600" dirty="0">
                <a:latin typeface="微软雅黑" charset="0"/>
                <a:ea typeface="微软雅黑" charset="0"/>
              </a:rPr>
              <a:t>	</a:t>
            </a:r>
            <a:r>
              <a:rPr lang="zh-CN" altLang="en-US" sz="2400" dirty="0">
                <a:latin typeface="微软雅黑" charset="0"/>
                <a:ea typeface="微软雅黑" charset="0"/>
              </a:rPr>
              <a:t>另打开一个终端，在可执行程序</a:t>
            </a:r>
            <a:r>
              <a:rPr lang="en-US" altLang="zh-CN" sz="2400" dirty="0">
                <a:latin typeface="微软雅黑" charset="0"/>
                <a:ea typeface="微软雅黑" charset="0"/>
              </a:rPr>
              <a:t>hello</a:t>
            </a:r>
            <a:r>
              <a:rPr lang="zh-CN" altLang="en-US" sz="2400" dirty="0">
                <a:latin typeface="微软雅黑" charset="0"/>
                <a:ea typeface="微软雅黑" charset="0"/>
              </a:rPr>
              <a:t>所在的文件夹下，运行：</a:t>
            </a:r>
            <a:endParaRPr lang="en-US" altLang="zh-CN" sz="2400" dirty="0"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  <a:ea typeface="Consolas" panose="020B0609020204030204" pitchFamily="49" charset="0"/>
              </a:rPr>
              <a:t>		$ riscv64-unknown-elf-gdb hello</a:t>
            </a:r>
            <a:endParaRPr lang="zh-CN" altLang="zh-CN" sz="2400" dirty="0"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r>
              <a:rPr lang="en-US" altLang="zh-CN" sz="2400" dirty="0">
                <a:latin typeface="微软雅黑" charset="0"/>
                <a:ea typeface="微软雅黑" charset="0"/>
              </a:rPr>
              <a:t>	</a:t>
            </a:r>
            <a:r>
              <a:rPr lang="en-US" altLang="zh-CN" sz="2400" dirty="0" err="1">
                <a:latin typeface="微软雅黑" charset="0"/>
                <a:ea typeface="微软雅黑" charset="0"/>
              </a:rPr>
              <a:t>gdb</a:t>
            </a:r>
            <a:r>
              <a:rPr lang="zh-CN" altLang="zh-CN" sz="2400" dirty="0">
                <a:latin typeface="微软雅黑" charset="0"/>
                <a:ea typeface="微软雅黑" charset="0"/>
              </a:rPr>
              <a:t>工具应当随</a:t>
            </a:r>
            <a:r>
              <a:rPr lang="en-US" altLang="zh-CN" sz="2400" dirty="0" err="1">
                <a:latin typeface="微软雅黑" charset="0"/>
                <a:ea typeface="微软雅黑" charset="0"/>
              </a:rPr>
              <a:t>riscv</a:t>
            </a:r>
            <a:r>
              <a:rPr lang="en-US" altLang="zh-CN" sz="2400" dirty="0">
                <a:latin typeface="微软雅黑" charset="0"/>
                <a:ea typeface="微软雅黑" charset="0"/>
              </a:rPr>
              <a:t>-gnu-toolchain</a:t>
            </a:r>
            <a:r>
              <a:rPr lang="zh-CN" altLang="zh-CN" sz="2400" dirty="0">
                <a:latin typeface="微软雅黑" charset="0"/>
                <a:ea typeface="微软雅黑" charset="0"/>
              </a:rPr>
              <a:t>一并安装完成。如果找不到该命	令</a:t>
            </a:r>
            <a:r>
              <a:rPr lang="zh-CN" altLang="en-US" sz="2400" dirty="0">
                <a:latin typeface="微软雅黑" charset="0"/>
                <a:ea typeface="微软雅黑" charset="0"/>
              </a:rPr>
              <a:t>，应</a:t>
            </a:r>
            <a:r>
              <a:rPr lang="zh-CN" altLang="zh-CN" sz="2400" dirty="0">
                <a:latin typeface="微软雅黑" charset="0"/>
                <a:ea typeface="微软雅黑" charset="0"/>
              </a:rPr>
              <a:t>注意检查是否添加</a:t>
            </a:r>
            <a:r>
              <a:rPr lang="zh-CN" altLang="en-US" sz="2400" dirty="0">
                <a:latin typeface="微软雅黑" charset="0"/>
                <a:ea typeface="微软雅黑" charset="0"/>
              </a:rPr>
              <a:t>了</a:t>
            </a:r>
            <a:r>
              <a:rPr lang="en-US" altLang="zh-CN" sz="2400" dirty="0">
                <a:latin typeface="微软雅黑" charset="0"/>
                <a:ea typeface="微软雅黑" charset="0"/>
              </a:rPr>
              <a:t>$PATH</a:t>
            </a:r>
            <a:r>
              <a:rPr lang="zh-CN" altLang="en-US" sz="2400" dirty="0">
                <a:latin typeface="微软雅黑" charset="0"/>
                <a:ea typeface="微软雅黑" charset="0"/>
              </a:rPr>
              <a:t>路径</a:t>
            </a:r>
            <a:r>
              <a:rPr lang="zh-CN" altLang="zh-CN" sz="2400" dirty="0">
                <a:latin typeface="微软雅黑" charset="0"/>
                <a:ea typeface="微软雅黑" charset="0"/>
              </a:rPr>
              <a:t>。</a:t>
            </a:r>
            <a:endParaRPr lang="en-US" altLang="zh-CN" sz="2400" dirty="0"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r>
              <a:rPr lang="en-US" altLang="zh-CN" sz="2400" dirty="0">
                <a:latin typeface="微软雅黑" charset="0"/>
                <a:ea typeface="微软雅黑" charset="0"/>
              </a:rPr>
              <a:t>	</a:t>
            </a:r>
            <a:r>
              <a:rPr lang="zh-CN" altLang="en-US" sz="2400" dirty="0">
                <a:latin typeface="微软雅黑" charset="0"/>
                <a:ea typeface="微软雅黑" charset="0"/>
              </a:rPr>
              <a:t>在</a:t>
            </a:r>
            <a:r>
              <a:rPr lang="en-US" altLang="zh-CN" sz="2400" dirty="0" err="1">
                <a:latin typeface="微软雅黑" charset="0"/>
                <a:ea typeface="微软雅黑" charset="0"/>
              </a:rPr>
              <a:t>gdb</a:t>
            </a:r>
            <a:r>
              <a:rPr lang="zh-CN" altLang="en-US" sz="2400" dirty="0">
                <a:latin typeface="微软雅黑" charset="0"/>
                <a:ea typeface="微软雅黑" charset="0"/>
              </a:rPr>
              <a:t>窗口中，开启远程调试：</a:t>
            </a:r>
            <a:endParaRPr lang="en-US" altLang="zh-CN" sz="2400" dirty="0"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  <a:ea typeface="Consolas" panose="020B0609020204030204" pitchFamily="49" charset="0"/>
              </a:rPr>
              <a:t>		$ target remote localhost:2333</a:t>
            </a:r>
            <a:endParaRPr lang="en-US" altLang="zh-CN" sz="2400" dirty="0"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r>
              <a:rPr lang="en-US" altLang="zh-CN" sz="2400" dirty="0">
                <a:latin typeface="微软雅黑" charset="0"/>
                <a:ea typeface="微软雅黑" charset="0"/>
              </a:rPr>
              <a:t>	</a:t>
            </a:r>
            <a:r>
              <a:rPr lang="zh-CN" altLang="en-US" sz="2400" dirty="0">
                <a:latin typeface="微软雅黑" charset="0"/>
                <a:ea typeface="微软雅黑" charset="0"/>
              </a:rPr>
              <a:t>端口号应当与启动</a:t>
            </a:r>
            <a:r>
              <a:rPr lang="en-US" altLang="zh-CN" sz="2400" dirty="0">
                <a:latin typeface="微软雅黑" charset="0"/>
                <a:ea typeface="微软雅黑" charset="0"/>
              </a:rPr>
              <a:t>QEMU</a:t>
            </a:r>
            <a:r>
              <a:rPr lang="zh-CN" altLang="en-US" sz="2400" dirty="0">
                <a:latin typeface="微软雅黑" charset="0"/>
                <a:ea typeface="微软雅黑" charset="0"/>
              </a:rPr>
              <a:t>时设定的端口一致。</a:t>
            </a:r>
            <a:endParaRPr lang="zh-CN" altLang="zh-CN" sz="2400" dirty="0"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endParaRPr lang="en-US" altLang="zh-CN" dirty="0"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endParaRPr lang="en-US" altLang="zh-CN" dirty="0"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charset="0"/>
                <a:ea typeface="微软雅黑" charset="0"/>
              </a:rPr>
              <a:t>一、</a:t>
            </a:r>
            <a:r>
              <a:rPr lang="en-US" altLang="zh-CN" dirty="0">
                <a:latin typeface="微软雅黑" charset="0"/>
                <a:ea typeface="微软雅黑" charset="0"/>
              </a:rPr>
              <a:t>QEMU</a:t>
            </a:r>
            <a:r>
              <a:rPr lang="zh-CN" altLang="en-US" dirty="0">
                <a:latin typeface="微软雅黑" charset="0"/>
                <a:ea typeface="微软雅黑" charset="0"/>
              </a:rPr>
              <a:t>运行裸机程序并调试</a:t>
            </a:r>
            <a:endParaRPr lang="en-US" altLang="zh-CN" dirty="0">
              <a:latin typeface="微软雅黑" charset="0"/>
              <a:ea typeface="微软雅黑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微软雅黑" charset="0"/>
                <a:ea typeface="微软雅黑" charset="0"/>
              </a:rPr>
              <a:t>QEMU</a:t>
            </a:r>
            <a:r>
              <a:rPr lang="zh-CN" altLang="en-US" dirty="0">
                <a:latin typeface="微软雅黑" charset="0"/>
                <a:ea typeface="微软雅黑" charset="0"/>
              </a:rPr>
              <a:t>用户模式（</a:t>
            </a:r>
            <a:r>
              <a:rPr lang="en-US" altLang="zh-CN" dirty="0">
                <a:latin typeface="微软雅黑" charset="0"/>
                <a:ea typeface="微软雅黑" charset="0"/>
              </a:rPr>
              <a:t>User Mode</a:t>
            </a:r>
            <a:r>
              <a:rPr lang="zh-CN" altLang="en-US" dirty="0">
                <a:latin typeface="微软雅黑" charset="0"/>
                <a:ea typeface="微软雅黑" charset="0"/>
              </a:rPr>
              <a:t>）调试</a:t>
            </a:r>
          </a:p>
          <a:p>
            <a:pPr>
              <a:buNone/>
            </a:pPr>
            <a:r>
              <a:rPr lang="en-US" altLang="zh-CN" dirty="0">
                <a:latin typeface="微软雅黑" charset="0"/>
                <a:ea typeface="微软雅黑" charset="0"/>
              </a:rPr>
              <a:t>	</a:t>
            </a:r>
            <a:r>
              <a:rPr lang="zh-CN" altLang="en-US" dirty="0">
                <a:latin typeface="微软雅黑" charset="0"/>
                <a:ea typeface="微软雅黑" charset="0"/>
              </a:rPr>
              <a:t>用户模式调试相对更加简单，使用命令：</a:t>
            </a:r>
            <a:endParaRPr lang="en-US" altLang="zh-CN" dirty="0">
              <a:latin typeface="微软雅黑" charset="0"/>
              <a:ea typeface="微软雅黑" charset="0"/>
            </a:endParaRPr>
          </a:p>
          <a:p>
            <a:endParaRPr lang="en-US" altLang="zh-CN" dirty="0"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r>
              <a:rPr lang="en-US" altLang="zh-CN" sz="2600" dirty="0">
                <a:latin typeface="Consolas" panose="020B0609020204030204" pitchFamily="49" charset="0"/>
                <a:ea typeface="Consolas" panose="020B0609020204030204" pitchFamily="49" charset="0"/>
              </a:rPr>
              <a:t>	</a:t>
            </a:r>
            <a:r>
              <a:rPr lang="en-US" altLang="zh-CN" sz="2400" dirty="0">
                <a:latin typeface="Consolas" panose="020B0609020204030204" pitchFamily="49" charset="0"/>
                <a:ea typeface="Consolas" panose="020B0609020204030204" pitchFamily="49" charset="0"/>
              </a:rPr>
              <a:t>	$ qemu-riscv64 -g 2333 hello</a:t>
            </a:r>
            <a:endParaRPr lang="en-US" altLang="zh-CN" sz="2400" dirty="0"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endParaRPr lang="zh-CN" altLang="zh-CN" sz="2400" dirty="0"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r>
              <a:rPr lang="en-US" altLang="zh-CN" sz="2400" dirty="0">
                <a:latin typeface="微软雅黑" charset="0"/>
                <a:ea typeface="微软雅黑" charset="0"/>
              </a:rPr>
              <a:t>	</a:t>
            </a:r>
            <a:r>
              <a:rPr lang="zh-CN" altLang="zh-CN" dirty="0">
                <a:latin typeface="微软雅黑" charset="0"/>
                <a:ea typeface="微软雅黑" charset="0"/>
              </a:rPr>
              <a:t>程序将直接挂起而不需要像系统模式那样使用</a:t>
            </a:r>
            <a:r>
              <a:rPr lang="en-US" altLang="zh-CN" dirty="0">
                <a:latin typeface="微软雅黑" charset="0"/>
                <a:ea typeface="微软雅黑" charset="0"/>
              </a:rPr>
              <a:t>-S</a:t>
            </a:r>
            <a:r>
              <a:rPr lang="zh-CN" altLang="zh-CN" dirty="0">
                <a:latin typeface="微软雅黑" charset="0"/>
                <a:ea typeface="微软雅黑" charset="0"/>
              </a:rPr>
              <a:t>参数，后续	步骤与系统模式完全相同。</a:t>
            </a:r>
            <a:endParaRPr lang="en-US" altLang="zh-CN" dirty="0"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charset="0"/>
                <a:ea typeface="微软雅黑" charset="0"/>
              </a:rPr>
              <a:t>二、</a:t>
            </a:r>
            <a:r>
              <a:rPr lang="zh-CN" altLang="zh-CN" dirty="0">
                <a:latin typeface="微软雅黑" charset="0"/>
                <a:ea typeface="微软雅黑" charset="0"/>
              </a:rPr>
              <a:t>在</a:t>
            </a:r>
            <a:r>
              <a:rPr lang="en-US" altLang="zh-CN" dirty="0">
                <a:latin typeface="微软雅黑" charset="0"/>
                <a:ea typeface="微软雅黑" charset="0"/>
              </a:rPr>
              <a:t>RISC-V QEMU</a:t>
            </a:r>
            <a:r>
              <a:rPr lang="zh-CN" altLang="zh-CN" dirty="0">
                <a:latin typeface="微软雅黑" charset="0"/>
                <a:ea typeface="微软雅黑" charset="0"/>
              </a:rPr>
              <a:t>上运行</a:t>
            </a:r>
            <a:r>
              <a:rPr lang="en-US" altLang="zh-CN" dirty="0">
                <a:latin typeface="微软雅黑" charset="0"/>
                <a:ea typeface="微软雅黑" charset="0"/>
              </a:rPr>
              <a:t>Linux</a:t>
            </a:r>
            <a:r>
              <a:rPr lang="zh-CN" altLang="zh-CN" dirty="0">
                <a:latin typeface="微软雅黑" charset="0"/>
                <a:ea typeface="微软雅黑" charset="0"/>
              </a:rPr>
              <a:t>系统</a:t>
            </a:r>
            <a:endParaRPr lang="en-US" altLang="zh-CN" dirty="0">
              <a:latin typeface="微软雅黑" charset="0"/>
              <a:ea typeface="微软雅黑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4319" y="1832016"/>
            <a:ext cx="10695214" cy="4354286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charset="0"/>
                <a:ea typeface="微软雅黑" charset="0"/>
              </a:rPr>
              <a:t>随着</a:t>
            </a:r>
            <a:r>
              <a:rPr lang="en-US" altLang="zh-CN" dirty="0">
                <a:latin typeface="微软雅黑" charset="0"/>
                <a:ea typeface="微软雅黑" charset="0"/>
              </a:rPr>
              <a:t>RISC</a:t>
            </a:r>
            <a:r>
              <a:rPr lang="zh-CN" altLang="en-US" dirty="0">
                <a:latin typeface="微软雅黑" charset="0"/>
                <a:ea typeface="微软雅黑" charset="0"/>
              </a:rPr>
              <a:t>-</a:t>
            </a:r>
            <a:r>
              <a:rPr lang="en-US" altLang="zh-CN" dirty="0">
                <a:latin typeface="微软雅黑" charset="0"/>
                <a:ea typeface="微软雅黑" charset="0"/>
              </a:rPr>
              <a:t>V</a:t>
            </a:r>
            <a:r>
              <a:rPr lang="zh-CN" altLang="en-US" dirty="0">
                <a:latin typeface="微软雅黑" charset="0"/>
                <a:ea typeface="微软雅黑" charset="0"/>
              </a:rPr>
              <a:t>指令集的日益成熟，</a:t>
            </a:r>
            <a:r>
              <a:rPr lang="en-US" altLang="zh-CN" dirty="0">
                <a:latin typeface="微软雅黑" charset="0"/>
                <a:ea typeface="微软雅黑" charset="0"/>
              </a:rPr>
              <a:t>Linux</a:t>
            </a:r>
            <a:r>
              <a:rPr lang="zh-CN" altLang="en-US" dirty="0">
                <a:latin typeface="微软雅黑" charset="0"/>
                <a:ea typeface="微软雅黑" charset="0"/>
              </a:rPr>
              <a:t>内核的</a:t>
            </a:r>
            <a:r>
              <a:rPr lang="en-US" altLang="zh-CN" dirty="0">
                <a:latin typeface="微软雅黑" charset="0"/>
                <a:ea typeface="微软雅黑" charset="0"/>
              </a:rPr>
              <a:t>RISC</a:t>
            </a:r>
            <a:r>
              <a:rPr lang="zh-CN" altLang="en-US" dirty="0">
                <a:latin typeface="微软雅黑" charset="0"/>
                <a:ea typeface="微软雅黑" charset="0"/>
              </a:rPr>
              <a:t>-</a:t>
            </a:r>
            <a:r>
              <a:rPr lang="en-US" altLang="zh-CN" dirty="0">
                <a:latin typeface="微软雅黑" charset="0"/>
                <a:ea typeface="微软雅黑" charset="0"/>
              </a:rPr>
              <a:t>V</a:t>
            </a:r>
            <a:r>
              <a:rPr lang="zh-CN" altLang="en-US" dirty="0">
                <a:latin typeface="微软雅黑" charset="0"/>
                <a:ea typeface="微软雅黑" charset="0"/>
              </a:rPr>
              <a:t>移植如今已经在</a:t>
            </a:r>
            <a:r>
              <a:rPr lang="en-US" altLang="zh-CN" dirty="0">
                <a:latin typeface="微软雅黑" charset="0"/>
                <a:ea typeface="微软雅黑" charset="0"/>
              </a:rPr>
              <a:t>Linux</a:t>
            </a:r>
            <a:r>
              <a:rPr lang="zh-CN" altLang="en-US" dirty="0">
                <a:latin typeface="微软雅黑" charset="0"/>
                <a:ea typeface="微软雅黑" charset="0"/>
              </a:rPr>
              <a:t>内核代码仓库中占有一席之地，用户可以直接在该代码仓库中获取</a:t>
            </a:r>
            <a:r>
              <a:rPr lang="en-US" altLang="zh-CN" dirty="0">
                <a:latin typeface="微软雅黑" charset="0"/>
                <a:ea typeface="微软雅黑" charset="0"/>
              </a:rPr>
              <a:t>riscv</a:t>
            </a:r>
            <a:r>
              <a:rPr lang="zh-CN" altLang="en-US" dirty="0">
                <a:latin typeface="微软雅黑" charset="0"/>
                <a:ea typeface="微软雅黑" charset="0"/>
              </a:rPr>
              <a:t>-</a:t>
            </a:r>
            <a:r>
              <a:rPr lang="en-US" altLang="zh-CN" dirty="0">
                <a:latin typeface="微软雅黑" charset="0"/>
                <a:ea typeface="微软雅黑" charset="0"/>
              </a:rPr>
              <a:t>linux</a:t>
            </a:r>
            <a:r>
              <a:rPr lang="zh-CN" altLang="en-US" dirty="0">
                <a:latin typeface="微软雅黑" charset="0"/>
                <a:ea typeface="微软雅黑" charset="0"/>
              </a:rPr>
              <a:t>的源码和相关工具：</a:t>
            </a:r>
          </a:p>
          <a:p>
            <a:pPr algn="ctr">
              <a:buNone/>
            </a:pPr>
            <a:r>
              <a:rPr lang="en-US" altLang="zh-CN" sz="2400" dirty="0">
                <a:latin typeface="Times New Roman" panose="02020603050405020304" charset="0"/>
                <a:ea typeface="Times New Roman" panose="02020603050405020304" charset="0"/>
              </a:rPr>
              <a:t>https://git.kernel.org/pub/scm/linux/kernel/git/torvalds/linux.git/tree/</a:t>
            </a:r>
          </a:p>
          <a:p>
            <a:pPr algn="ctr">
              <a:buNone/>
            </a:pPr>
            <a:endParaRPr lang="en-US" altLang="zh-CN" sz="2200" dirty="0">
              <a:latin typeface="Times New Roman" panose="02020603050405020304" charset="0"/>
              <a:ea typeface="Times New Roman" panose="02020603050405020304" charset="0"/>
            </a:endParaRPr>
          </a:p>
          <a:p>
            <a:pPr algn="l">
              <a:buChar char="•"/>
            </a:pPr>
            <a:r>
              <a:rPr lang="zh-CN" altLang="en-US" dirty="0">
                <a:latin typeface="微软雅黑" charset="0"/>
                <a:ea typeface="微软雅黑" charset="0"/>
              </a:rPr>
              <a:t>或者也可以获取压缩包（</a:t>
            </a:r>
            <a:r>
              <a:rPr lang="en-US" altLang="zh-CN" dirty="0">
                <a:latin typeface="微软雅黑" charset="0"/>
                <a:ea typeface="微软雅黑" charset="0"/>
              </a:rPr>
              <a:t>tarball</a:t>
            </a:r>
            <a:r>
              <a:rPr lang="zh-CN" altLang="en-US" dirty="0">
                <a:latin typeface="微软雅黑" charset="0"/>
                <a:ea typeface="微软雅黑" charset="0"/>
              </a:rPr>
              <a:t>）：</a:t>
            </a:r>
          </a:p>
          <a:p>
            <a:pPr algn="ctr">
              <a:buNone/>
            </a:pPr>
            <a:r>
              <a:rPr lang="en-US" altLang="zh-CN" sz="2400" dirty="0">
                <a:latin typeface="Times New Roman" panose="02020603050405020304" charset="0"/>
                <a:ea typeface="Times New Roman" panose="02020603050405020304" charset="0"/>
              </a:rPr>
              <a:t>https://www.kernel.org/pub/</a:t>
            </a:r>
            <a:endParaRPr lang="en-US" altLang="zh-CN" dirty="0"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711F9BA-A683-C040-A40B-C398375C2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722" y="2304473"/>
            <a:ext cx="4806956" cy="336203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110A27F-1959-4B40-8200-FF5973422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5025" y="3397827"/>
            <a:ext cx="6276975" cy="1866900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A7551B85-B049-F541-A7EC-2ABD22419545}"/>
              </a:ext>
            </a:extLst>
          </p:cNvPr>
          <p:cNvSpPr txBox="1">
            <a:spLocks/>
          </p:cNvSpPr>
          <p:nvPr/>
        </p:nvSpPr>
        <p:spPr>
          <a:xfrm>
            <a:off x="838200" y="531379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微软雅黑" charset="0"/>
                <a:ea typeface="微软雅黑" charset="0"/>
              </a:rPr>
              <a:t>处理器的特权级结构与操作系统</a:t>
            </a:r>
            <a:endParaRPr lang="en-US" altLang="zh-CN" dirty="0">
              <a:latin typeface="微软雅黑" charset="0"/>
              <a:ea typeface="微软雅黑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30E148A-2CBE-D946-9DFC-FB084EBDE224}"/>
              </a:ext>
            </a:extLst>
          </p:cNvPr>
          <p:cNvSpPr txBox="1"/>
          <p:nvPr/>
        </p:nvSpPr>
        <p:spPr>
          <a:xfrm>
            <a:off x="2757055" y="5888182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ARM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9D10762-CB98-A94C-80F8-6AA0DF7B4D1E}"/>
              </a:ext>
            </a:extLst>
          </p:cNvPr>
          <p:cNvSpPr txBox="1"/>
          <p:nvPr/>
        </p:nvSpPr>
        <p:spPr>
          <a:xfrm>
            <a:off x="8811491" y="5310848"/>
            <a:ext cx="98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RISC-V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025406" y="1695337"/>
            <a:ext cx="589135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hlinkClick r:id="rId4"/>
              </a:rPr>
              <a:t>https://</a:t>
            </a:r>
            <a:r>
              <a:rPr lang="en-US" altLang="zh-CN" dirty="0" smtClean="0">
                <a:hlinkClick r:id="rId4"/>
              </a:rPr>
              <a:t>www.zhihu.com/column/c_1236963527866175488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6583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charset="0"/>
                <a:ea typeface="微软雅黑" charset="0"/>
              </a:rPr>
              <a:t>Linux</a:t>
            </a:r>
            <a:r>
              <a:rPr lang="zh-CN" altLang="en-US" dirty="0">
                <a:latin typeface="微软雅黑" charset="0"/>
                <a:ea typeface="微软雅黑" charset="0"/>
              </a:rPr>
              <a:t>内核如何感知与操纵硬件</a:t>
            </a:r>
            <a:endParaRPr lang="en-US" altLang="zh-CN" dirty="0">
              <a:latin typeface="微软雅黑" charset="0"/>
              <a:ea typeface="微软雅黑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6667" y="1551709"/>
            <a:ext cx="10600972" cy="4639541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</a:pPr>
            <a:r>
              <a:rPr lang="zh-CN" b="0" u="none" dirty="0">
                <a:solidFill>
                  <a:srgbClr val="121212"/>
                </a:solidFill>
                <a:latin typeface="微软雅黑" charset="0"/>
                <a:ea typeface="微软雅黑" charset="0"/>
              </a:rPr>
              <a:t>RISC-V</a:t>
            </a:r>
            <a:r>
              <a:rPr lang="zh-CN" altLang="en-US" dirty="0">
                <a:solidFill>
                  <a:srgbClr val="121212"/>
                </a:solidFill>
                <a:latin typeface="微软雅黑" charset="0"/>
                <a:ea typeface="微软雅黑" charset="0"/>
              </a:rPr>
              <a:t>架构</a:t>
            </a:r>
            <a:r>
              <a:rPr lang="zh-CN" b="0" u="none" dirty="0">
                <a:solidFill>
                  <a:srgbClr val="121212"/>
                </a:solidFill>
                <a:latin typeface="微软雅黑" charset="0"/>
                <a:ea typeface="微软雅黑" charset="0"/>
              </a:rPr>
              <a:t>的硬件</a:t>
            </a:r>
            <a:r>
              <a:rPr lang="zh-CN" altLang="en-US" b="0" u="none" dirty="0">
                <a:solidFill>
                  <a:srgbClr val="121212"/>
                </a:solidFill>
                <a:latin typeface="微软雅黑" charset="0"/>
                <a:ea typeface="微软雅黑" charset="0"/>
              </a:rPr>
              <a:t>模型</a:t>
            </a:r>
            <a:r>
              <a:rPr lang="zh-CN" b="0" u="none" dirty="0">
                <a:solidFill>
                  <a:srgbClr val="121212"/>
                </a:solidFill>
                <a:latin typeface="微软雅黑" charset="0"/>
                <a:ea typeface="微软雅黑" charset="0"/>
              </a:rPr>
              <a:t>与其它指令集不同，</a:t>
            </a:r>
            <a:r>
              <a:rPr lang="zh-CN" altLang="en-US" b="0" u="none" dirty="0">
                <a:solidFill>
                  <a:srgbClr val="121212"/>
                </a:solidFill>
                <a:latin typeface="微软雅黑" charset="0"/>
                <a:ea typeface="微软雅黑" charset="0"/>
              </a:rPr>
              <a:t>运行于该架构的</a:t>
            </a:r>
            <a:r>
              <a:rPr lang="zh-CN" b="0" u="none" dirty="0">
                <a:solidFill>
                  <a:srgbClr val="121212"/>
                </a:solidFill>
                <a:latin typeface="微软雅黑" charset="0"/>
                <a:ea typeface="微软雅黑" charset="0"/>
              </a:rPr>
              <a:t>Linux内核</a:t>
            </a:r>
            <a:r>
              <a:rPr lang="zh-CN" altLang="en-US" b="0" u="none" dirty="0">
                <a:solidFill>
                  <a:srgbClr val="121212"/>
                </a:solidFill>
                <a:latin typeface="微软雅黑" charset="0"/>
                <a:ea typeface="微软雅黑" charset="0"/>
              </a:rPr>
              <a:t>需</a:t>
            </a:r>
            <a:r>
              <a:rPr lang="zh-CN" b="0" u="none" dirty="0">
                <a:solidFill>
                  <a:srgbClr val="121212"/>
                </a:solidFill>
                <a:latin typeface="微软雅黑" charset="0"/>
                <a:ea typeface="微软雅黑" charset="0"/>
              </a:rPr>
              <a:t>感知</a:t>
            </a:r>
            <a:r>
              <a:rPr lang="zh-CN" altLang="en-US" b="0" u="none" dirty="0">
                <a:solidFill>
                  <a:srgbClr val="121212"/>
                </a:solidFill>
                <a:latin typeface="微软雅黑" charset="0"/>
                <a:ea typeface="微软雅黑" charset="0"/>
              </a:rPr>
              <a:t>并</a:t>
            </a:r>
            <a:r>
              <a:rPr lang="zh-CN" b="0" u="none" dirty="0">
                <a:solidFill>
                  <a:srgbClr val="121212"/>
                </a:solidFill>
                <a:latin typeface="微软雅黑" charset="0"/>
                <a:ea typeface="微软雅黑" charset="0"/>
              </a:rPr>
              <a:t>操控</a:t>
            </a:r>
            <a:r>
              <a:rPr lang="zh-CN" altLang="en-US" b="0" u="none" dirty="0">
                <a:solidFill>
                  <a:srgbClr val="121212"/>
                </a:solidFill>
                <a:latin typeface="微软雅黑" charset="0"/>
                <a:ea typeface="微软雅黑" charset="0"/>
              </a:rPr>
              <a:t>硬件。</a:t>
            </a:r>
            <a:r>
              <a:rPr lang="zh-CN" altLang="en-US" dirty="0">
                <a:solidFill>
                  <a:srgbClr val="121212"/>
                </a:solidFill>
                <a:latin typeface="微软雅黑" charset="0"/>
                <a:ea typeface="微软雅黑" charset="0"/>
              </a:rPr>
              <a:t>主要通过</a:t>
            </a:r>
            <a:r>
              <a:rPr lang="zh-CN" b="0" u="none" dirty="0">
                <a:solidFill>
                  <a:srgbClr val="121212"/>
                </a:solidFill>
                <a:latin typeface="微软雅黑" charset="0"/>
                <a:ea typeface="微软雅黑" charset="0"/>
              </a:rPr>
              <a:t>两个方法：</a:t>
            </a:r>
          </a:p>
          <a:p>
            <a:pPr marL="685800" lvl="1" algn="l">
              <a:lnSpc>
                <a:spcPct val="120000"/>
              </a:lnSpc>
            </a:pPr>
            <a:r>
              <a:rPr lang="zh-CN" altLang="en-US" dirty="0">
                <a:latin typeface="微软雅黑" charset="0"/>
                <a:ea typeface="微软雅黑" charset="0"/>
              </a:rPr>
              <a:t>通过设备树的方式。它位于</a:t>
            </a:r>
            <a:r>
              <a:rPr lang="en-US" altLang="zh-CN" dirty="0">
                <a:latin typeface="微软雅黑" charset="0"/>
                <a:ea typeface="微软雅黑" charset="0"/>
              </a:rPr>
              <a:t>Linux</a:t>
            </a:r>
            <a:r>
              <a:rPr lang="zh-CN" altLang="en-US" dirty="0">
                <a:latin typeface="微软雅黑" charset="0"/>
                <a:ea typeface="微软雅黑" charset="0"/>
              </a:rPr>
              <a:t>内核代码中的</a:t>
            </a:r>
            <a:r>
              <a:rPr lang="en-US" altLang="zh-CN" dirty="0">
                <a:latin typeface="微软雅黑" charset="0"/>
                <a:ea typeface="微软雅黑" charset="0"/>
              </a:rPr>
              <a:t>arch/riscv/boot/dts</a:t>
            </a:r>
            <a:r>
              <a:rPr lang="zh-CN" altLang="en-US" dirty="0">
                <a:latin typeface="微软雅黑" charset="0"/>
                <a:ea typeface="微软雅黑" charset="0"/>
              </a:rPr>
              <a:t>中，由一个</a:t>
            </a:r>
            <a:r>
              <a:rPr lang="en-US" altLang="zh-CN" dirty="0">
                <a:latin typeface="微软雅黑" charset="0"/>
                <a:ea typeface="微软雅黑" charset="0"/>
              </a:rPr>
              <a:t>.dts</a:t>
            </a:r>
            <a:r>
              <a:rPr lang="zh-CN" altLang="en-US" dirty="0">
                <a:latin typeface="微软雅黑" charset="0"/>
                <a:ea typeface="微软雅黑" charset="0"/>
              </a:rPr>
              <a:t>和多个</a:t>
            </a:r>
            <a:r>
              <a:rPr lang="en-US" altLang="zh-CN" dirty="0">
                <a:latin typeface="微软雅黑" charset="0"/>
                <a:ea typeface="微软雅黑" charset="0"/>
              </a:rPr>
              <a:t>.dtsi</a:t>
            </a:r>
            <a:r>
              <a:rPr lang="zh-CN" altLang="en-US" dirty="0">
                <a:latin typeface="微软雅黑" charset="0"/>
                <a:ea typeface="微软雅黑" charset="0"/>
              </a:rPr>
              <a:t>文件构成，经过编译形成设备树。</a:t>
            </a:r>
            <a:r>
              <a:rPr lang="en-US" altLang="zh-CN" dirty="0">
                <a:latin typeface="微软雅黑" charset="0"/>
                <a:ea typeface="微软雅黑" charset="0"/>
              </a:rPr>
              <a:t>.dtsi</a:t>
            </a:r>
            <a:r>
              <a:rPr lang="zh-CN" altLang="en-US" dirty="0">
                <a:latin typeface="微软雅黑" charset="0"/>
                <a:ea typeface="微软雅黑" charset="0"/>
              </a:rPr>
              <a:t>文件包含</a:t>
            </a:r>
            <a:r>
              <a:rPr lang="en-US" altLang="zh-CN" dirty="0">
                <a:latin typeface="微软雅黑" charset="0"/>
                <a:ea typeface="微软雅黑" charset="0"/>
              </a:rPr>
              <a:t>SoC</a:t>
            </a:r>
            <a:r>
              <a:rPr lang="zh-CN" altLang="en-US" dirty="0">
                <a:latin typeface="微软雅黑" charset="0"/>
                <a:ea typeface="微软雅黑" charset="0"/>
              </a:rPr>
              <a:t>的一些公共特征，如</a:t>
            </a:r>
            <a:r>
              <a:rPr lang="zh-CN" b="0" u="none" dirty="0">
                <a:solidFill>
                  <a:srgbClr val="121212"/>
                </a:solidFill>
                <a:latin typeface="微软雅黑" charset="0"/>
                <a:ea typeface="微软雅黑" charset="0"/>
              </a:rPr>
              <a:t>各种型号的CPU核，包括</a:t>
            </a:r>
            <a:r>
              <a:rPr lang="zh-CN" altLang="en-US" dirty="0">
                <a:solidFill>
                  <a:srgbClr val="121212"/>
                </a:solidFill>
                <a:latin typeface="微软雅黑" charset="0"/>
                <a:ea typeface="微软雅黑" charset="0"/>
              </a:rPr>
              <a:t>其</a:t>
            </a:r>
            <a:r>
              <a:rPr lang="zh-CN" b="0" u="none" dirty="0">
                <a:solidFill>
                  <a:srgbClr val="121212"/>
                </a:solidFill>
                <a:latin typeface="微软雅黑" charset="0"/>
                <a:ea typeface="微软雅黑" charset="0"/>
              </a:rPr>
              <a:t>指令集、Cache大小等以及中断控制器、PWM等外设</a:t>
            </a:r>
            <a:r>
              <a:rPr lang="zh-CN" altLang="en-US" b="0" u="none" dirty="0">
                <a:solidFill>
                  <a:srgbClr val="121212"/>
                </a:solidFill>
                <a:latin typeface="微软雅黑" charset="0"/>
                <a:ea typeface="微软雅黑" charset="0"/>
              </a:rPr>
              <a:t>。而</a:t>
            </a:r>
            <a:r>
              <a:rPr lang="en-US" altLang="zh-CN" b="0" u="none" dirty="0">
                <a:solidFill>
                  <a:srgbClr val="121212"/>
                </a:solidFill>
                <a:latin typeface="微软雅黑" charset="0"/>
                <a:ea typeface="微软雅黑" charset="0"/>
              </a:rPr>
              <a:t>.</a:t>
            </a:r>
            <a:r>
              <a:rPr lang="en-US" altLang="zh-CN" b="0" u="none" dirty="0" err="1">
                <a:solidFill>
                  <a:srgbClr val="121212"/>
                </a:solidFill>
                <a:latin typeface="微软雅黑" charset="0"/>
                <a:ea typeface="微软雅黑" charset="0"/>
              </a:rPr>
              <a:t>dts</a:t>
            </a:r>
            <a:r>
              <a:rPr lang="zh-CN" altLang="en-US" b="0" u="none" dirty="0">
                <a:solidFill>
                  <a:srgbClr val="121212"/>
                </a:solidFill>
                <a:latin typeface="微软雅黑" charset="0"/>
                <a:ea typeface="微软雅黑" charset="0"/>
              </a:rPr>
              <a:t>文件则将上述模块组合起来，构成对整个板级系统的描述</a:t>
            </a:r>
          </a:p>
          <a:p>
            <a:pPr marL="685800" lvl="1" algn="l">
              <a:lnSpc>
                <a:spcPct val="120000"/>
              </a:lnSpc>
            </a:pPr>
            <a:r>
              <a:rPr lang="zh-CN" altLang="en-US" dirty="0">
                <a:latin typeface="微软雅黑" charset="0"/>
                <a:ea typeface="微软雅黑" charset="0"/>
              </a:rPr>
              <a:t>通过</a:t>
            </a:r>
            <a:r>
              <a:rPr lang="en-US" altLang="zh-CN" dirty="0">
                <a:latin typeface="微软雅黑" charset="0"/>
                <a:ea typeface="微软雅黑" charset="0"/>
              </a:rPr>
              <a:t>SBI</a:t>
            </a:r>
            <a:r>
              <a:rPr lang="zh-CN" altLang="en-US" dirty="0">
                <a:latin typeface="微软雅黑" charset="0"/>
                <a:ea typeface="微软雅黑" charset="0"/>
              </a:rPr>
              <a:t>（</a:t>
            </a:r>
            <a:r>
              <a:rPr lang="en-US" b="0" u="none" dirty="0">
                <a:solidFill>
                  <a:srgbClr val="121212"/>
                </a:solidFill>
                <a:latin typeface="微软雅黑" charset="0"/>
                <a:ea typeface="微软雅黑" charset="0"/>
              </a:rPr>
              <a:t>Supervisor Binary Interface</a:t>
            </a:r>
            <a:r>
              <a:rPr lang="zh-CN" altLang="en-US" dirty="0">
                <a:latin typeface="微软雅黑" charset="0"/>
                <a:ea typeface="微软雅黑" charset="0"/>
              </a:rPr>
              <a:t>）的方式。它是具体平台的固件和操作系统之间的接口，操作系统可以通过</a:t>
            </a:r>
            <a:r>
              <a:rPr lang="en-US" altLang="zh-CN" dirty="0">
                <a:latin typeface="微软雅黑" charset="0"/>
                <a:ea typeface="微软雅黑" charset="0"/>
              </a:rPr>
              <a:t>SBI</a:t>
            </a:r>
            <a:r>
              <a:rPr lang="zh-CN" altLang="en-US" dirty="0">
                <a:latin typeface="微软雅黑" charset="0"/>
                <a:ea typeface="微软雅黑" charset="0"/>
              </a:rPr>
              <a:t>来进行硬件调用</a:t>
            </a:r>
            <a:endParaRPr lang="en-US" altLang="zh-CN" dirty="0">
              <a:latin typeface="微软雅黑" charset="0"/>
              <a:ea typeface="微软雅黑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dirty="0"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charset="0"/>
                <a:ea typeface="微软雅黑" charset="0"/>
              </a:rPr>
              <a:t>Linux</a:t>
            </a:r>
            <a:r>
              <a:rPr lang="zh-CN" altLang="en-US" dirty="0">
                <a:latin typeface="微软雅黑" charset="0"/>
                <a:ea typeface="微软雅黑" charset="0"/>
              </a:rPr>
              <a:t>内核如何感知与操纵硬件</a:t>
            </a:r>
            <a:endParaRPr lang="en-US" altLang="zh-CN" dirty="0">
              <a:latin typeface="微软雅黑" charset="0"/>
              <a:ea typeface="微软雅黑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6667" y="1551709"/>
            <a:ext cx="10600972" cy="4639541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</a:pPr>
            <a:r>
              <a:rPr lang="en-US" altLang="zh-CN" dirty="0">
                <a:solidFill>
                  <a:srgbClr val="121212"/>
                </a:solidFill>
                <a:latin typeface="微软雅黑" charset="0"/>
                <a:ea typeface="微软雅黑" charset="0"/>
              </a:rPr>
              <a:t>SBI</a:t>
            </a:r>
            <a:r>
              <a:rPr lang="zh-CN" altLang="en-US" dirty="0">
                <a:solidFill>
                  <a:srgbClr val="121212"/>
                </a:solidFill>
                <a:latin typeface="微软雅黑" charset="0"/>
                <a:ea typeface="微软雅黑" charset="0"/>
              </a:rPr>
              <a:t>与</a:t>
            </a:r>
            <a:r>
              <a:rPr lang="en-US" altLang="zh-CN" dirty="0">
                <a:solidFill>
                  <a:srgbClr val="121212"/>
                </a:solidFill>
                <a:latin typeface="微软雅黑" charset="0"/>
                <a:ea typeface="微软雅黑" charset="0"/>
              </a:rPr>
              <a:t>ABI</a:t>
            </a:r>
            <a:r>
              <a:rPr lang="zh-CN" altLang="en-US" dirty="0">
                <a:solidFill>
                  <a:srgbClr val="121212"/>
                </a:solidFill>
                <a:latin typeface="微软雅黑" charset="0"/>
                <a:ea typeface="微软雅黑" charset="0"/>
              </a:rPr>
              <a:t>的类比</a:t>
            </a:r>
          </a:p>
          <a:p>
            <a:pPr marL="685800" lvl="1" algn="l">
              <a:lnSpc>
                <a:spcPct val="120000"/>
              </a:lnSpc>
            </a:pPr>
            <a:r>
              <a:rPr lang="en-US" altLang="zh-CN" dirty="0">
                <a:latin typeface="微软雅黑" charset="0"/>
                <a:ea typeface="微软雅黑" charset="0"/>
              </a:rPr>
              <a:t>ABI</a:t>
            </a:r>
            <a:r>
              <a:rPr lang="zh-CN" altLang="en-US" dirty="0">
                <a:latin typeface="微软雅黑" charset="0"/>
                <a:ea typeface="微软雅黑" charset="0"/>
              </a:rPr>
              <a:t>（</a:t>
            </a:r>
            <a:r>
              <a:rPr lang="en-US" altLang="zh-CN" dirty="0">
                <a:latin typeface="微软雅黑" charset="0"/>
                <a:ea typeface="微软雅黑" charset="0"/>
              </a:rPr>
              <a:t>Application Binary Interface</a:t>
            </a:r>
            <a:r>
              <a:rPr lang="zh-CN" altLang="en-US" dirty="0">
                <a:latin typeface="微软雅黑" charset="0"/>
                <a:ea typeface="微软雅黑" charset="0"/>
              </a:rPr>
              <a:t>）即所谓应用程序二进制接口，它是一个应用程序在当前系统下运行时需要遵守的编程约定。</a:t>
            </a:r>
            <a:r>
              <a:rPr lang="en-US" altLang="zh-CN" dirty="0">
                <a:latin typeface="微软雅黑" charset="0"/>
                <a:ea typeface="微软雅黑" charset="0"/>
              </a:rPr>
              <a:t>ABI</a:t>
            </a:r>
            <a:r>
              <a:rPr lang="zh-CN" altLang="en-US" dirty="0">
                <a:latin typeface="微软雅黑" charset="0"/>
                <a:ea typeface="微软雅黑" charset="0"/>
              </a:rPr>
              <a:t>规定了</a:t>
            </a:r>
            <a:r>
              <a:rPr lang="zh-CN" b="0" u="none" dirty="0">
                <a:solidFill>
                  <a:srgbClr val="121212"/>
                </a:solidFill>
                <a:latin typeface="微软雅黑" charset="0"/>
                <a:ea typeface="微软雅黑" charset="0"/>
              </a:rPr>
              <a:t>数据类型的大小、布局、调用约定与系统调用、目标文件的二进制格式等。满足一个完整ABI的应用程序应该无需重新编译即可在其它支持此ABI的操作系统上运行</a:t>
            </a:r>
          </a:p>
          <a:p>
            <a:pPr marL="685800" lvl="1" algn="l">
              <a:lnSpc>
                <a:spcPct val="120000"/>
              </a:lnSpc>
            </a:pPr>
            <a:r>
              <a:rPr lang="zh-CN" altLang="en-US" dirty="0">
                <a:latin typeface="微软雅黑" charset="0"/>
                <a:ea typeface="微软雅黑" charset="0"/>
              </a:rPr>
              <a:t>与之形成类比的，</a:t>
            </a:r>
            <a:r>
              <a:rPr lang="en-US" altLang="zh-CN" dirty="0">
                <a:latin typeface="微软雅黑" charset="0"/>
                <a:ea typeface="微软雅黑" charset="0"/>
              </a:rPr>
              <a:t>RISC</a:t>
            </a:r>
            <a:r>
              <a:rPr lang="zh-CN" altLang="en-US" dirty="0">
                <a:latin typeface="微软雅黑" charset="0"/>
                <a:ea typeface="微软雅黑" charset="0"/>
              </a:rPr>
              <a:t>-</a:t>
            </a:r>
            <a:r>
              <a:rPr lang="en-US" altLang="zh-CN" dirty="0">
                <a:latin typeface="微软雅黑" charset="0"/>
                <a:ea typeface="微软雅黑" charset="0"/>
              </a:rPr>
              <a:t>V</a:t>
            </a:r>
            <a:r>
              <a:rPr lang="zh-CN" altLang="en-US" dirty="0">
                <a:latin typeface="微软雅黑" charset="0"/>
                <a:ea typeface="微软雅黑" charset="0"/>
              </a:rPr>
              <a:t>的</a:t>
            </a:r>
            <a:r>
              <a:rPr lang="en-US" altLang="zh-CN" dirty="0">
                <a:latin typeface="微软雅黑" charset="0"/>
                <a:ea typeface="微软雅黑" charset="0"/>
              </a:rPr>
              <a:t>SBI</a:t>
            </a:r>
            <a:r>
              <a:rPr lang="zh-CN" altLang="en-US" dirty="0">
                <a:latin typeface="微软雅黑" charset="0"/>
                <a:ea typeface="微软雅黑" charset="0"/>
              </a:rPr>
              <a:t>作为硬件与系统的接口，用于</a:t>
            </a:r>
            <a:r>
              <a:rPr lang="zh-CN" b="0" u="none" dirty="0">
                <a:solidFill>
                  <a:srgbClr val="121212"/>
                </a:solidFill>
                <a:latin typeface="微软雅黑" charset="0"/>
                <a:ea typeface="微软雅黑" charset="0"/>
              </a:rPr>
              <a:t>Machine模式与Supervisor模式</a:t>
            </a:r>
            <a:r>
              <a:rPr lang="zh-CN" altLang="en-US" b="0" u="none" dirty="0">
                <a:solidFill>
                  <a:srgbClr val="121212"/>
                </a:solidFill>
                <a:latin typeface="微软雅黑" charset="0"/>
                <a:ea typeface="微软雅黑" charset="0"/>
              </a:rPr>
              <a:t>的交互。其接口大致包含操作系统对定时器、中断、缓存相关指令的执行、</a:t>
            </a:r>
            <a:r>
              <a:rPr lang="en-US" altLang="zh-CN" b="0" u="none" dirty="0">
                <a:solidFill>
                  <a:srgbClr val="121212"/>
                </a:solidFill>
                <a:latin typeface="微软雅黑" charset="0"/>
                <a:ea typeface="微软雅黑" charset="0"/>
              </a:rPr>
              <a:t>CPU</a:t>
            </a:r>
            <a:r>
              <a:rPr lang="zh-CN" altLang="en-US" b="0" u="none" dirty="0">
                <a:solidFill>
                  <a:srgbClr val="121212"/>
                </a:solidFill>
                <a:latin typeface="微软雅黑" charset="0"/>
                <a:ea typeface="微软雅黑" charset="0"/>
              </a:rPr>
              <a:t>核心状态的控制等。</a:t>
            </a:r>
            <a:r>
              <a:rPr lang="en-US" altLang="zh-CN" b="0" u="none" dirty="0">
                <a:solidFill>
                  <a:srgbClr val="121212"/>
                </a:solidFill>
                <a:latin typeface="微软雅黑" charset="0"/>
                <a:ea typeface="微软雅黑" charset="0"/>
              </a:rPr>
              <a:t>RISC</a:t>
            </a:r>
            <a:r>
              <a:rPr lang="zh-CN" altLang="en-US" b="0" u="none" dirty="0">
                <a:solidFill>
                  <a:srgbClr val="121212"/>
                </a:solidFill>
                <a:latin typeface="微软雅黑" charset="0"/>
                <a:ea typeface="微软雅黑" charset="0"/>
              </a:rPr>
              <a:t>-</a:t>
            </a:r>
            <a:r>
              <a:rPr lang="en-US" altLang="zh-CN" b="0" u="none" dirty="0">
                <a:solidFill>
                  <a:srgbClr val="121212"/>
                </a:solidFill>
                <a:latin typeface="微软雅黑" charset="0"/>
                <a:ea typeface="微软雅黑" charset="0"/>
              </a:rPr>
              <a:t>V</a:t>
            </a:r>
            <a:r>
              <a:rPr lang="zh-CN" altLang="en-US" b="0" u="none" dirty="0">
                <a:solidFill>
                  <a:srgbClr val="121212"/>
                </a:solidFill>
                <a:latin typeface="微软雅黑" charset="0"/>
                <a:ea typeface="微软雅黑" charset="0"/>
              </a:rPr>
              <a:t>的</a:t>
            </a:r>
            <a:r>
              <a:rPr lang="en-US" altLang="zh-CN" b="0" u="none" dirty="0">
                <a:solidFill>
                  <a:srgbClr val="121212"/>
                </a:solidFill>
                <a:latin typeface="微软雅黑" charset="0"/>
                <a:ea typeface="微软雅黑" charset="0"/>
              </a:rPr>
              <a:t>SBI</a:t>
            </a:r>
            <a:r>
              <a:rPr lang="zh-CN" altLang="en-US" b="0" u="none" dirty="0">
                <a:solidFill>
                  <a:srgbClr val="121212"/>
                </a:solidFill>
                <a:latin typeface="微软雅黑" charset="0"/>
                <a:ea typeface="微软雅黑" charset="0"/>
              </a:rPr>
              <a:t>文档位于：</a:t>
            </a:r>
          </a:p>
          <a:p>
            <a:pPr marL="685800" lvl="1" algn="ctr">
              <a:lnSpc>
                <a:spcPct val="120000"/>
              </a:lnSpc>
              <a:buNone/>
            </a:pPr>
            <a:r>
              <a:rPr lang="en-US" altLang="zh-CN" dirty="0">
                <a:latin typeface="微软雅黑" charset="0"/>
                <a:ea typeface="微软雅黑" charset="0"/>
              </a:rPr>
              <a:t>https://github.com/riscv/riscv</a:t>
            </a:r>
            <a:r>
              <a:rPr lang="zh-CN" altLang="en-US" dirty="0">
                <a:latin typeface="微软雅黑" charset="0"/>
                <a:ea typeface="微软雅黑" charset="0"/>
              </a:rPr>
              <a:t>-</a:t>
            </a:r>
            <a:r>
              <a:rPr lang="en-US" altLang="zh-CN" dirty="0">
                <a:latin typeface="微软雅黑" charset="0"/>
                <a:ea typeface="微软雅黑" charset="0"/>
              </a:rPr>
              <a:t>sbi</a:t>
            </a:r>
            <a:r>
              <a:rPr lang="zh-CN" altLang="en-US" dirty="0">
                <a:latin typeface="微软雅黑" charset="0"/>
                <a:ea typeface="微软雅黑" charset="0"/>
              </a:rPr>
              <a:t>-</a:t>
            </a:r>
            <a:r>
              <a:rPr lang="en-US" altLang="zh-CN" dirty="0">
                <a:latin typeface="微软雅黑" charset="0"/>
                <a:ea typeface="微软雅黑" charset="0"/>
              </a:rPr>
              <a:t>doc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charset="0"/>
                <a:ea typeface="微软雅黑" charset="0"/>
              </a:rPr>
              <a:t>内核启动前：</a:t>
            </a:r>
            <a:r>
              <a:rPr lang="en-US" altLang="zh-CN" dirty="0">
                <a:latin typeface="微软雅黑" charset="0"/>
                <a:ea typeface="微软雅黑" charset="0"/>
              </a:rPr>
              <a:t>bootloader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6667" y="1834444"/>
            <a:ext cx="8872361" cy="4356806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微软雅黑" charset="0"/>
                <a:ea typeface="微软雅黑" charset="0"/>
              </a:rPr>
              <a:t>在启动任何操作系统内核之前，均需要一段称为</a:t>
            </a:r>
            <a:r>
              <a:rPr lang="en-US" altLang="zh-CN" dirty="0">
                <a:latin typeface="微软雅黑" charset="0"/>
                <a:ea typeface="微软雅黑" charset="0"/>
              </a:rPr>
              <a:t>bootloader</a:t>
            </a:r>
            <a:r>
              <a:rPr lang="zh-CN" altLang="en-US" dirty="0">
                <a:latin typeface="微软雅黑" charset="0"/>
                <a:ea typeface="微软雅黑" charset="0"/>
              </a:rPr>
              <a:t>的程序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微软雅黑" charset="0"/>
                <a:ea typeface="微软雅黑" charset="0"/>
              </a:rPr>
              <a:t>bootloader可以初始化硬件设备、建立内存空间的映射图</a:t>
            </a:r>
            <a:r>
              <a:rPr lang="zh-CN" altLang="en-US" dirty="0">
                <a:latin typeface="微软雅黑" charset="0"/>
                <a:ea typeface="微软雅黑" charset="0"/>
              </a:rPr>
              <a:t>，为操作系统运行准备必要的环境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微软雅黑" charset="0"/>
                <a:ea typeface="微软雅黑" charset="0"/>
              </a:rPr>
              <a:t>在</a:t>
            </a:r>
            <a:r>
              <a:rPr lang="en-US" altLang="zh-CN" dirty="0">
                <a:latin typeface="微软雅黑" charset="0"/>
                <a:ea typeface="微软雅黑" charset="0"/>
              </a:rPr>
              <a:t>PC</a:t>
            </a:r>
            <a:r>
              <a:rPr lang="zh-CN" altLang="en-US" dirty="0">
                <a:latin typeface="微软雅黑" charset="0"/>
                <a:ea typeface="微软雅黑" charset="0"/>
              </a:rPr>
              <a:t>中，常见的</a:t>
            </a:r>
            <a:r>
              <a:rPr lang="en-US" altLang="zh-CN" dirty="0">
                <a:latin typeface="微软雅黑" charset="0"/>
                <a:ea typeface="微软雅黑" charset="0"/>
              </a:rPr>
              <a:t>bootloader</a:t>
            </a:r>
            <a:r>
              <a:rPr lang="zh-CN" altLang="en-US" dirty="0">
                <a:latin typeface="微软雅黑" charset="0"/>
                <a:ea typeface="微软雅黑" charset="0"/>
              </a:rPr>
              <a:t>有</a:t>
            </a:r>
            <a:r>
              <a:rPr lang="en-US" altLang="zh-CN" dirty="0">
                <a:latin typeface="微软雅黑" charset="0"/>
                <a:ea typeface="微软雅黑" charset="0"/>
              </a:rPr>
              <a:t>grub</a:t>
            </a:r>
            <a:r>
              <a:rPr lang="zh-CN" altLang="en-US" dirty="0">
                <a:latin typeface="微软雅黑" charset="0"/>
                <a:ea typeface="微软雅黑" charset="0"/>
              </a:rPr>
              <a:t>、</a:t>
            </a:r>
            <a:r>
              <a:rPr lang="en-US" altLang="zh-CN" dirty="0">
                <a:latin typeface="微软雅黑" charset="0"/>
                <a:ea typeface="微软雅黑" charset="0"/>
              </a:rPr>
              <a:t>BIOS</a:t>
            </a:r>
            <a:r>
              <a:rPr lang="zh-CN" altLang="en-US" dirty="0">
                <a:latin typeface="微软雅黑" charset="0"/>
                <a:ea typeface="微软雅黑" charset="0"/>
              </a:rPr>
              <a:t>、</a:t>
            </a:r>
            <a:r>
              <a:rPr lang="en-US" altLang="zh-CN" dirty="0">
                <a:latin typeface="微软雅黑" charset="0"/>
                <a:ea typeface="微软雅黑" charset="0"/>
              </a:rPr>
              <a:t>UEFI</a:t>
            </a:r>
            <a:r>
              <a:rPr lang="zh-CN" altLang="en-US" dirty="0">
                <a:latin typeface="微软雅黑" charset="0"/>
                <a:ea typeface="微软雅黑" charset="0"/>
              </a:rPr>
              <a:t>等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微软雅黑" charset="0"/>
                <a:ea typeface="微软雅黑" charset="0"/>
              </a:rPr>
              <a:t>而在嵌入式领域使用的</a:t>
            </a:r>
            <a:r>
              <a:rPr lang="en-US" altLang="zh-CN" dirty="0">
                <a:latin typeface="微软雅黑" charset="0"/>
                <a:ea typeface="微软雅黑" charset="0"/>
              </a:rPr>
              <a:t>bootloader</a:t>
            </a:r>
            <a:r>
              <a:rPr lang="zh-CN" altLang="en-US" dirty="0">
                <a:latin typeface="微软雅黑" charset="0"/>
                <a:ea typeface="微软雅黑" charset="0"/>
              </a:rPr>
              <a:t>有</a:t>
            </a:r>
            <a:r>
              <a:rPr lang="en-US" altLang="zh-CN" dirty="0">
                <a:latin typeface="微软雅黑" charset="0"/>
                <a:ea typeface="微软雅黑" charset="0"/>
              </a:rPr>
              <a:t>U</a:t>
            </a:r>
            <a:r>
              <a:rPr lang="zh-CN" altLang="en-US" dirty="0">
                <a:latin typeface="微软雅黑" charset="0"/>
                <a:ea typeface="微软雅黑" charset="0"/>
              </a:rPr>
              <a:t>-</a:t>
            </a:r>
            <a:r>
              <a:rPr lang="en-US" altLang="zh-CN" dirty="0">
                <a:latin typeface="微软雅黑" charset="0"/>
                <a:ea typeface="微软雅黑" charset="0"/>
              </a:rPr>
              <a:t>Boot</a:t>
            </a:r>
            <a:r>
              <a:rPr lang="zh-CN" altLang="en-US" dirty="0">
                <a:latin typeface="微软雅黑" charset="0"/>
                <a:ea typeface="微软雅黑" charset="0"/>
              </a:rPr>
              <a:t>，以及</a:t>
            </a:r>
            <a:r>
              <a:rPr lang="en-US" altLang="zh-CN" dirty="0">
                <a:latin typeface="微软雅黑" charset="0"/>
                <a:ea typeface="微软雅黑" charset="0"/>
              </a:rPr>
              <a:t>Berkeley</a:t>
            </a:r>
            <a:r>
              <a:rPr lang="zh-CN" altLang="en-US" dirty="0">
                <a:latin typeface="微软雅黑" charset="0"/>
                <a:ea typeface="微软雅黑" charset="0"/>
              </a:rPr>
              <a:t>为</a:t>
            </a:r>
            <a:r>
              <a:rPr lang="en-US" altLang="zh-CN" dirty="0">
                <a:latin typeface="微软雅黑" charset="0"/>
                <a:ea typeface="微软雅黑" charset="0"/>
              </a:rPr>
              <a:t>RISC</a:t>
            </a:r>
            <a:r>
              <a:rPr lang="zh-CN" altLang="en-US" dirty="0">
                <a:latin typeface="微软雅黑" charset="0"/>
                <a:ea typeface="微软雅黑" charset="0"/>
              </a:rPr>
              <a:t>-</a:t>
            </a:r>
            <a:r>
              <a:rPr lang="en-US" altLang="zh-CN" dirty="0">
                <a:latin typeface="微软雅黑" charset="0"/>
                <a:ea typeface="微软雅黑" charset="0"/>
              </a:rPr>
              <a:t>V</a:t>
            </a:r>
            <a:r>
              <a:rPr lang="zh-CN" altLang="en-US" dirty="0">
                <a:latin typeface="微软雅黑" charset="0"/>
                <a:ea typeface="微软雅黑" charset="0"/>
              </a:rPr>
              <a:t>开发的</a:t>
            </a:r>
            <a:r>
              <a:rPr lang="en-US" altLang="zh-CN" dirty="0">
                <a:latin typeface="微软雅黑" charset="0"/>
                <a:ea typeface="微软雅黑" charset="0"/>
              </a:rPr>
              <a:t>bootloader</a:t>
            </a:r>
            <a:r>
              <a:rPr lang="zh-CN" altLang="en-US" dirty="0">
                <a:latin typeface="微软雅黑" charset="0"/>
                <a:ea typeface="微软雅黑" charset="0"/>
              </a:rPr>
              <a:t>——</a:t>
            </a:r>
            <a:r>
              <a:rPr lang="en-US" altLang="zh-CN" dirty="0">
                <a:latin typeface="微软雅黑" charset="0"/>
                <a:ea typeface="微软雅黑" charset="0"/>
              </a:rPr>
              <a:t>bbl(Berkeley BootLoader)</a:t>
            </a:r>
            <a:r>
              <a:rPr lang="zh-CN" altLang="en-US" dirty="0">
                <a:latin typeface="微软雅黑" charset="0"/>
                <a:ea typeface="微软雅黑" charset="0"/>
              </a:rPr>
              <a:t>等</a:t>
            </a:r>
            <a:endParaRPr lang="en-US" altLang="zh-CN" dirty="0">
              <a:latin typeface="微软雅黑" charset="0"/>
              <a:ea typeface="微软雅黑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7222" y="3792361"/>
            <a:ext cx="2081389" cy="273402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charset="0"/>
                <a:ea typeface="微软雅黑" charset="0"/>
              </a:rPr>
              <a:t>内核启动前：</a:t>
            </a:r>
            <a:r>
              <a:rPr lang="en-US" altLang="zh-CN" dirty="0">
                <a:latin typeface="微软雅黑" charset="0"/>
                <a:ea typeface="微软雅黑" charset="0"/>
              </a:rPr>
              <a:t>BootROM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6667" y="1482436"/>
            <a:ext cx="10600972" cy="5112328"/>
          </a:xfrm>
        </p:spPr>
        <p:txBody>
          <a:bodyPr>
            <a:normAutofit fontScale="92500"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latin typeface="微软雅黑" charset="0"/>
                <a:ea typeface="微软雅黑" charset="0"/>
              </a:rPr>
              <a:t>bbl</a:t>
            </a:r>
            <a:r>
              <a:rPr lang="zh-CN" altLang="en-US" dirty="0">
                <a:latin typeface="微软雅黑" charset="0"/>
                <a:ea typeface="微软雅黑" charset="0"/>
              </a:rPr>
              <a:t>是</a:t>
            </a:r>
            <a:r>
              <a:rPr lang="en-US" altLang="zh-CN" dirty="0">
                <a:latin typeface="微软雅黑" charset="0"/>
                <a:ea typeface="微软雅黑" charset="0"/>
              </a:rPr>
              <a:t>RISC</a:t>
            </a:r>
            <a:r>
              <a:rPr lang="zh-CN" altLang="en-US" dirty="0">
                <a:latin typeface="微软雅黑" charset="0"/>
                <a:ea typeface="微软雅黑" charset="0"/>
              </a:rPr>
              <a:t>-</a:t>
            </a:r>
            <a:r>
              <a:rPr lang="en-US" altLang="zh-CN" dirty="0">
                <a:latin typeface="微软雅黑" charset="0"/>
                <a:ea typeface="微软雅黑" charset="0"/>
              </a:rPr>
              <a:t>V</a:t>
            </a:r>
            <a:r>
              <a:rPr lang="zh-CN" altLang="en-US" dirty="0">
                <a:latin typeface="微软雅黑" charset="0"/>
                <a:ea typeface="微软雅黑" charset="0"/>
              </a:rPr>
              <a:t>平台上比较通用的</a:t>
            </a:r>
            <a:r>
              <a:rPr lang="en-US" altLang="zh-CN" dirty="0">
                <a:latin typeface="微软雅黑" charset="0"/>
                <a:ea typeface="微软雅黑" charset="0"/>
              </a:rPr>
              <a:t>bootloader</a:t>
            </a:r>
            <a:r>
              <a:rPr lang="zh-CN" altLang="en-US" dirty="0">
                <a:latin typeface="微软雅黑" charset="0"/>
                <a:ea typeface="微软雅黑" charset="0"/>
              </a:rPr>
              <a:t>，而在</a:t>
            </a:r>
            <a:r>
              <a:rPr lang="en-US" altLang="zh-CN" dirty="0">
                <a:latin typeface="微软雅黑" charset="0"/>
                <a:ea typeface="微软雅黑" charset="0"/>
              </a:rPr>
              <a:t>bbl</a:t>
            </a:r>
            <a:r>
              <a:rPr lang="zh-CN" altLang="en-US" dirty="0">
                <a:latin typeface="微软雅黑" charset="0"/>
                <a:ea typeface="微软雅黑" charset="0"/>
              </a:rPr>
              <a:t>运行前，还需要另一段</a:t>
            </a:r>
            <a:r>
              <a:rPr lang="en-US" altLang="zh-CN" dirty="0">
                <a:latin typeface="微软雅黑" charset="0"/>
                <a:ea typeface="微软雅黑" charset="0"/>
              </a:rPr>
              <a:t>bootloader</a:t>
            </a:r>
            <a:r>
              <a:rPr lang="zh-CN" altLang="en-US" dirty="0">
                <a:latin typeface="微软雅黑" charset="0"/>
                <a:ea typeface="微软雅黑" charset="0"/>
              </a:rPr>
              <a:t>，它和当前的</a:t>
            </a:r>
            <a:r>
              <a:rPr lang="en-US" altLang="zh-CN" dirty="0">
                <a:latin typeface="微软雅黑" charset="0"/>
                <a:ea typeface="微软雅黑" charset="0"/>
              </a:rPr>
              <a:t>SoC</a:t>
            </a:r>
            <a:r>
              <a:rPr lang="zh-CN" altLang="en-US" dirty="0">
                <a:latin typeface="微软雅黑" charset="0"/>
                <a:ea typeface="微软雅黑" charset="0"/>
              </a:rPr>
              <a:t>紧密耦合。一般会在</a:t>
            </a:r>
            <a:r>
              <a:rPr lang="en-US" altLang="zh-CN" dirty="0">
                <a:latin typeface="微软雅黑" charset="0"/>
                <a:ea typeface="微软雅黑" charset="0"/>
              </a:rPr>
              <a:t>SoC</a:t>
            </a:r>
            <a:r>
              <a:rPr lang="zh-CN" altLang="en-US" dirty="0">
                <a:latin typeface="微软雅黑" charset="0"/>
                <a:ea typeface="微软雅黑" charset="0"/>
              </a:rPr>
              <a:t>上集成一小块</a:t>
            </a:r>
            <a:r>
              <a:rPr lang="en-US" altLang="zh-CN" dirty="0">
                <a:latin typeface="微软雅黑" charset="0"/>
                <a:ea typeface="微软雅黑" charset="0"/>
              </a:rPr>
              <a:t>ROM</a:t>
            </a:r>
            <a:r>
              <a:rPr lang="zh-CN" altLang="en-US" dirty="0">
                <a:latin typeface="微软雅黑" charset="0"/>
                <a:ea typeface="微软雅黑" charset="0"/>
              </a:rPr>
              <a:t>，</a:t>
            </a:r>
            <a:r>
              <a:rPr lang="en-US" altLang="zh-CN" dirty="0">
                <a:latin typeface="微软雅黑" charset="0"/>
                <a:ea typeface="微软雅黑" charset="0"/>
              </a:rPr>
              <a:t> </a:t>
            </a:r>
            <a:r>
              <a:rPr lang="zh-CN" altLang="en-US" dirty="0">
                <a:latin typeface="微软雅黑" charset="0"/>
                <a:ea typeface="微软雅黑" charset="0"/>
              </a:rPr>
              <a:t>成为</a:t>
            </a:r>
            <a:r>
              <a:rPr lang="en-US" altLang="zh-CN" dirty="0" err="1">
                <a:latin typeface="微软雅黑" charset="0"/>
                <a:ea typeface="微软雅黑" charset="0"/>
              </a:rPr>
              <a:t>BootROM</a:t>
            </a:r>
            <a:r>
              <a:rPr lang="en-US" altLang="zh-CN" dirty="0">
                <a:latin typeface="微软雅黑" charset="0"/>
                <a:ea typeface="微软雅黑" charset="0"/>
              </a:rPr>
              <a:t> </a:t>
            </a:r>
            <a:r>
              <a:rPr lang="zh-CN" altLang="en-US" dirty="0">
                <a:latin typeface="微软雅黑" charset="0"/>
                <a:ea typeface="微软雅黑" charset="0"/>
              </a:rPr>
              <a:t>，以存放复位后首先执行的一小块代码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微软雅黑" charset="0"/>
                <a:ea typeface="微软雅黑" charset="0"/>
              </a:rPr>
              <a:t>BootROM</a:t>
            </a:r>
            <a:r>
              <a:rPr lang="zh-CN" altLang="en-US" dirty="0">
                <a:latin typeface="微软雅黑" charset="0"/>
                <a:ea typeface="微软雅黑" charset="0"/>
              </a:rPr>
              <a:t>的主要作用是启动一个硬件线程</a:t>
            </a:r>
            <a:r>
              <a:rPr lang="en-US" altLang="zh-CN" dirty="0">
                <a:latin typeface="微软雅黑" charset="0"/>
                <a:ea typeface="微软雅黑" charset="0"/>
              </a:rPr>
              <a:t>hart</a:t>
            </a:r>
            <a:r>
              <a:rPr lang="zh-CN" altLang="en-US" dirty="0">
                <a:latin typeface="微软雅黑" charset="0"/>
                <a:ea typeface="微软雅黑" charset="0"/>
              </a:rPr>
              <a:t>，设置中断开关，等待程序被加载后触发中断。</a:t>
            </a:r>
          </a:p>
          <a:p>
            <a:pPr marL="685800" lvl="1">
              <a:lnSpc>
                <a:spcPct val="120000"/>
              </a:lnSpc>
            </a:pPr>
            <a:r>
              <a:rPr lang="zh-CN" altLang="en-US" dirty="0">
                <a:latin typeface="微软雅黑" charset="0"/>
                <a:ea typeface="微软雅黑" charset="0"/>
              </a:rPr>
              <a:t>对于裸机程序而言，</a:t>
            </a:r>
            <a:r>
              <a:rPr lang="en-US" altLang="zh-CN" dirty="0">
                <a:latin typeface="微软雅黑" charset="0"/>
                <a:ea typeface="微软雅黑" charset="0"/>
              </a:rPr>
              <a:t>fesvr</a:t>
            </a:r>
            <a:r>
              <a:rPr lang="zh-CN" altLang="en-US" dirty="0">
                <a:latin typeface="微软雅黑" charset="0"/>
                <a:ea typeface="微软雅黑" charset="0"/>
              </a:rPr>
              <a:t>将要执行的程序加载到内存后并触发中断后，</a:t>
            </a:r>
            <a:r>
              <a:rPr lang="en-US" altLang="zh-CN" dirty="0">
                <a:latin typeface="微软雅黑" charset="0"/>
                <a:ea typeface="微软雅黑" charset="0"/>
              </a:rPr>
              <a:t>SoC</a:t>
            </a:r>
            <a:r>
              <a:rPr lang="zh-CN" altLang="en-US" dirty="0">
                <a:latin typeface="微软雅黑" charset="0"/>
                <a:ea typeface="微软雅黑" charset="0"/>
              </a:rPr>
              <a:t>就会开始执行用户程序。</a:t>
            </a:r>
          </a:p>
          <a:p>
            <a:pPr marL="685800" lvl="1">
              <a:lnSpc>
                <a:spcPct val="120000"/>
              </a:lnSpc>
            </a:pPr>
            <a:r>
              <a:rPr lang="zh-CN" altLang="en-US" dirty="0">
                <a:latin typeface="微软雅黑" charset="0"/>
                <a:ea typeface="微软雅黑" charset="0"/>
              </a:rPr>
              <a:t>而如果要启动</a:t>
            </a:r>
            <a:r>
              <a:rPr lang="en-US" altLang="zh-CN" dirty="0">
                <a:latin typeface="微软雅黑" charset="0"/>
                <a:ea typeface="微软雅黑" charset="0"/>
              </a:rPr>
              <a:t>Linux</a:t>
            </a:r>
            <a:r>
              <a:rPr lang="zh-CN" altLang="en-US" dirty="0">
                <a:latin typeface="微软雅黑" charset="0"/>
                <a:ea typeface="微软雅黑" charset="0"/>
              </a:rPr>
              <a:t>内核，则需要启动如</a:t>
            </a:r>
            <a:r>
              <a:rPr lang="en-US" altLang="zh-CN" dirty="0">
                <a:latin typeface="微软雅黑" charset="0"/>
                <a:ea typeface="微软雅黑" charset="0"/>
              </a:rPr>
              <a:t>bbl</a:t>
            </a:r>
            <a:r>
              <a:rPr lang="zh-CN" altLang="en-US" dirty="0">
                <a:latin typeface="微软雅黑" charset="0"/>
                <a:ea typeface="微软雅黑" charset="0"/>
              </a:rPr>
              <a:t>一类的第二级</a:t>
            </a:r>
            <a:r>
              <a:rPr lang="en-US" altLang="zh-CN" dirty="0">
                <a:latin typeface="微软雅黑" charset="0"/>
                <a:ea typeface="微软雅黑" charset="0"/>
              </a:rPr>
              <a:t>bootloader</a:t>
            </a:r>
            <a:r>
              <a:rPr lang="zh-CN" altLang="en-US" dirty="0">
                <a:latin typeface="微软雅黑" charset="0"/>
                <a:ea typeface="微软雅黑" charset="0"/>
              </a:rPr>
              <a:t>。</a:t>
            </a:r>
            <a:r>
              <a:rPr lang="en-US" altLang="zh-CN" dirty="0">
                <a:latin typeface="微软雅黑" charset="0"/>
                <a:ea typeface="微软雅黑" charset="0"/>
              </a:rPr>
              <a:t>BootROM</a:t>
            </a:r>
            <a:r>
              <a:rPr lang="zh-CN" altLang="en-US" dirty="0">
                <a:latin typeface="微软雅黑" charset="0"/>
                <a:ea typeface="微软雅黑" charset="0"/>
              </a:rPr>
              <a:t>会将</a:t>
            </a:r>
            <a:r>
              <a:rPr lang="en-US" altLang="zh-CN" dirty="0">
                <a:latin typeface="微软雅黑" charset="0"/>
                <a:ea typeface="微软雅黑" charset="0"/>
              </a:rPr>
              <a:t>bbl</a:t>
            </a:r>
            <a:r>
              <a:rPr lang="zh-CN" altLang="en-US" dirty="0">
                <a:latin typeface="微软雅黑" charset="0"/>
                <a:ea typeface="微软雅黑" charset="0"/>
              </a:rPr>
              <a:t>及其</a:t>
            </a:r>
            <a:r>
              <a:rPr lang="en-US" altLang="zh-CN" dirty="0">
                <a:latin typeface="微软雅黑" charset="0"/>
                <a:ea typeface="微软雅黑" charset="0"/>
              </a:rPr>
              <a:t>payload</a:t>
            </a:r>
            <a:r>
              <a:rPr lang="zh-CN" altLang="en-US" dirty="0">
                <a:latin typeface="微软雅黑" charset="0"/>
                <a:ea typeface="微软雅黑" charset="0"/>
              </a:rPr>
              <a:t>（比如</a:t>
            </a:r>
            <a:r>
              <a:rPr lang="en-US" altLang="zh-CN" dirty="0">
                <a:latin typeface="微软雅黑" charset="0"/>
                <a:ea typeface="微软雅黑" charset="0"/>
              </a:rPr>
              <a:t>Linux</a:t>
            </a:r>
            <a:r>
              <a:rPr lang="zh-CN" altLang="en-US" dirty="0">
                <a:latin typeface="微软雅黑" charset="0"/>
                <a:ea typeface="微软雅黑" charset="0"/>
              </a:rPr>
              <a:t>内核）加载到内存中，然后将程序跳转到</a:t>
            </a:r>
            <a:r>
              <a:rPr lang="en-US" altLang="zh-CN" dirty="0">
                <a:latin typeface="微软雅黑" charset="0"/>
                <a:ea typeface="微软雅黑" charset="0"/>
              </a:rPr>
              <a:t>bbl</a:t>
            </a:r>
            <a:r>
              <a:rPr lang="zh-CN" altLang="en-US" dirty="0">
                <a:latin typeface="微软雅黑" charset="0"/>
                <a:ea typeface="微软雅黑" charset="0"/>
              </a:rPr>
              <a:t>中，从而使</a:t>
            </a:r>
            <a:r>
              <a:rPr lang="en-US" altLang="zh-CN" dirty="0">
                <a:latin typeface="微软雅黑" charset="0"/>
                <a:ea typeface="微软雅黑" charset="0"/>
              </a:rPr>
              <a:t>bbl</a:t>
            </a:r>
            <a:r>
              <a:rPr lang="zh-CN" altLang="en-US" dirty="0">
                <a:latin typeface="微软雅黑" charset="0"/>
                <a:ea typeface="微软雅黑" charset="0"/>
              </a:rPr>
              <a:t>完成后续工作，并最终启动操作系统。</a:t>
            </a:r>
            <a:endParaRPr lang="en-US" altLang="zh-CN" dirty="0"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charset="0"/>
                <a:ea typeface="微软雅黑" charset="0"/>
              </a:rPr>
              <a:t>BootROM</a:t>
            </a:r>
            <a:r>
              <a:rPr lang="zh-CN" altLang="en-US" dirty="0">
                <a:latin typeface="微软雅黑" charset="0"/>
                <a:ea typeface="微软雅黑" charset="0"/>
              </a:rPr>
              <a:t>加载</a:t>
            </a:r>
            <a:r>
              <a:rPr lang="en-US" altLang="zh-CN" dirty="0">
                <a:latin typeface="微软雅黑" charset="0"/>
                <a:ea typeface="微软雅黑" charset="0"/>
              </a:rPr>
              <a:t>bootloader</a:t>
            </a:r>
            <a:r>
              <a:rPr lang="zh-CN" altLang="en-US" dirty="0">
                <a:latin typeface="微软雅黑" charset="0"/>
                <a:ea typeface="微软雅黑" charset="0"/>
              </a:rPr>
              <a:t>的方式</a:t>
            </a:r>
            <a:endParaRPr lang="en-US" altLang="zh-CN" dirty="0">
              <a:latin typeface="微软雅黑" charset="0"/>
              <a:ea typeface="微软雅黑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6667" y="1834444"/>
            <a:ext cx="10600972" cy="4356806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charset="0"/>
                <a:ea typeface="微软雅黑" charset="0"/>
              </a:rPr>
              <a:t>取决于具体</a:t>
            </a:r>
            <a:r>
              <a:rPr lang="en-US" altLang="zh-CN" dirty="0">
                <a:latin typeface="微软雅黑" charset="0"/>
                <a:ea typeface="微软雅黑" charset="0"/>
              </a:rPr>
              <a:t>SoC</a:t>
            </a:r>
            <a:r>
              <a:rPr lang="zh-CN" altLang="en-US" dirty="0">
                <a:latin typeface="微软雅黑" charset="0"/>
                <a:ea typeface="微软雅黑" charset="0"/>
              </a:rPr>
              <a:t>设计</a:t>
            </a:r>
            <a:endParaRPr lang="en-US" altLang="zh-CN" dirty="0">
              <a:latin typeface="微软雅黑" charset="0"/>
              <a:ea typeface="微软雅黑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86" y="2778125"/>
            <a:ext cx="4639028" cy="132291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639" y="2804583"/>
            <a:ext cx="4991806" cy="128763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8681" y="4921250"/>
            <a:ext cx="6526389" cy="864306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2310694" y="6191250"/>
            <a:ext cx="7672917" cy="652639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en-US" altLang="zh-CN"/>
              <a:t>fesvr</a:t>
            </a:r>
            <a:r>
              <a:rPr lang="zh-CN" altLang="en-US"/>
              <a:t>运行在</a:t>
            </a:r>
            <a:r>
              <a:rPr lang="en-US" altLang="zh-CN"/>
              <a:t>host</a:t>
            </a:r>
            <a:r>
              <a:rPr lang="zh-CN" altLang="en-US"/>
              <a:t>上，通过</a:t>
            </a:r>
            <a:r>
              <a:rPr lang="en-US" altLang="zh-CN"/>
              <a:t>TSI</a:t>
            </a:r>
            <a:r>
              <a:rPr lang="zh-CN" altLang="en-US"/>
              <a:t>接口与</a:t>
            </a:r>
            <a:r>
              <a:rPr lang="en-US" altLang="zh-CN"/>
              <a:t>Rocket</a:t>
            </a:r>
            <a:r>
              <a:rPr lang="zh-CN" altLang="en-US"/>
              <a:t>-</a:t>
            </a:r>
            <a:r>
              <a:rPr lang="en-US" altLang="zh-CN"/>
              <a:t>chip</a:t>
            </a:r>
            <a:r>
              <a:rPr lang="zh-CN" altLang="en-US"/>
              <a:t>通信</a:t>
            </a:r>
          </a:p>
          <a:p>
            <a:r>
              <a:rPr lang="en-US" altLang="zh-CN"/>
              <a:t>debugserver</a:t>
            </a:r>
            <a:r>
              <a:rPr lang="zh-CN" altLang="en-US"/>
              <a:t>是平头哥开发的平台，通过</a:t>
            </a:r>
            <a:r>
              <a:rPr lang="en-US" altLang="zh-CN"/>
              <a:t>JTAG</a:t>
            </a:r>
            <a:r>
              <a:rPr lang="zh-CN" altLang="en-US"/>
              <a:t>接口与玄铁</a:t>
            </a:r>
            <a:r>
              <a:rPr lang="en-US" altLang="zh-CN"/>
              <a:t>C910</a:t>
            </a:r>
            <a:r>
              <a:rPr lang="zh-CN" altLang="en-US"/>
              <a:t>进行通信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>
                <a:latin typeface="微软雅黑" charset="0"/>
                <a:ea typeface="微软雅黑" charset="0"/>
              </a:rPr>
              <a:t>内核启动前：启动</a:t>
            </a:r>
            <a:r>
              <a:rPr lang="en-US" altLang="zh-CN" b="1">
                <a:latin typeface="微软雅黑" charset="0"/>
                <a:ea typeface="微软雅黑" charset="0"/>
              </a:rPr>
              <a:t>bbl</a:t>
            </a:r>
            <a:endParaRPr lang="zh-CN" altLang="en-US" b="1">
              <a:latin typeface="微软雅黑" charset="0"/>
              <a:ea typeface="微软雅黑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latin typeface="微软雅黑" charset="0"/>
                <a:ea typeface="微软雅黑" charset="0"/>
              </a:rPr>
              <a:t>BootROM</a:t>
            </a:r>
            <a:r>
              <a:rPr lang="zh-CN" altLang="en-US">
                <a:latin typeface="微软雅黑" charset="0"/>
                <a:ea typeface="微软雅黑" charset="0"/>
              </a:rPr>
              <a:t>将该</a:t>
            </a:r>
            <a:r>
              <a:rPr lang="en-US" altLang="zh-CN">
                <a:latin typeface="微软雅黑" charset="0"/>
                <a:ea typeface="微软雅黑" charset="0"/>
              </a:rPr>
              <a:t>SoC</a:t>
            </a:r>
            <a:r>
              <a:rPr lang="zh-CN" altLang="en-US">
                <a:latin typeface="微软雅黑" charset="0"/>
                <a:ea typeface="微软雅黑" charset="0"/>
              </a:rPr>
              <a:t>的设备树传递给</a:t>
            </a:r>
            <a:r>
              <a:rPr lang="en-US" altLang="zh-CN">
                <a:latin typeface="微软雅黑" charset="0"/>
                <a:ea typeface="微软雅黑" charset="0"/>
              </a:rPr>
              <a:t>bbl</a:t>
            </a:r>
          </a:p>
          <a:p>
            <a:r>
              <a:rPr lang="en-US" altLang="zh-CN">
                <a:latin typeface="微软雅黑" charset="0"/>
                <a:ea typeface="微软雅黑" charset="0"/>
              </a:rPr>
              <a:t>bbl</a:t>
            </a:r>
            <a:r>
              <a:rPr lang="zh-CN" altLang="en-US">
                <a:latin typeface="微软雅黑" charset="0"/>
                <a:ea typeface="微软雅黑" charset="0"/>
              </a:rPr>
              <a:t>解析设备树，去除无用的设备（比如专为电源管理存在的与</a:t>
            </a:r>
            <a:r>
              <a:rPr lang="en-US" altLang="zh-CN">
                <a:latin typeface="微软雅黑" charset="0"/>
                <a:ea typeface="微软雅黑" charset="0"/>
              </a:rPr>
              <a:t>Linux</a:t>
            </a:r>
            <a:r>
              <a:rPr lang="zh-CN" altLang="en-US">
                <a:latin typeface="微软雅黑" charset="0"/>
                <a:ea typeface="微软雅黑" charset="0"/>
              </a:rPr>
              <a:t>无关的核）</a:t>
            </a:r>
            <a:endParaRPr lang="en-US" altLang="zh-CN">
              <a:latin typeface="微软雅黑" charset="0"/>
              <a:ea typeface="微软雅黑" charset="0"/>
            </a:endParaRPr>
          </a:p>
          <a:p>
            <a:r>
              <a:rPr lang="en-US" altLang="zh-CN">
                <a:latin typeface="微软雅黑" charset="0"/>
                <a:ea typeface="微软雅黑" charset="0"/>
              </a:rPr>
              <a:t>bbl</a:t>
            </a:r>
            <a:r>
              <a:rPr lang="zh-CN" altLang="en-US">
                <a:latin typeface="微软雅黑" charset="0"/>
                <a:ea typeface="微软雅黑" charset="0"/>
              </a:rPr>
              <a:t>设置各个核的</a:t>
            </a:r>
            <a:r>
              <a:rPr lang="en-US" altLang="zh-CN">
                <a:latin typeface="微软雅黑" charset="0"/>
                <a:ea typeface="微软雅黑" charset="0"/>
              </a:rPr>
              <a:t>PMP</a:t>
            </a:r>
            <a:r>
              <a:rPr lang="zh-CN" altLang="en-US">
                <a:latin typeface="微软雅黑" charset="0"/>
                <a:ea typeface="微软雅黑" charset="0"/>
              </a:rPr>
              <a:t>（物理内存保护机制）与</a:t>
            </a:r>
            <a:r>
              <a:rPr lang="en-US" altLang="zh-CN">
                <a:latin typeface="微软雅黑" charset="0"/>
                <a:ea typeface="微软雅黑" charset="0"/>
              </a:rPr>
              <a:t>trap</a:t>
            </a:r>
            <a:r>
              <a:rPr lang="zh-CN" altLang="en-US">
                <a:latin typeface="微软雅黑" charset="0"/>
                <a:ea typeface="微软雅黑" charset="0"/>
              </a:rPr>
              <a:t> </a:t>
            </a:r>
            <a:r>
              <a:rPr lang="en-US" altLang="zh-CN">
                <a:latin typeface="微软雅黑" charset="0"/>
                <a:ea typeface="微软雅黑" charset="0"/>
              </a:rPr>
              <a:t>handler</a:t>
            </a:r>
            <a:endParaRPr lang="zh-CN" altLang="en-US">
              <a:latin typeface="微软雅黑" charset="0"/>
              <a:ea typeface="微软雅黑" charset="0"/>
            </a:endParaRPr>
          </a:p>
          <a:p>
            <a:r>
              <a:rPr lang="en-US" altLang="zh-CN">
                <a:latin typeface="微软雅黑" charset="0"/>
                <a:ea typeface="微软雅黑" charset="0"/>
              </a:rPr>
              <a:t>bbl</a:t>
            </a:r>
            <a:r>
              <a:rPr lang="zh-CN" altLang="en-US">
                <a:latin typeface="微软雅黑" charset="0"/>
                <a:ea typeface="微软雅黑" charset="0"/>
              </a:rPr>
              <a:t>设置各个核进入</a:t>
            </a:r>
            <a:r>
              <a:rPr lang="en-US" altLang="zh-CN">
                <a:latin typeface="微软雅黑" charset="0"/>
                <a:ea typeface="微软雅黑" charset="0"/>
              </a:rPr>
              <a:t>Supervisor</a:t>
            </a:r>
            <a:r>
              <a:rPr lang="zh-CN" altLang="en-US">
                <a:latin typeface="微软雅黑" charset="0"/>
                <a:ea typeface="微软雅黑" charset="0"/>
              </a:rPr>
              <a:t>模式</a:t>
            </a:r>
          </a:p>
          <a:p>
            <a:r>
              <a:rPr lang="en-US" altLang="zh-CN">
                <a:latin typeface="微软雅黑" charset="0"/>
                <a:ea typeface="微软雅黑" charset="0"/>
              </a:rPr>
              <a:t>bbl</a:t>
            </a:r>
            <a:r>
              <a:rPr lang="zh-CN" altLang="en-US">
                <a:latin typeface="微软雅黑" charset="0"/>
                <a:ea typeface="微软雅黑" charset="0"/>
              </a:rPr>
              <a:t>将</a:t>
            </a:r>
            <a:r>
              <a:rPr lang="en-US" altLang="zh-CN">
                <a:latin typeface="微软雅黑" charset="0"/>
                <a:ea typeface="微软雅黑" charset="0"/>
              </a:rPr>
              <a:t>PC</a:t>
            </a:r>
            <a:r>
              <a:rPr lang="zh-CN" altLang="en-US">
                <a:latin typeface="微软雅黑" charset="0"/>
                <a:ea typeface="微软雅黑" charset="0"/>
              </a:rPr>
              <a:t>转到</a:t>
            </a:r>
            <a:r>
              <a:rPr lang="en-US" altLang="zh-CN">
                <a:latin typeface="微软雅黑" charset="0"/>
                <a:ea typeface="微软雅黑" charset="0"/>
              </a:rPr>
              <a:t>Linux</a:t>
            </a:r>
            <a:r>
              <a:rPr lang="zh-CN" altLang="en-US">
                <a:latin typeface="微软雅黑" charset="0"/>
                <a:ea typeface="微软雅黑" charset="0"/>
              </a:rPr>
              <a:t>入口</a:t>
            </a:r>
          </a:p>
          <a:p>
            <a:r>
              <a:rPr lang="en-US" altLang="zh-CN">
                <a:latin typeface="微软雅黑" charset="0"/>
                <a:ea typeface="微软雅黑" charset="0"/>
              </a:rPr>
              <a:t>Linux</a:t>
            </a:r>
            <a:r>
              <a:rPr lang="zh-CN" altLang="en-US">
                <a:latin typeface="微软雅黑" charset="0"/>
                <a:ea typeface="微软雅黑" charset="0"/>
              </a:rPr>
              <a:t>开始启动</a:t>
            </a:r>
          </a:p>
          <a:p>
            <a:endParaRPr lang="zh-CN" altLang="en-US"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charset="0"/>
                <a:ea typeface="微软雅黑" charset="0"/>
              </a:rPr>
              <a:t>内核启动时的准备工作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37855"/>
            <a:ext cx="10515600" cy="4639108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微软雅黑" charset="0"/>
                <a:ea typeface="微软雅黑" charset="0"/>
              </a:rPr>
              <a:t>以</a:t>
            </a:r>
            <a:r>
              <a:rPr lang="en-US" altLang="zh-CN" dirty="0" err="1">
                <a:latin typeface="微软雅黑" charset="0"/>
                <a:ea typeface="微软雅黑" charset="0"/>
              </a:rPr>
              <a:t>Chipyard</a:t>
            </a:r>
            <a:r>
              <a:rPr lang="en-US" altLang="zh-CN" dirty="0">
                <a:latin typeface="微软雅黑" charset="0"/>
                <a:ea typeface="微软雅黑" charset="0"/>
              </a:rPr>
              <a:t> SoC</a:t>
            </a:r>
            <a:r>
              <a:rPr lang="zh-CN" altLang="en-US" dirty="0">
                <a:latin typeface="微软雅黑" charset="0"/>
                <a:ea typeface="微软雅黑" charset="0"/>
              </a:rPr>
              <a:t>为例：</a:t>
            </a:r>
          </a:p>
          <a:p>
            <a:pPr marL="685800" lvl="1">
              <a:lnSpc>
                <a:spcPct val="120000"/>
              </a:lnSpc>
            </a:pPr>
            <a:r>
              <a:rPr lang="zh-CN" altLang="en-US" dirty="0">
                <a:latin typeface="微软雅黑" charset="0"/>
                <a:ea typeface="微软雅黑" charset="0"/>
              </a:rPr>
              <a:t>寄存器</a:t>
            </a:r>
            <a:r>
              <a:rPr lang="en-US" altLang="zh-CN" dirty="0">
                <a:latin typeface="微软雅黑" charset="0"/>
                <a:ea typeface="微软雅黑" charset="0"/>
              </a:rPr>
              <a:t>a0</a:t>
            </a:r>
            <a:r>
              <a:rPr lang="zh-CN" altLang="en-US" dirty="0">
                <a:latin typeface="微软雅黑" charset="0"/>
                <a:ea typeface="微软雅黑" charset="0"/>
              </a:rPr>
              <a:t>储存</a:t>
            </a:r>
            <a:r>
              <a:rPr lang="en-US" altLang="zh-CN" dirty="0" err="1">
                <a:latin typeface="微软雅黑" charset="0"/>
                <a:ea typeface="微软雅黑" charset="0"/>
              </a:rPr>
              <a:t>hartID</a:t>
            </a:r>
            <a:r>
              <a:rPr lang="zh-CN" altLang="en-US" dirty="0">
                <a:latin typeface="微软雅黑" charset="0"/>
                <a:ea typeface="微软雅黑" charset="0"/>
              </a:rPr>
              <a:t>，其值将被映射到</a:t>
            </a:r>
            <a:r>
              <a:rPr lang="en-US" altLang="zh-CN" dirty="0">
                <a:latin typeface="微软雅黑" charset="0"/>
                <a:ea typeface="微软雅黑" charset="0"/>
              </a:rPr>
              <a:t>Linux</a:t>
            </a:r>
            <a:r>
              <a:rPr lang="zh-CN" altLang="en-US" dirty="0">
                <a:latin typeface="微软雅黑" charset="0"/>
                <a:ea typeface="微软雅黑" charset="0"/>
              </a:rPr>
              <a:t>的</a:t>
            </a:r>
            <a:r>
              <a:rPr lang="en-US" altLang="zh-CN" dirty="0">
                <a:latin typeface="微软雅黑" charset="0"/>
                <a:ea typeface="微软雅黑" charset="0"/>
              </a:rPr>
              <a:t>CPU ID</a:t>
            </a:r>
          </a:p>
          <a:p>
            <a:pPr marL="685800" lvl="1">
              <a:lnSpc>
                <a:spcPct val="120000"/>
              </a:lnSpc>
            </a:pPr>
            <a:r>
              <a:rPr lang="zh-CN" altLang="en-US" dirty="0">
                <a:latin typeface="微软雅黑" charset="0"/>
                <a:ea typeface="微软雅黑" charset="0"/>
              </a:rPr>
              <a:t>寄存器</a:t>
            </a:r>
            <a:r>
              <a:rPr lang="en-US" altLang="zh-CN" dirty="0">
                <a:latin typeface="微软雅黑" charset="0"/>
                <a:ea typeface="微软雅黑" charset="0"/>
              </a:rPr>
              <a:t>a1</a:t>
            </a:r>
            <a:r>
              <a:rPr lang="zh-CN" altLang="en-US" dirty="0">
                <a:latin typeface="微软雅黑" charset="0"/>
                <a:ea typeface="微软雅黑" charset="0"/>
              </a:rPr>
              <a:t>储存指向设备树的地址</a:t>
            </a:r>
          </a:p>
          <a:p>
            <a:pPr marL="685800" lvl="1">
              <a:lnSpc>
                <a:spcPct val="120000"/>
              </a:lnSpc>
            </a:pPr>
            <a:r>
              <a:rPr lang="zh-CN" altLang="en-US" dirty="0">
                <a:latin typeface="微软雅黑" charset="0"/>
                <a:ea typeface="微软雅黑" charset="0"/>
              </a:rPr>
              <a:t>内核</a:t>
            </a:r>
            <a:r>
              <a:rPr lang="en-US" altLang="zh-CN" dirty="0">
                <a:latin typeface="微软雅黑" charset="0"/>
                <a:ea typeface="微软雅黑" charset="0"/>
              </a:rPr>
              <a:t>ELF</a:t>
            </a:r>
            <a:r>
              <a:rPr lang="zh-CN" altLang="en-US" dirty="0">
                <a:latin typeface="微软雅黑" charset="0"/>
                <a:ea typeface="微软雅黑" charset="0"/>
              </a:rPr>
              <a:t>执行映像完成加载</a:t>
            </a:r>
          </a:p>
          <a:p>
            <a:pPr marL="685800" lvl="1">
              <a:lnSpc>
                <a:spcPct val="120000"/>
              </a:lnSpc>
            </a:pPr>
            <a:r>
              <a:rPr lang="zh-CN" altLang="en-US" dirty="0">
                <a:latin typeface="微软雅黑" charset="0"/>
                <a:ea typeface="微软雅黑" charset="0"/>
              </a:rPr>
              <a:t>在内核入口函数</a:t>
            </a:r>
            <a:r>
              <a:rPr lang="en-US" altLang="zh-CN" dirty="0" err="1">
                <a:latin typeface="微软雅黑" charset="0"/>
                <a:ea typeface="微软雅黑" charset="0"/>
              </a:rPr>
              <a:t>start_kernel</a:t>
            </a:r>
            <a:r>
              <a:rPr lang="zh-CN" altLang="en-US" dirty="0">
                <a:latin typeface="微软雅黑" charset="0"/>
                <a:ea typeface="微软雅黑" charset="0"/>
              </a:rPr>
              <a:t>发生调用前，需要完成以下准备：</a:t>
            </a:r>
          </a:p>
          <a:p>
            <a:pPr marL="1143000" lvl="2">
              <a:lnSpc>
                <a:spcPct val="120000"/>
              </a:lnSpc>
            </a:pPr>
            <a:r>
              <a:rPr lang="zh-CN" altLang="en-US" dirty="0">
                <a:latin typeface="微软雅黑" charset="0"/>
                <a:ea typeface="微软雅黑" charset="0"/>
              </a:rPr>
              <a:t>完成对内存地址的划分，即划分内核空间和用户空间</a:t>
            </a:r>
          </a:p>
          <a:p>
            <a:pPr marL="1143000" lvl="2">
              <a:lnSpc>
                <a:spcPct val="120000"/>
              </a:lnSpc>
            </a:pPr>
            <a:r>
              <a:rPr lang="zh-CN" altLang="en-US" dirty="0">
                <a:latin typeface="微软雅黑" charset="0"/>
                <a:ea typeface="微软雅黑" charset="0"/>
              </a:rPr>
              <a:t>启动内存地址的分页映射</a:t>
            </a:r>
          </a:p>
          <a:p>
            <a:pPr marL="1143000" lvl="2">
              <a:lnSpc>
                <a:spcPct val="120000"/>
              </a:lnSpc>
            </a:pPr>
            <a:r>
              <a:rPr lang="zh-CN" altLang="en-US" dirty="0">
                <a:latin typeface="微软雅黑" charset="0"/>
                <a:ea typeface="微软雅黑" charset="0"/>
              </a:rPr>
              <a:t>建立</a:t>
            </a:r>
            <a:r>
              <a:rPr lang="en-US" altLang="zh-CN" dirty="0">
                <a:latin typeface="微软雅黑" charset="0"/>
                <a:ea typeface="微软雅黑" charset="0"/>
              </a:rPr>
              <a:t>C</a:t>
            </a:r>
            <a:r>
              <a:rPr lang="zh-CN" altLang="en-US" dirty="0">
                <a:latin typeface="微软雅黑" charset="0"/>
                <a:ea typeface="微软雅黑" charset="0"/>
              </a:rPr>
              <a:t>运行时环境，建立栈和全局指针</a:t>
            </a:r>
          </a:p>
          <a:p>
            <a:pPr marL="1143000" lvl="2">
              <a:lnSpc>
                <a:spcPct val="120000"/>
              </a:lnSpc>
            </a:pPr>
            <a:r>
              <a:rPr lang="zh-CN" altLang="en-US" dirty="0">
                <a:latin typeface="微软雅黑" charset="0"/>
                <a:ea typeface="微软雅黑" charset="0"/>
              </a:rPr>
              <a:t>设置处理启动早期异常的</a:t>
            </a:r>
            <a:r>
              <a:rPr lang="en-US" altLang="zh-CN" dirty="0">
                <a:latin typeface="微软雅黑" charset="0"/>
                <a:ea typeface="微软雅黑" charset="0"/>
              </a:rPr>
              <a:t>trap</a:t>
            </a:r>
            <a:r>
              <a:rPr lang="zh-CN" altLang="en-US" dirty="0">
                <a:latin typeface="微软雅黑" charset="0"/>
                <a:ea typeface="微软雅黑" charset="0"/>
              </a:rPr>
              <a:t>向量</a:t>
            </a:r>
          </a:p>
          <a:p>
            <a:pPr marL="685800" lvl="1">
              <a:lnSpc>
                <a:spcPct val="120000"/>
              </a:lnSpc>
            </a:pPr>
            <a:r>
              <a:rPr lang="zh-CN" altLang="en-US" dirty="0">
                <a:latin typeface="微软雅黑" charset="0"/>
                <a:ea typeface="微软雅黑" charset="0"/>
              </a:rPr>
              <a:t>完成上述准备后，系统调用</a:t>
            </a:r>
            <a:r>
              <a:rPr lang="en-US" altLang="zh-CN" dirty="0" err="1">
                <a:latin typeface="微软雅黑" charset="0"/>
                <a:ea typeface="微软雅黑" charset="0"/>
              </a:rPr>
              <a:t>start_kernel</a:t>
            </a:r>
            <a:r>
              <a:rPr lang="zh-CN" altLang="en-US" dirty="0">
                <a:latin typeface="微软雅黑" charset="0"/>
                <a:ea typeface="微软雅黑" charset="0"/>
              </a:rPr>
              <a:t>入口函数，启动</a:t>
            </a:r>
            <a:r>
              <a:rPr lang="en-US" altLang="zh-CN" dirty="0">
                <a:latin typeface="微软雅黑" charset="0"/>
                <a:ea typeface="微软雅黑" charset="0"/>
              </a:rPr>
              <a:t>Linux</a:t>
            </a:r>
            <a:r>
              <a:rPr lang="zh-CN" altLang="en-US" dirty="0">
                <a:latin typeface="微软雅黑" charset="0"/>
                <a:ea typeface="微软雅黑" charset="0"/>
              </a:rPr>
              <a:t>内核</a:t>
            </a:r>
          </a:p>
          <a:p>
            <a:pPr>
              <a:lnSpc>
                <a:spcPct val="120000"/>
              </a:lnSpc>
            </a:pPr>
            <a:endParaRPr lang="zh-CN" altLang="en-US" dirty="0"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>
                <a:latin typeface="微软雅黑" charset="0"/>
                <a:ea typeface="微软雅黑" charset="0"/>
              </a:rPr>
              <a:t>平头哥的实现方式：</a:t>
            </a:r>
            <a:r>
              <a:rPr lang="en-US" altLang="zh-CN" b="1">
                <a:latin typeface="微软雅黑" charset="0"/>
                <a:ea typeface="微软雅黑" charset="0"/>
              </a:rPr>
              <a:t>U</a:t>
            </a:r>
            <a:r>
              <a:rPr lang="zh-CN" altLang="en-US" b="1">
                <a:latin typeface="微软雅黑" charset="0"/>
                <a:ea typeface="微软雅黑" charset="0"/>
              </a:rPr>
              <a:t>-</a:t>
            </a:r>
            <a:r>
              <a:rPr lang="en-US" altLang="zh-CN" b="1">
                <a:latin typeface="微软雅黑" charset="0"/>
                <a:ea typeface="微软雅黑" charset="0"/>
              </a:rPr>
              <a:t>boot</a:t>
            </a:r>
            <a:endParaRPr lang="zh-CN" altLang="en-US" b="1">
              <a:latin typeface="微软雅黑" charset="0"/>
              <a:ea typeface="微软雅黑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3643" y="1823357"/>
            <a:ext cx="5660571" cy="4354286"/>
          </a:xfrm>
        </p:spPr>
        <p:txBody>
          <a:bodyPr/>
          <a:lstStyle/>
          <a:p>
            <a:r>
              <a:rPr lang="zh-CN" altLang="en-US" dirty="0">
                <a:latin typeface="微软雅黑" charset="0"/>
                <a:ea typeface="微软雅黑" charset="0"/>
              </a:rPr>
              <a:t>平头哥使用</a:t>
            </a:r>
            <a:r>
              <a:rPr lang="en-US" altLang="zh-CN" dirty="0">
                <a:latin typeface="微软雅黑" charset="0"/>
                <a:ea typeface="微软雅黑" charset="0"/>
              </a:rPr>
              <a:t>U</a:t>
            </a:r>
            <a:r>
              <a:rPr lang="zh-CN" altLang="en-US" dirty="0">
                <a:latin typeface="微软雅黑" charset="0"/>
                <a:ea typeface="微软雅黑" charset="0"/>
              </a:rPr>
              <a:t>-</a:t>
            </a:r>
            <a:r>
              <a:rPr lang="en-US" altLang="zh-CN" dirty="0">
                <a:latin typeface="微软雅黑" charset="0"/>
                <a:ea typeface="微软雅黑" charset="0"/>
              </a:rPr>
              <a:t>boot</a:t>
            </a:r>
            <a:r>
              <a:rPr lang="zh-CN" altLang="en-US" dirty="0">
                <a:latin typeface="微软雅黑" charset="0"/>
                <a:ea typeface="微软雅黑" charset="0"/>
              </a:rPr>
              <a:t>作为启动程序</a:t>
            </a:r>
          </a:p>
          <a:p>
            <a:pPr marL="685800" lvl="1"/>
            <a:r>
              <a:rPr lang="en-US" altLang="zh-CN" dirty="0" err="1">
                <a:latin typeface="微软雅黑" charset="0"/>
                <a:ea typeface="微软雅黑" charset="0"/>
              </a:rPr>
              <a:t>SoC</a:t>
            </a:r>
            <a:r>
              <a:rPr lang="zh-CN" altLang="en-US" dirty="0">
                <a:latin typeface="微软雅黑" charset="0"/>
                <a:ea typeface="微软雅黑" charset="0"/>
              </a:rPr>
              <a:t>中也嵌入了</a:t>
            </a:r>
            <a:r>
              <a:rPr lang="en-US" altLang="zh-CN" dirty="0">
                <a:latin typeface="微软雅黑" charset="0"/>
                <a:ea typeface="微软雅黑" charset="0"/>
              </a:rPr>
              <a:t>ROM</a:t>
            </a:r>
            <a:r>
              <a:rPr lang="zh-CN" altLang="en-US" dirty="0">
                <a:latin typeface="微软雅黑" charset="0"/>
                <a:ea typeface="微软雅黑" charset="0"/>
              </a:rPr>
              <a:t>，用于存储启动代码。</a:t>
            </a:r>
          </a:p>
          <a:p>
            <a:pPr marL="685800" lvl="1"/>
            <a:r>
              <a:rPr lang="zh-CN" altLang="en-US" dirty="0">
                <a:latin typeface="微软雅黑" charset="0"/>
                <a:ea typeface="微软雅黑" charset="0"/>
              </a:rPr>
              <a:t>上电时，</a:t>
            </a:r>
            <a:r>
              <a:rPr lang="en-US" altLang="zh-CN" dirty="0">
                <a:latin typeface="微软雅黑" charset="0"/>
                <a:ea typeface="微软雅黑" charset="0"/>
              </a:rPr>
              <a:t>ROM</a:t>
            </a:r>
            <a:r>
              <a:rPr lang="zh-CN" altLang="en-US" dirty="0">
                <a:latin typeface="微软雅黑" charset="0"/>
                <a:ea typeface="微软雅黑" charset="0"/>
              </a:rPr>
              <a:t>中的程序从外部介质（图中为</a:t>
            </a:r>
            <a:r>
              <a:rPr lang="en-US" altLang="zh-CN" dirty="0" err="1">
                <a:latin typeface="微软雅黑" charset="0"/>
                <a:ea typeface="微软雅黑" charset="0"/>
              </a:rPr>
              <a:t>emmc</a:t>
            </a:r>
            <a:r>
              <a:rPr lang="zh-CN" altLang="en-US" dirty="0">
                <a:latin typeface="微软雅黑" charset="0"/>
                <a:ea typeface="微软雅黑" charset="0"/>
              </a:rPr>
              <a:t>或</a:t>
            </a:r>
            <a:r>
              <a:rPr lang="en-US" altLang="zh-CN" dirty="0">
                <a:latin typeface="微软雅黑" charset="0"/>
                <a:ea typeface="微软雅黑" charset="0"/>
              </a:rPr>
              <a:t>flash</a:t>
            </a:r>
            <a:r>
              <a:rPr lang="zh-CN" altLang="en-US" dirty="0">
                <a:latin typeface="微软雅黑" charset="0"/>
                <a:ea typeface="微软雅黑" charset="0"/>
              </a:rPr>
              <a:t>）中将</a:t>
            </a:r>
            <a:r>
              <a:rPr lang="en-US" altLang="zh-CN" dirty="0">
                <a:latin typeface="微软雅黑" charset="0"/>
                <a:ea typeface="微软雅黑" charset="0"/>
              </a:rPr>
              <a:t>U</a:t>
            </a:r>
            <a:r>
              <a:rPr lang="zh-CN" altLang="en-US" dirty="0">
                <a:latin typeface="微软雅黑" charset="0"/>
                <a:ea typeface="微软雅黑" charset="0"/>
              </a:rPr>
              <a:t>-</a:t>
            </a:r>
            <a:r>
              <a:rPr lang="en-US" altLang="zh-CN" dirty="0">
                <a:latin typeface="微软雅黑" charset="0"/>
                <a:ea typeface="微软雅黑" charset="0"/>
              </a:rPr>
              <a:t>boot SPL</a:t>
            </a:r>
            <a:r>
              <a:rPr lang="zh-CN" altLang="en-US" dirty="0">
                <a:latin typeface="微软雅黑" charset="0"/>
                <a:ea typeface="微软雅黑" charset="0"/>
              </a:rPr>
              <a:t>读取到片上</a:t>
            </a:r>
            <a:r>
              <a:rPr lang="en-US" altLang="zh-CN" dirty="0">
                <a:latin typeface="微软雅黑" charset="0"/>
                <a:ea typeface="微软雅黑" charset="0"/>
              </a:rPr>
              <a:t>SRAM</a:t>
            </a:r>
            <a:r>
              <a:rPr lang="zh-CN" altLang="en-US" dirty="0">
                <a:latin typeface="微软雅黑" charset="0"/>
                <a:ea typeface="微软雅黑" charset="0"/>
              </a:rPr>
              <a:t>中</a:t>
            </a:r>
          </a:p>
          <a:p>
            <a:pPr marL="685800" lvl="1"/>
            <a:r>
              <a:rPr lang="en-US" altLang="zh-CN" dirty="0">
                <a:latin typeface="微软雅黑" charset="0"/>
                <a:ea typeface="微软雅黑" charset="0"/>
              </a:rPr>
              <a:t>U</a:t>
            </a:r>
            <a:r>
              <a:rPr lang="zh-CN" altLang="en-US" dirty="0">
                <a:latin typeface="微软雅黑" charset="0"/>
                <a:ea typeface="微软雅黑" charset="0"/>
              </a:rPr>
              <a:t>-</a:t>
            </a:r>
            <a:r>
              <a:rPr lang="en-US" altLang="zh-CN" dirty="0">
                <a:latin typeface="微软雅黑" charset="0"/>
                <a:ea typeface="微软雅黑" charset="0"/>
              </a:rPr>
              <a:t>boot</a:t>
            </a:r>
            <a:r>
              <a:rPr lang="zh-CN" altLang="en-US" dirty="0">
                <a:latin typeface="微软雅黑" charset="0"/>
                <a:ea typeface="微软雅黑" charset="0"/>
              </a:rPr>
              <a:t> </a:t>
            </a:r>
            <a:r>
              <a:rPr lang="en-US" altLang="zh-CN" dirty="0">
                <a:latin typeface="微软雅黑" charset="0"/>
                <a:ea typeface="微软雅黑" charset="0"/>
              </a:rPr>
              <a:t>SPL</a:t>
            </a:r>
            <a:r>
              <a:rPr lang="zh-CN" altLang="en-US" dirty="0">
                <a:latin typeface="微软雅黑" charset="0"/>
                <a:ea typeface="微软雅黑" charset="0"/>
              </a:rPr>
              <a:t>运行在系统启动的第一阶段，用于初始化</a:t>
            </a:r>
            <a:r>
              <a:rPr lang="en-US" altLang="zh-CN" dirty="0">
                <a:latin typeface="微软雅黑" charset="0"/>
                <a:ea typeface="微软雅黑" charset="0"/>
              </a:rPr>
              <a:t>DDR</a:t>
            </a:r>
            <a:r>
              <a:rPr lang="zh-CN" altLang="en-US" dirty="0">
                <a:latin typeface="微软雅黑" charset="0"/>
                <a:ea typeface="微软雅黑" charset="0"/>
              </a:rPr>
              <a:t>及各种外设。它可以从网络或者</a:t>
            </a:r>
            <a:r>
              <a:rPr lang="en-US" altLang="zh-CN" dirty="0">
                <a:latin typeface="微软雅黑" charset="0"/>
                <a:ea typeface="微软雅黑" charset="0"/>
              </a:rPr>
              <a:t>Flash</a:t>
            </a:r>
            <a:r>
              <a:rPr lang="zh-CN" altLang="en-US" dirty="0">
                <a:latin typeface="微软雅黑" charset="0"/>
                <a:ea typeface="微软雅黑" charset="0"/>
              </a:rPr>
              <a:t>上加载</a:t>
            </a:r>
            <a:r>
              <a:rPr lang="en-US" altLang="zh-CN" dirty="0">
                <a:latin typeface="微软雅黑" charset="0"/>
                <a:ea typeface="微软雅黑" charset="0"/>
              </a:rPr>
              <a:t>Linux</a:t>
            </a:r>
            <a:r>
              <a:rPr lang="zh-CN" altLang="en-US" dirty="0">
                <a:latin typeface="微软雅黑" charset="0"/>
                <a:ea typeface="微软雅黑" charset="0"/>
              </a:rPr>
              <a:t>内核映像到</a:t>
            </a:r>
            <a:r>
              <a:rPr lang="en-US" altLang="zh-CN" dirty="0">
                <a:latin typeface="微软雅黑" charset="0"/>
                <a:ea typeface="微软雅黑" charset="0"/>
              </a:rPr>
              <a:t>DDR</a:t>
            </a:r>
            <a:r>
              <a:rPr lang="zh-CN" altLang="en-US" dirty="0">
                <a:latin typeface="微软雅黑" charset="0"/>
                <a:ea typeface="微软雅黑" charset="0"/>
              </a:rPr>
              <a:t>中，并完成内核启动的引导。</a:t>
            </a:r>
          </a:p>
          <a:p>
            <a:endParaRPr lang="zh-CN" altLang="en-US" dirty="0">
              <a:latin typeface="微软雅黑" charset="0"/>
              <a:ea typeface="微软雅黑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6932" y="2554432"/>
            <a:ext cx="4433455" cy="375804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charset="0"/>
                <a:ea typeface="微软雅黑" charset="0"/>
              </a:rPr>
              <a:t>Buildroot</a:t>
            </a:r>
            <a:r>
              <a:rPr lang="zh-CN" altLang="en-US" dirty="0">
                <a:latin typeface="微软雅黑" charset="0"/>
                <a:ea typeface="微软雅黑" charset="0"/>
              </a:rPr>
              <a:t>介绍</a:t>
            </a:r>
            <a:endParaRPr lang="en-US" altLang="zh-CN" dirty="0">
              <a:latin typeface="微软雅黑" charset="0"/>
              <a:ea typeface="微软雅黑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微软雅黑" charset="0"/>
                <a:ea typeface="微软雅黑" charset="0"/>
              </a:rPr>
              <a:t>Buildroot是Linux平台上一个构建嵌入式Linux系统的框架。你可以通过buildroot配置，编译出一个完整的可以直接烧写到机器上运行的Linux系统软件(包含boot、kernel、rootfs以及rootfs中的各种库和应用程序)。</a:t>
            </a:r>
          </a:p>
          <a:p>
            <a:r>
              <a:rPr lang="zh-CN" altLang="en-US" dirty="0">
                <a:latin typeface="微软雅黑" charset="0"/>
                <a:ea typeface="微软雅黑" charset="0"/>
              </a:rPr>
              <a:t>也可以仅利用</a:t>
            </a:r>
            <a:r>
              <a:rPr lang="en-US" altLang="zh-CN" dirty="0">
                <a:latin typeface="微软雅黑" charset="0"/>
                <a:ea typeface="微软雅黑" charset="0"/>
              </a:rPr>
              <a:t>Bootroot</a:t>
            </a:r>
            <a:r>
              <a:rPr lang="zh-CN" altLang="en-US" dirty="0">
                <a:latin typeface="微软雅黑" charset="0"/>
                <a:ea typeface="微软雅黑" charset="0"/>
              </a:rPr>
              <a:t>来制作</a:t>
            </a:r>
            <a:r>
              <a:rPr lang="en-US" altLang="zh-CN" dirty="0">
                <a:latin typeface="微软雅黑" charset="0"/>
                <a:ea typeface="微软雅黑" charset="0"/>
              </a:rPr>
              <a:t>rootfs</a:t>
            </a:r>
            <a:r>
              <a:rPr lang="zh-CN" altLang="en-US" dirty="0">
                <a:latin typeface="微软雅黑" charset="0"/>
                <a:ea typeface="微软雅黑" charset="0"/>
              </a:rPr>
              <a:t>（根文件系统，</a:t>
            </a:r>
            <a:r>
              <a:rPr lang="en-US" altLang="zh-CN" dirty="0">
                <a:latin typeface="微软雅黑" charset="0"/>
                <a:ea typeface="微软雅黑" charset="0"/>
              </a:rPr>
              <a:t>Linux</a:t>
            </a:r>
            <a:r>
              <a:rPr lang="zh-CN" altLang="en-US" dirty="0">
                <a:latin typeface="微软雅黑" charset="0"/>
                <a:ea typeface="微软雅黑" charset="0"/>
              </a:rPr>
              <a:t>启动过程中挂载的第一个文件系统），其它的部分单独来生成。</a:t>
            </a:r>
            <a:endParaRPr lang="en-US" altLang="zh-CN" dirty="0"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charset="0"/>
                <a:ea typeface="微软雅黑" charset="0"/>
              </a:rPr>
              <a:t>二、</a:t>
            </a:r>
            <a:r>
              <a:rPr lang="zh-CN" altLang="zh-CN" dirty="0">
                <a:latin typeface="微软雅黑" charset="0"/>
                <a:ea typeface="微软雅黑" charset="0"/>
              </a:rPr>
              <a:t>在</a:t>
            </a:r>
            <a:r>
              <a:rPr lang="en-US" altLang="zh-CN" dirty="0">
                <a:latin typeface="微软雅黑" charset="0"/>
                <a:ea typeface="微软雅黑" charset="0"/>
              </a:rPr>
              <a:t>RISC-V QEMU</a:t>
            </a:r>
            <a:r>
              <a:rPr lang="zh-CN" altLang="zh-CN" dirty="0">
                <a:latin typeface="微软雅黑" charset="0"/>
                <a:ea typeface="微软雅黑" charset="0"/>
              </a:rPr>
              <a:t>上运行</a:t>
            </a:r>
            <a:r>
              <a:rPr lang="en-US" altLang="zh-CN" dirty="0">
                <a:latin typeface="微软雅黑" charset="0"/>
                <a:ea typeface="微软雅黑" charset="0"/>
              </a:rPr>
              <a:t>Linux</a:t>
            </a:r>
            <a:r>
              <a:rPr lang="zh-CN" altLang="zh-CN" dirty="0">
                <a:latin typeface="微软雅黑" charset="0"/>
                <a:ea typeface="微软雅黑" charset="0"/>
              </a:rPr>
              <a:t>系统</a:t>
            </a:r>
            <a:endParaRPr lang="en-US" altLang="zh-CN" dirty="0">
              <a:latin typeface="微软雅黑" charset="0"/>
              <a:ea typeface="微软雅黑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charset="0"/>
                <a:ea typeface="微软雅黑" charset="0"/>
              </a:rPr>
              <a:t>下载</a:t>
            </a:r>
            <a:r>
              <a:rPr lang="en-US" altLang="zh-CN" dirty="0" err="1">
                <a:latin typeface="微软雅黑" charset="0"/>
                <a:ea typeface="微软雅黑" charset="0"/>
              </a:rPr>
              <a:t>Buildroot</a:t>
            </a:r>
            <a:endParaRPr lang="en-US" altLang="zh-CN" dirty="0"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r>
              <a:rPr lang="en-US" altLang="zh-CN" sz="2600" dirty="0">
                <a:latin typeface="Consolas" panose="020B0609020204030204" pitchFamily="49" charset="0"/>
                <a:ea typeface="Consolas" panose="020B0609020204030204" pitchFamily="49" charset="0"/>
              </a:rPr>
              <a:t>	</a:t>
            </a:r>
            <a:r>
              <a:rPr lang="en-US" altLang="zh-CN" sz="2400" dirty="0">
                <a:latin typeface="Consolas" panose="020B0609020204030204" pitchFamily="49" charset="0"/>
                <a:ea typeface="Consolas" panose="020B0609020204030204" pitchFamily="49" charset="0"/>
              </a:rPr>
              <a:t>$ </a:t>
            </a:r>
            <a:r>
              <a:rPr lang="en-US" altLang="zh-CN" sz="2400" dirty="0" err="1">
                <a:latin typeface="Consolas" panose="020B0609020204030204" pitchFamily="49" charset="0"/>
                <a:ea typeface="Consolas" panose="020B0609020204030204" pitchFamily="49" charset="0"/>
              </a:rPr>
              <a:t>git</a:t>
            </a:r>
            <a:r>
              <a:rPr lang="en-US" altLang="zh-CN" sz="2400" dirty="0">
                <a:latin typeface="Consolas" panose="020B0609020204030204" pitchFamily="49" charset="0"/>
                <a:ea typeface="Consolas" panose="020B0609020204030204" pitchFamily="49" charset="0"/>
              </a:rPr>
              <a:t> clone https://github.com/buildroot/buildroot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  <a:ea typeface="Consolas" panose="020B0609020204030204" pitchFamily="49" charset="0"/>
              </a:rPr>
              <a:t>	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  <a:ea typeface="Consolas" panose="020B0609020204030204" pitchFamily="49" charset="0"/>
              </a:rPr>
              <a:t>	$ </a:t>
            </a:r>
            <a:r>
              <a:rPr lang="en-US" altLang="zh-CN" sz="2400" dirty="0" err="1">
                <a:latin typeface="Consolas" panose="020B0609020204030204" pitchFamily="49" charset="0"/>
                <a:ea typeface="Consolas" panose="020B0609020204030204" pitchFamily="49" charset="0"/>
              </a:rPr>
              <a:t>git</a:t>
            </a:r>
            <a:r>
              <a:rPr lang="en-US" altLang="zh-CN" sz="2400" dirty="0">
                <a:latin typeface="Consolas" panose="020B0609020204030204" pitchFamily="49" charset="0"/>
                <a:ea typeface="Consolas" panose="020B0609020204030204" pitchFamily="49" charset="0"/>
              </a:rPr>
              <a:t> clone https://gitlab.com/c-sky/buildroot.git</a:t>
            </a:r>
            <a:endParaRPr lang="zh-CN" altLang="zh-CN" sz="2400" dirty="0">
              <a:latin typeface="微软雅黑" charset="0"/>
              <a:ea typeface="微软雅黑" charset="0"/>
            </a:endParaRPr>
          </a:p>
          <a:p>
            <a:r>
              <a:rPr lang="zh-CN" altLang="en-US" dirty="0">
                <a:latin typeface="微软雅黑" charset="0"/>
                <a:ea typeface="微软雅黑" charset="0"/>
              </a:rPr>
              <a:t>使用默认配置</a:t>
            </a:r>
            <a:endParaRPr lang="zh-CN" altLang="zh-CN" dirty="0"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  <a:ea typeface="Consolas" panose="020B0609020204030204" pitchFamily="49" charset="0"/>
              </a:rPr>
              <a:t>	$ make qemu_riscv64_virt_defconfig</a:t>
            </a:r>
          </a:p>
          <a:p>
            <a:pPr marL="0" indent="0">
              <a:buNone/>
            </a:pPr>
            <a:endParaRPr lang="en-US" altLang="zh-CN" sz="2400" dirty="0">
              <a:latin typeface="Consolas" panose="020B0609020204030204" pitchFamily="49" charset="0"/>
              <a:ea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  <a:ea typeface="Consolas" panose="020B0609020204030204" pitchFamily="49" charset="0"/>
              </a:rPr>
              <a:t>	$ make</a:t>
            </a:r>
            <a:endParaRPr lang="zh-CN" altLang="zh-CN" sz="2400" dirty="0"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endParaRPr lang="en-US" altLang="zh-CN" dirty="0"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charset="0"/>
                <a:ea typeface="微软雅黑" charset="0"/>
              </a:rPr>
              <a:t>二、</a:t>
            </a:r>
            <a:r>
              <a:rPr lang="zh-CN" altLang="zh-CN" dirty="0">
                <a:latin typeface="微软雅黑" charset="0"/>
                <a:ea typeface="微软雅黑" charset="0"/>
              </a:rPr>
              <a:t>在</a:t>
            </a:r>
            <a:r>
              <a:rPr lang="en-US" altLang="zh-CN" dirty="0">
                <a:latin typeface="微软雅黑" charset="0"/>
                <a:ea typeface="微软雅黑" charset="0"/>
              </a:rPr>
              <a:t>RISC-V QEMU</a:t>
            </a:r>
            <a:r>
              <a:rPr lang="zh-CN" altLang="zh-CN" dirty="0">
                <a:latin typeface="微软雅黑" charset="0"/>
                <a:ea typeface="微软雅黑" charset="0"/>
              </a:rPr>
              <a:t>上运行</a:t>
            </a:r>
            <a:r>
              <a:rPr lang="en-US" altLang="zh-CN" dirty="0">
                <a:latin typeface="微软雅黑" charset="0"/>
                <a:ea typeface="微软雅黑" charset="0"/>
              </a:rPr>
              <a:t>Linux</a:t>
            </a:r>
            <a:r>
              <a:rPr lang="zh-CN" altLang="zh-CN" dirty="0">
                <a:latin typeface="微软雅黑" charset="0"/>
                <a:ea typeface="微软雅黑" charset="0"/>
              </a:rPr>
              <a:t>系统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err="1">
                <a:latin typeface="微软雅黑" charset="0"/>
                <a:ea typeface="微软雅黑" charset="0"/>
              </a:rPr>
              <a:t>Buildroot</a:t>
            </a:r>
            <a:r>
              <a:rPr lang="zh-CN" altLang="en-US" dirty="0">
                <a:latin typeface="微软雅黑" charset="0"/>
                <a:ea typeface="微软雅黑" charset="0"/>
              </a:rPr>
              <a:t>的图形化配置页面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600" dirty="0">
                <a:latin typeface="Consolas" panose="020B0609020204030204" pitchFamily="49" charset="0"/>
              </a:rPr>
              <a:t>	</a:t>
            </a:r>
            <a:r>
              <a:rPr lang="en-US" altLang="zh-CN" sz="2400" dirty="0">
                <a:latin typeface="Consolas" panose="020B0609020204030204" pitchFamily="49" charset="0"/>
              </a:rPr>
              <a:t>$ make </a:t>
            </a:r>
            <a:r>
              <a:rPr lang="en-US" altLang="zh-CN" sz="2400" dirty="0" err="1">
                <a:latin typeface="Consolas" panose="020B0609020204030204" pitchFamily="49" charset="0"/>
              </a:rPr>
              <a:t>menuconfig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</a:t>
            </a:r>
            <a:endParaRPr lang="en-US" altLang="zh-CN" dirty="0"/>
          </a:p>
          <a:p>
            <a:pPr marL="0" indent="0">
              <a:buNone/>
            </a:pPr>
            <a:endParaRPr lang="en-US" altLang="zh-CN" sz="2400" dirty="0">
              <a:latin typeface="Consolas" panose="020B0609020204030204" pitchFamily="49" charset="0"/>
            </a:endParaRPr>
          </a:p>
        </p:txBody>
      </p:sp>
      <p:pic>
        <p:nvPicPr>
          <p:cNvPr id="4" name="图片 3" descr="E:\FDU\Lab\毕业设计\专栏\1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3661" y="2798144"/>
            <a:ext cx="6672374" cy="3513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charset="0"/>
                <a:ea typeface="微软雅黑" charset="0"/>
              </a:rPr>
              <a:t>二、</a:t>
            </a:r>
            <a:r>
              <a:rPr lang="zh-CN" altLang="zh-CN" dirty="0">
                <a:latin typeface="微软雅黑" charset="0"/>
                <a:ea typeface="微软雅黑" charset="0"/>
              </a:rPr>
              <a:t>在</a:t>
            </a:r>
            <a:r>
              <a:rPr lang="en-US" altLang="zh-CN" dirty="0">
                <a:latin typeface="微软雅黑" charset="0"/>
                <a:ea typeface="微软雅黑" charset="0"/>
              </a:rPr>
              <a:t>RISC-V QEMU</a:t>
            </a:r>
            <a:r>
              <a:rPr lang="zh-CN" altLang="zh-CN" dirty="0">
                <a:latin typeface="微软雅黑" charset="0"/>
                <a:ea typeface="微软雅黑" charset="0"/>
              </a:rPr>
              <a:t>上运行</a:t>
            </a:r>
            <a:r>
              <a:rPr lang="en-US" altLang="zh-CN" dirty="0">
                <a:latin typeface="微软雅黑" charset="0"/>
                <a:ea typeface="微软雅黑" charset="0"/>
              </a:rPr>
              <a:t>Linux</a:t>
            </a:r>
            <a:r>
              <a:rPr lang="zh-CN" altLang="zh-CN" dirty="0">
                <a:latin typeface="微软雅黑" charset="0"/>
                <a:ea typeface="微软雅黑" charset="0"/>
              </a:rPr>
              <a:t>系统</a:t>
            </a:r>
            <a:endParaRPr lang="en-US" altLang="zh-CN" dirty="0">
              <a:latin typeface="微软雅黑" charset="0"/>
              <a:ea typeface="微软雅黑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 err="1">
                <a:latin typeface="微软雅黑" charset="0"/>
                <a:ea typeface="微软雅黑" charset="0"/>
              </a:rPr>
              <a:t>Buildroot</a:t>
            </a:r>
            <a:r>
              <a:rPr lang="zh-CN" altLang="en-US" sz="3600" dirty="0">
                <a:latin typeface="微软雅黑" charset="0"/>
                <a:ea typeface="微软雅黑" charset="0"/>
              </a:rPr>
              <a:t>的图形化配置页面</a:t>
            </a:r>
            <a:endParaRPr lang="en-US" altLang="zh-CN" sz="3600" dirty="0">
              <a:latin typeface="微软雅黑" charset="0"/>
              <a:ea typeface="微软雅黑" charset="0"/>
            </a:endParaRPr>
          </a:p>
          <a:p>
            <a:pPr lvl="1"/>
            <a:r>
              <a:rPr lang="en-US" altLang="zh-CN" sz="2800" dirty="0">
                <a:latin typeface="微软雅黑" charset="0"/>
                <a:ea typeface="微软雅黑" charset="0"/>
              </a:rPr>
              <a:t>Target Options</a:t>
            </a:r>
          </a:p>
          <a:p>
            <a:pPr lvl="1"/>
            <a:r>
              <a:rPr lang="en-US" altLang="zh-CN" sz="2800" dirty="0">
                <a:latin typeface="微软雅黑" charset="0"/>
                <a:ea typeface="微软雅黑" charset="0"/>
              </a:rPr>
              <a:t>Toolchain</a:t>
            </a:r>
          </a:p>
          <a:p>
            <a:pPr lvl="1"/>
            <a:r>
              <a:rPr lang="en-US" altLang="zh-CN" sz="2800" dirty="0">
                <a:latin typeface="微软雅黑" charset="0"/>
                <a:ea typeface="微软雅黑" charset="0"/>
              </a:rPr>
              <a:t>Kernel</a:t>
            </a:r>
          </a:p>
          <a:p>
            <a:pPr lvl="1"/>
            <a:r>
              <a:rPr lang="en-US" altLang="zh-CN" sz="2800" dirty="0" err="1">
                <a:latin typeface="微软雅黑" charset="0"/>
                <a:ea typeface="微软雅黑" charset="0"/>
              </a:rPr>
              <a:t>Filesystem</a:t>
            </a:r>
            <a:r>
              <a:rPr lang="en-US" altLang="zh-CN" sz="2800" dirty="0">
                <a:latin typeface="微软雅黑" charset="0"/>
                <a:ea typeface="微软雅黑" charset="0"/>
              </a:rPr>
              <a:t> images</a:t>
            </a:r>
          </a:p>
          <a:p>
            <a:pPr lvl="1"/>
            <a:r>
              <a:rPr lang="en-US" altLang="zh-CN" sz="2800" dirty="0">
                <a:latin typeface="微软雅黑" charset="0"/>
                <a:ea typeface="微软雅黑" charset="0"/>
              </a:rPr>
              <a:t>Target Packages</a:t>
            </a:r>
          </a:p>
          <a:p>
            <a:pPr lvl="1"/>
            <a:r>
              <a:rPr lang="zh-CN" altLang="en-US" sz="2800" dirty="0">
                <a:latin typeface="微软雅黑" charset="0"/>
                <a:ea typeface="微软雅黑" charset="0"/>
              </a:rPr>
              <a:t>其他</a:t>
            </a:r>
            <a:r>
              <a:rPr lang="en-US" altLang="zh-CN" sz="2800" dirty="0">
                <a:latin typeface="微软雅黑" charset="0"/>
                <a:ea typeface="微软雅黑" charset="0"/>
              </a:rPr>
              <a:t>	</a:t>
            </a:r>
            <a:endParaRPr lang="en-US" altLang="zh-CN" sz="3200" dirty="0"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endParaRPr lang="en-US" altLang="zh-CN" sz="2400" dirty="0"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charset="0"/>
                <a:ea typeface="微软雅黑" charset="0"/>
              </a:rPr>
              <a:t>二、</a:t>
            </a:r>
            <a:r>
              <a:rPr lang="zh-CN" altLang="zh-CN" dirty="0">
                <a:latin typeface="微软雅黑" charset="0"/>
                <a:ea typeface="微软雅黑" charset="0"/>
              </a:rPr>
              <a:t>在</a:t>
            </a:r>
            <a:r>
              <a:rPr lang="en-US" altLang="zh-CN" dirty="0">
                <a:latin typeface="微软雅黑" charset="0"/>
                <a:ea typeface="微软雅黑" charset="0"/>
              </a:rPr>
              <a:t>RISC-V QEMU</a:t>
            </a:r>
            <a:r>
              <a:rPr lang="zh-CN" altLang="zh-CN" dirty="0">
                <a:latin typeface="微软雅黑" charset="0"/>
                <a:ea typeface="微软雅黑" charset="0"/>
              </a:rPr>
              <a:t>上运行</a:t>
            </a:r>
            <a:r>
              <a:rPr lang="en-US" altLang="zh-CN" dirty="0">
                <a:latin typeface="微软雅黑" charset="0"/>
                <a:ea typeface="微软雅黑" charset="0"/>
              </a:rPr>
              <a:t>Linux</a:t>
            </a:r>
            <a:r>
              <a:rPr lang="zh-CN" altLang="zh-CN" dirty="0">
                <a:latin typeface="微软雅黑" charset="0"/>
                <a:ea typeface="微软雅黑" charset="0"/>
              </a:rPr>
              <a:t>系统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charset="0"/>
                <a:ea typeface="微软雅黑" charset="0"/>
              </a:rPr>
              <a:t>使用</a:t>
            </a:r>
            <a:r>
              <a:rPr lang="en-US" altLang="zh-CN" dirty="0" err="1">
                <a:latin typeface="微软雅黑" charset="0"/>
                <a:ea typeface="微软雅黑" charset="0"/>
              </a:rPr>
              <a:t>Buildroot</a:t>
            </a:r>
            <a:r>
              <a:rPr lang="zh-CN" altLang="en-US" dirty="0">
                <a:latin typeface="微软雅黑" charset="0"/>
                <a:ea typeface="微软雅黑" charset="0"/>
              </a:rPr>
              <a:t>启动</a:t>
            </a:r>
            <a:r>
              <a:rPr lang="en-US" altLang="zh-CN" dirty="0">
                <a:latin typeface="微软雅黑" charset="0"/>
                <a:ea typeface="微软雅黑" charset="0"/>
              </a:rPr>
              <a:t>Linux</a:t>
            </a:r>
            <a:r>
              <a:rPr lang="zh-CN" altLang="en-US" dirty="0">
                <a:latin typeface="微软雅黑" charset="0"/>
                <a:ea typeface="微软雅黑" charset="0"/>
              </a:rPr>
              <a:t>镜像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$ qemu-system-riscv64 \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-M </a:t>
            </a:r>
            <a:r>
              <a:rPr lang="en-US" altLang="zh-CN" sz="2400" dirty="0" err="1">
                <a:latin typeface="Consolas" panose="020B0609020204030204" pitchFamily="49" charset="0"/>
              </a:rPr>
              <a:t>virt</a:t>
            </a:r>
            <a:r>
              <a:rPr lang="en-US" altLang="zh-CN" sz="2400" dirty="0">
                <a:latin typeface="Consolas" panose="020B0609020204030204" pitchFamily="49" charset="0"/>
              </a:rPr>
              <a:t> -</a:t>
            </a:r>
            <a:r>
              <a:rPr lang="en-US" altLang="zh-CN" sz="2400" dirty="0" err="1">
                <a:latin typeface="Consolas" panose="020B0609020204030204" pitchFamily="49" charset="0"/>
              </a:rPr>
              <a:t>nographic</a:t>
            </a:r>
            <a:r>
              <a:rPr lang="en-US" altLang="zh-CN" sz="2400" dirty="0">
                <a:latin typeface="Consolas" panose="020B0609020204030204" pitchFamily="49" charset="0"/>
              </a:rPr>
              <a:t> \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-bios output/images/</a:t>
            </a:r>
            <a:r>
              <a:rPr lang="en-US" altLang="zh-CN" sz="2400" dirty="0" err="1">
                <a:latin typeface="Consolas" panose="020B0609020204030204" pitchFamily="49" charset="0"/>
              </a:rPr>
              <a:t>fw_jump.elf</a:t>
            </a:r>
            <a:r>
              <a:rPr lang="en-US" altLang="zh-CN" sz="2400" dirty="0">
                <a:latin typeface="Consolas" panose="020B0609020204030204" pitchFamily="49" charset="0"/>
              </a:rPr>
              <a:t> \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-kernel output/images/Image \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-append "root=/dev/</a:t>
            </a:r>
            <a:r>
              <a:rPr lang="en-US" altLang="zh-CN" sz="2400" dirty="0" err="1">
                <a:latin typeface="Consolas" panose="020B0609020204030204" pitchFamily="49" charset="0"/>
              </a:rPr>
              <a:t>vda</a:t>
            </a:r>
            <a:r>
              <a:rPr lang="en-US" altLang="zh-CN" sz="2400" dirty="0"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latin typeface="Consolas" panose="020B0609020204030204" pitchFamily="49" charset="0"/>
              </a:rPr>
              <a:t>ro</a:t>
            </a:r>
            <a:r>
              <a:rPr lang="en-US" altLang="zh-CN" sz="2400" dirty="0">
                <a:latin typeface="Consolas" panose="020B0609020204030204" pitchFamily="49" charset="0"/>
              </a:rPr>
              <a:t>" \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-drive file=output/images/rootfs.ext2,format=</a:t>
            </a:r>
            <a:r>
              <a:rPr lang="en-US" altLang="zh-CN" sz="2400" dirty="0" err="1">
                <a:latin typeface="Consolas" panose="020B0609020204030204" pitchFamily="49" charset="0"/>
              </a:rPr>
              <a:t>raw,id</a:t>
            </a:r>
            <a:r>
              <a:rPr lang="en-US" altLang="zh-CN" sz="2400" dirty="0">
                <a:latin typeface="Consolas" panose="020B0609020204030204" pitchFamily="49" charset="0"/>
              </a:rPr>
              <a:t>=hd0 \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-device </a:t>
            </a:r>
            <a:r>
              <a:rPr lang="en-US" altLang="zh-CN" sz="2400" dirty="0" err="1">
                <a:latin typeface="Consolas" panose="020B0609020204030204" pitchFamily="49" charset="0"/>
              </a:rPr>
              <a:t>virtio-blk-device,drive</a:t>
            </a:r>
            <a:r>
              <a:rPr lang="en-US" altLang="zh-CN" sz="2400" dirty="0">
                <a:latin typeface="Consolas" panose="020B0609020204030204" pitchFamily="49" charset="0"/>
              </a:rPr>
              <a:t>=hd0 \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-</a:t>
            </a:r>
            <a:r>
              <a:rPr lang="en-US" altLang="zh-CN" sz="2400" dirty="0" err="1">
                <a:latin typeface="Consolas" panose="020B0609020204030204" pitchFamily="49" charset="0"/>
              </a:rPr>
              <a:t>netdev</a:t>
            </a:r>
            <a:r>
              <a:rPr lang="en-US" altLang="zh-CN" sz="2400" dirty="0"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latin typeface="Consolas" panose="020B0609020204030204" pitchFamily="49" charset="0"/>
              </a:rPr>
              <a:t>user,id</a:t>
            </a:r>
            <a:r>
              <a:rPr lang="en-US" altLang="zh-CN" sz="2400" dirty="0">
                <a:latin typeface="Consolas" panose="020B0609020204030204" pitchFamily="49" charset="0"/>
              </a:rPr>
              <a:t>=net0 -device </a:t>
            </a:r>
            <a:r>
              <a:rPr lang="en-US" altLang="zh-CN" sz="2400" dirty="0" err="1">
                <a:latin typeface="Consolas" panose="020B0609020204030204" pitchFamily="49" charset="0"/>
              </a:rPr>
              <a:t>virtio</a:t>
            </a:r>
            <a:r>
              <a:rPr lang="en-US" altLang="zh-CN" sz="2400" dirty="0">
                <a:latin typeface="Consolas" panose="020B0609020204030204" pitchFamily="49" charset="0"/>
              </a:rPr>
              <a:t>-net-</a:t>
            </a:r>
            <a:r>
              <a:rPr lang="en-US" altLang="zh-CN" sz="2400" dirty="0" err="1">
                <a:latin typeface="Consolas" panose="020B0609020204030204" pitchFamily="49" charset="0"/>
              </a:rPr>
              <a:t>device,netdev</a:t>
            </a:r>
            <a:r>
              <a:rPr lang="en-US" altLang="zh-CN" sz="2400" dirty="0">
                <a:latin typeface="Consolas" panose="020B0609020204030204" pitchFamily="49" charset="0"/>
              </a:rPr>
              <a:t>=net0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sz="24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charset="0"/>
                <a:ea typeface="微软雅黑" charset="0"/>
              </a:rPr>
              <a:t>二、</a:t>
            </a:r>
            <a:r>
              <a:rPr lang="zh-CN" altLang="zh-CN" dirty="0">
                <a:latin typeface="微软雅黑" charset="0"/>
                <a:ea typeface="微软雅黑" charset="0"/>
              </a:rPr>
              <a:t>在</a:t>
            </a:r>
            <a:r>
              <a:rPr lang="en-US" altLang="zh-CN" dirty="0">
                <a:latin typeface="微软雅黑" charset="0"/>
                <a:ea typeface="微软雅黑" charset="0"/>
              </a:rPr>
              <a:t>RISC-V QEMU</a:t>
            </a:r>
            <a:r>
              <a:rPr lang="zh-CN" altLang="zh-CN" dirty="0">
                <a:latin typeface="微软雅黑" charset="0"/>
                <a:ea typeface="微软雅黑" charset="0"/>
              </a:rPr>
              <a:t>上运行</a:t>
            </a:r>
            <a:r>
              <a:rPr lang="en-US" altLang="zh-CN" dirty="0">
                <a:latin typeface="微软雅黑" charset="0"/>
                <a:ea typeface="微软雅黑" charset="0"/>
              </a:rPr>
              <a:t>Linux</a:t>
            </a:r>
            <a:r>
              <a:rPr lang="zh-CN" altLang="zh-CN" dirty="0">
                <a:latin typeface="微软雅黑" charset="0"/>
                <a:ea typeface="微软雅黑" charset="0"/>
              </a:rPr>
              <a:t>系统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charset="0"/>
                <a:ea typeface="微软雅黑" charset="0"/>
              </a:rPr>
              <a:t>使用平头哥</a:t>
            </a:r>
            <a:r>
              <a:rPr lang="en-US" altLang="zh-CN" dirty="0" err="1">
                <a:latin typeface="微软雅黑" charset="0"/>
                <a:ea typeface="微软雅黑" charset="0"/>
              </a:rPr>
              <a:t>Buildroot</a:t>
            </a:r>
            <a:r>
              <a:rPr lang="zh-CN" altLang="en-US" dirty="0">
                <a:latin typeface="微软雅黑" charset="0"/>
                <a:ea typeface="微软雅黑" charset="0"/>
              </a:rPr>
              <a:t>配置</a:t>
            </a:r>
            <a:r>
              <a:rPr lang="en-US" altLang="zh-CN" dirty="0">
                <a:latin typeface="微软雅黑" charset="0"/>
                <a:ea typeface="微软雅黑" charset="0"/>
              </a:rPr>
              <a:t>Linux</a:t>
            </a:r>
            <a:r>
              <a:rPr lang="zh-CN" altLang="en-US" dirty="0">
                <a:latin typeface="微软雅黑" charset="0"/>
                <a:ea typeface="微软雅黑" charset="0"/>
              </a:rPr>
              <a:t>系统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$ </a:t>
            </a:r>
            <a:r>
              <a:rPr lang="en-US" altLang="zh-CN" sz="2400" dirty="0" err="1">
                <a:latin typeface="Consolas" panose="020B0609020204030204" pitchFamily="49" charset="0"/>
              </a:rPr>
              <a:t>git</a:t>
            </a:r>
            <a:r>
              <a:rPr lang="en-US" altLang="zh-CN" sz="2400" dirty="0">
                <a:latin typeface="Consolas" panose="020B0609020204030204" pitchFamily="49" charset="0"/>
              </a:rPr>
              <a:t> clone https://gitlab.com/c-sky/buildroot.git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$ cd </a:t>
            </a:r>
            <a:r>
              <a:rPr lang="en-US" altLang="zh-CN" sz="2400" dirty="0" err="1">
                <a:latin typeface="Consolas" panose="020B0609020204030204" pitchFamily="49" charset="0"/>
              </a:rPr>
              <a:t>buildroot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$ </a:t>
            </a:r>
            <a:r>
              <a:rPr lang="en-US" altLang="zh-CN" sz="2400" dirty="0" err="1">
                <a:latin typeface="Consolas" panose="020B0609020204030204" pitchFamily="49" charset="0"/>
              </a:rPr>
              <a:t>git</a:t>
            </a:r>
            <a:r>
              <a:rPr lang="en-US" altLang="zh-CN" sz="2400" dirty="0">
                <a:latin typeface="Consolas" panose="020B0609020204030204" pitchFamily="49" charset="0"/>
              </a:rPr>
              <a:t> checkout f648fe073e0f7c8f66140c76a13ffa984ae45300</a:t>
            </a:r>
          </a:p>
          <a:p>
            <a:pPr marL="0" indent="0">
              <a:buNone/>
            </a:pPr>
            <a:endParaRPr lang="en-US" altLang="zh-CN" sz="24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charset="0"/>
                <a:ea typeface="微软雅黑" charset="0"/>
              </a:rPr>
              <a:t>二、</a:t>
            </a:r>
            <a:r>
              <a:rPr lang="zh-CN" altLang="zh-CN" dirty="0">
                <a:latin typeface="微软雅黑" charset="0"/>
                <a:ea typeface="微软雅黑" charset="0"/>
              </a:rPr>
              <a:t>在</a:t>
            </a:r>
            <a:r>
              <a:rPr lang="en-US" altLang="zh-CN" dirty="0">
                <a:latin typeface="微软雅黑" charset="0"/>
                <a:ea typeface="微软雅黑" charset="0"/>
              </a:rPr>
              <a:t>RISC-V QEMU</a:t>
            </a:r>
            <a:r>
              <a:rPr lang="zh-CN" altLang="zh-CN" dirty="0">
                <a:latin typeface="微软雅黑" charset="0"/>
                <a:ea typeface="微软雅黑" charset="0"/>
              </a:rPr>
              <a:t>上运行</a:t>
            </a:r>
            <a:r>
              <a:rPr lang="en-US" altLang="zh-CN" dirty="0">
                <a:latin typeface="微软雅黑" charset="0"/>
                <a:ea typeface="微软雅黑" charset="0"/>
              </a:rPr>
              <a:t>Linux</a:t>
            </a:r>
            <a:r>
              <a:rPr lang="zh-CN" altLang="zh-CN" dirty="0">
                <a:latin typeface="微软雅黑" charset="0"/>
                <a:ea typeface="微软雅黑" charset="0"/>
              </a:rPr>
              <a:t>系统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>
                <a:latin typeface="微软雅黑" charset="0"/>
                <a:ea typeface="微软雅黑" charset="0"/>
              </a:rPr>
              <a:t>使用平头哥</a:t>
            </a:r>
            <a:r>
              <a:rPr lang="en-US" altLang="zh-CN" sz="3600" dirty="0" err="1">
                <a:latin typeface="微软雅黑" charset="0"/>
                <a:ea typeface="微软雅黑" charset="0"/>
              </a:rPr>
              <a:t>Buildroot</a:t>
            </a:r>
            <a:r>
              <a:rPr lang="zh-CN" altLang="en-US" sz="3600" dirty="0">
                <a:latin typeface="微软雅黑" charset="0"/>
                <a:ea typeface="微软雅黑" charset="0"/>
              </a:rPr>
              <a:t>配置</a:t>
            </a:r>
            <a:r>
              <a:rPr lang="en-US" altLang="zh-CN" sz="3600" dirty="0">
                <a:latin typeface="微软雅黑" charset="0"/>
                <a:ea typeface="微软雅黑" charset="0"/>
              </a:rPr>
              <a:t>Linux</a:t>
            </a:r>
            <a:r>
              <a:rPr lang="zh-CN" altLang="en-US" sz="3600" dirty="0">
                <a:latin typeface="微软雅黑" charset="0"/>
                <a:ea typeface="微软雅黑" charset="0"/>
              </a:rPr>
              <a:t>系统</a:t>
            </a:r>
            <a:endParaRPr lang="en-US" altLang="zh-CN" sz="3600" dirty="0">
              <a:latin typeface="微软雅黑" charset="0"/>
              <a:ea typeface="微软雅黑" charset="0"/>
            </a:endParaRPr>
          </a:p>
          <a:p>
            <a:pPr lvl="1"/>
            <a:r>
              <a:rPr lang="zh-CN" altLang="en-US" sz="2800" dirty="0">
                <a:latin typeface="微软雅黑" charset="0"/>
                <a:ea typeface="微软雅黑" charset="0"/>
              </a:rPr>
              <a:t>既可以使用平头哥已经制作完成的二进制文件，也可以下载源码后自行配置和编译。</a:t>
            </a:r>
            <a:endParaRPr lang="en-US" altLang="zh-CN" sz="2800" dirty="0">
              <a:latin typeface="微软雅黑" charset="0"/>
              <a:ea typeface="微软雅黑" charset="0"/>
            </a:endParaRPr>
          </a:p>
          <a:p>
            <a:pPr lvl="1"/>
            <a:r>
              <a:rPr lang="zh-CN" altLang="en-US" sz="2800" dirty="0">
                <a:latin typeface="微软雅黑" charset="0"/>
                <a:ea typeface="微软雅黑" charset="0"/>
              </a:rPr>
              <a:t>由于命令都比较长，详细的过程见讲义。或者参考以下链接中的说明：</a:t>
            </a:r>
            <a:endParaRPr lang="en-US" altLang="zh-CN" sz="2800" dirty="0">
              <a:latin typeface="微软雅黑" charset="0"/>
              <a:ea typeface="微软雅黑" charset="0"/>
            </a:endParaRPr>
          </a:p>
          <a:p>
            <a:pPr marL="457200" lvl="1" indent="0">
              <a:buNone/>
            </a:pPr>
            <a:r>
              <a:rPr lang="en-US" altLang="zh-CN" dirty="0">
                <a:latin typeface="微软雅黑" charset="0"/>
                <a:ea typeface="微软雅黑" charset="0"/>
              </a:rPr>
              <a:t>	https://c-sky.gitlab.io/-/buildroot/-/jobs/602671113/artifacts/output/images/readme.txt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1131</TotalTime>
  <Words>1587</Words>
  <Application>Microsoft Office PowerPoint</Application>
  <PresentationFormat>宽屏</PresentationFormat>
  <Paragraphs>195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39" baseType="lpstr">
      <vt:lpstr>等线</vt:lpstr>
      <vt:lpstr>等线 Light</vt:lpstr>
      <vt:lpstr>Microsoft YaHei</vt:lpstr>
      <vt:lpstr>Microsoft YaHei</vt:lpstr>
      <vt:lpstr>Arial</vt:lpstr>
      <vt:lpstr>Consolas</vt:lpstr>
      <vt:lpstr>Times New Roman</vt:lpstr>
      <vt:lpstr>Wingdings</vt:lpstr>
      <vt:lpstr>webwppDefTheme</vt:lpstr>
      <vt:lpstr>Office 主题​​</vt:lpstr>
      <vt:lpstr>QEMU运行裸机程序 与Linux系统并调试</vt:lpstr>
      <vt:lpstr>目录</vt:lpstr>
      <vt:lpstr>一、QEMU运行裸机程序并调试</vt:lpstr>
      <vt:lpstr>一、QEMU运行裸机程序并调试</vt:lpstr>
      <vt:lpstr>一、QEMU运行裸机程序并调试</vt:lpstr>
      <vt:lpstr>一、QEMU运行裸机程序并调试</vt:lpstr>
      <vt:lpstr>一、QEMU运行裸机程序并调试</vt:lpstr>
      <vt:lpstr>一、QEMU运行裸机程序并调试</vt:lpstr>
      <vt:lpstr>一、QEMU运行裸机程序并调试</vt:lpstr>
      <vt:lpstr>一、QEMU运行裸机程序并调试</vt:lpstr>
      <vt:lpstr>一、QEMU运行裸机程序并调试</vt:lpstr>
      <vt:lpstr>一、QEMU运行裸机程序并调试</vt:lpstr>
      <vt:lpstr>二、在RISC-V QEMU上运行Linux系统</vt:lpstr>
      <vt:lpstr>PowerPoint 演示文稿</vt:lpstr>
      <vt:lpstr>Linux内核如何感知与操纵硬件</vt:lpstr>
      <vt:lpstr>Linux内核如何感知与操纵硬件</vt:lpstr>
      <vt:lpstr>内核启动前：bootloader</vt:lpstr>
      <vt:lpstr>内核启动前：BootROM</vt:lpstr>
      <vt:lpstr>BootROM加载bootloader的方式</vt:lpstr>
      <vt:lpstr>内核启动前：启动bbl</vt:lpstr>
      <vt:lpstr>内核启动时的准备工作</vt:lpstr>
      <vt:lpstr>平头哥的实现方式：U-boot</vt:lpstr>
      <vt:lpstr>Buildroot介绍</vt:lpstr>
      <vt:lpstr>二、在RISC-V QEMU上运行Linux系统</vt:lpstr>
      <vt:lpstr>二、在RISC-V QEMU上运行Linux系统</vt:lpstr>
      <vt:lpstr>二、在RISC-V QEMU上运行Linux系统</vt:lpstr>
      <vt:lpstr>二、在RISC-V QEMU上运行Linux系统</vt:lpstr>
      <vt:lpstr>二、在RISC-V QEMU上运行Linux系统</vt:lpstr>
      <vt:lpstr>二、在RISC-V QEMU上运行Linux系统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QEMU运行裸机程序 与Linux系统并调试</dc:title>
  <dc:creator>刘 旭东</dc:creator>
  <cp:lastModifiedBy>Dell-5820X</cp:lastModifiedBy>
  <cp:revision>14</cp:revision>
  <dcterms:created xsi:type="dcterms:W3CDTF">2020-10-27T04:10:53Z</dcterms:created>
  <dcterms:modified xsi:type="dcterms:W3CDTF">2020-10-28T04:35:50Z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</Properties>
</file>