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9" r:id="rId6"/>
    <p:sldId id="260" r:id="rId7"/>
    <p:sldId id="261" r:id="rId8"/>
    <p:sldId id="268" r:id="rId9"/>
    <p:sldId id="270" r:id="rId10"/>
    <p:sldId id="271" r:id="rId11"/>
    <p:sldId id="272" r:id="rId12"/>
    <p:sldId id="275"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8" d="100"/>
          <a:sy n="158" d="100"/>
        </p:scale>
        <p:origin x="378"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379ea384f285cb02" providerId="LiveId" clId="{0EC3FDEE-61B9-4018-AE34-C0BFE9313A07}"/>
    <pc:docChg chg="undo redo custSel addSld delSld modSld">
      <pc:chgData name="" userId="379ea384f285cb02" providerId="LiveId" clId="{0EC3FDEE-61B9-4018-AE34-C0BFE9313A07}" dt="2020-10-06T02:43:04.958" v="528" actId="20577"/>
      <pc:docMkLst>
        <pc:docMk/>
      </pc:docMkLst>
      <pc:sldChg chg="modSp">
        <pc:chgData name="" userId="379ea384f285cb02" providerId="LiveId" clId="{0EC3FDEE-61B9-4018-AE34-C0BFE9313A07}" dt="2020-09-20T11:28:04.381" v="23" actId="27636"/>
        <pc:sldMkLst>
          <pc:docMk/>
          <pc:sldMk cId="2166918094" sldId="260"/>
        </pc:sldMkLst>
        <pc:spChg chg="mod">
          <ac:chgData name="" userId="379ea384f285cb02" providerId="LiveId" clId="{0EC3FDEE-61B9-4018-AE34-C0BFE9313A07}" dt="2020-09-20T11:28:04.381" v="23" actId="27636"/>
          <ac:spMkLst>
            <pc:docMk/>
            <pc:sldMk cId="2166918094" sldId="260"/>
            <ac:spMk id="3" creationId="{AADFB13E-222A-4E0F-B03B-8FA8988803BE}"/>
          </ac:spMkLst>
        </pc:spChg>
      </pc:sldChg>
      <pc:sldChg chg="modSp">
        <pc:chgData name="" userId="379ea384f285cb02" providerId="LiveId" clId="{0EC3FDEE-61B9-4018-AE34-C0BFE9313A07}" dt="2020-09-20T11:31:49.909" v="118" actId="27636"/>
        <pc:sldMkLst>
          <pc:docMk/>
          <pc:sldMk cId="3424702308" sldId="261"/>
        </pc:sldMkLst>
        <pc:spChg chg="mod">
          <ac:chgData name="" userId="379ea384f285cb02" providerId="LiveId" clId="{0EC3FDEE-61B9-4018-AE34-C0BFE9313A07}" dt="2020-09-20T11:31:49.909" v="118" actId="27636"/>
          <ac:spMkLst>
            <pc:docMk/>
            <pc:sldMk cId="3424702308" sldId="261"/>
            <ac:spMk id="3" creationId="{BC04D387-40A4-4FF8-A270-CDB15541ABCF}"/>
          </ac:spMkLst>
        </pc:spChg>
      </pc:sldChg>
      <pc:sldChg chg="modSp">
        <pc:chgData name="" userId="379ea384f285cb02" providerId="LiveId" clId="{0EC3FDEE-61B9-4018-AE34-C0BFE9313A07}" dt="2020-09-22T04:26:23.341" v="149" actId="20577"/>
        <pc:sldMkLst>
          <pc:docMk/>
          <pc:sldMk cId="2461901889" sldId="266"/>
        </pc:sldMkLst>
        <pc:spChg chg="mod">
          <ac:chgData name="" userId="379ea384f285cb02" providerId="LiveId" clId="{0EC3FDEE-61B9-4018-AE34-C0BFE9313A07}" dt="2020-09-22T04:26:23.341" v="149" actId="20577"/>
          <ac:spMkLst>
            <pc:docMk/>
            <pc:sldMk cId="2461901889" sldId="266"/>
            <ac:spMk id="3" creationId="{F0EDDB92-6CEB-4A1E-AEDD-244D72DF1575}"/>
          </ac:spMkLst>
        </pc:spChg>
      </pc:sldChg>
      <pc:sldChg chg="modSp add">
        <pc:chgData name="" userId="379ea384f285cb02" providerId="LiveId" clId="{0EC3FDEE-61B9-4018-AE34-C0BFE9313A07}" dt="2020-09-20T11:32:44.324" v="129"/>
        <pc:sldMkLst>
          <pc:docMk/>
          <pc:sldMk cId="3734309493" sldId="268"/>
        </pc:sldMkLst>
        <pc:spChg chg="mod">
          <ac:chgData name="" userId="379ea384f285cb02" providerId="LiveId" clId="{0EC3FDEE-61B9-4018-AE34-C0BFE9313A07}" dt="2020-09-20T11:31:30.848" v="113"/>
          <ac:spMkLst>
            <pc:docMk/>
            <pc:sldMk cId="3734309493" sldId="268"/>
            <ac:spMk id="2" creationId="{DEDCB056-1174-4958-BF5F-42C78611FEF6}"/>
          </ac:spMkLst>
        </pc:spChg>
        <pc:spChg chg="mod">
          <ac:chgData name="" userId="379ea384f285cb02" providerId="LiveId" clId="{0EC3FDEE-61B9-4018-AE34-C0BFE9313A07}" dt="2020-09-20T11:32:44.324" v="129"/>
          <ac:spMkLst>
            <pc:docMk/>
            <pc:sldMk cId="3734309493" sldId="268"/>
            <ac:spMk id="3" creationId="{1529A5DF-1C3C-4B79-927C-85586A2B09A5}"/>
          </ac:spMkLst>
        </pc:spChg>
      </pc:sldChg>
      <pc:sldChg chg="addSp modSp add">
        <pc:chgData name="" userId="379ea384f285cb02" providerId="LiveId" clId="{0EC3FDEE-61B9-4018-AE34-C0BFE9313A07}" dt="2020-10-06T02:43:04.958" v="528" actId="20577"/>
        <pc:sldMkLst>
          <pc:docMk/>
          <pc:sldMk cId="3421468969" sldId="269"/>
        </pc:sldMkLst>
        <pc:spChg chg="mod">
          <ac:chgData name="" userId="379ea384f285cb02" providerId="LiveId" clId="{0EC3FDEE-61B9-4018-AE34-C0BFE9313A07}" dt="2020-10-06T02:22:30.815" v="153"/>
          <ac:spMkLst>
            <pc:docMk/>
            <pc:sldMk cId="3421468969" sldId="269"/>
            <ac:spMk id="2" creationId="{DC491245-2439-410D-B64D-3C410FA83E59}"/>
          </ac:spMkLst>
        </pc:spChg>
        <pc:spChg chg="mod">
          <ac:chgData name="" userId="379ea384f285cb02" providerId="LiveId" clId="{0EC3FDEE-61B9-4018-AE34-C0BFE9313A07}" dt="2020-10-06T02:43:04.958" v="528" actId="20577"/>
          <ac:spMkLst>
            <pc:docMk/>
            <pc:sldMk cId="3421468969" sldId="269"/>
            <ac:spMk id="3" creationId="{2ADA310F-9164-40EB-99F5-CD7D04083715}"/>
          </ac:spMkLst>
        </pc:spChg>
        <pc:picChg chg="add mod">
          <ac:chgData name="" userId="379ea384f285cb02" providerId="LiveId" clId="{0EC3FDEE-61B9-4018-AE34-C0BFE9313A07}" dt="2020-10-06T02:40:59.303" v="481" actId="1076"/>
          <ac:picMkLst>
            <pc:docMk/>
            <pc:sldMk cId="3421468969" sldId="269"/>
            <ac:picMk id="5" creationId="{4BB2FEA5-42CD-4EFF-9F24-AE62A129E863}"/>
          </ac:picMkLst>
        </pc:picChg>
      </pc:sldChg>
    </pc:docChg>
  </pc:docChgLst>
  <pc:docChgLst>
    <pc:chgData userId="379ea384f285cb02" providerId="LiveId" clId="{FD5AA48C-9882-4F07-AA2E-649FF35632CB}"/>
    <pc:docChg chg="undo custSel delSld modSld">
      <pc:chgData name="" userId="379ea384f285cb02" providerId="LiveId" clId="{FD5AA48C-9882-4F07-AA2E-649FF35632CB}" dt="2020-12-03T13:08:17.173" v="46" actId="14100"/>
      <pc:docMkLst>
        <pc:docMk/>
      </pc:docMkLst>
      <pc:sldChg chg="modSp">
        <pc:chgData name="" userId="379ea384f285cb02" providerId="LiveId" clId="{FD5AA48C-9882-4F07-AA2E-649FF35632CB}" dt="2020-12-03T13:04:36.239" v="19" actId="20577"/>
        <pc:sldMkLst>
          <pc:docMk/>
          <pc:sldMk cId="2664364042" sldId="257"/>
        </pc:sldMkLst>
        <pc:spChg chg="mod">
          <ac:chgData name="" userId="379ea384f285cb02" providerId="LiveId" clId="{FD5AA48C-9882-4F07-AA2E-649FF35632CB}" dt="2020-12-03T13:04:36.239" v="19" actId="20577"/>
          <ac:spMkLst>
            <pc:docMk/>
            <pc:sldMk cId="2664364042" sldId="257"/>
            <ac:spMk id="3" creationId="{6DB062EB-4D6C-4FC2-A565-4C780D04ED89}"/>
          </ac:spMkLst>
        </pc:spChg>
      </pc:sldChg>
      <pc:sldChg chg="modSp">
        <pc:chgData name="" userId="379ea384f285cb02" providerId="LiveId" clId="{FD5AA48C-9882-4F07-AA2E-649FF35632CB}" dt="2020-12-03T13:02:25.685" v="1"/>
        <pc:sldMkLst>
          <pc:docMk/>
          <pc:sldMk cId="3424702308" sldId="261"/>
        </pc:sldMkLst>
        <pc:spChg chg="mod">
          <ac:chgData name="" userId="379ea384f285cb02" providerId="LiveId" clId="{FD5AA48C-9882-4F07-AA2E-649FF35632CB}" dt="2020-12-03T13:02:25.685" v="1"/>
          <ac:spMkLst>
            <pc:docMk/>
            <pc:sldMk cId="3424702308" sldId="261"/>
            <ac:spMk id="3" creationId="{BC04D387-40A4-4FF8-A270-CDB15541ABCF}"/>
          </ac:spMkLst>
        </pc:spChg>
      </pc:sldChg>
      <pc:sldChg chg="modSp">
        <pc:chgData name="" userId="379ea384f285cb02" providerId="LiveId" clId="{FD5AA48C-9882-4F07-AA2E-649FF35632CB}" dt="2020-12-03T13:08:17.173" v="46" actId="14100"/>
        <pc:sldMkLst>
          <pc:docMk/>
          <pc:sldMk cId="91714952" sldId="263"/>
        </pc:sldMkLst>
        <pc:spChg chg="mod">
          <ac:chgData name="" userId="379ea384f285cb02" providerId="LiveId" clId="{FD5AA48C-9882-4F07-AA2E-649FF35632CB}" dt="2020-12-03T13:08:17.173" v="46" actId="14100"/>
          <ac:spMkLst>
            <pc:docMk/>
            <pc:sldMk cId="91714952" sldId="263"/>
            <ac:spMk id="3" creationId="{9A80A5BE-832F-481F-84B2-78DF9AA311F3}"/>
          </ac:spMkLst>
        </pc:spChg>
      </pc:sldChg>
      <pc:sldChg chg="modSp">
        <pc:chgData name="" userId="379ea384f285cb02" providerId="LiveId" clId="{FD5AA48C-9882-4F07-AA2E-649FF35632CB}" dt="2020-12-03T13:05:55.974" v="29" actId="14100"/>
        <pc:sldMkLst>
          <pc:docMk/>
          <pc:sldMk cId="272494024" sldId="264"/>
        </pc:sldMkLst>
        <pc:spChg chg="mod">
          <ac:chgData name="" userId="379ea384f285cb02" providerId="LiveId" clId="{FD5AA48C-9882-4F07-AA2E-649FF35632CB}" dt="2020-12-03T13:05:55.974" v="29" actId="14100"/>
          <ac:spMkLst>
            <pc:docMk/>
            <pc:sldMk cId="272494024" sldId="264"/>
            <ac:spMk id="3" creationId="{062A9248-9986-4340-A8C8-1CBC85035BFC}"/>
          </ac:spMkLst>
        </pc:spChg>
      </pc:sldChg>
      <pc:sldChg chg="modSp">
        <pc:chgData name="" userId="379ea384f285cb02" providerId="LiveId" clId="{FD5AA48C-9882-4F07-AA2E-649FF35632CB}" dt="2020-12-03T13:06:56.147" v="40" actId="20577"/>
        <pc:sldMkLst>
          <pc:docMk/>
          <pc:sldMk cId="2461901889" sldId="266"/>
        </pc:sldMkLst>
        <pc:spChg chg="mod">
          <ac:chgData name="" userId="379ea384f285cb02" providerId="LiveId" clId="{FD5AA48C-9882-4F07-AA2E-649FF35632CB}" dt="2020-12-03T13:06:56.147" v="40" actId="20577"/>
          <ac:spMkLst>
            <pc:docMk/>
            <pc:sldMk cId="2461901889" sldId="266"/>
            <ac:spMk id="3" creationId="{F0EDDB92-6CEB-4A1E-AEDD-244D72DF1575}"/>
          </ac:spMkLst>
        </pc:spChg>
      </pc:sldChg>
      <pc:sldChg chg="del">
        <pc:chgData name="" userId="379ea384f285cb02" providerId="LiveId" clId="{FD5AA48C-9882-4F07-AA2E-649FF35632CB}" dt="2020-12-03T13:04:42.427" v="20" actId="2696"/>
        <pc:sldMkLst>
          <pc:docMk/>
          <pc:sldMk cId="1912933779" sldId="267"/>
        </pc:sldMkLst>
      </pc:sldChg>
      <pc:sldChg chg="modSp">
        <pc:chgData name="" userId="379ea384f285cb02" providerId="LiveId" clId="{FD5AA48C-9882-4F07-AA2E-649FF35632CB}" dt="2020-12-03T13:04:02.388" v="18" actId="20577"/>
        <pc:sldMkLst>
          <pc:docMk/>
          <pc:sldMk cId="3421468969" sldId="269"/>
        </pc:sldMkLst>
        <pc:spChg chg="mod">
          <ac:chgData name="" userId="379ea384f285cb02" providerId="LiveId" clId="{FD5AA48C-9882-4F07-AA2E-649FF35632CB}" dt="2020-12-03T13:04:02.388" v="18" actId="20577"/>
          <ac:spMkLst>
            <pc:docMk/>
            <pc:sldMk cId="3421468969" sldId="269"/>
            <ac:spMk id="3" creationId="{2ADA310F-9164-40EB-99F5-CD7D0408371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1CC6ECBE-9AB3-4B91-B1E6-DDB4BB245D94}" type="datetimeFigureOut">
              <a:rPr lang="zh-CN" altLang="en-US" smtClean="0"/>
              <a:pPr/>
              <a:t>2026/5/10</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805FC3AE-E595-4581-908E-393C21FE071D}" type="slidenum">
              <a:rPr lang="zh-CN" altLang="en-US" smtClean="0"/>
              <a:pPr/>
              <a:t>‹#›</a:t>
            </a:fld>
            <a:endParaRPr lang="zh-CN" altLang="en-US" dirty="0"/>
          </a:p>
        </p:txBody>
      </p:sp>
    </p:spTree>
    <p:extLst>
      <p:ext uri="{BB962C8B-B14F-4D97-AF65-F5344CB8AC3E}">
        <p14:creationId xmlns:p14="http://schemas.microsoft.com/office/powerpoint/2010/main" val="1904091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1F5F8D-D2B1-45E9-AB97-EE61701623B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A260FAA-2B69-4247-A450-AA58E9C18E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0A11B31-75E8-48EB-AFEE-F581DC264D32}"/>
              </a:ext>
            </a:extLst>
          </p:cNvPr>
          <p:cNvSpPr>
            <a:spLocks noGrp="1"/>
          </p:cNvSpPr>
          <p:nvPr>
            <p:ph type="dt" sz="half" idx="10"/>
          </p:nvPr>
        </p:nvSpPr>
        <p:spPr/>
        <p:txBody>
          <a:bodyPr/>
          <a:lstStyle/>
          <a:p>
            <a:fld id="{5F621813-1F97-4069-A3F0-B418F9E25071}" type="datetimeFigureOut">
              <a:rPr lang="zh-CN" altLang="en-US" smtClean="0"/>
              <a:t>2026/5/10</a:t>
            </a:fld>
            <a:endParaRPr lang="zh-CN" altLang="en-US"/>
          </a:p>
        </p:txBody>
      </p:sp>
      <p:sp>
        <p:nvSpPr>
          <p:cNvPr id="5" name="页脚占位符 4">
            <a:extLst>
              <a:ext uri="{FF2B5EF4-FFF2-40B4-BE49-F238E27FC236}">
                <a16:creationId xmlns:a16="http://schemas.microsoft.com/office/drawing/2014/main" id="{51BC7193-9420-414F-B6E9-F23E68BFCA5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D430057-7861-4EE1-A43A-E07CCF2A0610}"/>
              </a:ext>
            </a:extLst>
          </p:cNvPr>
          <p:cNvSpPr>
            <a:spLocks noGrp="1"/>
          </p:cNvSpPr>
          <p:nvPr>
            <p:ph type="sldNum" sz="quarter" idx="12"/>
          </p:nvPr>
        </p:nvSpPr>
        <p:spPr/>
        <p:txBody>
          <a:bodyPr/>
          <a:lstStyle/>
          <a:p>
            <a:fld id="{C87C10BF-A228-4EA2-98B7-2C3C40BC099C}" type="slidenum">
              <a:rPr lang="zh-CN" altLang="en-US" smtClean="0"/>
              <a:t>‹#›</a:t>
            </a:fld>
            <a:endParaRPr lang="zh-CN" altLang="en-US"/>
          </a:p>
        </p:txBody>
      </p:sp>
    </p:spTree>
    <p:extLst>
      <p:ext uri="{BB962C8B-B14F-4D97-AF65-F5344CB8AC3E}">
        <p14:creationId xmlns:p14="http://schemas.microsoft.com/office/powerpoint/2010/main" val="319151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1871B0-85B1-49BD-80D6-BCEA420D7EA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86D0467-7A42-4EA5-BE6F-1C2B770D7CAB}"/>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72BB1963-F93E-476D-BA06-2388A8DFDDC9}"/>
              </a:ext>
            </a:extLst>
          </p:cNvPr>
          <p:cNvSpPr>
            <a:spLocks noGrp="1"/>
          </p:cNvSpPr>
          <p:nvPr>
            <p:ph type="dt" sz="half" idx="10"/>
          </p:nvPr>
        </p:nvSpPr>
        <p:spPr/>
        <p:txBody>
          <a:bodyPr/>
          <a:lstStyle/>
          <a:p>
            <a:fld id="{5F621813-1F97-4069-A3F0-B418F9E25071}" type="datetimeFigureOut">
              <a:rPr lang="zh-CN" altLang="en-US" smtClean="0"/>
              <a:t>2026/5/10</a:t>
            </a:fld>
            <a:endParaRPr lang="zh-CN" altLang="en-US"/>
          </a:p>
        </p:txBody>
      </p:sp>
      <p:sp>
        <p:nvSpPr>
          <p:cNvPr id="5" name="页脚占位符 4">
            <a:extLst>
              <a:ext uri="{FF2B5EF4-FFF2-40B4-BE49-F238E27FC236}">
                <a16:creationId xmlns:a16="http://schemas.microsoft.com/office/drawing/2014/main" id="{16355117-635E-4B2C-81C2-6D3AC0F74B2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952084E-5E06-4D7C-B9C7-BCCC6752C004}"/>
              </a:ext>
            </a:extLst>
          </p:cNvPr>
          <p:cNvSpPr>
            <a:spLocks noGrp="1"/>
          </p:cNvSpPr>
          <p:nvPr>
            <p:ph type="sldNum" sz="quarter" idx="12"/>
          </p:nvPr>
        </p:nvSpPr>
        <p:spPr/>
        <p:txBody>
          <a:bodyPr/>
          <a:lstStyle/>
          <a:p>
            <a:fld id="{C87C10BF-A228-4EA2-98B7-2C3C40BC099C}" type="slidenum">
              <a:rPr lang="zh-CN" altLang="en-US" smtClean="0"/>
              <a:t>‹#›</a:t>
            </a:fld>
            <a:endParaRPr lang="zh-CN" altLang="en-US"/>
          </a:p>
        </p:txBody>
      </p:sp>
    </p:spTree>
    <p:extLst>
      <p:ext uri="{BB962C8B-B14F-4D97-AF65-F5344CB8AC3E}">
        <p14:creationId xmlns:p14="http://schemas.microsoft.com/office/powerpoint/2010/main" val="4154224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74AAE7-D9F7-4EFA-B778-111EA23B70D1}"/>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8F5B73D-3C62-4F66-B390-DE35973CE6C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F09FB1ED-AD86-4073-9ED1-92120E50AE5C}"/>
              </a:ext>
            </a:extLst>
          </p:cNvPr>
          <p:cNvSpPr>
            <a:spLocks noGrp="1"/>
          </p:cNvSpPr>
          <p:nvPr>
            <p:ph type="dt" sz="half" idx="10"/>
          </p:nvPr>
        </p:nvSpPr>
        <p:spPr/>
        <p:txBody>
          <a:bodyPr/>
          <a:lstStyle/>
          <a:p>
            <a:fld id="{5F621813-1F97-4069-A3F0-B418F9E25071}" type="datetimeFigureOut">
              <a:rPr lang="zh-CN" altLang="en-US" smtClean="0"/>
              <a:t>2026/5/10</a:t>
            </a:fld>
            <a:endParaRPr lang="zh-CN" altLang="en-US"/>
          </a:p>
        </p:txBody>
      </p:sp>
      <p:sp>
        <p:nvSpPr>
          <p:cNvPr id="5" name="页脚占位符 4">
            <a:extLst>
              <a:ext uri="{FF2B5EF4-FFF2-40B4-BE49-F238E27FC236}">
                <a16:creationId xmlns:a16="http://schemas.microsoft.com/office/drawing/2014/main" id="{9A1377BA-C6EC-4DC8-89E6-5141F7445BD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73579A0-F385-45DA-9148-8D9F0C2E82E1}"/>
              </a:ext>
            </a:extLst>
          </p:cNvPr>
          <p:cNvSpPr>
            <a:spLocks noGrp="1"/>
          </p:cNvSpPr>
          <p:nvPr>
            <p:ph type="sldNum" sz="quarter" idx="12"/>
          </p:nvPr>
        </p:nvSpPr>
        <p:spPr/>
        <p:txBody>
          <a:bodyPr/>
          <a:lstStyle/>
          <a:p>
            <a:fld id="{C87C10BF-A228-4EA2-98B7-2C3C40BC099C}" type="slidenum">
              <a:rPr lang="zh-CN" altLang="en-US" smtClean="0"/>
              <a:t>‹#›</a:t>
            </a:fld>
            <a:endParaRPr lang="zh-CN" altLang="en-US"/>
          </a:p>
        </p:txBody>
      </p:sp>
    </p:spTree>
    <p:extLst>
      <p:ext uri="{BB962C8B-B14F-4D97-AF65-F5344CB8AC3E}">
        <p14:creationId xmlns:p14="http://schemas.microsoft.com/office/powerpoint/2010/main" val="4175272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B14D35-CA17-4B2E-B24C-7AE538F2485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50D31C9-B6C0-4492-A2E8-6A10C91825BB}"/>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1D9341FD-8920-449E-A6D1-0E5C7B2D159A}"/>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571CA2AF-A92D-4DDA-AA38-25BC1ADF3ABF}"/>
              </a:ext>
            </a:extLst>
          </p:cNvPr>
          <p:cNvSpPr>
            <a:spLocks noGrp="1"/>
          </p:cNvSpPr>
          <p:nvPr>
            <p:ph type="dt" sz="half" idx="10"/>
          </p:nvPr>
        </p:nvSpPr>
        <p:spPr/>
        <p:txBody>
          <a:bodyPr/>
          <a:lstStyle/>
          <a:p>
            <a:fld id="{5F621813-1F97-4069-A3F0-B418F9E25071}" type="datetimeFigureOut">
              <a:rPr lang="zh-CN" altLang="en-US" smtClean="0"/>
              <a:t>2026/5/10</a:t>
            </a:fld>
            <a:endParaRPr lang="zh-CN" altLang="en-US"/>
          </a:p>
        </p:txBody>
      </p:sp>
      <p:sp>
        <p:nvSpPr>
          <p:cNvPr id="6" name="页脚占位符 5">
            <a:extLst>
              <a:ext uri="{FF2B5EF4-FFF2-40B4-BE49-F238E27FC236}">
                <a16:creationId xmlns:a16="http://schemas.microsoft.com/office/drawing/2014/main" id="{21C9450A-1AA0-4C08-B54B-182848A79D4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63128B9-2F36-4392-A279-4ABF96BCF6F3}"/>
              </a:ext>
            </a:extLst>
          </p:cNvPr>
          <p:cNvSpPr>
            <a:spLocks noGrp="1"/>
          </p:cNvSpPr>
          <p:nvPr>
            <p:ph type="sldNum" sz="quarter" idx="12"/>
          </p:nvPr>
        </p:nvSpPr>
        <p:spPr/>
        <p:txBody>
          <a:bodyPr/>
          <a:lstStyle/>
          <a:p>
            <a:fld id="{C87C10BF-A228-4EA2-98B7-2C3C40BC099C}" type="slidenum">
              <a:rPr lang="zh-CN" altLang="en-US" smtClean="0"/>
              <a:t>‹#›</a:t>
            </a:fld>
            <a:endParaRPr lang="zh-CN" altLang="en-US"/>
          </a:p>
        </p:txBody>
      </p:sp>
    </p:spTree>
    <p:extLst>
      <p:ext uri="{BB962C8B-B14F-4D97-AF65-F5344CB8AC3E}">
        <p14:creationId xmlns:p14="http://schemas.microsoft.com/office/powerpoint/2010/main" val="33045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E3E5C3-34B8-44A9-B014-AEC5CDEF7DB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714FB26-5540-49B2-8F79-0BD683C1C9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BC2FF31F-496B-4DEA-86DB-0C7331EADCF2}"/>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8F9A649B-8950-4E06-9BC1-8494A62FB5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78DBBB5F-D4A3-4A11-89AD-1029936B3CCE}"/>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50479B06-0B39-4118-9FEC-3DB848DAB8F9}"/>
              </a:ext>
            </a:extLst>
          </p:cNvPr>
          <p:cNvSpPr>
            <a:spLocks noGrp="1"/>
          </p:cNvSpPr>
          <p:nvPr>
            <p:ph type="dt" sz="half" idx="10"/>
          </p:nvPr>
        </p:nvSpPr>
        <p:spPr/>
        <p:txBody>
          <a:bodyPr/>
          <a:lstStyle/>
          <a:p>
            <a:fld id="{5F621813-1F97-4069-A3F0-B418F9E25071}" type="datetimeFigureOut">
              <a:rPr lang="zh-CN" altLang="en-US" smtClean="0"/>
              <a:t>2026/5/10</a:t>
            </a:fld>
            <a:endParaRPr lang="zh-CN" altLang="en-US"/>
          </a:p>
        </p:txBody>
      </p:sp>
      <p:sp>
        <p:nvSpPr>
          <p:cNvPr id="8" name="页脚占位符 7">
            <a:extLst>
              <a:ext uri="{FF2B5EF4-FFF2-40B4-BE49-F238E27FC236}">
                <a16:creationId xmlns:a16="http://schemas.microsoft.com/office/drawing/2014/main" id="{5F710B62-9991-47AD-9D99-1F296F3C63BB}"/>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FA2ACB86-D518-45D7-8C33-0723FFA5289F}"/>
              </a:ext>
            </a:extLst>
          </p:cNvPr>
          <p:cNvSpPr>
            <a:spLocks noGrp="1"/>
          </p:cNvSpPr>
          <p:nvPr>
            <p:ph type="sldNum" sz="quarter" idx="12"/>
          </p:nvPr>
        </p:nvSpPr>
        <p:spPr/>
        <p:txBody>
          <a:bodyPr/>
          <a:lstStyle/>
          <a:p>
            <a:fld id="{C87C10BF-A228-4EA2-98B7-2C3C40BC099C}" type="slidenum">
              <a:rPr lang="zh-CN" altLang="en-US" smtClean="0"/>
              <a:t>‹#›</a:t>
            </a:fld>
            <a:endParaRPr lang="zh-CN" altLang="en-US"/>
          </a:p>
        </p:txBody>
      </p:sp>
    </p:spTree>
    <p:extLst>
      <p:ext uri="{BB962C8B-B14F-4D97-AF65-F5344CB8AC3E}">
        <p14:creationId xmlns:p14="http://schemas.microsoft.com/office/powerpoint/2010/main" val="3329022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664933-73B6-452F-A5A0-9BF62013392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60A641D-F945-4602-BBA6-2111B5A225A1}"/>
              </a:ext>
            </a:extLst>
          </p:cNvPr>
          <p:cNvSpPr>
            <a:spLocks noGrp="1"/>
          </p:cNvSpPr>
          <p:nvPr>
            <p:ph type="dt" sz="half" idx="10"/>
          </p:nvPr>
        </p:nvSpPr>
        <p:spPr/>
        <p:txBody>
          <a:bodyPr/>
          <a:lstStyle/>
          <a:p>
            <a:fld id="{5F621813-1F97-4069-A3F0-B418F9E25071}" type="datetimeFigureOut">
              <a:rPr lang="zh-CN" altLang="en-US" smtClean="0"/>
              <a:t>2026/5/10</a:t>
            </a:fld>
            <a:endParaRPr lang="zh-CN" altLang="en-US"/>
          </a:p>
        </p:txBody>
      </p:sp>
      <p:sp>
        <p:nvSpPr>
          <p:cNvPr id="4" name="页脚占位符 3">
            <a:extLst>
              <a:ext uri="{FF2B5EF4-FFF2-40B4-BE49-F238E27FC236}">
                <a16:creationId xmlns:a16="http://schemas.microsoft.com/office/drawing/2014/main" id="{D6091BA0-E8D0-4537-A9D8-3DBFC3140AA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B40BD6D-3D55-4F03-9E8C-C9BFE12A45F1}"/>
              </a:ext>
            </a:extLst>
          </p:cNvPr>
          <p:cNvSpPr>
            <a:spLocks noGrp="1"/>
          </p:cNvSpPr>
          <p:nvPr>
            <p:ph type="sldNum" sz="quarter" idx="12"/>
          </p:nvPr>
        </p:nvSpPr>
        <p:spPr/>
        <p:txBody>
          <a:bodyPr/>
          <a:lstStyle/>
          <a:p>
            <a:fld id="{C87C10BF-A228-4EA2-98B7-2C3C40BC099C}" type="slidenum">
              <a:rPr lang="zh-CN" altLang="en-US" smtClean="0"/>
              <a:t>‹#›</a:t>
            </a:fld>
            <a:endParaRPr lang="zh-CN" altLang="en-US"/>
          </a:p>
        </p:txBody>
      </p:sp>
    </p:spTree>
    <p:extLst>
      <p:ext uri="{BB962C8B-B14F-4D97-AF65-F5344CB8AC3E}">
        <p14:creationId xmlns:p14="http://schemas.microsoft.com/office/powerpoint/2010/main" val="2671548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FCC803D-1DBE-4A06-B4B5-F14660821447}"/>
              </a:ext>
            </a:extLst>
          </p:cNvPr>
          <p:cNvSpPr>
            <a:spLocks noGrp="1"/>
          </p:cNvSpPr>
          <p:nvPr>
            <p:ph type="dt" sz="half" idx="10"/>
          </p:nvPr>
        </p:nvSpPr>
        <p:spPr/>
        <p:txBody>
          <a:bodyPr/>
          <a:lstStyle/>
          <a:p>
            <a:fld id="{5F621813-1F97-4069-A3F0-B418F9E25071}" type="datetimeFigureOut">
              <a:rPr lang="zh-CN" altLang="en-US" smtClean="0"/>
              <a:t>2026/5/10</a:t>
            </a:fld>
            <a:endParaRPr lang="zh-CN" altLang="en-US"/>
          </a:p>
        </p:txBody>
      </p:sp>
      <p:sp>
        <p:nvSpPr>
          <p:cNvPr id="3" name="页脚占位符 2">
            <a:extLst>
              <a:ext uri="{FF2B5EF4-FFF2-40B4-BE49-F238E27FC236}">
                <a16:creationId xmlns:a16="http://schemas.microsoft.com/office/drawing/2014/main" id="{31F02EA5-97C0-4E3A-8DFA-918576D4361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5CCD856-84D8-4883-99F8-DD5BFF34F00A}"/>
              </a:ext>
            </a:extLst>
          </p:cNvPr>
          <p:cNvSpPr>
            <a:spLocks noGrp="1"/>
          </p:cNvSpPr>
          <p:nvPr>
            <p:ph type="sldNum" sz="quarter" idx="12"/>
          </p:nvPr>
        </p:nvSpPr>
        <p:spPr/>
        <p:txBody>
          <a:bodyPr/>
          <a:lstStyle/>
          <a:p>
            <a:fld id="{C87C10BF-A228-4EA2-98B7-2C3C40BC099C}" type="slidenum">
              <a:rPr lang="zh-CN" altLang="en-US" smtClean="0"/>
              <a:t>‹#›</a:t>
            </a:fld>
            <a:endParaRPr lang="zh-CN" altLang="en-US"/>
          </a:p>
        </p:txBody>
      </p:sp>
    </p:spTree>
    <p:extLst>
      <p:ext uri="{BB962C8B-B14F-4D97-AF65-F5344CB8AC3E}">
        <p14:creationId xmlns:p14="http://schemas.microsoft.com/office/powerpoint/2010/main" val="496525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80D0F5-0933-4840-BE46-5CA3CF57478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356FAA7B-A5B8-4DD4-ACE7-3F2E4A9BDE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35CFFBB7-6291-4915-A21E-4DCEDF617C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D172117-DA6B-4E73-903B-C75485A14B6B}"/>
              </a:ext>
            </a:extLst>
          </p:cNvPr>
          <p:cNvSpPr>
            <a:spLocks noGrp="1"/>
          </p:cNvSpPr>
          <p:nvPr>
            <p:ph type="dt" sz="half" idx="10"/>
          </p:nvPr>
        </p:nvSpPr>
        <p:spPr/>
        <p:txBody>
          <a:bodyPr/>
          <a:lstStyle/>
          <a:p>
            <a:fld id="{5F621813-1F97-4069-A3F0-B418F9E25071}" type="datetimeFigureOut">
              <a:rPr lang="zh-CN" altLang="en-US" smtClean="0"/>
              <a:t>2026/5/10</a:t>
            </a:fld>
            <a:endParaRPr lang="zh-CN" altLang="en-US"/>
          </a:p>
        </p:txBody>
      </p:sp>
      <p:sp>
        <p:nvSpPr>
          <p:cNvPr id="6" name="页脚占位符 5">
            <a:extLst>
              <a:ext uri="{FF2B5EF4-FFF2-40B4-BE49-F238E27FC236}">
                <a16:creationId xmlns:a16="http://schemas.microsoft.com/office/drawing/2014/main" id="{2A0DF775-EBAA-492E-A07A-B58A2219E18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A2DBB5C-0199-445F-A181-B697BD5A328D}"/>
              </a:ext>
            </a:extLst>
          </p:cNvPr>
          <p:cNvSpPr>
            <a:spLocks noGrp="1"/>
          </p:cNvSpPr>
          <p:nvPr>
            <p:ph type="sldNum" sz="quarter" idx="12"/>
          </p:nvPr>
        </p:nvSpPr>
        <p:spPr/>
        <p:txBody>
          <a:bodyPr/>
          <a:lstStyle/>
          <a:p>
            <a:fld id="{C87C10BF-A228-4EA2-98B7-2C3C40BC099C}" type="slidenum">
              <a:rPr lang="zh-CN" altLang="en-US" smtClean="0"/>
              <a:t>‹#›</a:t>
            </a:fld>
            <a:endParaRPr lang="zh-CN" altLang="en-US"/>
          </a:p>
        </p:txBody>
      </p:sp>
    </p:spTree>
    <p:extLst>
      <p:ext uri="{BB962C8B-B14F-4D97-AF65-F5344CB8AC3E}">
        <p14:creationId xmlns:p14="http://schemas.microsoft.com/office/powerpoint/2010/main" val="2576868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BAC717-12D3-4915-BFB2-AEFF45405BE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AC8B189-DDDA-44FF-808E-C2767911A4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8B807CC-5CF8-4FDA-95ED-403D6FCC02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104B214-CC7A-4760-9F32-5F18DFE26EA0}"/>
              </a:ext>
            </a:extLst>
          </p:cNvPr>
          <p:cNvSpPr>
            <a:spLocks noGrp="1"/>
          </p:cNvSpPr>
          <p:nvPr>
            <p:ph type="dt" sz="half" idx="10"/>
          </p:nvPr>
        </p:nvSpPr>
        <p:spPr/>
        <p:txBody>
          <a:bodyPr/>
          <a:lstStyle/>
          <a:p>
            <a:fld id="{5F621813-1F97-4069-A3F0-B418F9E25071}" type="datetimeFigureOut">
              <a:rPr lang="zh-CN" altLang="en-US" smtClean="0"/>
              <a:t>2026/5/10</a:t>
            </a:fld>
            <a:endParaRPr lang="zh-CN" altLang="en-US"/>
          </a:p>
        </p:txBody>
      </p:sp>
      <p:sp>
        <p:nvSpPr>
          <p:cNvPr id="6" name="页脚占位符 5">
            <a:extLst>
              <a:ext uri="{FF2B5EF4-FFF2-40B4-BE49-F238E27FC236}">
                <a16:creationId xmlns:a16="http://schemas.microsoft.com/office/drawing/2014/main" id="{F885BE87-74F5-48E8-9556-459619C661B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7FD2ECF-C065-481E-859D-1FBE0B40966B}"/>
              </a:ext>
            </a:extLst>
          </p:cNvPr>
          <p:cNvSpPr>
            <a:spLocks noGrp="1"/>
          </p:cNvSpPr>
          <p:nvPr>
            <p:ph type="sldNum" sz="quarter" idx="12"/>
          </p:nvPr>
        </p:nvSpPr>
        <p:spPr/>
        <p:txBody>
          <a:bodyPr/>
          <a:lstStyle/>
          <a:p>
            <a:fld id="{C87C10BF-A228-4EA2-98B7-2C3C40BC099C}" type="slidenum">
              <a:rPr lang="zh-CN" altLang="en-US" smtClean="0"/>
              <a:t>‹#›</a:t>
            </a:fld>
            <a:endParaRPr lang="zh-CN" altLang="en-US"/>
          </a:p>
        </p:txBody>
      </p:sp>
    </p:spTree>
    <p:extLst>
      <p:ext uri="{BB962C8B-B14F-4D97-AF65-F5344CB8AC3E}">
        <p14:creationId xmlns:p14="http://schemas.microsoft.com/office/powerpoint/2010/main" val="35664291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1B6162-F7C0-4FA3-9150-B0D20127FE9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605AFED-44F5-417F-8C1A-85573B6DC74D}"/>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5631060-2303-4B03-97A7-53964E092708}"/>
              </a:ext>
            </a:extLst>
          </p:cNvPr>
          <p:cNvSpPr>
            <a:spLocks noGrp="1"/>
          </p:cNvSpPr>
          <p:nvPr>
            <p:ph type="dt" sz="half" idx="10"/>
          </p:nvPr>
        </p:nvSpPr>
        <p:spPr/>
        <p:txBody>
          <a:bodyPr/>
          <a:lstStyle/>
          <a:p>
            <a:fld id="{5F621813-1F97-4069-A3F0-B418F9E25071}" type="datetimeFigureOut">
              <a:rPr lang="zh-CN" altLang="en-US" smtClean="0"/>
              <a:t>2026/5/10</a:t>
            </a:fld>
            <a:endParaRPr lang="zh-CN" altLang="en-US"/>
          </a:p>
        </p:txBody>
      </p:sp>
      <p:sp>
        <p:nvSpPr>
          <p:cNvPr id="5" name="页脚占位符 4">
            <a:extLst>
              <a:ext uri="{FF2B5EF4-FFF2-40B4-BE49-F238E27FC236}">
                <a16:creationId xmlns:a16="http://schemas.microsoft.com/office/drawing/2014/main" id="{C09DFC18-CBE9-4DC6-A8D0-4FEB204D628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3315D49-F202-41FA-8150-1DDEA28402A7}"/>
              </a:ext>
            </a:extLst>
          </p:cNvPr>
          <p:cNvSpPr>
            <a:spLocks noGrp="1"/>
          </p:cNvSpPr>
          <p:nvPr>
            <p:ph type="sldNum" sz="quarter" idx="12"/>
          </p:nvPr>
        </p:nvSpPr>
        <p:spPr/>
        <p:txBody>
          <a:bodyPr/>
          <a:lstStyle/>
          <a:p>
            <a:fld id="{C87C10BF-A228-4EA2-98B7-2C3C40BC099C}" type="slidenum">
              <a:rPr lang="zh-CN" altLang="en-US" smtClean="0"/>
              <a:t>‹#›</a:t>
            </a:fld>
            <a:endParaRPr lang="zh-CN" altLang="en-US"/>
          </a:p>
        </p:txBody>
      </p:sp>
    </p:spTree>
    <p:extLst>
      <p:ext uri="{BB962C8B-B14F-4D97-AF65-F5344CB8AC3E}">
        <p14:creationId xmlns:p14="http://schemas.microsoft.com/office/powerpoint/2010/main" val="27675042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815D909-8088-42A8-BA39-F1C9CE58989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D280B76-B447-4F1C-879E-56C1538609D6}"/>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13271E4-F0C2-4D16-9D2B-DA02B750FD82}"/>
              </a:ext>
            </a:extLst>
          </p:cNvPr>
          <p:cNvSpPr>
            <a:spLocks noGrp="1"/>
          </p:cNvSpPr>
          <p:nvPr>
            <p:ph type="dt" sz="half" idx="10"/>
          </p:nvPr>
        </p:nvSpPr>
        <p:spPr/>
        <p:txBody>
          <a:bodyPr/>
          <a:lstStyle/>
          <a:p>
            <a:fld id="{5F621813-1F97-4069-A3F0-B418F9E25071}" type="datetimeFigureOut">
              <a:rPr lang="zh-CN" altLang="en-US" smtClean="0"/>
              <a:t>2026/5/10</a:t>
            </a:fld>
            <a:endParaRPr lang="zh-CN" altLang="en-US"/>
          </a:p>
        </p:txBody>
      </p:sp>
      <p:sp>
        <p:nvSpPr>
          <p:cNvPr id="5" name="页脚占位符 4">
            <a:extLst>
              <a:ext uri="{FF2B5EF4-FFF2-40B4-BE49-F238E27FC236}">
                <a16:creationId xmlns:a16="http://schemas.microsoft.com/office/drawing/2014/main" id="{0C427705-F92E-4D02-B89C-AE382C6A9CC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F33C962-53C9-4488-B260-F01A569B17FD}"/>
              </a:ext>
            </a:extLst>
          </p:cNvPr>
          <p:cNvSpPr>
            <a:spLocks noGrp="1"/>
          </p:cNvSpPr>
          <p:nvPr>
            <p:ph type="sldNum" sz="quarter" idx="12"/>
          </p:nvPr>
        </p:nvSpPr>
        <p:spPr/>
        <p:txBody>
          <a:bodyPr/>
          <a:lstStyle/>
          <a:p>
            <a:fld id="{C87C10BF-A228-4EA2-98B7-2C3C40BC099C}" type="slidenum">
              <a:rPr lang="zh-CN" altLang="en-US" smtClean="0"/>
              <a:t>‹#›</a:t>
            </a:fld>
            <a:endParaRPr lang="zh-CN" altLang="en-US"/>
          </a:p>
        </p:txBody>
      </p:sp>
    </p:spTree>
    <p:extLst>
      <p:ext uri="{BB962C8B-B14F-4D97-AF65-F5344CB8AC3E}">
        <p14:creationId xmlns:p14="http://schemas.microsoft.com/office/powerpoint/2010/main" val="7217906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6BF342F-DCF9-4064-AA0C-3AD201D5CA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2018CF08-CA18-4704-908F-D6CD3B5F1E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13C6B013-D33C-40D1-AB68-A37BD21D69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5F621813-1F97-4069-A3F0-B418F9E25071}" type="datetimeFigureOut">
              <a:rPr lang="zh-CN" altLang="en-US" smtClean="0"/>
              <a:pPr/>
              <a:t>2026/5/10</a:t>
            </a:fld>
            <a:endParaRPr lang="zh-CN" altLang="en-US" dirty="0"/>
          </a:p>
        </p:txBody>
      </p:sp>
      <p:sp>
        <p:nvSpPr>
          <p:cNvPr id="5" name="页脚占位符 4">
            <a:extLst>
              <a:ext uri="{FF2B5EF4-FFF2-40B4-BE49-F238E27FC236}">
                <a16:creationId xmlns:a16="http://schemas.microsoft.com/office/drawing/2014/main" id="{B2D278BA-48B5-4FC3-93BD-2E8AC29263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dirty="0"/>
          </a:p>
        </p:txBody>
      </p:sp>
      <p:sp>
        <p:nvSpPr>
          <p:cNvPr id="6" name="灯片编号占位符 5">
            <a:extLst>
              <a:ext uri="{FF2B5EF4-FFF2-40B4-BE49-F238E27FC236}">
                <a16:creationId xmlns:a16="http://schemas.microsoft.com/office/drawing/2014/main" id="{11EE50C9-C68E-4229-ADF1-14D1C9C57B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pitchFamily="34" charset="-122"/>
                <a:ea typeface="微软雅黑" panose="020B0503020204020204" pitchFamily="34" charset="-122"/>
              </a:defRPr>
            </a:lvl1pPr>
          </a:lstStyle>
          <a:p>
            <a:fld id="{C87C10BF-A228-4EA2-98B7-2C3C40BC099C}" type="slidenum">
              <a:rPr lang="zh-CN" altLang="en-US" smtClean="0"/>
              <a:pPr/>
              <a:t>‹#›</a:t>
            </a:fld>
            <a:endParaRPr lang="zh-CN" altLang="en-US" dirty="0"/>
          </a:p>
        </p:txBody>
      </p:sp>
    </p:spTree>
    <p:extLst>
      <p:ext uri="{BB962C8B-B14F-4D97-AF65-F5344CB8AC3E}">
        <p14:creationId xmlns:p14="http://schemas.microsoft.com/office/powerpoint/2010/main" val="26281790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occ.t-head.cn/development/series/index?spm=a2cl5.14294226.0.0.79fb180fodXNIK&amp;id=644537889236975616&amp;type=mcu#sticky" TargetMode="External"/><Relationship Id="rId2" Type="http://schemas.openxmlformats.org/officeDocument/2006/relationships/hyperlink" Target="https://github.com/T-head-Semi/wujian100_open"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FC2CAE-9D0B-4A2D-BA35-47E36DBEED31}"/>
              </a:ext>
            </a:extLst>
          </p:cNvPr>
          <p:cNvSpPr>
            <a:spLocks noGrp="1"/>
          </p:cNvSpPr>
          <p:nvPr>
            <p:ph type="ctrTitle"/>
          </p:nvPr>
        </p:nvSpPr>
        <p:spPr/>
        <p:txBody>
          <a:bodyPr/>
          <a:lstStyle/>
          <a:p>
            <a:r>
              <a:rPr lang="en-US" altLang="zh-CN" dirty="0" err="1"/>
              <a:t>wujian</a:t>
            </a:r>
            <a:r>
              <a:rPr lang="zh-CN" altLang="en-US" dirty="0"/>
              <a:t>平台介绍</a:t>
            </a:r>
            <a:br>
              <a:rPr lang="en-US" altLang="zh-CN" dirty="0"/>
            </a:br>
            <a:r>
              <a:rPr lang="zh-CN" altLang="en-US" dirty="0"/>
              <a:t>和</a:t>
            </a:r>
            <a:r>
              <a:rPr lang="en-US" altLang="zh-CN" dirty="0"/>
              <a:t>FPGA</a:t>
            </a:r>
            <a:r>
              <a:rPr lang="zh-CN" altLang="en-US" dirty="0"/>
              <a:t>调试</a:t>
            </a:r>
          </a:p>
        </p:txBody>
      </p:sp>
      <p:sp>
        <p:nvSpPr>
          <p:cNvPr id="3" name="副标题 2">
            <a:extLst>
              <a:ext uri="{FF2B5EF4-FFF2-40B4-BE49-F238E27FC236}">
                <a16:creationId xmlns:a16="http://schemas.microsoft.com/office/drawing/2014/main" id="{44B83E39-92D4-43FA-A5D5-2B4CDB4CD0AC}"/>
              </a:ext>
            </a:extLst>
          </p:cNvPr>
          <p:cNvSpPr>
            <a:spLocks noGrp="1"/>
          </p:cNvSpPr>
          <p:nvPr>
            <p:ph type="subTitle" idx="1"/>
          </p:nvPr>
        </p:nvSpPr>
        <p:spPr/>
        <p:txBody>
          <a:bodyPr/>
          <a:lstStyle/>
          <a:p>
            <a:r>
              <a:rPr lang="en-US" altLang="zh-CN" dirty="0"/>
              <a:t>2026</a:t>
            </a:r>
            <a:r>
              <a:rPr lang="zh-CN" altLang="en-US" dirty="0"/>
              <a:t>年</a:t>
            </a:r>
            <a:r>
              <a:rPr lang="en-US" altLang="zh-CN" dirty="0"/>
              <a:t>5</a:t>
            </a:r>
            <a:r>
              <a:rPr lang="zh-CN" altLang="en-US" dirty="0"/>
              <a:t>月</a:t>
            </a:r>
          </a:p>
        </p:txBody>
      </p:sp>
    </p:spTree>
    <p:extLst>
      <p:ext uri="{BB962C8B-B14F-4D97-AF65-F5344CB8AC3E}">
        <p14:creationId xmlns:p14="http://schemas.microsoft.com/office/powerpoint/2010/main" val="3534292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83FE83-5975-4313-99F7-EE3B2BDF06F3}"/>
              </a:ext>
            </a:extLst>
          </p:cNvPr>
          <p:cNvSpPr>
            <a:spLocks noGrp="1"/>
          </p:cNvSpPr>
          <p:nvPr>
            <p:ph type="title"/>
          </p:nvPr>
        </p:nvSpPr>
        <p:spPr/>
        <p:txBody>
          <a:bodyPr/>
          <a:lstStyle/>
          <a:p>
            <a:r>
              <a:rPr lang="zh-CN" altLang="en-US" dirty="0"/>
              <a:t>目录</a:t>
            </a:r>
          </a:p>
        </p:txBody>
      </p:sp>
      <p:sp>
        <p:nvSpPr>
          <p:cNvPr id="3" name="内容占位符 2">
            <a:extLst>
              <a:ext uri="{FF2B5EF4-FFF2-40B4-BE49-F238E27FC236}">
                <a16:creationId xmlns:a16="http://schemas.microsoft.com/office/drawing/2014/main" id="{6DB062EB-4D6C-4FC2-A565-4C780D04ED89}"/>
              </a:ext>
            </a:extLst>
          </p:cNvPr>
          <p:cNvSpPr>
            <a:spLocks noGrp="1"/>
          </p:cNvSpPr>
          <p:nvPr>
            <p:ph idx="1"/>
          </p:nvPr>
        </p:nvSpPr>
        <p:spPr/>
        <p:txBody>
          <a:bodyPr/>
          <a:lstStyle/>
          <a:p>
            <a:pPr marL="0" indent="0">
              <a:buNone/>
            </a:pPr>
            <a:endParaRPr lang="en-US" altLang="zh-CN" dirty="0"/>
          </a:p>
          <a:p>
            <a:r>
              <a:rPr lang="zh-CN" altLang="en-US" dirty="0"/>
              <a:t>一、</a:t>
            </a:r>
            <a:r>
              <a:rPr lang="en-US" altLang="zh-CN" dirty="0" err="1"/>
              <a:t>wujian</a:t>
            </a:r>
            <a:r>
              <a:rPr lang="zh-CN" altLang="en-US" dirty="0"/>
              <a:t>平台介绍</a:t>
            </a:r>
            <a:endParaRPr lang="en-US" altLang="zh-CN" dirty="0"/>
          </a:p>
          <a:p>
            <a:endParaRPr lang="en-US" altLang="zh-CN" dirty="0"/>
          </a:p>
          <a:p>
            <a:r>
              <a:rPr lang="zh-CN" altLang="en-US" dirty="0"/>
              <a:t>二、</a:t>
            </a:r>
            <a:r>
              <a:rPr lang="en-US" altLang="zh-CN" dirty="0"/>
              <a:t>P2E</a:t>
            </a:r>
            <a:r>
              <a:rPr lang="zh-CN" altLang="en-US" dirty="0"/>
              <a:t>平台介绍</a:t>
            </a:r>
            <a:endParaRPr lang="en-US" altLang="zh-CN" dirty="0"/>
          </a:p>
          <a:p>
            <a:endParaRPr lang="en-US" altLang="zh-CN" dirty="0"/>
          </a:p>
          <a:p>
            <a:r>
              <a:rPr lang="zh-CN" altLang="en-US" dirty="0"/>
              <a:t>三、实验步骤</a:t>
            </a:r>
            <a:endParaRPr lang="en-US" altLang="zh-CN" dirty="0"/>
          </a:p>
          <a:p>
            <a:endParaRPr lang="en-US" altLang="zh-CN" dirty="0"/>
          </a:p>
        </p:txBody>
      </p:sp>
    </p:spTree>
    <p:extLst>
      <p:ext uri="{BB962C8B-B14F-4D97-AF65-F5344CB8AC3E}">
        <p14:creationId xmlns:p14="http://schemas.microsoft.com/office/powerpoint/2010/main" val="26643640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515BFB-B857-420D-8B1C-D5676924C668}"/>
              </a:ext>
            </a:extLst>
          </p:cNvPr>
          <p:cNvSpPr>
            <a:spLocks noGrp="1"/>
          </p:cNvSpPr>
          <p:nvPr>
            <p:ph type="title"/>
          </p:nvPr>
        </p:nvSpPr>
        <p:spPr/>
        <p:txBody>
          <a:bodyPr/>
          <a:lstStyle/>
          <a:p>
            <a:r>
              <a:rPr lang="en-US" altLang="zh-CN" dirty="0" err="1"/>
              <a:t>wujian</a:t>
            </a:r>
            <a:r>
              <a:rPr lang="zh-CN" altLang="en-US" dirty="0"/>
              <a:t>平台介绍</a:t>
            </a:r>
          </a:p>
        </p:txBody>
      </p:sp>
      <p:sp>
        <p:nvSpPr>
          <p:cNvPr id="3" name="内容占位符 2">
            <a:extLst>
              <a:ext uri="{FF2B5EF4-FFF2-40B4-BE49-F238E27FC236}">
                <a16:creationId xmlns:a16="http://schemas.microsoft.com/office/drawing/2014/main" id="{4EEC68D6-E568-4784-9773-095BF59A91DA}"/>
              </a:ext>
            </a:extLst>
          </p:cNvPr>
          <p:cNvSpPr>
            <a:spLocks noGrp="1"/>
          </p:cNvSpPr>
          <p:nvPr>
            <p:ph idx="1"/>
          </p:nvPr>
        </p:nvSpPr>
        <p:spPr/>
        <p:txBody>
          <a:bodyPr/>
          <a:lstStyle/>
          <a:p>
            <a:r>
              <a:rPr lang="zh-CN" altLang="en-US" dirty="0"/>
              <a:t>本次实验采用的</a:t>
            </a:r>
            <a:r>
              <a:rPr lang="en-US" altLang="zh-CN" dirty="0"/>
              <a:t>soc</a:t>
            </a:r>
            <a:r>
              <a:rPr lang="zh-CN" altLang="en-US" dirty="0"/>
              <a:t>为</a:t>
            </a:r>
            <a:r>
              <a:rPr lang="en-US" altLang="zh-CN" dirty="0"/>
              <a:t>wujian100_open</a:t>
            </a:r>
          </a:p>
          <a:p>
            <a:r>
              <a:rPr lang="en-US" altLang="zh-CN" dirty="0"/>
              <a:t>wujian100_open</a:t>
            </a:r>
            <a:r>
              <a:rPr lang="zh-CN" altLang="zh-CN" dirty="0"/>
              <a:t>是一个基于</a:t>
            </a:r>
            <a:r>
              <a:rPr lang="en-US" altLang="zh-CN" dirty="0"/>
              <a:t>MCU</a:t>
            </a:r>
            <a:r>
              <a:rPr lang="zh-CN" altLang="zh-CN" dirty="0"/>
              <a:t>的</a:t>
            </a:r>
            <a:r>
              <a:rPr lang="en-US" altLang="zh-CN" dirty="0"/>
              <a:t>SoC</a:t>
            </a:r>
            <a:r>
              <a:rPr lang="zh-CN" altLang="zh-CN" dirty="0"/>
              <a:t>平台，支持通过</a:t>
            </a:r>
            <a:r>
              <a:rPr lang="en-US" altLang="zh-CN" dirty="0"/>
              <a:t>EDA</a:t>
            </a:r>
            <a:r>
              <a:rPr lang="zh-CN" altLang="zh-CN" dirty="0"/>
              <a:t>工具进行前端仿真和制作</a:t>
            </a:r>
            <a:r>
              <a:rPr lang="en-US" altLang="zh-CN" dirty="0"/>
              <a:t>FPGA</a:t>
            </a:r>
            <a:r>
              <a:rPr lang="zh-CN" altLang="zh-CN" dirty="0"/>
              <a:t>进行测试。</a:t>
            </a:r>
          </a:p>
          <a:p>
            <a:r>
              <a:rPr lang="en-US" altLang="zh-CN" dirty="0"/>
              <a:t>GitHub</a:t>
            </a:r>
            <a:r>
              <a:rPr lang="zh-CN" altLang="en-US" dirty="0"/>
              <a:t>官网：</a:t>
            </a:r>
            <a:r>
              <a:rPr lang="en-US" altLang="zh-CN" dirty="0">
                <a:hlinkClick r:id="rId2"/>
              </a:rPr>
              <a:t> https://github.com/T-head-Semi/wujian100_open</a:t>
            </a:r>
            <a:endParaRPr lang="en-US" altLang="zh-CN" dirty="0"/>
          </a:p>
          <a:p>
            <a:r>
              <a:rPr lang="zh-CN" altLang="en-US" dirty="0"/>
              <a:t>平头哥社区：</a:t>
            </a:r>
            <a:r>
              <a:rPr lang="en-US" altLang="zh-CN" dirty="0">
                <a:hlinkClick r:id="rId3"/>
              </a:rPr>
              <a:t> https://occ.t-head.cn/development/series/index?spm=a2cl5.14294226.0.0.79fb180fodXNIK&amp;id=644537889236975616&amp;type=mcu#sticky</a:t>
            </a:r>
            <a:endParaRPr lang="zh-CN" altLang="en-US" dirty="0"/>
          </a:p>
        </p:txBody>
      </p:sp>
    </p:spTree>
    <p:extLst>
      <p:ext uri="{BB962C8B-B14F-4D97-AF65-F5344CB8AC3E}">
        <p14:creationId xmlns:p14="http://schemas.microsoft.com/office/powerpoint/2010/main" val="177845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C229FD-992C-4711-BBC6-48DBA0CF79C8}"/>
              </a:ext>
            </a:extLst>
          </p:cNvPr>
          <p:cNvSpPr>
            <a:spLocks noGrp="1"/>
          </p:cNvSpPr>
          <p:nvPr>
            <p:ph type="title"/>
          </p:nvPr>
        </p:nvSpPr>
        <p:spPr/>
        <p:txBody>
          <a:bodyPr/>
          <a:lstStyle/>
          <a:p>
            <a:r>
              <a:rPr lang="en-US" altLang="zh-CN" dirty="0" err="1"/>
              <a:t>wujian</a:t>
            </a:r>
            <a:r>
              <a:rPr lang="zh-CN" altLang="en-US" dirty="0"/>
              <a:t>平台介绍</a:t>
            </a:r>
          </a:p>
        </p:txBody>
      </p:sp>
      <p:sp>
        <p:nvSpPr>
          <p:cNvPr id="3" name="内容占位符 2">
            <a:extLst>
              <a:ext uri="{FF2B5EF4-FFF2-40B4-BE49-F238E27FC236}">
                <a16:creationId xmlns:a16="http://schemas.microsoft.com/office/drawing/2014/main" id="{71FFFA90-50AB-471F-BAD0-16668CD47D53}"/>
              </a:ext>
            </a:extLst>
          </p:cNvPr>
          <p:cNvSpPr>
            <a:spLocks noGrp="1"/>
          </p:cNvSpPr>
          <p:nvPr>
            <p:ph idx="1"/>
          </p:nvPr>
        </p:nvSpPr>
        <p:spPr/>
        <p:txBody>
          <a:bodyPr/>
          <a:lstStyle/>
          <a:p>
            <a:r>
              <a:rPr lang="zh-CN" altLang="en-US" dirty="0"/>
              <a:t>项目文件结构</a:t>
            </a:r>
            <a:endParaRPr lang="en-US" altLang="zh-CN" dirty="0"/>
          </a:p>
          <a:p>
            <a:endParaRPr lang="zh-CN" altLang="en-US" dirty="0"/>
          </a:p>
        </p:txBody>
      </p:sp>
      <p:pic>
        <p:nvPicPr>
          <p:cNvPr id="5" name="图片 4">
            <a:extLst>
              <a:ext uri="{FF2B5EF4-FFF2-40B4-BE49-F238E27FC236}">
                <a16:creationId xmlns:a16="http://schemas.microsoft.com/office/drawing/2014/main" id="{4E0011C2-88B5-41B3-A0A0-BB087763DEA9}"/>
              </a:ext>
            </a:extLst>
          </p:cNvPr>
          <p:cNvPicPr>
            <a:picLocks noChangeAspect="1"/>
          </p:cNvPicPr>
          <p:nvPr/>
        </p:nvPicPr>
        <p:blipFill>
          <a:blip r:embed="rId2"/>
          <a:stretch>
            <a:fillRect/>
          </a:stretch>
        </p:blipFill>
        <p:spPr>
          <a:xfrm>
            <a:off x="838199" y="2286547"/>
            <a:ext cx="10073647" cy="4351338"/>
          </a:xfrm>
          <a:prstGeom prst="rect">
            <a:avLst/>
          </a:prstGeom>
        </p:spPr>
      </p:pic>
    </p:spTree>
    <p:extLst>
      <p:ext uri="{BB962C8B-B14F-4D97-AF65-F5344CB8AC3E}">
        <p14:creationId xmlns:p14="http://schemas.microsoft.com/office/powerpoint/2010/main" val="926025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491245-2439-410D-B64D-3C410FA83E59}"/>
              </a:ext>
            </a:extLst>
          </p:cNvPr>
          <p:cNvSpPr>
            <a:spLocks noGrp="1"/>
          </p:cNvSpPr>
          <p:nvPr>
            <p:ph type="title"/>
          </p:nvPr>
        </p:nvSpPr>
        <p:spPr/>
        <p:txBody>
          <a:bodyPr/>
          <a:lstStyle/>
          <a:p>
            <a:r>
              <a:rPr lang="en-US" altLang="zh-CN" dirty="0" err="1"/>
              <a:t>wujian</a:t>
            </a:r>
            <a:r>
              <a:rPr lang="zh-CN" altLang="en-US" dirty="0"/>
              <a:t>平台介绍</a:t>
            </a:r>
          </a:p>
        </p:txBody>
      </p:sp>
      <p:sp>
        <p:nvSpPr>
          <p:cNvPr id="3" name="内容占位符 2">
            <a:extLst>
              <a:ext uri="{FF2B5EF4-FFF2-40B4-BE49-F238E27FC236}">
                <a16:creationId xmlns:a16="http://schemas.microsoft.com/office/drawing/2014/main" id="{2ADA310F-9164-40EB-99F5-CD7D04083715}"/>
              </a:ext>
            </a:extLst>
          </p:cNvPr>
          <p:cNvSpPr>
            <a:spLocks noGrp="1"/>
          </p:cNvSpPr>
          <p:nvPr>
            <p:ph idx="1"/>
          </p:nvPr>
        </p:nvSpPr>
        <p:spPr>
          <a:xfrm>
            <a:off x="838200" y="1825625"/>
            <a:ext cx="5575798" cy="4351338"/>
          </a:xfrm>
        </p:spPr>
        <p:txBody>
          <a:bodyPr/>
          <a:lstStyle/>
          <a:p>
            <a:r>
              <a:rPr lang="en-US" altLang="zh-CN" dirty="0"/>
              <a:t>wujian100_open soc</a:t>
            </a:r>
            <a:r>
              <a:rPr lang="zh-CN" altLang="en-US" dirty="0"/>
              <a:t>概述（参考</a:t>
            </a:r>
            <a:r>
              <a:rPr lang="en-US" altLang="zh-CN" dirty="0"/>
              <a:t>doc</a:t>
            </a:r>
            <a:r>
              <a:rPr lang="zh-CN" altLang="en-US" dirty="0"/>
              <a:t>目录下的用户手册）</a:t>
            </a:r>
            <a:endParaRPr lang="en-US" altLang="zh-CN" dirty="0"/>
          </a:p>
          <a:p>
            <a:r>
              <a:rPr lang="zh-CN" altLang="en-US" sz="2000" dirty="0"/>
              <a:t>其中</a:t>
            </a:r>
            <a:r>
              <a:rPr lang="en-US" altLang="zh-CN" sz="2000" dirty="0"/>
              <a:t>BUS Matrix</a:t>
            </a:r>
            <a:r>
              <a:rPr lang="zh-CN" altLang="en-US" sz="2000" dirty="0"/>
              <a:t>上采用</a:t>
            </a:r>
            <a:r>
              <a:rPr lang="en-US" altLang="zh-CN" sz="2000" dirty="0"/>
              <a:t>AHB</a:t>
            </a:r>
            <a:r>
              <a:rPr lang="zh-CN" altLang="en-US" sz="2000" dirty="0"/>
              <a:t>总线，连接了</a:t>
            </a:r>
            <a:r>
              <a:rPr lang="en-US" altLang="zh-CN" sz="2000" dirty="0"/>
              <a:t>CPU</a:t>
            </a:r>
            <a:r>
              <a:rPr lang="zh-CN" altLang="en-US" sz="2000" dirty="0"/>
              <a:t>核、</a:t>
            </a:r>
            <a:r>
              <a:rPr lang="en-US" altLang="zh-CN" sz="2000" dirty="0"/>
              <a:t>DMA</a:t>
            </a:r>
            <a:r>
              <a:rPr lang="zh-CN" altLang="en-US" sz="2000" dirty="0"/>
              <a:t>和</a:t>
            </a:r>
            <a:r>
              <a:rPr lang="en-US" altLang="zh-CN" sz="2000" dirty="0"/>
              <a:t>SRAM</a:t>
            </a:r>
            <a:r>
              <a:rPr lang="zh-CN" altLang="en-US" sz="2000" dirty="0"/>
              <a:t>缓存，并留有</a:t>
            </a:r>
            <a:r>
              <a:rPr lang="en-US" altLang="zh-CN" sz="2000" dirty="0"/>
              <a:t>3</a:t>
            </a:r>
            <a:r>
              <a:rPr lang="zh-CN" altLang="en-US" sz="2000" dirty="0"/>
              <a:t>个主扩展口、</a:t>
            </a:r>
            <a:r>
              <a:rPr lang="en-US" altLang="zh-CN" sz="2000" dirty="0"/>
              <a:t>4</a:t>
            </a:r>
            <a:r>
              <a:rPr lang="zh-CN" altLang="en-US" sz="2000" dirty="0"/>
              <a:t>个从扩展口以及两个内存扩展口。</a:t>
            </a:r>
            <a:endParaRPr lang="en-US" altLang="zh-CN" sz="2000" dirty="0"/>
          </a:p>
          <a:p>
            <a:r>
              <a:rPr lang="zh-CN" altLang="en-US" sz="2000" dirty="0"/>
              <a:t>下一级的</a:t>
            </a:r>
            <a:r>
              <a:rPr lang="en-US" altLang="zh-CN" sz="2000" dirty="0"/>
              <a:t>AHB LS BUS</a:t>
            </a:r>
            <a:r>
              <a:rPr lang="zh-CN" altLang="en-US" sz="2000" dirty="0"/>
              <a:t>即</a:t>
            </a:r>
            <a:r>
              <a:rPr lang="en-US" altLang="zh-CN" sz="2000" dirty="0"/>
              <a:t>AHB</a:t>
            </a:r>
            <a:r>
              <a:rPr lang="zh-CN" altLang="en-US" sz="2000" dirty="0"/>
              <a:t>低速总线上留有</a:t>
            </a:r>
            <a:r>
              <a:rPr lang="en-US" altLang="zh-CN" sz="2000" dirty="0"/>
              <a:t>4</a:t>
            </a:r>
            <a:r>
              <a:rPr lang="zh-CN" altLang="en-US" sz="2000" dirty="0"/>
              <a:t>个从扩展口。</a:t>
            </a:r>
            <a:endParaRPr lang="en-US" altLang="zh-CN" sz="2000" dirty="0"/>
          </a:p>
          <a:p>
            <a:r>
              <a:rPr lang="zh-CN" altLang="en-US" sz="2000" dirty="0"/>
              <a:t>再下一级是两道</a:t>
            </a:r>
            <a:r>
              <a:rPr lang="en-US" altLang="zh-CN" sz="2000" dirty="0"/>
              <a:t>APB</a:t>
            </a:r>
            <a:r>
              <a:rPr lang="zh-CN" altLang="en-US" sz="2000" dirty="0"/>
              <a:t>总线</a:t>
            </a:r>
            <a:r>
              <a:rPr lang="en-US" altLang="zh-CN" sz="2000" dirty="0"/>
              <a:t>APB0</a:t>
            </a:r>
            <a:r>
              <a:rPr lang="zh-CN" altLang="en-US" sz="2000" dirty="0"/>
              <a:t>和</a:t>
            </a:r>
            <a:r>
              <a:rPr lang="en-US" altLang="zh-CN" sz="2000" dirty="0"/>
              <a:t>APB1,</a:t>
            </a:r>
            <a:r>
              <a:rPr lang="zh-CN" altLang="en-US" sz="2000" dirty="0"/>
              <a:t>连接了一些功能模块，并也留有一些扩展口。</a:t>
            </a:r>
            <a:endParaRPr lang="en-US" altLang="zh-CN" sz="2000" dirty="0"/>
          </a:p>
          <a:p>
            <a:endParaRPr lang="en-US" altLang="zh-CN" sz="2000" dirty="0"/>
          </a:p>
          <a:p>
            <a:endParaRPr lang="en-US" altLang="zh-CN" dirty="0"/>
          </a:p>
          <a:p>
            <a:endParaRPr lang="en-US" altLang="zh-CN" dirty="0"/>
          </a:p>
          <a:p>
            <a:pPr marL="0" indent="0">
              <a:buNone/>
            </a:pPr>
            <a:endParaRPr lang="en-US" altLang="zh-CN" sz="2000" dirty="0"/>
          </a:p>
          <a:p>
            <a:pPr marL="0" indent="0">
              <a:buNone/>
            </a:pPr>
            <a:endParaRPr lang="en-US" altLang="zh-CN" sz="2000" dirty="0"/>
          </a:p>
          <a:p>
            <a:pPr marL="0" indent="0">
              <a:buNone/>
            </a:pPr>
            <a:endParaRPr lang="zh-CN" altLang="en-US" sz="2000" dirty="0"/>
          </a:p>
        </p:txBody>
      </p:sp>
      <p:pic>
        <p:nvPicPr>
          <p:cNvPr id="5" name="图片 4">
            <a:extLst>
              <a:ext uri="{FF2B5EF4-FFF2-40B4-BE49-F238E27FC236}">
                <a16:creationId xmlns:a16="http://schemas.microsoft.com/office/drawing/2014/main" id="{4BB2FEA5-42CD-4EFF-9F24-AE62A129E8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3998" y="2272553"/>
            <a:ext cx="5141509" cy="4220322"/>
          </a:xfrm>
          <a:prstGeom prst="rect">
            <a:avLst/>
          </a:prstGeom>
        </p:spPr>
      </p:pic>
    </p:spTree>
    <p:extLst>
      <p:ext uri="{BB962C8B-B14F-4D97-AF65-F5344CB8AC3E}">
        <p14:creationId xmlns:p14="http://schemas.microsoft.com/office/powerpoint/2010/main" val="3421468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DCEE62-592D-42BB-BE77-810F24B784A2}"/>
              </a:ext>
            </a:extLst>
          </p:cNvPr>
          <p:cNvSpPr>
            <a:spLocks noGrp="1"/>
          </p:cNvSpPr>
          <p:nvPr>
            <p:ph type="title"/>
          </p:nvPr>
        </p:nvSpPr>
        <p:spPr/>
        <p:txBody>
          <a:bodyPr/>
          <a:lstStyle/>
          <a:p>
            <a:r>
              <a:rPr lang="en-US" altLang="zh-CN" dirty="0" err="1"/>
              <a:t>wujian</a:t>
            </a:r>
            <a:r>
              <a:rPr lang="zh-CN" altLang="en-US" dirty="0"/>
              <a:t>平台介绍</a:t>
            </a:r>
          </a:p>
        </p:txBody>
      </p:sp>
      <p:sp>
        <p:nvSpPr>
          <p:cNvPr id="3" name="内容占位符 2">
            <a:extLst>
              <a:ext uri="{FF2B5EF4-FFF2-40B4-BE49-F238E27FC236}">
                <a16:creationId xmlns:a16="http://schemas.microsoft.com/office/drawing/2014/main" id="{AADFB13E-222A-4E0F-B03B-8FA8988803BE}"/>
              </a:ext>
            </a:extLst>
          </p:cNvPr>
          <p:cNvSpPr>
            <a:spLocks noGrp="1"/>
          </p:cNvSpPr>
          <p:nvPr>
            <p:ph idx="1"/>
          </p:nvPr>
        </p:nvSpPr>
        <p:spPr/>
        <p:txBody>
          <a:bodyPr>
            <a:normAutofit/>
          </a:bodyPr>
          <a:lstStyle/>
          <a:p>
            <a:r>
              <a:rPr lang="en-US" altLang="zh-CN" dirty="0"/>
              <a:t>wujian100_open soc</a:t>
            </a:r>
            <a:r>
              <a:rPr lang="zh-CN" altLang="en-US" dirty="0"/>
              <a:t>概述（参考</a:t>
            </a:r>
            <a:r>
              <a:rPr lang="en-US" altLang="zh-CN" dirty="0"/>
              <a:t>doc</a:t>
            </a:r>
            <a:r>
              <a:rPr lang="zh-CN" altLang="en-US" dirty="0"/>
              <a:t>目录下的用户手册）</a:t>
            </a:r>
            <a:endParaRPr lang="en-US" altLang="zh-CN" dirty="0"/>
          </a:p>
          <a:p>
            <a:pPr lvl="1"/>
            <a:r>
              <a:rPr lang="en-US" altLang="zh-CN" dirty="0"/>
              <a:t>A</a:t>
            </a:r>
            <a:r>
              <a:rPr lang="zh-CN" altLang="zh-CN" dirty="0"/>
              <a:t>、</a:t>
            </a:r>
            <a:r>
              <a:rPr lang="en-US" altLang="zh-CN" dirty="0"/>
              <a:t>CPU Part</a:t>
            </a:r>
          </a:p>
          <a:p>
            <a:pPr lvl="2"/>
            <a:r>
              <a:rPr lang="en-US" altLang="zh-CN" dirty="0"/>
              <a:t>A-1</a:t>
            </a:r>
            <a:r>
              <a:rPr lang="zh-CN" altLang="zh-CN" dirty="0"/>
              <a:t>、</a:t>
            </a:r>
            <a:r>
              <a:rPr lang="en-US" altLang="zh-CN" dirty="0"/>
              <a:t>32-bit general purpose CPU E902</a:t>
            </a:r>
            <a:endParaRPr lang="zh-CN" altLang="zh-CN" dirty="0"/>
          </a:p>
          <a:p>
            <a:pPr lvl="2"/>
            <a:r>
              <a:rPr lang="en-US" altLang="zh-CN" dirty="0"/>
              <a:t>A-2</a:t>
            </a:r>
            <a:r>
              <a:rPr lang="zh-CN" altLang="zh-CN" dirty="0"/>
              <a:t>、</a:t>
            </a:r>
            <a:r>
              <a:rPr lang="en-US" altLang="zh-CN" dirty="0" err="1"/>
              <a:t>CoreTim</a:t>
            </a:r>
            <a:r>
              <a:rPr lang="zh-CN" altLang="en-US" dirty="0"/>
              <a:t>，</a:t>
            </a:r>
            <a:r>
              <a:rPr lang="en-US" altLang="zh-CN" dirty="0"/>
              <a:t> 24</a:t>
            </a:r>
            <a:r>
              <a:rPr lang="zh-CN" altLang="zh-CN" dirty="0"/>
              <a:t>位宽的循环递减定时器</a:t>
            </a:r>
          </a:p>
          <a:p>
            <a:pPr lvl="2"/>
            <a:r>
              <a:rPr lang="en-US" altLang="zh-CN" dirty="0"/>
              <a:t>A-3</a:t>
            </a:r>
            <a:r>
              <a:rPr lang="zh-CN" altLang="zh-CN" dirty="0"/>
              <a:t>、</a:t>
            </a:r>
            <a:r>
              <a:rPr lang="en-US" altLang="zh-CN" dirty="0"/>
              <a:t>VIC, Vectored Interrupt Controller</a:t>
            </a:r>
          </a:p>
          <a:p>
            <a:pPr lvl="3"/>
            <a:r>
              <a:rPr lang="en-US" altLang="zh-CN" dirty="0"/>
              <a:t>VIC</a:t>
            </a:r>
            <a:r>
              <a:rPr lang="zh-CN" altLang="en-US" dirty="0"/>
              <a:t>是嵌入式系统快速处理大量中断事件的一种解决方案，</a:t>
            </a:r>
          </a:p>
          <a:p>
            <a:pPr lvl="3"/>
            <a:r>
              <a:rPr lang="zh-CN" altLang="en-US" dirty="0"/>
              <a:t>功能：</a:t>
            </a:r>
            <a:r>
              <a:rPr lang="en-US" altLang="zh-CN" dirty="0"/>
              <a:t>1</a:t>
            </a:r>
            <a:r>
              <a:rPr lang="zh-CN" altLang="en-US" dirty="0"/>
              <a:t>、</a:t>
            </a:r>
            <a:r>
              <a:rPr lang="en-US" altLang="zh-CN" dirty="0"/>
              <a:t>Provides an interface to the interrupts in your system</a:t>
            </a:r>
            <a:r>
              <a:rPr lang="zh-CN" altLang="en-US" dirty="0"/>
              <a:t>；</a:t>
            </a:r>
            <a:r>
              <a:rPr lang="en-US" altLang="zh-CN" dirty="0"/>
              <a:t>2</a:t>
            </a:r>
            <a:r>
              <a:rPr lang="zh-CN" altLang="en-US" dirty="0"/>
              <a:t>、</a:t>
            </a:r>
            <a:r>
              <a:rPr lang="en-US" altLang="zh-CN" dirty="0"/>
              <a:t>Reduces interrupt overhead</a:t>
            </a:r>
            <a:r>
              <a:rPr lang="zh-CN" altLang="en-US" dirty="0"/>
              <a:t>；</a:t>
            </a:r>
            <a:r>
              <a:rPr lang="en-US" altLang="zh-CN" dirty="0"/>
              <a:t>3</a:t>
            </a:r>
            <a:r>
              <a:rPr lang="zh-CN" altLang="en-US" dirty="0"/>
              <a:t>、</a:t>
            </a:r>
            <a:r>
              <a:rPr lang="en-US" altLang="zh-CN" dirty="0"/>
              <a:t>Manages large numbers of interrupts</a:t>
            </a:r>
          </a:p>
          <a:p>
            <a:pPr lvl="3"/>
            <a:r>
              <a:rPr lang="zh-CN" altLang="en-US" dirty="0"/>
              <a:t>优势：</a:t>
            </a:r>
            <a:r>
              <a:rPr lang="en-US" altLang="zh-CN" dirty="0"/>
              <a:t>1</a:t>
            </a:r>
            <a:r>
              <a:rPr lang="zh-CN" altLang="en-US" dirty="0"/>
              <a:t>、减少中断响应时间；</a:t>
            </a:r>
            <a:r>
              <a:rPr lang="en-US" altLang="zh-CN" dirty="0"/>
              <a:t>2</a:t>
            </a:r>
            <a:r>
              <a:rPr lang="zh-CN" altLang="en-US" dirty="0"/>
              <a:t>、能够满足中断性能的实时要求；</a:t>
            </a:r>
            <a:r>
              <a:rPr lang="en-US" altLang="zh-CN" dirty="0"/>
              <a:t>3</a:t>
            </a:r>
            <a:r>
              <a:rPr lang="zh-CN" altLang="en-US" dirty="0"/>
              <a:t>、可支持不可屏蔽的中断；</a:t>
            </a:r>
            <a:r>
              <a:rPr lang="en-US" altLang="zh-CN" dirty="0"/>
              <a:t>4</a:t>
            </a:r>
            <a:r>
              <a:rPr lang="zh-CN" altLang="en-US" dirty="0"/>
              <a:t>、可以处理大数目的中断</a:t>
            </a:r>
            <a:endParaRPr lang="en-US" altLang="zh-CN" dirty="0"/>
          </a:p>
          <a:p>
            <a:pPr lvl="1"/>
            <a:r>
              <a:rPr lang="en-US" altLang="zh-CN" dirty="0"/>
              <a:t>B</a:t>
            </a:r>
            <a:r>
              <a:rPr lang="zh-CN" altLang="zh-CN" dirty="0"/>
              <a:t>、</a:t>
            </a:r>
            <a:r>
              <a:rPr lang="en-US" altLang="zh-CN" dirty="0"/>
              <a:t>Memory</a:t>
            </a:r>
            <a:endParaRPr lang="zh-CN" altLang="zh-CN" dirty="0"/>
          </a:p>
          <a:p>
            <a:pPr lvl="2"/>
            <a:r>
              <a:rPr lang="en-US" altLang="zh-CN" dirty="0"/>
              <a:t>64KB ISRAM and 3×64KB DSRAM on-chip SRAM</a:t>
            </a:r>
          </a:p>
          <a:p>
            <a:pPr lvl="3"/>
            <a:r>
              <a:rPr lang="en-US" altLang="zh-CN" dirty="0"/>
              <a:t>1</a:t>
            </a:r>
            <a:r>
              <a:rPr lang="zh-CN" altLang="zh-CN" dirty="0"/>
              <a:t>块</a:t>
            </a:r>
            <a:r>
              <a:rPr lang="en-US" altLang="zh-CN" dirty="0"/>
              <a:t>64KB</a:t>
            </a:r>
            <a:r>
              <a:rPr lang="zh-CN" altLang="zh-CN" dirty="0"/>
              <a:t>的指令</a:t>
            </a:r>
            <a:r>
              <a:rPr lang="en-US" altLang="zh-CN" dirty="0"/>
              <a:t>SRAM</a:t>
            </a:r>
            <a:r>
              <a:rPr lang="zh-CN" altLang="zh-CN" dirty="0"/>
              <a:t>和</a:t>
            </a:r>
            <a:r>
              <a:rPr lang="en-US" altLang="zh-CN" dirty="0"/>
              <a:t>3</a:t>
            </a:r>
            <a:r>
              <a:rPr lang="zh-CN" altLang="zh-CN" dirty="0"/>
              <a:t>块</a:t>
            </a:r>
            <a:r>
              <a:rPr lang="en-US" altLang="zh-CN" dirty="0"/>
              <a:t>64KB</a:t>
            </a:r>
            <a:r>
              <a:rPr lang="zh-CN" altLang="zh-CN" dirty="0"/>
              <a:t>的数据</a:t>
            </a:r>
            <a:r>
              <a:rPr lang="en-US" altLang="zh-CN" dirty="0"/>
              <a:t>SRAM</a:t>
            </a:r>
          </a:p>
          <a:p>
            <a:pPr lvl="2"/>
            <a:endParaRPr lang="zh-CN" altLang="zh-CN" dirty="0"/>
          </a:p>
          <a:p>
            <a:pPr marL="914400" lvl="2" indent="0">
              <a:buNone/>
            </a:pPr>
            <a:endParaRPr lang="en-US" altLang="zh-CN" dirty="0"/>
          </a:p>
        </p:txBody>
      </p:sp>
    </p:spTree>
    <p:extLst>
      <p:ext uri="{BB962C8B-B14F-4D97-AF65-F5344CB8AC3E}">
        <p14:creationId xmlns:p14="http://schemas.microsoft.com/office/powerpoint/2010/main" val="2166918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692963-7F23-4D7A-9F04-AF3CC4EA64CC}"/>
              </a:ext>
            </a:extLst>
          </p:cNvPr>
          <p:cNvSpPr>
            <a:spLocks noGrp="1"/>
          </p:cNvSpPr>
          <p:nvPr>
            <p:ph type="title"/>
          </p:nvPr>
        </p:nvSpPr>
        <p:spPr/>
        <p:txBody>
          <a:bodyPr/>
          <a:lstStyle/>
          <a:p>
            <a:r>
              <a:rPr lang="en-US" altLang="zh-CN" dirty="0" err="1"/>
              <a:t>wujian</a:t>
            </a:r>
            <a:r>
              <a:rPr lang="zh-CN" altLang="en-US" dirty="0"/>
              <a:t>平台介绍</a:t>
            </a:r>
          </a:p>
        </p:txBody>
      </p:sp>
      <p:sp>
        <p:nvSpPr>
          <p:cNvPr id="3" name="内容占位符 2">
            <a:extLst>
              <a:ext uri="{FF2B5EF4-FFF2-40B4-BE49-F238E27FC236}">
                <a16:creationId xmlns:a16="http://schemas.microsoft.com/office/drawing/2014/main" id="{BC04D387-40A4-4FF8-A270-CDB15541ABCF}"/>
              </a:ext>
            </a:extLst>
          </p:cNvPr>
          <p:cNvSpPr>
            <a:spLocks noGrp="1"/>
          </p:cNvSpPr>
          <p:nvPr>
            <p:ph idx="1"/>
          </p:nvPr>
        </p:nvSpPr>
        <p:spPr/>
        <p:txBody>
          <a:bodyPr>
            <a:normAutofit fontScale="92500" lnSpcReduction="20000"/>
          </a:bodyPr>
          <a:lstStyle/>
          <a:p>
            <a:r>
              <a:rPr lang="en-US" altLang="zh-CN" dirty="0"/>
              <a:t>wujian100_open soc</a:t>
            </a:r>
            <a:r>
              <a:rPr lang="zh-CN" altLang="en-US" dirty="0"/>
              <a:t>概述（参考</a:t>
            </a:r>
            <a:r>
              <a:rPr lang="en-US" altLang="zh-CN" dirty="0"/>
              <a:t>doc</a:t>
            </a:r>
            <a:r>
              <a:rPr lang="zh-CN" altLang="en-US" dirty="0"/>
              <a:t>目录下的用户手册）</a:t>
            </a:r>
            <a:endParaRPr lang="en-US" altLang="zh-CN" dirty="0"/>
          </a:p>
          <a:p>
            <a:pPr lvl="1"/>
            <a:r>
              <a:rPr lang="en-US" altLang="zh-CN" dirty="0"/>
              <a:t>C</a:t>
            </a:r>
            <a:r>
              <a:rPr lang="zh-CN" altLang="zh-CN" dirty="0"/>
              <a:t>、</a:t>
            </a:r>
            <a:r>
              <a:rPr lang="en-US" altLang="zh-CN" dirty="0"/>
              <a:t>Characteristics of Peripherals</a:t>
            </a:r>
          </a:p>
          <a:p>
            <a:pPr lvl="2"/>
            <a:r>
              <a:rPr lang="en-US" altLang="zh-CN" dirty="0"/>
              <a:t>C-1</a:t>
            </a:r>
            <a:r>
              <a:rPr lang="zh-CN" altLang="zh-CN" dirty="0"/>
              <a:t>、</a:t>
            </a:r>
            <a:r>
              <a:rPr lang="en-US" altLang="zh-CN" dirty="0"/>
              <a:t>DMAC(x1),Direct Memory Access Controller</a:t>
            </a:r>
          </a:p>
          <a:p>
            <a:pPr lvl="3"/>
            <a:r>
              <a:rPr lang="en-US" altLang="zh-CN" dirty="0"/>
              <a:t>DMA</a:t>
            </a:r>
            <a:r>
              <a:rPr lang="zh-CN" altLang="en-US" dirty="0"/>
              <a:t>（</a:t>
            </a:r>
            <a:r>
              <a:rPr lang="en-US" altLang="zh-CN" dirty="0"/>
              <a:t>Direct Memory Access </a:t>
            </a:r>
            <a:r>
              <a:rPr lang="zh-CN" altLang="en-US" dirty="0"/>
              <a:t>直接存储器访问）技术使得外围设备能够直接通过</a:t>
            </a:r>
            <a:r>
              <a:rPr lang="en-US" altLang="zh-CN" dirty="0"/>
              <a:t>DMAC</a:t>
            </a:r>
            <a:r>
              <a:rPr lang="zh-CN" altLang="en-US" dirty="0"/>
              <a:t>直接访问内存，无需</a:t>
            </a:r>
            <a:r>
              <a:rPr lang="en-US" altLang="zh-CN" dirty="0"/>
              <a:t>CPU</a:t>
            </a:r>
            <a:r>
              <a:rPr lang="zh-CN" altLang="en-US" dirty="0"/>
              <a:t>直接控制传输，与此同时</a:t>
            </a:r>
            <a:r>
              <a:rPr lang="en-US" altLang="zh-CN" dirty="0"/>
              <a:t>CPU</a:t>
            </a:r>
            <a:r>
              <a:rPr lang="zh-CN" altLang="en-US" dirty="0"/>
              <a:t>可以继续执行程序。</a:t>
            </a:r>
          </a:p>
          <a:p>
            <a:pPr lvl="3"/>
            <a:r>
              <a:rPr lang="en-US" altLang="zh-CN" dirty="0"/>
              <a:t>DMA</a:t>
            </a:r>
            <a:r>
              <a:rPr lang="zh-CN" altLang="en-US" dirty="0"/>
              <a:t>传输过程：</a:t>
            </a:r>
          </a:p>
          <a:p>
            <a:pPr lvl="3"/>
            <a:r>
              <a:rPr lang="en-US" altLang="zh-CN" dirty="0"/>
              <a:t>1</a:t>
            </a:r>
            <a:r>
              <a:rPr lang="zh-CN" altLang="en-US" dirty="0"/>
              <a:t>、</a:t>
            </a:r>
            <a:r>
              <a:rPr lang="en-US" altLang="zh-CN" dirty="0"/>
              <a:t>I/O</a:t>
            </a:r>
            <a:r>
              <a:rPr lang="zh-CN" altLang="en-US" dirty="0"/>
              <a:t>提出</a:t>
            </a:r>
            <a:r>
              <a:rPr lang="en-US" altLang="zh-CN" dirty="0"/>
              <a:t>DMA</a:t>
            </a:r>
            <a:r>
              <a:rPr lang="zh-CN" altLang="en-US" dirty="0"/>
              <a:t>请求</a:t>
            </a:r>
          </a:p>
          <a:p>
            <a:pPr lvl="3"/>
            <a:r>
              <a:rPr lang="en-US" altLang="zh-CN" dirty="0"/>
              <a:t>2</a:t>
            </a:r>
            <a:r>
              <a:rPr lang="zh-CN" altLang="en-US" dirty="0"/>
              <a:t>、</a:t>
            </a:r>
            <a:r>
              <a:rPr lang="en-US" altLang="zh-CN" dirty="0"/>
              <a:t>DMAC</a:t>
            </a:r>
            <a:r>
              <a:rPr lang="zh-CN" altLang="en-US" dirty="0"/>
              <a:t>处理</a:t>
            </a:r>
            <a:r>
              <a:rPr lang="en-US" altLang="zh-CN" dirty="0"/>
              <a:t>DMA</a:t>
            </a:r>
            <a:r>
              <a:rPr lang="zh-CN" altLang="en-US" dirty="0"/>
              <a:t>请求，向总线裁决逻辑提出总线请求</a:t>
            </a:r>
          </a:p>
          <a:p>
            <a:pPr lvl="3"/>
            <a:r>
              <a:rPr lang="en-US" altLang="zh-CN" dirty="0"/>
              <a:t>3</a:t>
            </a:r>
            <a:r>
              <a:rPr lang="zh-CN" altLang="en-US" dirty="0"/>
              <a:t>、</a:t>
            </a:r>
            <a:r>
              <a:rPr lang="en-US" altLang="zh-CN" dirty="0"/>
              <a:t>DMAC</a:t>
            </a:r>
            <a:r>
              <a:rPr lang="zh-CN" altLang="en-US" dirty="0"/>
              <a:t>得到总线应答即获得总线控制权后，由</a:t>
            </a:r>
            <a:r>
              <a:rPr lang="en-US" altLang="zh-CN" dirty="0"/>
              <a:t>DMAC</a:t>
            </a:r>
            <a:r>
              <a:rPr lang="zh-CN" altLang="en-US" dirty="0"/>
              <a:t>直接控制数据传输的进行</a:t>
            </a:r>
          </a:p>
          <a:p>
            <a:pPr lvl="3"/>
            <a:r>
              <a:rPr lang="en-US" altLang="zh-CN" dirty="0"/>
              <a:t>4</a:t>
            </a:r>
            <a:r>
              <a:rPr lang="zh-CN" altLang="en-US" dirty="0"/>
              <a:t>、数据传输结束后，</a:t>
            </a:r>
            <a:r>
              <a:rPr lang="en-US" altLang="zh-CN" dirty="0"/>
              <a:t>DMAC</a:t>
            </a:r>
            <a:r>
              <a:rPr lang="zh-CN" altLang="en-US" dirty="0"/>
              <a:t>释放总线控制权并告知</a:t>
            </a:r>
            <a:r>
              <a:rPr lang="en-US" altLang="zh-CN" dirty="0"/>
              <a:t>I/O</a:t>
            </a:r>
            <a:r>
              <a:rPr lang="zh-CN" altLang="en-US" dirty="0"/>
              <a:t>，</a:t>
            </a:r>
            <a:r>
              <a:rPr lang="en-US" altLang="zh-CN" dirty="0"/>
              <a:t>I/O</a:t>
            </a:r>
            <a:r>
              <a:rPr lang="zh-CN" altLang="en-US" dirty="0"/>
              <a:t>提出中断，</a:t>
            </a:r>
            <a:r>
              <a:rPr lang="en-US" altLang="zh-CN" dirty="0"/>
              <a:t>CPU</a:t>
            </a:r>
            <a:r>
              <a:rPr lang="zh-CN" altLang="en-US" dirty="0"/>
              <a:t>从不介入的状态解脱并检查传输是否正确。</a:t>
            </a:r>
            <a:endParaRPr lang="en-US" altLang="zh-CN" dirty="0"/>
          </a:p>
          <a:p>
            <a:pPr lvl="2"/>
            <a:r>
              <a:rPr lang="en-US" altLang="zh-CN" dirty="0"/>
              <a:t>C-2</a:t>
            </a:r>
            <a:r>
              <a:rPr lang="zh-CN" altLang="zh-CN" dirty="0"/>
              <a:t>、</a:t>
            </a:r>
            <a:r>
              <a:rPr lang="en-US" altLang="zh-CN" dirty="0"/>
              <a:t>TIM(x8),Timer,</a:t>
            </a:r>
            <a:r>
              <a:rPr lang="zh-CN" altLang="en-US" dirty="0"/>
              <a:t>定时器</a:t>
            </a:r>
            <a:endParaRPr lang="en-US" altLang="zh-CN" dirty="0"/>
          </a:p>
          <a:p>
            <a:pPr lvl="2"/>
            <a:r>
              <a:rPr lang="en-US" altLang="zh-CN" dirty="0"/>
              <a:t>C-3</a:t>
            </a:r>
            <a:r>
              <a:rPr lang="zh-CN" altLang="zh-CN" dirty="0"/>
              <a:t>、</a:t>
            </a:r>
            <a:r>
              <a:rPr lang="en-US" altLang="zh-CN" dirty="0"/>
              <a:t>GPIO(x1),General Purpose I/O</a:t>
            </a:r>
            <a:r>
              <a:rPr lang="zh-CN" altLang="en-US" dirty="0"/>
              <a:t>，通用</a:t>
            </a:r>
            <a:r>
              <a:rPr lang="en-US" altLang="zh-CN" dirty="0"/>
              <a:t>I/O</a:t>
            </a:r>
            <a:r>
              <a:rPr lang="zh-CN" altLang="en-US" dirty="0"/>
              <a:t>口，与其他设备通信。</a:t>
            </a:r>
            <a:endParaRPr lang="zh-CN" altLang="zh-CN" dirty="0"/>
          </a:p>
          <a:p>
            <a:pPr lvl="2"/>
            <a:r>
              <a:rPr lang="en-US" altLang="zh-CN" dirty="0"/>
              <a:t>C-4</a:t>
            </a:r>
            <a:r>
              <a:rPr lang="zh-CN" altLang="zh-CN" dirty="0"/>
              <a:t>、</a:t>
            </a:r>
            <a:r>
              <a:rPr lang="en-US" altLang="zh-CN" dirty="0"/>
              <a:t>USI(x3), UART/SPI/I2C</a:t>
            </a:r>
          </a:p>
          <a:p>
            <a:pPr lvl="3"/>
            <a:r>
              <a:rPr lang="en-US" altLang="zh-CN" dirty="0"/>
              <a:t>USI</a:t>
            </a:r>
            <a:r>
              <a:rPr lang="zh-CN" altLang="zh-CN" dirty="0"/>
              <a:t>模块是一个串行接口，可用于通过</a:t>
            </a:r>
            <a:r>
              <a:rPr lang="en-US" altLang="zh-CN" dirty="0"/>
              <a:t>USI</a:t>
            </a:r>
            <a:r>
              <a:rPr lang="zh-CN" altLang="zh-CN" dirty="0"/>
              <a:t>中的串行接口与其他外围设备或微控制器设备进行通信。</a:t>
            </a:r>
            <a:r>
              <a:rPr lang="en-US" altLang="zh-CN" dirty="0"/>
              <a:t>USI</a:t>
            </a:r>
            <a:r>
              <a:rPr lang="zh-CN" altLang="zh-CN" dirty="0"/>
              <a:t>模块可以配置成符合</a:t>
            </a:r>
            <a:r>
              <a:rPr lang="en-US" altLang="zh-CN" dirty="0"/>
              <a:t>UART</a:t>
            </a:r>
            <a:r>
              <a:rPr lang="zh-CN" altLang="zh-CN" dirty="0"/>
              <a:t>、</a:t>
            </a:r>
            <a:r>
              <a:rPr lang="en-US" altLang="zh-CN" dirty="0"/>
              <a:t>I2C</a:t>
            </a:r>
            <a:r>
              <a:rPr lang="zh-CN" altLang="zh-CN" dirty="0"/>
              <a:t>、</a:t>
            </a:r>
            <a:r>
              <a:rPr lang="en-US" altLang="zh-CN" dirty="0"/>
              <a:t>SPI</a:t>
            </a:r>
            <a:r>
              <a:rPr lang="zh-CN" altLang="zh-CN" dirty="0"/>
              <a:t>协议的接口。</a:t>
            </a:r>
            <a:endParaRPr lang="en-US" altLang="zh-CN" dirty="0"/>
          </a:p>
          <a:p>
            <a:endParaRPr lang="zh-CN" altLang="en-US" dirty="0"/>
          </a:p>
        </p:txBody>
      </p:sp>
    </p:spTree>
    <p:extLst>
      <p:ext uri="{BB962C8B-B14F-4D97-AF65-F5344CB8AC3E}">
        <p14:creationId xmlns:p14="http://schemas.microsoft.com/office/powerpoint/2010/main" val="34247023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DCB056-1174-4958-BF5F-42C78611FEF6}"/>
              </a:ext>
            </a:extLst>
          </p:cNvPr>
          <p:cNvSpPr>
            <a:spLocks noGrp="1"/>
          </p:cNvSpPr>
          <p:nvPr>
            <p:ph type="title"/>
          </p:nvPr>
        </p:nvSpPr>
        <p:spPr/>
        <p:txBody>
          <a:bodyPr/>
          <a:lstStyle/>
          <a:p>
            <a:r>
              <a:rPr lang="en-US" altLang="zh-CN" dirty="0" err="1"/>
              <a:t>wujian</a:t>
            </a:r>
            <a:r>
              <a:rPr lang="zh-CN" altLang="en-US" dirty="0"/>
              <a:t>平台介绍</a:t>
            </a:r>
          </a:p>
        </p:txBody>
      </p:sp>
      <p:sp>
        <p:nvSpPr>
          <p:cNvPr id="3" name="内容占位符 2">
            <a:extLst>
              <a:ext uri="{FF2B5EF4-FFF2-40B4-BE49-F238E27FC236}">
                <a16:creationId xmlns:a16="http://schemas.microsoft.com/office/drawing/2014/main" id="{1529A5DF-1C3C-4B79-927C-85586A2B09A5}"/>
              </a:ext>
            </a:extLst>
          </p:cNvPr>
          <p:cNvSpPr>
            <a:spLocks noGrp="1"/>
          </p:cNvSpPr>
          <p:nvPr>
            <p:ph idx="1"/>
          </p:nvPr>
        </p:nvSpPr>
        <p:spPr/>
        <p:txBody>
          <a:bodyPr/>
          <a:lstStyle/>
          <a:p>
            <a:r>
              <a:rPr lang="en-US" altLang="zh-CN" dirty="0"/>
              <a:t>wujian100_open soc</a:t>
            </a:r>
            <a:r>
              <a:rPr lang="zh-CN" altLang="en-US" dirty="0"/>
              <a:t>概述（参考</a:t>
            </a:r>
            <a:r>
              <a:rPr lang="en-US" altLang="zh-CN" dirty="0"/>
              <a:t>doc</a:t>
            </a:r>
            <a:r>
              <a:rPr lang="zh-CN" altLang="en-US" dirty="0"/>
              <a:t>目录下的用户手册）</a:t>
            </a:r>
            <a:endParaRPr lang="en-US" altLang="zh-CN" dirty="0"/>
          </a:p>
          <a:p>
            <a:pPr lvl="1"/>
            <a:r>
              <a:rPr lang="en-US" altLang="zh-CN" dirty="0"/>
              <a:t>C</a:t>
            </a:r>
            <a:r>
              <a:rPr lang="zh-CN" altLang="zh-CN" dirty="0"/>
              <a:t>、</a:t>
            </a:r>
            <a:r>
              <a:rPr lang="en-US" altLang="zh-CN" dirty="0"/>
              <a:t>Characteristics of Peripherals</a:t>
            </a:r>
          </a:p>
          <a:p>
            <a:pPr lvl="2"/>
            <a:r>
              <a:rPr lang="en-US" altLang="zh-CN" dirty="0"/>
              <a:t>C-5</a:t>
            </a:r>
            <a:r>
              <a:rPr lang="zh-CN" altLang="zh-CN" dirty="0"/>
              <a:t>、</a:t>
            </a:r>
            <a:r>
              <a:rPr lang="en-US" altLang="zh-CN" dirty="0" err="1"/>
              <a:t>RTC,Real</a:t>
            </a:r>
            <a:r>
              <a:rPr lang="en-US" altLang="zh-CN" dirty="0"/>
              <a:t>-Time Clock</a:t>
            </a:r>
          </a:p>
          <a:p>
            <a:pPr lvl="3"/>
            <a:r>
              <a:rPr lang="zh-CN" altLang="zh-CN" dirty="0"/>
              <a:t>实时时钟，用于提供精确的实时时间或提供时间基准。</a:t>
            </a:r>
          </a:p>
          <a:p>
            <a:pPr lvl="2"/>
            <a:r>
              <a:rPr lang="en-US" altLang="zh-CN" dirty="0"/>
              <a:t>C-6</a:t>
            </a:r>
            <a:r>
              <a:rPr lang="zh-CN" altLang="zh-CN" dirty="0"/>
              <a:t>、</a:t>
            </a:r>
            <a:r>
              <a:rPr lang="en-US" altLang="zh-CN" dirty="0" err="1"/>
              <a:t>PWM,Pluse</a:t>
            </a:r>
            <a:r>
              <a:rPr lang="en-US" altLang="zh-CN" dirty="0"/>
              <a:t> Width Modulation</a:t>
            </a:r>
          </a:p>
          <a:p>
            <a:pPr lvl="3"/>
            <a:r>
              <a:rPr lang="en-US" altLang="zh-CN" dirty="0"/>
              <a:t>PWM</a:t>
            </a:r>
            <a:r>
              <a:rPr lang="zh-CN" altLang="zh-CN" dirty="0"/>
              <a:t>（脉冲宽度调制），是一种对模拟信号电平进行数字编码的方法。通过高分辨率计数器的使用，方波的占空比被调制用来对一个具体模拟信号的电平进行编码。</a:t>
            </a:r>
            <a:r>
              <a:rPr lang="en-US" altLang="zh-CN" dirty="0"/>
              <a:t>PWM</a:t>
            </a:r>
            <a:r>
              <a:rPr lang="zh-CN" altLang="zh-CN" dirty="0"/>
              <a:t>是利用微处理器的数字输出来对模拟电路进行控制的一种非常有效的技术。</a:t>
            </a:r>
          </a:p>
          <a:p>
            <a:pPr lvl="2"/>
            <a:r>
              <a:rPr lang="en-US" altLang="zh-CN" dirty="0"/>
              <a:t>C-7</a:t>
            </a:r>
            <a:r>
              <a:rPr lang="zh-CN" altLang="zh-CN" dirty="0"/>
              <a:t>、</a:t>
            </a:r>
            <a:r>
              <a:rPr lang="en-US" altLang="zh-CN" dirty="0" err="1"/>
              <a:t>WDT,Watchdog</a:t>
            </a:r>
            <a:endParaRPr lang="en-US" altLang="zh-CN" dirty="0"/>
          </a:p>
          <a:p>
            <a:pPr lvl="3"/>
            <a:r>
              <a:rPr lang="zh-CN" altLang="zh-CN" dirty="0"/>
              <a:t>是一个定时器电路，若</a:t>
            </a:r>
            <a:r>
              <a:rPr lang="en-US" altLang="zh-CN" dirty="0"/>
              <a:t>WDT</a:t>
            </a:r>
            <a:r>
              <a:rPr lang="zh-CN" altLang="zh-CN" dirty="0"/>
              <a:t>定时超过，就会对</a:t>
            </a:r>
            <a:r>
              <a:rPr lang="en-US" altLang="zh-CN" dirty="0"/>
              <a:t>MCU</a:t>
            </a:r>
            <a:r>
              <a:rPr lang="zh-CN" altLang="zh-CN" dirty="0"/>
              <a:t>进行复位，防止</a:t>
            </a:r>
            <a:r>
              <a:rPr lang="en-US" altLang="zh-CN" dirty="0"/>
              <a:t>MCU</a:t>
            </a:r>
            <a:r>
              <a:rPr lang="zh-CN" altLang="zh-CN" dirty="0"/>
              <a:t>死机。</a:t>
            </a:r>
          </a:p>
          <a:p>
            <a:pPr lvl="3"/>
            <a:endParaRPr lang="zh-CN" altLang="zh-CN" dirty="0"/>
          </a:p>
          <a:p>
            <a:pPr lvl="2"/>
            <a:endParaRPr lang="zh-CN" altLang="en-US" dirty="0"/>
          </a:p>
        </p:txBody>
      </p:sp>
    </p:spTree>
    <p:extLst>
      <p:ext uri="{BB962C8B-B14F-4D97-AF65-F5344CB8AC3E}">
        <p14:creationId xmlns:p14="http://schemas.microsoft.com/office/powerpoint/2010/main" val="37343094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B4913D-AD03-444D-8CF5-941DBF337EB2}"/>
              </a:ext>
            </a:extLst>
          </p:cNvPr>
          <p:cNvSpPr>
            <a:spLocks noGrp="1"/>
          </p:cNvSpPr>
          <p:nvPr>
            <p:ph type="title"/>
          </p:nvPr>
        </p:nvSpPr>
        <p:spPr/>
        <p:txBody>
          <a:bodyPr/>
          <a:lstStyle/>
          <a:p>
            <a:r>
              <a:rPr lang="en-US" altLang="zh-CN" dirty="0"/>
              <a:t>P2E</a:t>
            </a:r>
            <a:r>
              <a:rPr lang="zh-CN" altLang="en-US" dirty="0"/>
              <a:t>平台介绍</a:t>
            </a:r>
          </a:p>
        </p:txBody>
      </p:sp>
      <p:sp>
        <p:nvSpPr>
          <p:cNvPr id="3" name="内容占位符 2">
            <a:extLst>
              <a:ext uri="{FF2B5EF4-FFF2-40B4-BE49-F238E27FC236}">
                <a16:creationId xmlns:a16="http://schemas.microsoft.com/office/drawing/2014/main" id="{88801EF8-59E7-4528-8D18-4C65FBC77DC1}"/>
              </a:ext>
            </a:extLst>
          </p:cNvPr>
          <p:cNvSpPr>
            <a:spLocks noGrp="1"/>
          </p:cNvSpPr>
          <p:nvPr>
            <p:ph idx="1"/>
          </p:nvPr>
        </p:nvSpPr>
        <p:spPr/>
        <p:txBody>
          <a:bodyPr>
            <a:normAutofit/>
          </a:bodyPr>
          <a:lstStyle/>
          <a:p>
            <a:r>
              <a:rPr lang="en-US" altLang="zh-CN" sz="2000" dirty="0" err="1"/>
              <a:t>HuaPro</a:t>
            </a:r>
            <a:r>
              <a:rPr lang="en-US" altLang="zh-CN" sz="2000" dirty="0"/>
              <a:t> P2E</a:t>
            </a:r>
            <a:r>
              <a:rPr lang="zh-CN" altLang="en-US" sz="2000" dirty="0"/>
              <a:t>是芯华章旗下新一代的高性能</a:t>
            </a:r>
            <a:r>
              <a:rPr lang="en-US" altLang="zh-CN" sz="2000" dirty="0"/>
              <a:t>FPGA</a:t>
            </a:r>
            <a:r>
              <a:rPr lang="zh-CN" altLang="en-US" sz="2000" dirty="0"/>
              <a:t>双模硬件系统，集成原型验证和硬件仿真双模式，依托自主研发的一体化</a:t>
            </a:r>
            <a:r>
              <a:rPr lang="en-US" altLang="zh-CN" sz="2000" dirty="0"/>
              <a:t>HPE Compiler</a:t>
            </a:r>
            <a:r>
              <a:rPr lang="zh-CN" altLang="en-US" sz="2000" dirty="0"/>
              <a:t>，支持芯片设计的自动综合、智能分割、优化实现和深度调试。它基于统一芯片、统一硬件和统一软件，真正实现了全新的硬件仿真和原型验证双模工作模式。在综合、编译、验证方案构建、用户脚本、调试等阶段，能最大程度地复用各种技术模块和中间结果，并使用统一用户界面，从而实现原型验证和硬件仿真的无缝集成，在节约用户成本的同时，大大提高验证效率。</a:t>
            </a:r>
            <a:endParaRPr lang="en-US" altLang="zh-CN" sz="2000" dirty="0"/>
          </a:p>
          <a:p>
            <a:endParaRPr lang="zh-CN" altLang="en-US" sz="2000" dirty="0"/>
          </a:p>
        </p:txBody>
      </p:sp>
      <p:pic>
        <p:nvPicPr>
          <p:cNvPr id="1028" name="Picture 4">
            <a:extLst>
              <a:ext uri="{FF2B5EF4-FFF2-40B4-BE49-F238E27FC236}">
                <a16:creationId xmlns:a16="http://schemas.microsoft.com/office/drawing/2014/main" id="{4D164E01-15BC-4DA4-AFDC-0FE608342C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5653" y="3580015"/>
            <a:ext cx="4775842" cy="3277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2004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B4913D-AD03-444D-8CF5-941DBF337EB2}"/>
              </a:ext>
            </a:extLst>
          </p:cNvPr>
          <p:cNvSpPr>
            <a:spLocks noGrp="1"/>
          </p:cNvSpPr>
          <p:nvPr>
            <p:ph type="title"/>
          </p:nvPr>
        </p:nvSpPr>
        <p:spPr/>
        <p:txBody>
          <a:bodyPr/>
          <a:lstStyle/>
          <a:p>
            <a:r>
              <a:rPr lang="en-US" altLang="zh-CN" dirty="0"/>
              <a:t>P2E</a:t>
            </a:r>
            <a:r>
              <a:rPr lang="zh-CN" altLang="en-US" dirty="0"/>
              <a:t>平台介绍</a:t>
            </a:r>
          </a:p>
        </p:txBody>
      </p:sp>
      <p:sp>
        <p:nvSpPr>
          <p:cNvPr id="3" name="内容占位符 2">
            <a:extLst>
              <a:ext uri="{FF2B5EF4-FFF2-40B4-BE49-F238E27FC236}">
                <a16:creationId xmlns:a16="http://schemas.microsoft.com/office/drawing/2014/main" id="{88801EF8-59E7-4528-8D18-4C65FBC77DC1}"/>
              </a:ext>
            </a:extLst>
          </p:cNvPr>
          <p:cNvSpPr>
            <a:spLocks noGrp="1"/>
          </p:cNvSpPr>
          <p:nvPr>
            <p:ph idx="1"/>
          </p:nvPr>
        </p:nvSpPr>
        <p:spPr>
          <a:xfrm>
            <a:off x="838200" y="1825625"/>
            <a:ext cx="6628391" cy="4351338"/>
          </a:xfrm>
        </p:spPr>
        <p:txBody>
          <a:bodyPr>
            <a:normAutofit lnSpcReduction="10000"/>
          </a:bodyPr>
          <a:lstStyle/>
          <a:p>
            <a:r>
              <a:rPr lang="en-US" altLang="zh-CN" dirty="0" err="1"/>
              <a:t>Synthsis</a:t>
            </a:r>
            <a:r>
              <a:rPr lang="en-US" altLang="zh-CN" dirty="0"/>
              <a:t> – </a:t>
            </a:r>
            <a:r>
              <a:rPr lang="en-US" altLang="zh-CN" dirty="0" err="1"/>
              <a:t>vSyn</a:t>
            </a:r>
            <a:endParaRPr lang="en-US" altLang="zh-CN" dirty="0"/>
          </a:p>
          <a:p>
            <a:pPr lvl="1"/>
            <a:r>
              <a:rPr lang="zh-CN" altLang="en-US" sz="2000" dirty="0"/>
              <a:t>使用官方工具</a:t>
            </a:r>
            <a:r>
              <a:rPr lang="en-US" altLang="zh-CN" sz="2000" dirty="0" err="1"/>
              <a:t>vSyn</a:t>
            </a:r>
            <a:r>
              <a:rPr lang="zh-CN" altLang="en-US" sz="2000" dirty="0"/>
              <a:t>进行综合生成</a:t>
            </a:r>
            <a:r>
              <a:rPr lang="en-US" altLang="zh-CN" sz="2000" dirty="0"/>
              <a:t>.</a:t>
            </a:r>
            <a:r>
              <a:rPr lang="en-US" altLang="zh-CN" sz="2000" dirty="0" err="1"/>
              <a:t>vm</a:t>
            </a:r>
            <a:r>
              <a:rPr lang="zh-CN" altLang="en-US" sz="2000" dirty="0"/>
              <a:t>文件，也可选用</a:t>
            </a:r>
            <a:r>
              <a:rPr lang="en-US" altLang="zh-CN" sz="2000" dirty="0" err="1"/>
              <a:t>Synplify</a:t>
            </a:r>
            <a:r>
              <a:rPr lang="en-US" altLang="zh-CN" sz="2000" dirty="0"/>
              <a:t> Premier, </a:t>
            </a:r>
            <a:r>
              <a:rPr lang="en-US" altLang="zh-CN" sz="2000" dirty="0" err="1"/>
              <a:t>Vivado</a:t>
            </a:r>
            <a:r>
              <a:rPr lang="zh-CN" altLang="en-US" sz="2000" dirty="0"/>
              <a:t>等。运行结束后务必确认</a:t>
            </a:r>
            <a:r>
              <a:rPr lang="en-US" altLang="zh-CN" sz="2000" dirty="0"/>
              <a:t>vsyn.log</a:t>
            </a:r>
            <a:r>
              <a:rPr lang="zh-CN" altLang="en-US" sz="2000" dirty="0"/>
              <a:t>文件中无</a:t>
            </a:r>
            <a:r>
              <a:rPr lang="en-US" altLang="zh-CN" sz="2000" dirty="0"/>
              <a:t>error</a:t>
            </a:r>
            <a:r>
              <a:rPr lang="zh-CN" altLang="en-US" sz="2000" dirty="0"/>
              <a:t>，且</a:t>
            </a:r>
            <a:r>
              <a:rPr lang="en-US" altLang="zh-CN" sz="2000" dirty="0"/>
              <a:t>warning</a:t>
            </a:r>
            <a:r>
              <a:rPr lang="zh-CN" altLang="en-US" sz="2000" dirty="0"/>
              <a:t>不影响关键步骤运行。</a:t>
            </a:r>
            <a:endParaRPr lang="en-US" altLang="zh-CN" sz="2000" dirty="0"/>
          </a:p>
          <a:p>
            <a:r>
              <a:rPr lang="en-US" altLang="zh-CN" dirty="0" err="1"/>
              <a:t>vCom</a:t>
            </a:r>
            <a:endParaRPr lang="en-US" altLang="zh-CN" dirty="0"/>
          </a:p>
          <a:p>
            <a:pPr lvl="1"/>
            <a:r>
              <a:rPr lang="zh-CN" altLang="en-US" sz="2100" dirty="0"/>
              <a:t>运行</a:t>
            </a:r>
            <a:r>
              <a:rPr lang="en-US" altLang="zh-CN" sz="2100" dirty="0" err="1"/>
              <a:t>vcom</a:t>
            </a:r>
            <a:r>
              <a:rPr lang="en-US" altLang="zh-CN" sz="2100" dirty="0"/>
              <a:t> </a:t>
            </a:r>
            <a:r>
              <a:rPr lang="en-US" altLang="zh-CN" sz="2100" dirty="0" err="1"/>
              <a:t>vcom_compile.tcl</a:t>
            </a:r>
            <a:r>
              <a:rPr lang="zh-CN" altLang="en-US" sz="2100" dirty="0"/>
              <a:t>；完成后务必查看</a:t>
            </a:r>
            <a:r>
              <a:rPr lang="en-US" altLang="zh-CN" sz="2100" dirty="0"/>
              <a:t>vcom.log</a:t>
            </a:r>
            <a:r>
              <a:rPr lang="zh-CN" altLang="en-US" sz="2100" dirty="0"/>
              <a:t>是否存在可能影响后续步骤的</a:t>
            </a:r>
            <a:r>
              <a:rPr lang="en-US" altLang="zh-CN" sz="2100" dirty="0"/>
              <a:t>warning</a:t>
            </a:r>
            <a:r>
              <a:rPr lang="zh-CN" altLang="en-US" sz="2100" dirty="0"/>
              <a:t>和</a:t>
            </a:r>
            <a:r>
              <a:rPr lang="en-US" altLang="zh-CN" sz="2100" dirty="0"/>
              <a:t>error</a:t>
            </a:r>
            <a:r>
              <a:rPr lang="zh-CN" altLang="en-US" sz="2100" dirty="0"/>
              <a:t>。</a:t>
            </a:r>
            <a:endParaRPr lang="en-US" altLang="zh-CN" sz="2100" dirty="0"/>
          </a:p>
          <a:p>
            <a:pPr lvl="1"/>
            <a:r>
              <a:rPr lang="en-US" altLang="zh-CN" sz="2100" dirty="0"/>
              <a:t>P2E</a:t>
            </a:r>
            <a:r>
              <a:rPr lang="zh-CN" altLang="en-US" sz="2100" dirty="0"/>
              <a:t>不会自动添加波形监测，关于想要添加波形监测的信号，在</a:t>
            </a:r>
            <a:r>
              <a:rPr lang="en-US" altLang="zh-CN" sz="2100" dirty="0" err="1"/>
              <a:t>vcom</a:t>
            </a:r>
            <a:r>
              <a:rPr lang="zh-CN" altLang="en-US" sz="2100" dirty="0"/>
              <a:t>脚本当中添加合适的</a:t>
            </a:r>
            <a:r>
              <a:rPr lang="en-US" altLang="zh-CN" sz="2100" dirty="0" err="1"/>
              <a:t>trace_net</a:t>
            </a:r>
            <a:r>
              <a:rPr lang="en-US" altLang="zh-CN" sz="2100" dirty="0"/>
              <a:t> -add &lt;net&gt;</a:t>
            </a:r>
            <a:r>
              <a:rPr lang="zh-CN" altLang="en-US" sz="2100" dirty="0"/>
              <a:t>。注意，添加</a:t>
            </a:r>
            <a:r>
              <a:rPr lang="en-US" altLang="zh-CN" sz="2100" dirty="0"/>
              <a:t>physical probe</a:t>
            </a:r>
            <a:r>
              <a:rPr lang="zh-CN" altLang="en-US" sz="2100" dirty="0"/>
              <a:t>会极大拖慢</a:t>
            </a:r>
            <a:r>
              <a:rPr lang="en-US" altLang="zh-CN" sz="2100" dirty="0" err="1"/>
              <a:t>pnr</a:t>
            </a:r>
            <a:r>
              <a:rPr lang="zh-CN" altLang="en-US" sz="2100" dirty="0"/>
              <a:t>时间，因此需要精简添加的监测信号数量。</a:t>
            </a:r>
            <a:endParaRPr lang="en-US" altLang="zh-CN" sz="2100" dirty="0"/>
          </a:p>
        </p:txBody>
      </p:sp>
      <p:pic>
        <p:nvPicPr>
          <p:cNvPr id="2050" name="Picture 2">
            <a:extLst>
              <a:ext uri="{FF2B5EF4-FFF2-40B4-BE49-F238E27FC236}">
                <a16:creationId xmlns:a16="http://schemas.microsoft.com/office/drawing/2014/main" id="{9B697461-F694-4946-9840-4D7AEC95EA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1528" y="1988424"/>
            <a:ext cx="4743675" cy="32559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5838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B4913D-AD03-444D-8CF5-941DBF337EB2}"/>
              </a:ext>
            </a:extLst>
          </p:cNvPr>
          <p:cNvSpPr>
            <a:spLocks noGrp="1"/>
          </p:cNvSpPr>
          <p:nvPr>
            <p:ph type="title"/>
          </p:nvPr>
        </p:nvSpPr>
        <p:spPr/>
        <p:txBody>
          <a:bodyPr/>
          <a:lstStyle/>
          <a:p>
            <a:r>
              <a:rPr lang="en-US" altLang="zh-CN" dirty="0"/>
              <a:t>P2E</a:t>
            </a:r>
            <a:r>
              <a:rPr lang="zh-CN" altLang="en-US" dirty="0"/>
              <a:t>平台介绍</a:t>
            </a:r>
          </a:p>
        </p:txBody>
      </p:sp>
      <p:sp>
        <p:nvSpPr>
          <p:cNvPr id="3" name="内容占位符 2">
            <a:extLst>
              <a:ext uri="{FF2B5EF4-FFF2-40B4-BE49-F238E27FC236}">
                <a16:creationId xmlns:a16="http://schemas.microsoft.com/office/drawing/2014/main" id="{88801EF8-59E7-4528-8D18-4C65FBC77DC1}"/>
              </a:ext>
            </a:extLst>
          </p:cNvPr>
          <p:cNvSpPr>
            <a:spLocks noGrp="1"/>
          </p:cNvSpPr>
          <p:nvPr>
            <p:ph idx="1"/>
          </p:nvPr>
        </p:nvSpPr>
        <p:spPr/>
        <p:txBody>
          <a:bodyPr/>
          <a:lstStyle/>
          <a:p>
            <a:r>
              <a:rPr lang="en-US" altLang="zh-CN" dirty="0" err="1"/>
              <a:t>PnR</a:t>
            </a:r>
            <a:endParaRPr lang="en-US" altLang="zh-CN" dirty="0"/>
          </a:p>
          <a:p>
            <a:pPr lvl="1"/>
            <a:r>
              <a:rPr lang="zh-CN" altLang="en-US" dirty="0"/>
              <a:t>在</a:t>
            </a:r>
            <a:r>
              <a:rPr lang="en-US" altLang="zh-CN" dirty="0" err="1"/>
              <a:t>fpgaCompDir</a:t>
            </a:r>
            <a:r>
              <a:rPr lang="zh-CN" altLang="en-US" dirty="0"/>
              <a:t>当中</a:t>
            </a:r>
            <a:r>
              <a:rPr lang="en-US" altLang="zh-CN" dirty="0"/>
              <a:t>make</a:t>
            </a:r>
          </a:p>
          <a:p>
            <a:r>
              <a:rPr lang="en-US" altLang="zh-CN" dirty="0" err="1"/>
              <a:t>vDbg</a:t>
            </a:r>
            <a:endParaRPr lang="en-US" altLang="zh-CN" dirty="0"/>
          </a:p>
          <a:p>
            <a:pPr lvl="1"/>
            <a:r>
              <a:rPr lang="zh-CN" altLang="en-US" dirty="0"/>
              <a:t>运行</a:t>
            </a:r>
            <a:r>
              <a:rPr lang="en-US" altLang="zh-CN" dirty="0" err="1"/>
              <a:t>vdbg</a:t>
            </a:r>
            <a:r>
              <a:rPr lang="en-US" altLang="zh-CN" dirty="0"/>
              <a:t> &lt;</a:t>
            </a:r>
            <a:r>
              <a:rPr lang="en-US" altLang="zh-CN" dirty="0" err="1"/>
              <a:t>vdbg.tcl</a:t>
            </a:r>
            <a:r>
              <a:rPr lang="en-US" altLang="zh-CN" dirty="0"/>
              <a:t>&gt;</a:t>
            </a:r>
          </a:p>
          <a:p>
            <a:r>
              <a:rPr lang="en-US" altLang="zh-CN" dirty="0"/>
              <a:t>Review your wave</a:t>
            </a:r>
          </a:p>
          <a:p>
            <a:pPr lvl="1"/>
            <a:r>
              <a:rPr lang="zh-CN" altLang="en-US" dirty="0"/>
              <a:t>使用</a:t>
            </a:r>
            <a:r>
              <a:rPr lang="en-US" altLang="zh-CN" dirty="0" err="1"/>
              <a:t>gtkwave</a:t>
            </a:r>
            <a:r>
              <a:rPr lang="zh-CN" altLang="en-US" dirty="0"/>
              <a:t>等工具</a:t>
            </a:r>
            <a:endParaRPr lang="en-US" altLang="zh-CN" dirty="0"/>
          </a:p>
        </p:txBody>
      </p:sp>
      <p:pic>
        <p:nvPicPr>
          <p:cNvPr id="4" name="Picture 2">
            <a:extLst>
              <a:ext uri="{FF2B5EF4-FFF2-40B4-BE49-F238E27FC236}">
                <a16:creationId xmlns:a16="http://schemas.microsoft.com/office/drawing/2014/main" id="{1A6BF083-7369-4831-99D6-AE327B7747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1528" y="1988424"/>
            <a:ext cx="4743675" cy="32559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94443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33158C-3670-4DAF-8B17-1702280FBA5A}"/>
              </a:ext>
            </a:extLst>
          </p:cNvPr>
          <p:cNvSpPr>
            <a:spLocks noGrp="1"/>
          </p:cNvSpPr>
          <p:nvPr>
            <p:ph type="title"/>
          </p:nvPr>
        </p:nvSpPr>
        <p:spPr/>
        <p:txBody>
          <a:bodyPr/>
          <a:lstStyle/>
          <a:p>
            <a:r>
              <a:rPr lang="zh-CN" altLang="en-US" dirty="0"/>
              <a:t>实验报告</a:t>
            </a:r>
          </a:p>
        </p:txBody>
      </p:sp>
      <p:sp>
        <p:nvSpPr>
          <p:cNvPr id="3" name="内容占位符 2">
            <a:extLst>
              <a:ext uri="{FF2B5EF4-FFF2-40B4-BE49-F238E27FC236}">
                <a16:creationId xmlns:a16="http://schemas.microsoft.com/office/drawing/2014/main" id="{653FA771-007A-479E-AE5E-B2D2FF2DEBC7}"/>
              </a:ext>
            </a:extLst>
          </p:cNvPr>
          <p:cNvSpPr>
            <a:spLocks noGrp="1"/>
          </p:cNvSpPr>
          <p:nvPr>
            <p:ph idx="1"/>
          </p:nvPr>
        </p:nvSpPr>
        <p:spPr/>
        <p:txBody>
          <a:bodyPr/>
          <a:lstStyle/>
          <a:p>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）依照（二、</a:t>
            </a:r>
            <a:r>
              <a:rPr lang="en-US" altLang="zh-CN" dirty="0">
                <a:latin typeface="宋体" panose="02010600030101010101" pitchFamily="2" charset="-122"/>
                <a:ea typeface="宋体" panose="02010600030101010101" pitchFamily="2" charset="-122"/>
              </a:rPr>
              <a:t>wujian100 SoC</a:t>
            </a:r>
            <a:r>
              <a:rPr lang="zh-CN" altLang="en-US" dirty="0">
                <a:latin typeface="宋体" panose="02010600030101010101" pitchFamily="2" charset="-122"/>
                <a:ea typeface="宋体" panose="02010600030101010101" pitchFamily="2" charset="-122"/>
              </a:rPr>
              <a:t>的前端仿真）的步骤完成</a:t>
            </a:r>
            <a:r>
              <a:rPr lang="en-US" altLang="zh-CN" dirty="0">
                <a:latin typeface="宋体" panose="02010600030101010101" pitchFamily="2" charset="-122"/>
                <a:ea typeface="宋体" panose="02010600030101010101" pitchFamily="2" charset="-122"/>
              </a:rPr>
              <a:t>case</a:t>
            </a:r>
            <a:r>
              <a:rPr lang="zh-CN" altLang="en-US" dirty="0">
                <a:latin typeface="宋体" panose="02010600030101010101" pitchFamily="2" charset="-122"/>
                <a:ea typeface="宋体" panose="02010600030101010101" pitchFamily="2" charset="-122"/>
              </a:rPr>
              <a:t>目录下的示例的</a:t>
            </a:r>
            <a:r>
              <a:rPr lang="en-US" altLang="zh-CN" dirty="0" err="1">
                <a:latin typeface="宋体" panose="02010600030101010101" pitchFamily="2" charset="-122"/>
                <a:ea typeface="宋体" panose="02010600030101010101" pitchFamily="2" charset="-122"/>
              </a:rPr>
              <a:t>timer_test.c</a:t>
            </a:r>
            <a:r>
              <a:rPr lang="zh-CN" altLang="en-US" dirty="0">
                <a:latin typeface="宋体" panose="02010600030101010101" pitchFamily="2" charset="-122"/>
                <a:ea typeface="宋体" panose="02010600030101010101" pitchFamily="2" charset="-122"/>
              </a:rPr>
              <a:t>仿真，对测试结果进行截图。</a:t>
            </a:r>
          </a:p>
          <a:p>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）依照（三、</a:t>
            </a:r>
            <a:r>
              <a:rPr lang="en-US" altLang="zh-CN" dirty="0">
                <a:latin typeface="宋体" panose="02010600030101010101" pitchFamily="2" charset="-122"/>
                <a:ea typeface="宋体" panose="02010600030101010101" pitchFamily="2" charset="-122"/>
              </a:rPr>
              <a:t>wujian100 SoC</a:t>
            </a:r>
            <a:r>
              <a:rPr lang="zh-CN" altLang="en-US" dirty="0">
                <a:latin typeface="宋体" panose="02010600030101010101" pitchFamily="2" charset="-122"/>
                <a:ea typeface="宋体" panose="02010600030101010101" pitchFamily="2" charset="-122"/>
              </a:rPr>
              <a:t>的</a:t>
            </a:r>
            <a:r>
              <a:rPr lang="en-US" altLang="zh-CN" dirty="0">
                <a:latin typeface="宋体" panose="02010600030101010101" pitchFamily="2" charset="-122"/>
                <a:ea typeface="宋体" panose="02010600030101010101" pitchFamily="2" charset="-122"/>
              </a:rPr>
              <a:t>FPGA</a:t>
            </a:r>
            <a:r>
              <a:rPr lang="zh-CN" altLang="en-US" dirty="0">
                <a:latin typeface="宋体" panose="02010600030101010101" pitchFamily="2" charset="-122"/>
                <a:ea typeface="宋体" panose="02010600030101010101" pitchFamily="2" charset="-122"/>
              </a:rPr>
              <a:t>仿真测试）的步骤完成示例的项目测试，对测试结果进行截图（请截取不同于示例部分的波形图片），并说说捕获的波形是如何得到的，为什么用这种方法来捕捉。</a:t>
            </a:r>
          </a:p>
          <a:p>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optional</a:t>
            </a:r>
            <a:r>
              <a:rPr lang="zh-CN" altLang="en-US" dirty="0">
                <a:latin typeface="宋体" panose="02010600030101010101" pitchFamily="2" charset="-122"/>
                <a:ea typeface="宋体" panose="02010600030101010101" pitchFamily="2" charset="-122"/>
              </a:rPr>
              <a:t>）自行编写一个</a:t>
            </a:r>
            <a:r>
              <a:rPr lang="en-US" altLang="zh-CN" dirty="0">
                <a:latin typeface="宋体" panose="02010600030101010101" pitchFamily="2" charset="-122"/>
                <a:ea typeface="宋体" panose="02010600030101010101" pitchFamily="2" charset="-122"/>
              </a:rPr>
              <a:t>C</a:t>
            </a:r>
            <a:r>
              <a:rPr lang="zh-CN" altLang="en-US" dirty="0">
                <a:latin typeface="宋体" panose="02010600030101010101" pitchFamily="2" charset="-122"/>
                <a:ea typeface="宋体" panose="02010600030101010101" pitchFamily="2" charset="-122"/>
              </a:rPr>
              <a:t>语言的简单算法程序，进行仿真测试，步骤参考（三、</a:t>
            </a:r>
            <a:r>
              <a:rPr lang="en-US" altLang="zh-CN" dirty="0">
                <a:latin typeface="宋体" panose="02010600030101010101" pitchFamily="2" charset="-122"/>
                <a:ea typeface="宋体" panose="02010600030101010101" pitchFamily="2" charset="-122"/>
              </a:rPr>
              <a:t>wujian100 SoC</a:t>
            </a:r>
            <a:r>
              <a:rPr lang="zh-CN" altLang="en-US" dirty="0">
                <a:latin typeface="宋体" panose="02010600030101010101" pitchFamily="2" charset="-122"/>
                <a:ea typeface="宋体" panose="02010600030101010101" pitchFamily="2" charset="-122"/>
              </a:rPr>
              <a:t>的</a:t>
            </a:r>
            <a:r>
              <a:rPr lang="en-US" altLang="zh-CN" dirty="0">
                <a:latin typeface="宋体" panose="02010600030101010101" pitchFamily="2" charset="-122"/>
                <a:ea typeface="宋体" panose="02010600030101010101" pitchFamily="2" charset="-122"/>
              </a:rPr>
              <a:t>FPGA</a:t>
            </a:r>
            <a:r>
              <a:rPr lang="zh-CN" altLang="en-US" dirty="0">
                <a:latin typeface="宋体" panose="02010600030101010101" pitchFamily="2" charset="-122"/>
                <a:ea typeface="宋体" panose="02010600030101010101" pitchFamily="2" charset="-122"/>
              </a:rPr>
              <a:t>原型测试</a:t>
            </a:r>
            <a:r>
              <a:rPr lang="en-US" altLang="zh-CN" dirty="0">
                <a:latin typeface="宋体" panose="02010600030101010101" pitchFamily="2" charset="-122"/>
                <a:ea typeface="宋体" panose="02010600030101010101" pitchFamily="2" charset="-122"/>
              </a:rPr>
              <a:t>-5</a:t>
            </a:r>
            <a:r>
              <a:rPr lang="zh-CN" altLang="en-US" dirty="0">
                <a:latin typeface="宋体" panose="02010600030101010101" pitchFamily="2" charset="-122"/>
                <a:ea typeface="宋体" panose="02010600030101010101" pitchFamily="2" charset="-122"/>
              </a:rPr>
              <a:t>），对测试结果进行</a:t>
            </a:r>
            <a:r>
              <a:rPr lang="zh-CN" altLang="en-US">
                <a:latin typeface="宋体" panose="02010600030101010101" pitchFamily="2" charset="-122"/>
                <a:ea typeface="宋体" panose="02010600030101010101" pitchFamily="2" charset="-122"/>
              </a:rPr>
              <a:t>截图，并说明其正确性。</a:t>
            </a:r>
            <a:endParaRPr lang="zh-CN" altLang="en-US" dirty="0">
              <a:latin typeface="宋体" panose="02010600030101010101" pitchFamily="2" charset="-122"/>
              <a:ea typeface="宋体" panose="02010600030101010101" pitchFamily="2" charset="-122"/>
            </a:endParaRPr>
          </a:p>
          <a:p>
            <a:endParaRPr lang="zh-CN" altLang="en-US"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429352325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472</TotalTime>
  <Words>1137</Words>
  <Application>Microsoft Office PowerPoint</Application>
  <PresentationFormat>宽屏</PresentationFormat>
  <Paragraphs>79</Paragraphs>
  <Slides>12</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12</vt:i4>
      </vt:variant>
    </vt:vector>
  </HeadingPairs>
  <TitlesOfParts>
    <vt:vector size="16" baseType="lpstr">
      <vt:lpstr>宋体</vt:lpstr>
      <vt:lpstr>微软雅黑</vt:lpstr>
      <vt:lpstr>Arial</vt:lpstr>
      <vt:lpstr>Office 主题​​</vt:lpstr>
      <vt:lpstr>wujian平台介绍 和FPGA调试</vt:lpstr>
      <vt:lpstr>目录</vt:lpstr>
      <vt:lpstr>wujian平台介绍</vt:lpstr>
      <vt:lpstr>wujian平台介绍</vt:lpstr>
      <vt:lpstr>wujian平台介绍</vt:lpstr>
      <vt:lpstr>wujian平台介绍</vt:lpstr>
      <vt:lpstr>wujian平台介绍</vt:lpstr>
      <vt:lpstr>wujian平台介绍</vt:lpstr>
      <vt:lpstr>P2E平台介绍</vt:lpstr>
      <vt:lpstr>P2E平台介绍</vt:lpstr>
      <vt:lpstr>P2E平台介绍</vt:lpstr>
      <vt:lpstr>实验报告</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wujian平台介绍和FPGA调试</dc:title>
  <dc:creator>刘 旭东</dc:creator>
  <cp:lastModifiedBy>Abraham sun</cp:lastModifiedBy>
  <cp:revision>89</cp:revision>
  <dcterms:created xsi:type="dcterms:W3CDTF">2020-08-21T00:33:35Z</dcterms:created>
  <dcterms:modified xsi:type="dcterms:W3CDTF">2026-05-10T00:38:52Z</dcterms:modified>
</cp:coreProperties>
</file>