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39"/>
  </p:notesMasterIdLst>
  <p:sldIdLst>
    <p:sldId id="256" r:id="rId3"/>
    <p:sldId id="257" r:id="rId4"/>
    <p:sldId id="259" r:id="rId5"/>
    <p:sldId id="296" r:id="rId6"/>
    <p:sldId id="328" r:id="rId7"/>
    <p:sldId id="330" r:id="rId8"/>
    <p:sldId id="329" r:id="rId9"/>
    <p:sldId id="297" r:id="rId10"/>
    <p:sldId id="331" r:id="rId11"/>
    <p:sldId id="299" r:id="rId12"/>
    <p:sldId id="298" r:id="rId13"/>
    <p:sldId id="332" r:id="rId14"/>
    <p:sldId id="336" r:id="rId15"/>
    <p:sldId id="333" r:id="rId16"/>
    <p:sldId id="300" r:id="rId17"/>
    <p:sldId id="334" r:id="rId18"/>
    <p:sldId id="335" r:id="rId19"/>
    <p:sldId id="301" r:id="rId20"/>
    <p:sldId id="337" r:id="rId21"/>
    <p:sldId id="302" r:id="rId22"/>
    <p:sldId id="303" r:id="rId23"/>
    <p:sldId id="304" r:id="rId24"/>
    <p:sldId id="305" r:id="rId25"/>
    <p:sldId id="315" r:id="rId26"/>
    <p:sldId id="306" r:id="rId27"/>
    <p:sldId id="307" r:id="rId28"/>
    <p:sldId id="308" r:id="rId29"/>
    <p:sldId id="310" r:id="rId30"/>
    <p:sldId id="316" r:id="rId31"/>
    <p:sldId id="311" r:id="rId32"/>
    <p:sldId id="317" r:id="rId33"/>
    <p:sldId id="319" r:id="rId34"/>
    <p:sldId id="318" r:id="rId35"/>
    <p:sldId id="320" r:id="rId36"/>
    <p:sldId id="321" r:id="rId37"/>
    <p:sldId id="314"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1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692235AD-8B1B-42F2-8035-C9D54E5B5E7B}" type="datetimeFigureOut">
              <a:rPr lang="zh-CN" altLang="en-US" smtClean="0"/>
              <a:t>2025/3/20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0AE2981-BF46-4849-AEB7-5B5F40EE579C}"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10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11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12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14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Darknet</a:t>
            </a:r>
            <a:r>
              <a:rPr lang="zh-CN" altLang="en-US" dirty="0"/>
              <a:t>是</a:t>
            </a:r>
            <a:r>
              <a:rPr lang="en-US" altLang="zh-CN" dirty="0"/>
              <a:t>yolo</a:t>
            </a:r>
            <a:r>
              <a:rPr lang="zh-CN" altLang="en-US" dirty="0"/>
              <a:t>的</a:t>
            </a:r>
            <a:r>
              <a:rPr lang="en-US" altLang="zh-CN" dirty="0"/>
              <a:t>backbone network</a:t>
            </a:r>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15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20</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22</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23</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24</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25</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26</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27</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28</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29</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30</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31</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32</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33</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34</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35</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60C07FF-25C3-4A99-9FFD-EDD3A5F66201}" type="slidenum">
              <a:rPr lang="zh-CN" altLang="en-US" smtClean="0"/>
              <a:t>36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2025/3/20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1.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2025/3/20</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9B78F3DB-CEF8-4DD4-8E4A-F0628DCBE644}" type="datetimeFigureOut">
              <a:rPr lang="zh-CN" altLang="en-US" smtClean="0"/>
              <a:t>2025/3/20</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B1C307C6-FA7C-4D4E-9E80-039A033D7CBB}" type="slidenum">
              <a:rPr lang="zh-CN" altLang="en-US" smtClean="0"/>
              <a:t>‹#›</a:t>
            </a:fld>
            <a:endParaRPr lang="zh-CN" altLang="en-US" dirty="0"/>
          </a:p>
        </p:txBody>
      </p:sp>
      <p:pic>
        <p:nvPicPr>
          <p:cNvPr id="7" name="图片 6"/>
          <p:cNvPicPr>
            <a:picLocks noChangeAspect="1"/>
          </p:cNvPicPr>
          <p:nvPr userDrawn="1"/>
        </p:nvPicPr>
        <p:blipFill>
          <a:blip r:embed="rId13"/>
          <a:stretch>
            <a:fillRect/>
          </a:stretch>
        </p:blipFill>
        <p:spPr>
          <a:xfrm>
            <a:off x="10975521" y="73331"/>
            <a:ext cx="1216479" cy="1216479"/>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QEMU</a:t>
            </a:r>
            <a:r>
              <a:rPr lang="zh-CN" altLang="en-US" dirty="0">
                <a:latin typeface="微软雅黑" panose="020B0503020204020204" pitchFamily="34" charset="-122"/>
                <a:ea typeface="微软雅黑" panose="020B0503020204020204" pitchFamily="34" charset="-122"/>
              </a:rPr>
              <a:t>上运行</a:t>
            </a:r>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算法</a:t>
            </a:r>
            <a:endParaRPr lang="zh-CN"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r>
              <a:rPr lang="zh-CN" altLang="en-US" dirty="0"/>
              <a:t>算法介绍</a:t>
            </a:r>
            <a:endParaRPr lang="en-US" altLang="zh-CN" dirty="0"/>
          </a:p>
          <a:p>
            <a:pPr lvl="1"/>
            <a:r>
              <a:rPr lang="en-US" altLang="zh-CN" dirty="0"/>
              <a:t>YOLO</a:t>
            </a:r>
            <a:r>
              <a:rPr lang="zh-CN" altLang="en-US" dirty="0"/>
              <a:t>算法简介</a:t>
            </a:r>
            <a:endParaRPr lang="en-US" altLang="zh-CN" dirty="0"/>
          </a:p>
          <a:p>
            <a:pPr lvl="1"/>
            <a:r>
              <a:rPr lang="en-US" altLang="zh-CN" dirty="0" err="1"/>
              <a:t>Darknet</a:t>
            </a:r>
            <a:r>
              <a:rPr lang="zh-CN" altLang="en-US" dirty="0"/>
              <a:t>网络结构</a:t>
            </a:r>
            <a:endParaRPr lang="en-US" altLang="zh-CN" dirty="0"/>
          </a:p>
          <a:p>
            <a:endParaRPr lang="en-US" altLang="zh-CN" dirty="0"/>
          </a:p>
          <a:p>
            <a:r>
              <a:rPr lang="zh-CN" altLang="en-US" dirty="0"/>
              <a:t>编程说明</a:t>
            </a:r>
            <a:endParaRPr lang="en-US" altLang="zh-CN" dirty="0"/>
          </a:p>
          <a:p>
            <a:pPr lvl="1"/>
            <a:r>
              <a:rPr lang="zh-CN" altLang="en-US" dirty="0"/>
              <a:t>程序框架</a:t>
            </a:r>
            <a:endParaRPr lang="en-US" altLang="zh-CN" dirty="0"/>
          </a:p>
          <a:p>
            <a:pPr lvl="1"/>
            <a:r>
              <a:rPr lang="zh-CN" altLang="en-US" dirty="0"/>
              <a:t>编程接口</a:t>
            </a:r>
            <a:endParaRPr lang="en-US" altLang="zh-CN" dirty="0"/>
          </a:p>
          <a:p>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一、算法介绍</a:t>
            </a:r>
            <a:endParaRPr lang="en-US" altLang="zh-CN" dirty="0"/>
          </a:p>
        </p:txBody>
      </p:sp>
      <p:sp>
        <p:nvSpPr>
          <p:cNvPr id="3" name="内容占位符 2"/>
          <p:cNvSpPr>
            <a:spLocks noGrp="1"/>
          </p:cNvSpPr>
          <p:nvPr>
            <p:ph idx="1"/>
          </p:nvPr>
        </p:nvSpPr>
        <p:spPr/>
        <p:txBody>
          <a:bodyPr>
            <a:normAutofit/>
          </a:bodyPr>
          <a:lstStyle/>
          <a:p>
            <a:r>
              <a:rPr lang="zh-CN" altLang="en-US" dirty="0"/>
              <a:t>目标检测（</a:t>
            </a:r>
            <a:r>
              <a:rPr lang="en-US" altLang="zh-CN" dirty="0"/>
              <a:t>Object Detection</a:t>
            </a:r>
            <a:r>
              <a:rPr lang="zh-CN" altLang="en-US" dirty="0"/>
              <a:t>）的基本任务</a:t>
            </a:r>
            <a:endParaRPr lang="en-US" altLang="zh-CN" dirty="0"/>
          </a:p>
          <a:p>
            <a:endParaRPr lang="en-US" altLang="zh-CN" dirty="0"/>
          </a:p>
          <a:p>
            <a:pPr lvl="1"/>
            <a:r>
              <a:rPr lang="zh-CN" altLang="en-US" dirty="0"/>
              <a:t>预测物体类别</a:t>
            </a:r>
            <a:endParaRPr lang="en-US" altLang="zh-CN" dirty="0"/>
          </a:p>
          <a:p>
            <a:pPr lvl="1"/>
            <a:endParaRPr lang="en-US" altLang="zh-CN" dirty="0"/>
          </a:p>
          <a:p>
            <a:pPr lvl="1"/>
            <a:r>
              <a:rPr lang="zh-CN" altLang="en-US" dirty="0"/>
              <a:t>标记物体位置</a:t>
            </a:r>
            <a:endParaRPr lang="en-US" altLang="zh-CN" dirty="0"/>
          </a:p>
          <a:p>
            <a:endParaRPr lang="en-US" altLang="zh-CN" dirty="0"/>
          </a:p>
          <a:p>
            <a:pPr marL="0" indent="0">
              <a:buNone/>
            </a:pPr>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614350"/>
            <a:ext cx="4930066" cy="3697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目标检测算法</a:t>
            </a:r>
          </a:p>
        </p:txBody>
      </p:sp>
      <p:sp>
        <p:nvSpPr>
          <p:cNvPr id="3" name="内容占位符 2"/>
          <p:cNvSpPr>
            <a:spLocks noGrp="1"/>
          </p:cNvSpPr>
          <p:nvPr>
            <p:ph idx="1"/>
          </p:nvPr>
        </p:nvSpPr>
        <p:spPr/>
        <p:txBody>
          <a:bodyPr/>
          <a:lstStyle/>
          <a:p>
            <a:r>
              <a:rPr lang="zh-CN" altLang="en-US" dirty="0"/>
              <a:t>早期方法：</a:t>
            </a:r>
            <a:r>
              <a:rPr lang="zh-CN" altLang="en-US" sz="2400" dirty="0"/>
              <a:t>区域选择 -</a:t>
            </a:r>
            <a:r>
              <a:rPr lang="en-US" altLang="zh-CN" sz="2400" dirty="0"/>
              <a:t>&gt; </a:t>
            </a:r>
            <a:r>
              <a:rPr lang="zh-CN" altLang="en-US" sz="2400" dirty="0"/>
              <a:t>特征提取  -</a:t>
            </a:r>
            <a:r>
              <a:rPr lang="en-US" altLang="zh-CN" sz="2400" dirty="0"/>
              <a:t>&gt; </a:t>
            </a:r>
            <a:r>
              <a:rPr lang="zh-CN" altLang="en-US" sz="2400" dirty="0"/>
              <a:t>分类器分类</a:t>
            </a:r>
          </a:p>
          <a:p>
            <a:pPr algn="l">
              <a:buNone/>
            </a:pPr>
            <a:endParaRPr lang="zh-CN" altLang="en-US" sz="2400" dirty="0"/>
          </a:p>
          <a:p>
            <a:pPr marL="685800" lvl="1" algn="l">
              <a:buChar char="•"/>
            </a:pPr>
            <a:r>
              <a:rPr lang="zh-CN" altLang="en-US" dirty="0"/>
              <a:t>图像分类算法经过多年发展已经相对成熟，通过神经网络识别物体的种类没有太多困难。在此基础上，目标检测算法希望标定图像中物体的位置，并能正确处理一图多目标的情况。</a:t>
            </a:r>
          </a:p>
          <a:p>
            <a:pPr marL="685800" lvl="1" algn="l">
              <a:buChar char="•"/>
            </a:pPr>
            <a:r>
              <a:rPr lang="zh-CN" altLang="en-US" dirty="0"/>
              <a:t>早期提出的“滑动窗口（</a:t>
            </a:r>
            <a:r>
              <a:rPr lang="en-US" altLang="zh-CN" dirty="0"/>
              <a:t>Sliding Window</a:t>
            </a:r>
            <a:r>
              <a:rPr lang="zh-CN" altLang="en-US" dirty="0"/>
              <a:t>）法”，通过在输入图像上放置一个小尺寸的矩形框，框每移动一次，就运行一次图像识别以确认当前位置是否存在目标，直到滑窗遍历整张图像。</a:t>
            </a:r>
          </a:p>
          <a:p>
            <a:pPr marL="685800" lvl="1" algn="l">
              <a:buChar char="•"/>
            </a:pPr>
            <a:r>
              <a:rPr lang="zh-CN" altLang="en-US" dirty="0"/>
              <a:t>滑动窗口法的性能与滑窗的大小、长宽比及步长密切相关。窗口数量太少，则预测精度；窗口数量太多，则算法速度很慢。且人为设置的滑窗大小通常难以适应具有极端宽高比的特殊物体。</a:t>
            </a:r>
          </a:p>
          <a:p>
            <a:pPr>
              <a:buNone/>
            </a:pPr>
            <a:endParaRPr lang="en-US" altLang="zh-CN" dirty="0"/>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4</a:t>
            </a:fld>
            <a:endParaRPr lang="zh-CN" altLang="en-US">
              <a:solidFill>
                <a:prstClr val="black">
                  <a:tint val="75000"/>
                </a:prst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目标检测算法</a:t>
            </a:r>
          </a:p>
        </p:txBody>
      </p:sp>
      <p:sp>
        <p:nvSpPr>
          <p:cNvPr id="3" name="内容占位符 2"/>
          <p:cNvSpPr>
            <a:spLocks noGrp="1"/>
          </p:cNvSpPr>
          <p:nvPr>
            <p:ph idx="1"/>
          </p:nvPr>
        </p:nvSpPr>
        <p:spPr/>
        <p:txBody>
          <a:bodyPr/>
          <a:lstStyle/>
          <a:p>
            <a:r>
              <a:rPr lang="en-US" altLang="zh-CN" dirty="0"/>
              <a:t>Two-stage Methed</a:t>
            </a:r>
          </a:p>
          <a:p>
            <a:pPr lvl="1"/>
            <a:r>
              <a:rPr lang="en-US" altLang="zh-CN" dirty="0"/>
              <a:t>R-CNN</a:t>
            </a:r>
            <a:r>
              <a:rPr lang="zh-CN" altLang="en-US" dirty="0"/>
              <a:t>（</a:t>
            </a:r>
            <a:r>
              <a:rPr lang="en-US" altLang="zh-CN" dirty="0"/>
              <a:t>2014</a:t>
            </a:r>
            <a:r>
              <a:rPr lang="zh-CN" altLang="en-US" dirty="0"/>
              <a:t>）</a:t>
            </a:r>
            <a:endParaRPr lang="en-US" altLang="zh-CN" dirty="0"/>
          </a:p>
          <a:p>
            <a:pPr lvl="1"/>
            <a:r>
              <a:rPr lang="en-US" altLang="zh-CN" dirty="0"/>
              <a:t>Fast R-CNN</a:t>
            </a:r>
            <a:r>
              <a:rPr lang="zh-CN" altLang="en-US" dirty="0"/>
              <a:t>（</a:t>
            </a:r>
            <a:r>
              <a:rPr lang="en-US" altLang="zh-CN" dirty="0"/>
              <a:t>2015</a:t>
            </a:r>
            <a:r>
              <a:rPr lang="zh-CN" altLang="en-US" dirty="0"/>
              <a:t>）</a:t>
            </a:r>
            <a:endParaRPr lang="en-US" altLang="zh-CN" dirty="0"/>
          </a:p>
          <a:p>
            <a:pPr lvl="1"/>
            <a:r>
              <a:rPr lang="en-US" altLang="zh-CN" dirty="0"/>
              <a:t>Faster R-CNN</a:t>
            </a:r>
            <a:r>
              <a:rPr lang="zh-CN" altLang="en-US" dirty="0"/>
              <a:t>（</a:t>
            </a:r>
            <a:r>
              <a:rPr lang="en-US" altLang="zh-CN" dirty="0"/>
              <a:t>2016</a:t>
            </a:r>
            <a:r>
              <a:rPr lang="zh-CN" altLang="en-US" dirty="0"/>
              <a:t>）</a:t>
            </a:r>
            <a:endParaRPr lang="en-US" altLang="zh-CN" dirty="0"/>
          </a:p>
          <a:p>
            <a:pPr marL="457200" lvl="1" indent="0">
              <a:buNone/>
            </a:pPr>
            <a:endParaRPr lang="en-US" altLang="zh-CN" dirty="0"/>
          </a:p>
          <a:p>
            <a:pPr marL="685800" lvl="1"/>
            <a:endParaRPr lang="zh-CN" altLang="en-US" dirty="0"/>
          </a:p>
          <a:p>
            <a:pPr marL="685800" lvl="1"/>
            <a:r>
              <a:rPr lang="zh-CN" altLang="en-US" dirty="0"/>
              <a:t>在</a:t>
            </a:r>
            <a:r>
              <a:rPr lang="en-US" altLang="zh-CN" dirty="0"/>
              <a:t>R</a:t>
            </a:r>
            <a:r>
              <a:rPr lang="zh-CN" altLang="en-US" dirty="0"/>
              <a:t>-</a:t>
            </a:r>
            <a:r>
              <a:rPr lang="en-US" altLang="zh-CN" dirty="0"/>
              <a:t>CNN</a:t>
            </a:r>
            <a:r>
              <a:rPr lang="zh-CN" altLang="en-US" dirty="0"/>
              <a:t>中，作者通过区域候选（</a:t>
            </a:r>
            <a:r>
              <a:rPr lang="en-US" altLang="zh-CN" dirty="0"/>
              <a:t>Selective Search</a:t>
            </a:r>
            <a:r>
              <a:rPr lang="zh-CN" altLang="en-US" dirty="0"/>
              <a:t>）的方法提取出一系列的候选区域，然后通过</a:t>
            </a:r>
            <a:r>
              <a:rPr lang="en-US" altLang="zh-CN" dirty="0"/>
              <a:t>CNN</a:t>
            </a:r>
            <a:r>
              <a:rPr lang="zh-CN" altLang="en-US" dirty="0"/>
              <a:t>网络进行特征提取，并将全连接层的输出用于分类和位置坐标的回归。</a:t>
            </a:r>
          </a:p>
          <a:p>
            <a:pPr marL="685800" lvl="1"/>
            <a:r>
              <a:rPr lang="zh-CN" altLang="en-US" dirty="0"/>
              <a:t>相比滑窗法使用一个固定的窗口逐次遍历整张图像，</a:t>
            </a:r>
            <a:r>
              <a:rPr lang="en-US" altLang="zh-CN" dirty="0"/>
              <a:t>R</a:t>
            </a:r>
            <a:r>
              <a:rPr lang="zh-CN" altLang="en-US" dirty="0"/>
              <a:t>-</a:t>
            </a:r>
            <a:r>
              <a:rPr lang="en-US" altLang="zh-CN" dirty="0"/>
              <a:t>CNN</a:t>
            </a:r>
            <a:r>
              <a:rPr lang="zh-CN" altLang="en-US" dirty="0"/>
              <a:t>产生的候选区域更加灵活，算法的精度和鲁棒性显著提升。</a:t>
            </a:r>
            <a:endParaRPr lang="en-US" altLang="zh-CN" dirty="0"/>
          </a:p>
        </p:txBody>
      </p:sp>
      <p:sp>
        <p:nvSpPr>
          <p:cNvPr id="5" name="文本框 4"/>
          <p:cNvSpPr txBox="1"/>
          <p:nvPr/>
        </p:nvSpPr>
        <p:spPr>
          <a:xfrm>
            <a:off x="10167690" y="3996265"/>
            <a:ext cx="657552" cy="253916"/>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Fig.1[1]</a:t>
            </a:r>
            <a:endParaRPr lang="zh-CN" altLang="en-US" sz="105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5</a:t>
            </a:fld>
            <a:endParaRPr lang="zh-CN" altLang="en-US">
              <a:solidFill>
                <a:prstClr val="black">
                  <a:tint val="75000"/>
                </a:prstClr>
              </a:solidFill>
            </a:endParaRPr>
          </a:p>
        </p:txBody>
      </p:sp>
      <p:pic>
        <p:nvPicPr>
          <p:cNvPr id="8" name="图片 7"/>
          <p:cNvPicPr>
            <a:picLocks noChangeAspect="1"/>
          </p:cNvPicPr>
          <p:nvPr/>
        </p:nvPicPr>
        <p:blipFill>
          <a:blip r:embed="rId3"/>
          <a:stretch>
            <a:fillRect/>
          </a:stretch>
        </p:blipFill>
        <p:spPr>
          <a:xfrm>
            <a:off x="5429250" y="1830917"/>
            <a:ext cx="5905500" cy="2095500"/>
          </a:xfrm>
          <a:prstGeom prst="rect">
            <a:avLst/>
          </a:prstGeom>
        </p:spPr>
      </p:pic>
      <p:sp>
        <p:nvSpPr>
          <p:cNvPr id="9" name="矩形 8"/>
          <p:cNvSpPr/>
          <p:nvPr/>
        </p:nvSpPr>
        <p:spPr>
          <a:xfrm>
            <a:off x="0" y="6356350"/>
            <a:ext cx="6460577" cy="560705"/>
          </a:xfrm>
          <a:prstGeom prst="rect">
            <a:avLst/>
          </a:prstGeom>
        </p:spPr>
        <p:txBody>
          <a:bodyPr wrap="square">
            <a:spAutoFit/>
          </a:bodyPr>
          <a:lstStyle/>
          <a:p>
            <a:pPr marL="228600" indent="-228600">
              <a:buFont typeface="+mj-lt"/>
              <a:buAutoNum type="arabicPeriod"/>
            </a:pPr>
            <a:r>
              <a:rPr lang="en-US" sz="1020" b="0" u="none">
                <a:solidFill>
                  <a:srgbClr val="333333"/>
                </a:solidFill>
                <a:latin typeface="sans-serif" charset="0"/>
              </a:rPr>
              <a:t>R. Girshick, J. Donahue, T. Darrell and J. Malik, "Rich Feature Hierarchies for Accurate Object Detection and Semantic Segmentation," </a:t>
            </a:r>
            <a:r>
              <a:rPr lang="en-US" sz="1020" b="0" i="1" u="none">
                <a:solidFill>
                  <a:srgbClr val="333333"/>
                </a:solidFill>
                <a:latin typeface="sans-serif" charset="0"/>
              </a:rPr>
              <a:t>2014 IEEE Conference on Computer Vision and Pattern Recognition</a:t>
            </a:r>
            <a:r>
              <a:rPr lang="en-US" sz="1020" b="0" u="none">
                <a:solidFill>
                  <a:srgbClr val="333333"/>
                </a:solidFill>
                <a:latin typeface="sans-serif" charset="0"/>
              </a:rPr>
              <a:t>, Columbus, OH, 2014, pp. 580-587, doi: 10.1109/CVPR.2014.81.</a:t>
            </a:r>
            <a:endParaRPr lang="zh-CN" altLang="en-US" sz="105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目标检测算法</a:t>
            </a:r>
          </a:p>
        </p:txBody>
      </p:sp>
      <p:sp>
        <p:nvSpPr>
          <p:cNvPr id="3" name="内容占位符 2"/>
          <p:cNvSpPr>
            <a:spLocks noGrp="1"/>
          </p:cNvSpPr>
          <p:nvPr>
            <p:ph idx="1"/>
          </p:nvPr>
        </p:nvSpPr>
        <p:spPr/>
        <p:txBody>
          <a:bodyPr/>
          <a:lstStyle/>
          <a:p>
            <a:r>
              <a:rPr lang="en-US" altLang="zh-CN" dirty="0"/>
              <a:t>Two-stage Methed</a:t>
            </a:r>
          </a:p>
          <a:p>
            <a:endParaRPr lang="zh-CN" altLang="en-US" dirty="0"/>
          </a:p>
          <a:p>
            <a:pPr marL="685800" lvl="1"/>
            <a:r>
              <a:rPr lang="en-US" altLang="zh-CN" dirty="0"/>
              <a:t>R</a:t>
            </a:r>
            <a:r>
              <a:rPr lang="zh-CN" altLang="en-US" dirty="0"/>
              <a:t>-</a:t>
            </a:r>
            <a:r>
              <a:rPr lang="en-US" altLang="zh-CN" dirty="0"/>
              <a:t>CNN</a:t>
            </a:r>
            <a:r>
              <a:rPr lang="zh-CN" altLang="en-US" dirty="0"/>
              <a:t>将提取出的每一个候选区域均放入网络进行特征提取，由此带来较大的计算量。</a:t>
            </a:r>
            <a:r>
              <a:rPr lang="en-US" altLang="zh-CN" dirty="0"/>
              <a:t>Fast</a:t>
            </a:r>
            <a:r>
              <a:rPr lang="zh-CN" altLang="en-US" dirty="0"/>
              <a:t> </a:t>
            </a:r>
            <a:r>
              <a:rPr lang="en-US" altLang="zh-CN" dirty="0"/>
              <a:t>R</a:t>
            </a:r>
            <a:r>
              <a:rPr lang="zh-CN" altLang="en-US" dirty="0"/>
              <a:t>-</a:t>
            </a:r>
            <a:r>
              <a:rPr lang="en-US" altLang="zh-CN" dirty="0"/>
              <a:t>CNN</a:t>
            </a:r>
            <a:r>
              <a:rPr lang="zh-CN" altLang="en-US" dirty="0"/>
              <a:t>对此做出改进，将完整的输入特征图进行一次特征提取后，候选区域通过坐标映射来得到相对应的特征。由此，每张输入图片只需要通过一次</a:t>
            </a:r>
            <a:r>
              <a:rPr lang="en-US" altLang="zh-CN" dirty="0"/>
              <a:t>CNN</a:t>
            </a:r>
            <a:r>
              <a:rPr lang="zh-CN" altLang="en-US" dirty="0"/>
              <a:t>网络，加快了计算速度。</a:t>
            </a:r>
          </a:p>
          <a:p>
            <a:pPr marL="685800" lvl="1"/>
            <a:r>
              <a:rPr lang="en-US" altLang="zh-CN" dirty="0"/>
              <a:t>Selective Search</a:t>
            </a:r>
            <a:r>
              <a:rPr lang="zh-CN" altLang="en-US" dirty="0"/>
              <a:t>的方法难以满足实时运算的要求，因此在</a:t>
            </a:r>
            <a:r>
              <a:rPr lang="en-US" altLang="zh-CN" dirty="0"/>
              <a:t>Faster R</a:t>
            </a:r>
            <a:r>
              <a:rPr lang="zh-CN" altLang="en-US" dirty="0"/>
              <a:t>-</a:t>
            </a:r>
            <a:r>
              <a:rPr lang="en-US" altLang="zh-CN" dirty="0"/>
              <a:t>CNN</a:t>
            </a:r>
            <a:r>
              <a:rPr lang="zh-CN" altLang="en-US" dirty="0"/>
              <a:t>中，一种新的网络</a:t>
            </a:r>
            <a:r>
              <a:rPr lang="en-US" altLang="zh-CN" dirty="0"/>
              <a:t>RPN</a:t>
            </a:r>
            <a:r>
              <a:rPr lang="zh-CN" altLang="en-US" dirty="0"/>
              <a:t>（</a:t>
            </a:r>
            <a:r>
              <a:rPr lang="en-US" altLang="zh-CN" dirty="0"/>
              <a:t>region proposal network</a:t>
            </a:r>
            <a:r>
              <a:rPr lang="zh-CN" altLang="en-US" dirty="0"/>
              <a:t>）被引入以替代原有的区域候选算法，在不使得额外计算量提升太多的情况下，</a:t>
            </a:r>
            <a:r>
              <a:rPr lang="en-US" altLang="zh-CN" dirty="0"/>
              <a:t>RPN</a:t>
            </a:r>
            <a:r>
              <a:rPr lang="zh-CN" altLang="en-US" dirty="0"/>
              <a:t>网络进一步提高了算法的精度，并提高了算法的速度。</a:t>
            </a:r>
            <a:endParaRPr lang="en-US" altLang="zh-CN" dirty="0"/>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6</a:t>
            </a:fld>
            <a:endParaRPr lang="zh-CN" altLang="en-US">
              <a:solidFill>
                <a:prstClr val="black">
                  <a:tint val="75000"/>
                </a:prst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目标检测算法</a:t>
            </a:r>
          </a:p>
        </p:txBody>
      </p:sp>
      <p:sp>
        <p:nvSpPr>
          <p:cNvPr id="3" name="内容占位符 2"/>
          <p:cNvSpPr>
            <a:spLocks noGrp="1"/>
          </p:cNvSpPr>
          <p:nvPr>
            <p:ph idx="1"/>
          </p:nvPr>
        </p:nvSpPr>
        <p:spPr/>
        <p:txBody>
          <a:bodyPr/>
          <a:lstStyle/>
          <a:p>
            <a:pPr>
              <a:buChar char="•"/>
            </a:pPr>
            <a:r>
              <a:rPr lang="en-US" altLang="zh-CN" dirty="0"/>
              <a:t>One-stage Method</a:t>
            </a:r>
            <a:r>
              <a:rPr lang="zh-CN" altLang="en-US" dirty="0"/>
              <a:t>：</a:t>
            </a:r>
            <a:r>
              <a:rPr lang="en-US" altLang="zh-CN" dirty="0"/>
              <a:t>YOLO</a:t>
            </a:r>
          </a:p>
          <a:p>
            <a:pPr lvl="1"/>
            <a:r>
              <a:rPr lang="en-US" altLang="zh-CN" dirty="0"/>
              <a:t>YOLOv1(2016)</a:t>
            </a:r>
          </a:p>
          <a:p>
            <a:pPr lvl="1"/>
            <a:r>
              <a:rPr lang="en-US" altLang="zh-CN" dirty="0"/>
              <a:t>YOLOv2(2017)</a:t>
            </a:r>
          </a:p>
          <a:p>
            <a:pPr lvl="1"/>
            <a:r>
              <a:rPr lang="en-US" altLang="zh-CN" dirty="0"/>
              <a:t>YOLOv3(2018)</a:t>
            </a:r>
          </a:p>
          <a:p>
            <a:pPr lvl="1"/>
            <a:r>
              <a:rPr lang="en-US" altLang="zh-CN" dirty="0"/>
              <a:t>YOLOv4(2020)</a:t>
            </a:r>
          </a:p>
          <a:p>
            <a:pPr lvl="1"/>
            <a:endParaRPr lang="en-US" altLang="zh-CN" dirty="0"/>
          </a:p>
          <a:p>
            <a:pPr lvl="1"/>
            <a:r>
              <a:rPr lang="en-US" altLang="zh-CN" dirty="0"/>
              <a:t>R</a:t>
            </a:r>
            <a:r>
              <a:rPr lang="zh-CN" altLang="en-US" dirty="0"/>
              <a:t>-</a:t>
            </a:r>
            <a:r>
              <a:rPr lang="en-US" altLang="zh-CN" dirty="0"/>
              <a:t>CNN</a:t>
            </a:r>
            <a:r>
              <a:rPr lang="zh-CN" altLang="en-US" dirty="0"/>
              <a:t>系列算法始终是分两步的，即前级产生候选区域，后级产生类别预测。而</a:t>
            </a:r>
            <a:r>
              <a:rPr lang="en-US" altLang="zh-CN" dirty="0"/>
              <a:t>YOLO</a:t>
            </a:r>
            <a:r>
              <a:rPr lang="zh-CN" altLang="en-US" dirty="0"/>
              <a:t>则把整个过程视为一个回归问题，通过一次</a:t>
            </a:r>
            <a:r>
              <a:rPr lang="en-US" altLang="zh-CN" dirty="0"/>
              <a:t>CNN</a:t>
            </a:r>
            <a:r>
              <a:rPr lang="zh-CN" altLang="en-US" dirty="0"/>
              <a:t>的传播后，</a:t>
            </a:r>
            <a:r>
              <a:rPr lang="zh-CN" altLang="en-US" b="1" dirty="0"/>
              <a:t>算法既产生坐标预测，也产生类别预测</a:t>
            </a:r>
            <a:r>
              <a:rPr lang="zh-CN" altLang="en-US" dirty="0"/>
              <a:t>。这也是该算法名称“</a:t>
            </a:r>
            <a:r>
              <a:rPr lang="en-US" altLang="zh-CN" dirty="0"/>
              <a:t>You Only Look Once</a:t>
            </a:r>
            <a:r>
              <a:rPr lang="zh-CN" altLang="en-US" dirty="0"/>
              <a:t>”的由来。</a:t>
            </a:r>
            <a:endParaRPr lang="en-US" altLang="zh-CN" dirty="0"/>
          </a:p>
        </p:txBody>
      </p:sp>
      <p:pic>
        <p:nvPicPr>
          <p:cNvPr id="4" name="图片 3"/>
          <p:cNvPicPr>
            <a:picLocks noChangeAspect="1"/>
          </p:cNvPicPr>
          <p:nvPr/>
        </p:nvPicPr>
        <p:blipFill>
          <a:blip r:embed="rId3"/>
          <a:stretch>
            <a:fillRect/>
          </a:stretch>
        </p:blipFill>
        <p:spPr>
          <a:xfrm>
            <a:off x="5697682" y="2264352"/>
            <a:ext cx="6139295" cy="1861705"/>
          </a:xfrm>
          <a:prstGeom prst="rect">
            <a:avLst/>
          </a:prstGeom>
        </p:spPr>
      </p:pic>
      <p:sp>
        <p:nvSpPr>
          <p:cNvPr id="5" name="文本框 4"/>
          <p:cNvSpPr txBox="1"/>
          <p:nvPr/>
        </p:nvSpPr>
        <p:spPr>
          <a:xfrm>
            <a:off x="10812793" y="3879368"/>
            <a:ext cx="683895" cy="252730"/>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Fig.1[2]</a:t>
            </a:r>
            <a:endParaRPr lang="zh-CN" altLang="en-US" sz="1050" dirty="0">
              <a:latin typeface="微软雅黑" panose="020B0503020204020204" pitchFamily="34" charset="-122"/>
              <a:ea typeface="微软雅黑" panose="020B0503020204020204" pitchFamily="34" charset="-122"/>
            </a:endParaRPr>
          </a:p>
        </p:txBody>
      </p:sp>
      <p:sp>
        <p:nvSpPr>
          <p:cNvPr id="6" name="矩形 5"/>
          <p:cNvSpPr/>
          <p:nvPr/>
        </p:nvSpPr>
        <p:spPr>
          <a:xfrm>
            <a:off x="0" y="6356350"/>
            <a:ext cx="6460577" cy="575945"/>
          </a:xfrm>
          <a:prstGeom prst="rect">
            <a:avLst/>
          </a:prstGeom>
        </p:spPr>
        <p:txBody>
          <a:bodyPr wrap="square">
            <a:spAutoFit/>
          </a:bodyPr>
          <a:lstStyle/>
          <a:p>
            <a:pPr marL="228600" indent="-228600">
              <a:buNone/>
            </a:pPr>
            <a:r>
              <a:rPr lang="en-US" altLang="zh-CN" sz="1050" dirty="0">
                <a:latin typeface="微软雅黑" panose="020B0503020204020204" pitchFamily="34" charset="-122"/>
                <a:ea typeface="微软雅黑" panose="020B0503020204020204" pitchFamily="34" charset="-122"/>
              </a:rPr>
              <a:t>2.  </a:t>
            </a:r>
            <a:r>
              <a:rPr lang="en-US" altLang="zh-CN" sz="1050" dirty="0" err="1">
                <a:latin typeface="微软雅黑" panose="020B0503020204020204" pitchFamily="34" charset="-122"/>
                <a:ea typeface="微软雅黑" panose="020B0503020204020204" pitchFamily="34" charset="-122"/>
              </a:rPr>
              <a:t>Redmon</a:t>
            </a:r>
            <a:r>
              <a:rPr lang="en-US" altLang="zh-CN" sz="1050" dirty="0">
                <a:latin typeface="微软雅黑" panose="020B0503020204020204" pitchFamily="34" charset="-122"/>
                <a:ea typeface="微软雅黑" panose="020B0503020204020204" pitchFamily="34" charset="-122"/>
              </a:rPr>
              <a:t> J, </a:t>
            </a:r>
            <a:r>
              <a:rPr lang="en-US" altLang="zh-CN" sz="1050" dirty="0" err="1">
                <a:latin typeface="微软雅黑" panose="020B0503020204020204" pitchFamily="34" charset="-122"/>
                <a:ea typeface="微软雅黑" panose="020B0503020204020204" pitchFamily="34" charset="-122"/>
              </a:rPr>
              <a:t>Divvala</a:t>
            </a:r>
            <a:r>
              <a:rPr lang="en-US" altLang="zh-CN" sz="1050" dirty="0">
                <a:latin typeface="微软雅黑" panose="020B0503020204020204" pitchFamily="34" charset="-122"/>
                <a:ea typeface="微软雅黑" panose="020B0503020204020204" pitchFamily="34" charset="-122"/>
              </a:rPr>
              <a:t> S, </a:t>
            </a:r>
            <a:r>
              <a:rPr lang="en-US" altLang="zh-CN" sz="1050" dirty="0" err="1">
                <a:latin typeface="微软雅黑" panose="020B0503020204020204" pitchFamily="34" charset="-122"/>
                <a:ea typeface="微软雅黑" panose="020B0503020204020204" pitchFamily="34" charset="-122"/>
              </a:rPr>
              <a:t>Girshick</a:t>
            </a:r>
            <a:r>
              <a:rPr lang="en-US" altLang="zh-CN" sz="1050" dirty="0">
                <a:latin typeface="微软雅黑" panose="020B0503020204020204" pitchFamily="34" charset="-122"/>
                <a:ea typeface="微软雅黑" panose="020B0503020204020204" pitchFamily="34" charset="-122"/>
              </a:rPr>
              <a:t> R, et al. You Only Look Once: Unified, Real-Time Object Detection[C]. IEEE               Conference on Computer Vision and Pattern Recognition (CVPR), Las Vegas, NV, 2016, 779-788.</a:t>
            </a:r>
            <a:endParaRPr lang="zh-CN" altLang="en-US" sz="105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7</a:t>
            </a:fld>
            <a:endParaRPr lang="zh-CN" altLang="en-US" dirty="0">
              <a:solidFill>
                <a:prstClr val="black">
                  <a:tint val="75000"/>
                </a:prst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a:t>
            </a:r>
            <a:r>
              <a:rPr lang="zh-CN" altLang="en-US" dirty="0"/>
              <a:t>算法的基本特点</a:t>
            </a:r>
          </a:p>
        </p:txBody>
      </p:sp>
      <p:sp>
        <p:nvSpPr>
          <p:cNvPr id="3" name="内容占位符 2"/>
          <p:cNvSpPr>
            <a:spLocks noGrp="1"/>
          </p:cNvSpPr>
          <p:nvPr>
            <p:ph idx="1"/>
          </p:nvPr>
        </p:nvSpPr>
        <p:spPr>
          <a:xfrm>
            <a:off x="987136" y="1723159"/>
            <a:ext cx="8936182" cy="4355523"/>
          </a:xfrm>
        </p:spPr>
        <p:txBody>
          <a:bodyPr>
            <a:normAutofit/>
          </a:bodyPr>
          <a:lstStyle/>
          <a:p>
            <a:r>
              <a:rPr lang="zh-CN" altLang="en-US" dirty="0"/>
              <a:t>优点</a:t>
            </a:r>
            <a:endParaRPr lang="en-US" altLang="zh-CN" dirty="0"/>
          </a:p>
          <a:p>
            <a:pPr lvl="1"/>
            <a:r>
              <a:rPr lang="zh-CN" altLang="en-US" dirty="0"/>
              <a:t>快速，满足实时检测需求</a:t>
            </a:r>
            <a:endParaRPr lang="en-US" altLang="zh-CN" dirty="0"/>
          </a:p>
          <a:p>
            <a:pPr lvl="1"/>
            <a:r>
              <a:rPr lang="zh-CN" altLang="en-US" dirty="0"/>
              <a:t>泛化能力强</a:t>
            </a:r>
            <a:endParaRPr lang="en-US" altLang="zh-CN" dirty="0"/>
          </a:p>
          <a:p>
            <a:pPr lvl="1"/>
            <a:r>
              <a:rPr lang="zh-CN" altLang="en-US" dirty="0"/>
              <a:t>接口较为简单，可迁移</a:t>
            </a:r>
            <a:endParaRPr lang="en-US" altLang="zh-CN" dirty="0"/>
          </a:p>
          <a:p>
            <a:pPr lvl="1"/>
            <a:endParaRPr lang="en-US" altLang="zh-CN" dirty="0"/>
          </a:p>
          <a:p>
            <a:r>
              <a:rPr lang="zh-CN" altLang="en-US" dirty="0"/>
              <a:t>缺点</a:t>
            </a:r>
            <a:endParaRPr lang="en-US" altLang="zh-CN" dirty="0"/>
          </a:p>
          <a:p>
            <a:pPr lvl="1"/>
            <a:r>
              <a:rPr lang="zh-CN" altLang="en-US" dirty="0"/>
              <a:t>牺牲部分准确率</a:t>
            </a:r>
            <a:endParaRPr lang="en-US" altLang="zh-CN" dirty="0"/>
          </a:p>
          <a:p>
            <a:pPr lvl="1"/>
            <a:r>
              <a:rPr lang="zh-CN" altLang="en-US" dirty="0"/>
              <a:t>对小尺度物体和极端宽高比物体的识别能力较弱</a:t>
            </a:r>
          </a:p>
          <a:p>
            <a:pPr lvl="1"/>
            <a:r>
              <a:rPr lang="zh-CN" altLang="en-US" dirty="0"/>
              <a:t>对大量重叠的物体识别能力差</a:t>
            </a:r>
            <a:endParaRPr lang="en-US" altLang="zh-CN" dirty="0"/>
          </a:p>
          <a:p>
            <a:pPr lvl="1"/>
            <a:r>
              <a:rPr lang="zh-CN" altLang="en-US" dirty="0"/>
              <a:t>网络框架不主流</a:t>
            </a:r>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8</a:t>
            </a:fld>
            <a:endParaRPr lang="zh-CN" altLang="en-US">
              <a:solidFill>
                <a:prstClr val="black">
                  <a:tint val="75000"/>
                </a:prst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目标检测算法</a:t>
            </a:r>
          </a:p>
        </p:txBody>
      </p:sp>
      <p:sp>
        <p:nvSpPr>
          <p:cNvPr id="3" name="内容占位符 2"/>
          <p:cNvSpPr>
            <a:spLocks noGrp="1"/>
          </p:cNvSpPr>
          <p:nvPr>
            <p:ph idx="1"/>
          </p:nvPr>
        </p:nvSpPr>
        <p:spPr/>
        <p:txBody>
          <a:bodyPr>
            <a:normAutofit/>
          </a:bodyPr>
          <a:lstStyle/>
          <a:p>
            <a:pPr>
              <a:buChar char="•"/>
            </a:pPr>
            <a:r>
              <a:rPr lang="en-US" altLang="zh-CN" dirty="0"/>
              <a:t>One-stage Method</a:t>
            </a:r>
            <a:r>
              <a:rPr lang="zh-CN" altLang="en-US" dirty="0"/>
              <a:t>：</a:t>
            </a:r>
            <a:r>
              <a:rPr lang="en-US" altLang="zh-CN" dirty="0"/>
              <a:t>SSD</a:t>
            </a:r>
          </a:p>
          <a:p>
            <a:pPr lvl="1"/>
            <a:endParaRPr lang="en-US" altLang="zh-CN" dirty="0"/>
          </a:p>
          <a:p>
            <a:pPr lvl="1"/>
            <a:r>
              <a:rPr lang="en-US" altLang="zh-CN" dirty="0"/>
              <a:t>SSD</a:t>
            </a:r>
            <a:r>
              <a:rPr lang="zh-CN" altLang="en-US" dirty="0"/>
              <a:t>算法于</a:t>
            </a:r>
            <a:r>
              <a:rPr lang="en-US" altLang="zh-CN" dirty="0"/>
              <a:t>2016</a:t>
            </a:r>
            <a:r>
              <a:rPr lang="zh-CN" altLang="en-US" dirty="0"/>
              <a:t>年提出，也是目标检测领域的一类杰出算法。如其全名“Single Shot MultiBox Detector”所明示，</a:t>
            </a:r>
            <a:r>
              <a:rPr lang="en-US" altLang="zh-CN" dirty="0"/>
              <a:t>SSD</a:t>
            </a:r>
            <a:r>
              <a:rPr lang="zh-CN" altLang="en-US" dirty="0"/>
              <a:t>同样是一个</a:t>
            </a:r>
            <a:r>
              <a:rPr lang="en-US" altLang="zh-CN" dirty="0"/>
              <a:t>One Stage</a:t>
            </a:r>
            <a:r>
              <a:rPr lang="zh-CN" altLang="en-US" dirty="0"/>
              <a:t>的算法。</a:t>
            </a:r>
            <a:r>
              <a:rPr lang="en-US" altLang="zh-CN" dirty="0"/>
              <a:t>SSD</a:t>
            </a:r>
            <a:r>
              <a:rPr lang="zh-CN" altLang="en-US" dirty="0"/>
              <a:t>的重要贡献是使用了</a:t>
            </a:r>
            <a:r>
              <a:rPr lang="en-US" altLang="zh-CN" dirty="0"/>
              <a:t>MultiBox</a:t>
            </a:r>
            <a:r>
              <a:rPr lang="zh-CN" altLang="en-US" dirty="0"/>
              <a:t>来进行多尺度预测。</a:t>
            </a:r>
          </a:p>
          <a:p>
            <a:pPr lvl="1"/>
            <a:r>
              <a:rPr lang="zh-CN" altLang="en-US" dirty="0"/>
              <a:t>该算法在多个不同尺度上提取特</a:t>
            </a:r>
          </a:p>
          <a:p>
            <a:pPr lvl="1">
              <a:buNone/>
            </a:pPr>
            <a:r>
              <a:rPr lang="en-US" altLang="zh-CN" dirty="0"/>
              <a:t>   </a:t>
            </a:r>
            <a:r>
              <a:rPr lang="zh-CN" altLang="en-US" dirty="0"/>
              <a:t>征，不同的感受野可以适应不同</a:t>
            </a:r>
          </a:p>
          <a:p>
            <a:pPr lvl="1">
              <a:buNone/>
            </a:pPr>
            <a:r>
              <a:rPr lang="en-US" altLang="zh-CN" dirty="0"/>
              <a:t>   </a:t>
            </a:r>
            <a:r>
              <a:rPr lang="zh-CN" altLang="en-US" dirty="0"/>
              <a:t>大小的目标。</a:t>
            </a:r>
          </a:p>
          <a:p>
            <a:pPr lvl="1">
              <a:buChar char="•"/>
            </a:pPr>
            <a:r>
              <a:rPr lang="en-US" altLang="zh-CN" dirty="0"/>
              <a:t>SSD</a:t>
            </a:r>
            <a:r>
              <a:rPr lang="zh-CN" altLang="en-US" dirty="0"/>
              <a:t>同样将位置预测视为一个回</a:t>
            </a:r>
          </a:p>
          <a:p>
            <a:pPr lvl="1">
              <a:buNone/>
            </a:pPr>
            <a:r>
              <a:rPr lang="zh-CN" altLang="en-US" dirty="0"/>
              <a:t>   归问题，采用不同大小和宽高比</a:t>
            </a:r>
          </a:p>
          <a:p>
            <a:pPr lvl="1">
              <a:buNone/>
            </a:pPr>
            <a:r>
              <a:rPr lang="zh-CN" altLang="en-US" dirty="0"/>
              <a:t>   的先验框来适应多尺度预测</a:t>
            </a:r>
            <a:endParaRPr lang="en-US" altLang="zh-CN" dirty="0"/>
          </a:p>
        </p:txBody>
      </p:sp>
      <p:sp>
        <p:nvSpPr>
          <p:cNvPr id="6" name="矩形 5"/>
          <p:cNvSpPr/>
          <p:nvPr/>
        </p:nvSpPr>
        <p:spPr>
          <a:xfrm>
            <a:off x="0" y="6356350"/>
            <a:ext cx="6460577" cy="252730"/>
          </a:xfrm>
          <a:prstGeom prst="rect">
            <a:avLst/>
          </a:prstGeom>
        </p:spPr>
        <p:txBody>
          <a:bodyPr wrap="square">
            <a:spAutoFit/>
          </a:bodyPr>
          <a:lstStyle/>
          <a:p>
            <a:pPr marL="228600" indent="-228600">
              <a:buNone/>
            </a:pPr>
            <a:r>
              <a:rPr lang="en-US" altLang="zh-CN" sz="1050" dirty="0">
                <a:latin typeface="微软雅黑" charset="0"/>
                <a:ea typeface="微软雅黑" charset="0"/>
              </a:rPr>
              <a:t>3. </a:t>
            </a:r>
            <a:r>
              <a:rPr lang="en-US" altLang="zh-CN" sz="1050" dirty="0">
                <a:latin typeface="微软雅黑" panose="020B0503020204020204" pitchFamily="34" charset="-122"/>
                <a:ea typeface="微软雅黑" panose="020B0503020204020204" pitchFamily="34" charset="-122"/>
              </a:rPr>
              <a:t>  SSD: Single Shot MultiBox Detector arXiv: 1512.02325</a:t>
            </a:r>
            <a:endParaRPr lang="zh-CN" altLang="en-US" sz="105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9</a:t>
            </a:fld>
            <a:endParaRPr lang="zh-CN" altLang="en-US">
              <a:solidFill>
                <a:prstClr val="black">
                  <a:tint val="75000"/>
                </a:prstClr>
              </a:solidFill>
            </a:endParaRPr>
          </a:p>
        </p:txBody>
      </p:sp>
      <p:pic>
        <p:nvPicPr>
          <p:cNvPr id="8" name="图片 7"/>
          <p:cNvPicPr>
            <a:picLocks noChangeAspect="1"/>
          </p:cNvPicPr>
          <p:nvPr/>
        </p:nvPicPr>
        <p:blipFill>
          <a:blip r:embed="rId3"/>
          <a:stretch>
            <a:fillRect/>
          </a:stretch>
        </p:blipFill>
        <p:spPr>
          <a:xfrm>
            <a:off x="6096000" y="3850350"/>
            <a:ext cx="5439833" cy="2116667"/>
          </a:xfrm>
          <a:prstGeom prst="rect">
            <a:avLst/>
          </a:prstGeom>
        </p:spPr>
      </p:pic>
      <p:sp>
        <p:nvSpPr>
          <p:cNvPr id="9" name="文本框 8"/>
          <p:cNvSpPr txBox="1"/>
          <p:nvPr/>
        </p:nvSpPr>
        <p:spPr>
          <a:xfrm>
            <a:off x="10659365" y="5840652"/>
            <a:ext cx="683895" cy="252730"/>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Fig.1[3]</a:t>
            </a:r>
            <a:endParaRPr lang="zh-CN" altLang="en-US" sz="105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算法的演进</a:t>
            </a:r>
            <a:endParaRPr lang="zh-CN" altLang="en-US" dirty="0"/>
          </a:p>
        </p:txBody>
      </p:sp>
      <p:sp>
        <p:nvSpPr>
          <p:cNvPr id="3" name="内容占位符 2"/>
          <p:cNvSpPr>
            <a:spLocks noGrp="1"/>
          </p:cNvSpPr>
          <p:nvPr>
            <p:ph idx="1"/>
          </p:nvPr>
        </p:nvSpPr>
        <p:spPr>
          <a:xfrm>
            <a:off x="846667" y="1820333"/>
            <a:ext cx="10202333" cy="4360333"/>
          </a:xfrm>
        </p:spPr>
        <p:txBody>
          <a:bodyPr>
            <a:normAutofit/>
          </a:bodyPr>
          <a:lstStyle/>
          <a:p>
            <a:r>
              <a:rPr lang="en-US" altLang="zh-CN" sz="2400" dirty="0"/>
              <a:t>YOLOv1</a:t>
            </a:r>
            <a:r>
              <a:rPr lang="zh-CN" altLang="en-US" sz="2400" dirty="0"/>
              <a:t>虽然很快，但精度不高，且对小物体和重叠物体的检测效果并不理想。在后续迭代的过程中，</a:t>
            </a:r>
            <a:r>
              <a:rPr lang="en-US" altLang="zh-CN" sz="2400" dirty="0"/>
              <a:t>YOLO</a:t>
            </a:r>
            <a:r>
              <a:rPr lang="zh-CN" altLang="en-US" sz="2400" dirty="0"/>
              <a:t>也借鉴了许多其他算法的优点。</a:t>
            </a:r>
          </a:p>
          <a:p>
            <a:pPr marL="685800" lvl="1"/>
            <a:r>
              <a:rPr lang="zh-CN" altLang="en-US" dirty="0"/>
              <a:t>在</a:t>
            </a:r>
            <a:r>
              <a:rPr lang="en-US" altLang="zh-CN" dirty="0"/>
              <a:t>YOLOv2</a:t>
            </a:r>
            <a:r>
              <a:rPr lang="zh-CN" altLang="en-US" dirty="0"/>
              <a:t>中引入了与</a:t>
            </a:r>
            <a:r>
              <a:rPr lang="en-US" altLang="zh-CN" dirty="0"/>
              <a:t>Faster R</a:t>
            </a:r>
            <a:r>
              <a:rPr lang="zh-CN" altLang="en-US" dirty="0"/>
              <a:t>-</a:t>
            </a:r>
            <a:r>
              <a:rPr lang="en-US" altLang="zh-CN" dirty="0"/>
              <a:t>CNN</a:t>
            </a:r>
            <a:r>
              <a:rPr lang="zh-CN" altLang="en-US" dirty="0"/>
              <a:t>类似的</a:t>
            </a:r>
            <a:r>
              <a:rPr lang="zh-CN" altLang="en-US" b="1" dirty="0"/>
              <a:t>先验框（</a:t>
            </a:r>
            <a:r>
              <a:rPr lang="en-US" altLang="zh-CN" b="1" dirty="0"/>
              <a:t>Anchor Box</a:t>
            </a:r>
            <a:r>
              <a:rPr lang="zh-CN" altLang="en-US" b="1" dirty="0"/>
              <a:t>）</a:t>
            </a:r>
            <a:r>
              <a:rPr lang="zh-CN" altLang="en-US" dirty="0"/>
              <a:t>，算法通过</a:t>
            </a:r>
            <a:r>
              <a:rPr lang="en-US" altLang="zh-CN" dirty="0"/>
              <a:t>K</a:t>
            </a:r>
            <a:r>
              <a:rPr lang="zh-CN" altLang="en-US" dirty="0"/>
              <a:t>-</a:t>
            </a:r>
            <a:r>
              <a:rPr lang="en-US" altLang="zh-CN" dirty="0"/>
              <a:t>Means</a:t>
            </a:r>
            <a:r>
              <a:rPr lang="zh-CN" altLang="en-US" dirty="0"/>
              <a:t>聚类先验地预设一组有确定大小的矩形框，神经网络并不直接预测目标的大小，而是预测一组归化后的尺寸缩放系数，先验框经过该系数的尺寸变换，就得到了算法对目标大小的预测。</a:t>
            </a:r>
          </a:p>
          <a:p>
            <a:pPr marL="685800" lvl="1"/>
            <a:r>
              <a:rPr lang="zh-CN" altLang="en-US" dirty="0"/>
              <a:t>继</a:t>
            </a:r>
            <a:r>
              <a:rPr lang="en-US" altLang="zh-CN" dirty="0"/>
              <a:t>SSD</a:t>
            </a:r>
            <a:r>
              <a:rPr lang="zh-CN" altLang="en-US" dirty="0"/>
              <a:t>使用多尺度预测后，</a:t>
            </a:r>
            <a:r>
              <a:rPr lang="en-US" altLang="zh-CN" dirty="0"/>
              <a:t>YOLOv3</a:t>
            </a:r>
            <a:r>
              <a:rPr lang="zh-CN" altLang="en-US" dirty="0"/>
              <a:t>也引入了类似于</a:t>
            </a:r>
            <a:r>
              <a:rPr lang="en-US" altLang="zh-CN" b="1" dirty="0"/>
              <a:t>FPN</a:t>
            </a:r>
            <a:r>
              <a:rPr lang="zh-CN" altLang="en-US" b="1" dirty="0"/>
              <a:t>（</a:t>
            </a:r>
            <a:r>
              <a:rPr lang="en-US" altLang="zh-CN" b="1" dirty="0"/>
              <a:t>Feature Pyramid Network</a:t>
            </a:r>
            <a:r>
              <a:rPr lang="zh-CN" altLang="en-US" b="1" dirty="0"/>
              <a:t>）的多尺度预测</a:t>
            </a:r>
            <a:r>
              <a:rPr lang="zh-CN" altLang="en-US" dirty="0"/>
              <a:t>方法。它通过</a:t>
            </a:r>
            <a:r>
              <a:rPr lang="en-US" altLang="zh-CN" dirty="0"/>
              <a:t>1*1</a:t>
            </a:r>
            <a:r>
              <a:rPr lang="zh-CN" altLang="en-US" dirty="0"/>
              <a:t>的卷积层和上采样层，把不同尺度的特征图融合起来，使得算法可以在</a:t>
            </a:r>
            <a:r>
              <a:rPr lang="en-US" altLang="zh-CN" dirty="0"/>
              <a:t>13*13 </a:t>
            </a:r>
            <a:r>
              <a:rPr lang="zh-CN" altLang="en-US" dirty="0"/>
              <a:t>，</a:t>
            </a:r>
            <a:r>
              <a:rPr lang="en-US" altLang="zh-CN" dirty="0"/>
              <a:t>26*26</a:t>
            </a:r>
            <a:r>
              <a:rPr lang="zh-CN" altLang="en-US" dirty="0"/>
              <a:t>，</a:t>
            </a:r>
            <a:r>
              <a:rPr lang="en-US" altLang="zh-CN" dirty="0"/>
              <a:t>52*52</a:t>
            </a:r>
            <a:r>
              <a:rPr lang="zh-CN" altLang="en-US" dirty="0"/>
              <a:t>三个尺度的融合特征图上进行预测。</a:t>
            </a:r>
          </a:p>
          <a:p>
            <a:pPr marL="685800" lvl="1"/>
            <a:r>
              <a:rPr lang="zh-CN" altLang="en-US" dirty="0"/>
              <a:t>此外，</a:t>
            </a:r>
            <a:r>
              <a:rPr lang="en-US" altLang="zh-CN" dirty="0"/>
              <a:t>YOLO</a:t>
            </a:r>
            <a:r>
              <a:rPr lang="zh-CN" altLang="en-US" dirty="0"/>
              <a:t>还相继引入了</a:t>
            </a:r>
            <a:r>
              <a:rPr lang="en-US" altLang="zh-CN" dirty="0"/>
              <a:t>BN</a:t>
            </a:r>
            <a:r>
              <a:rPr lang="zh-CN" altLang="en-US" dirty="0"/>
              <a:t>、残差块、</a:t>
            </a:r>
            <a:r>
              <a:rPr lang="en-US" altLang="zh-CN" dirty="0">
                <a:sym typeface="+mn-ea"/>
              </a:rPr>
              <a:t>Logistic</a:t>
            </a:r>
            <a:r>
              <a:rPr lang="zh-CN" altLang="en-US" dirty="0">
                <a:sym typeface="+mn-ea"/>
              </a:rPr>
              <a:t>替代</a:t>
            </a:r>
            <a:r>
              <a:rPr lang="en-US" altLang="zh-CN" dirty="0">
                <a:sym typeface="+mn-ea"/>
              </a:rPr>
              <a:t>Softmax</a:t>
            </a:r>
            <a:r>
              <a:rPr lang="zh-CN" altLang="en-US" dirty="0">
                <a:sym typeface="+mn-ea"/>
              </a:rPr>
              <a:t>等诸多改进，使得算法在精度和泛化能力方面得到了大幅度的进步。</a:t>
            </a:r>
            <a:endParaRPr lang="en-US" altLang="zh-CN" sz="2055" dirty="0"/>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10</a:t>
            </a:fld>
            <a:endParaRPr lang="zh-CN" altLang="en-US">
              <a:solidFill>
                <a:prstClr val="black">
                  <a:tint val="75000"/>
                </a:prst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1749425" y="3033201"/>
            <a:ext cx="8866941" cy="3505711"/>
          </a:xfrm>
          <a:prstGeom prst="rect">
            <a:avLst/>
          </a:prstGeom>
        </p:spPr>
      </p:pic>
      <p:sp>
        <p:nvSpPr>
          <p:cNvPr id="2" name="标题 1"/>
          <p:cNvSpPr>
            <a:spLocks noGrp="1"/>
          </p:cNvSpPr>
          <p:nvPr>
            <p:ph type="title"/>
          </p:nvPr>
        </p:nvSpPr>
        <p:spPr/>
        <p:txBody>
          <a:bodyPr/>
          <a:lstStyle/>
          <a:p>
            <a:r>
              <a:rPr lang="en-US" altLang="zh-CN" dirty="0"/>
              <a:t>YOLO</a:t>
            </a:r>
            <a:r>
              <a:rPr lang="zh-CN" altLang="en-US" dirty="0"/>
              <a:t>算法的演进</a:t>
            </a:r>
          </a:p>
        </p:txBody>
      </p:sp>
      <p:sp>
        <p:nvSpPr>
          <p:cNvPr id="3" name="内容占位符 2"/>
          <p:cNvSpPr>
            <a:spLocks noGrp="1"/>
          </p:cNvSpPr>
          <p:nvPr>
            <p:ph idx="1"/>
          </p:nvPr>
        </p:nvSpPr>
        <p:spPr>
          <a:xfrm>
            <a:off x="838200" y="1446756"/>
            <a:ext cx="3518654" cy="1836486"/>
          </a:xfrm>
        </p:spPr>
        <p:txBody>
          <a:bodyPr>
            <a:normAutofit/>
          </a:bodyPr>
          <a:lstStyle/>
          <a:p>
            <a:r>
              <a:rPr lang="en-US" altLang="zh-CN" sz="2400" dirty="0"/>
              <a:t>YOLOv1</a:t>
            </a:r>
          </a:p>
          <a:p>
            <a:pPr lvl="1"/>
            <a:r>
              <a:rPr lang="en-US" altLang="zh-CN" sz="2000" dirty="0"/>
              <a:t>Bounding Box </a:t>
            </a:r>
            <a:r>
              <a:rPr lang="zh-CN" altLang="en-US" sz="2000" dirty="0"/>
              <a:t>候选</a:t>
            </a:r>
            <a:endParaRPr lang="en-US" altLang="zh-CN" sz="2000" dirty="0"/>
          </a:p>
          <a:p>
            <a:pPr lvl="1"/>
            <a:r>
              <a:rPr lang="en-US" altLang="zh-CN" sz="2000" dirty="0"/>
              <a:t>Leaky </a:t>
            </a:r>
            <a:r>
              <a:rPr lang="en-US" altLang="zh-CN" sz="2000" dirty="0" err="1"/>
              <a:t>ReLU</a:t>
            </a:r>
            <a:r>
              <a:rPr lang="en-US" altLang="zh-CN" sz="2000" dirty="0"/>
              <a:t> </a:t>
            </a:r>
            <a:r>
              <a:rPr lang="zh-CN" altLang="en-US" sz="2000" dirty="0"/>
              <a:t>激活</a:t>
            </a:r>
            <a:endParaRPr lang="en-US" altLang="zh-CN" sz="2000" dirty="0"/>
          </a:p>
          <a:p>
            <a:pPr lvl="1"/>
            <a:r>
              <a:rPr lang="en-US" altLang="zh-CN" sz="2000" dirty="0" err="1"/>
              <a:t>Softmax</a:t>
            </a:r>
            <a:r>
              <a:rPr lang="en-US" altLang="zh-CN" sz="2000" dirty="0"/>
              <a:t> </a:t>
            </a:r>
            <a:r>
              <a:rPr lang="zh-CN" altLang="en-US" sz="2000" dirty="0"/>
              <a:t>预测</a:t>
            </a:r>
            <a:endParaRPr lang="en-US" altLang="zh-CN" sz="2000" dirty="0"/>
          </a:p>
          <a:p>
            <a:pPr lvl="1"/>
            <a:r>
              <a:rPr lang="en-US" altLang="zh-CN" sz="2000" dirty="0"/>
              <a:t>NMS</a:t>
            </a:r>
            <a:r>
              <a:rPr lang="zh-CN" altLang="en-US" sz="2000" dirty="0"/>
              <a:t> 筛选</a:t>
            </a:r>
            <a:endParaRPr lang="en-US" altLang="zh-CN" sz="2000" dirty="0"/>
          </a:p>
        </p:txBody>
      </p:sp>
      <p:sp>
        <p:nvSpPr>
          <p:cNvPr id="5" name="文本框 4"/>
          <p:cNvSpPr txBox="1"/>
          <p:nvPr/>
        </p:nvSpPr>
        <p:spPr>
          <a:xfrm>
            <a:off x="10216036" y="6192460"/>
            <a:ext cx="683895" cy="252730"/>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Fig.3[2]</a:t>
            </a:r>
            <a:endParaRPr lang="zh-CN" altLang="en-US" sz="1050" dirty="0">
              <a:latin typeface="微软雅黑" panose="020B0503020204020204" pitchFamily="34" charset="-122"/>
              <a:ea typeface="微软雅黑" panose="020B0503020204020204" pitchFamily="34" charset="-122"/>
            </a:endParaRPr>
          </a:p>
        </p:txBody>
      </p:sp>
      <p:sp>
        <p:nvSpPr>
          <p:cNvPr id="7" name="内容占位符 2"/>
          <p:cNvSpPr txBox="1"/>
          <p:nvPr/>
        </p:nvSpPr>
        <p:spPr>
          <a:xfrm>
            <a:off x="7882064" y="1444010"/>
            <a:ext cx="3518654" cy="1984990"/>
          </a:xfrm>
          <a:prstGeom prst="rect">
            <a:avLst/>
          </a:prstGeom>
        </p:spPr>
        <p:txBody>
          <a:bodyPr vert="horz" lIns="91440" tIns="45720" rIns="91440" bIns="45720" rtlCol="0">
            <a:normAutofit fontScale="97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500" dirty="0"/>
              <a:t>YOLOv3</a:t>
            </a:r>
            <a:r>
              <a:rPr lang="zh-CN" altLang="en-US" sz="2500" dirty="0"/>
              <a:t>：</a:t>
            </a:r>
            <a:r>
              <a:rPr lang="en-US" altLang="zh-CN" sz="2500" dirty="0"/>
              <a:t>Darknet-53</a:t>
            </a:r>
          </a:p>
          <a:p>
            <a:pPr lvl="1"/>
            <a:r>
              <a:rPr lang="zh-CN" altLang="en-US" sz="2100" dirty="0"/>
              <a:t>多尺度预测（</a:t>
            </a:r>
            <a:r>
              <a:rPr lang="en-US" altLang="zh-CN" sz="2100" dirty="0"/>
              <a:t>FPN</a:t>
            </a:r>
            <a:r>
              <a:rPr lang="zh-CN" altLang="en-US" sz="2100" dirty="0"/>
              <a:t>）</a:t>
            </a:r>
            <a:endParaRPr lang="en-US" altLang="zh-CN" sz="2100" dirty="0"/>
          </a:p>
          <a:p>
            <a:pPr lvl="1"/>
            <a:r>
              <a:rPr lang="zh-CN" altLang="en-US" sz="2100" dirty="0"/>
              <a:t>使用残差块</a:t>
            </a:r>
          </a:p>
          <a:p>
            <a:pPr lvl="1"/>
            <a:r>
              <a:rPr lang="zh-CN" altLang="en-US" sz="2100" dirty="0"/>
              <a:t>无全连接层</a:t>
            </a:r>
            <a:endParaRPr lang="en-US" altLang="zh-CN" sz="2100" dirty="0"/>
          </a:p>
          <a:p>
            <a:pPr lvl="1"/>
            <a:r>
              <a:rPr lang="zh-CN" altLang="en-US" sz="2100" dirty="0"/>
              <a:t>用</a:t>
            </a:r>
            <a:r>
              <a:rPr lang="en-US" altLang="zh-CN" sz="2100" dirty="0"/>
              <a:t>Logistic</a:t>
            </a:r>
            <a:r>
              <a:rPr lang="zh-CN" altLang="en-US" sz="2100" dirty="0"/>
              <a:t>分类替代</a:t>
            </a:r>
            <a:r>
              <a:rPr lang="en-US" altLang="zh-CN" sz="2100" dirty="0" err="1"/>
              <a:t>Softmax</a:t>
            </a:r>
            <a:endParaRPr lang="en-US" altLang="zh-CN" sz="2100" dirty="0"/>
          </a:p>
        </p:txBody>
      </p:sp>
      <p:sp>
        <p:nvSpPr>
          <p:cNvPr id="9" name="灯片编号占位符 8"/>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11</a:t>
            </a:fld>
            <a:endParaRPr lang="zh-CN" altLang="en-US">
              <a:solidFill>
                <a:prstClr val="black">
                  <a:tint val="75000"/>
                </a:prstClr>
              </a:solidFill>
            </a:endParaRPr>
          </a:p>
        </p:txBody>
      </p:sp>
      <p:sp>
        <p:nvSpPr>
          <p:cNvPr id="10" name="矩形 9"/>
          <p:cNvSpPr/>
          <p:nvPr/>
        </p:nvSpPr>
        <p:spPr>
          <a:xfrm>
            <a:off x="0" y="6457890"/>
            <a:ext cx="6505128" cy="400110"/>
          </a:xfrm>
          <a:prstGeom prst="rect">
            <a:avLst/>
          </a:prstGeom>
        </p:spPr>
        <p:txBody>
          <a:bodyPr wrap="square">
            <a:spAutoFit/>
          </a:bodyPr>
          <a:lstStyle/>
          <a:p>
            <a:pPr marL="228600" indent="-228600">
              <a:buNone/>
            </a:pPr>
            <a:r>
              <a:rPr lang="en-US" altLang="zh-CN" sz="1000" dirty="0">
                <a:latin typeface="微软雅黑" panose="020B0503020204020204" pitchFamily="34" charset="-122"/>
                <a:ea typeface="微软雅黑" panose="020B0503020204020204" pitchFamily="34" charset="-122"/>
              </a:rPr>
              <a:t>2.  </a:t>
            </a:r>
            <a:r>
              <a:rPr lang="en-US" altLang="zh-CN" sz="1000" dirty="0" err="1">
                <a:latin typeface="微软雅黑" panose="020B0503020204020204" pitchFamily="34" charset="-122"/>
                <a:ea typeface="微软雅黑" panose="020B0503020204020204" pitchFamily="34" charset="-122"/>
              </a:rPr>
              <a:t>Redmon</a:t>
            </a:r>
            <a:r>
              <a:rPr lang="en-US" altLang="zh-CN" sz="1000" dirty="0">
                <a:latin typeface="微软雅黑" panose="020B0503020204020204" pitchFamily="34" charset="-122"/>
                <a:ea typeface="微软雅黑" panose="020B0503020204020204" pitchFamily="34" charset="-122"/>
              </a:rPr>
              <a:t> J, </a:t>
            </a:r>
            <a:r>
              <a:rPr lang="en-US" altLang="zh-CN" sz="1000" dirty="0" err="1">
                <a:latin typeface="微软雅黑" panose="020B0503020204020204" pitchFamily="34" charset="-122"/>
                <a:ea typeface="微软雅黑" panose="020B0503020204020204" pitchFamily="34" charset="-122"/>
              </a:rPr>
              <a:t>Divvala</a:t>
            </a:r>
            <a:r>
              <a:rPr lang="en-US" altLang="zh-CN" sz="1000" dirty="0">
                <a:latin typeface="微软雅黑" panose="020B0503020204020204" pitchFamily="34" charset="-122"/>
                <a:ea typeface="微软雅黑" panose="020B0503020204020204" pitchFamily="34" charset="-122"/>
              </a:rPr>
              <a:t> S, </a:t>
            </a:r>
            <a:r>
              <a:rPr lang="en-US" altLang="zh-CN" sz="1000" dirty="0" err="1">
                <a:latin typeface="微软雅黑" panose="020B0503020204020204" pitchFamily="34" charset="-122"/>
                <a:ea typeface="微软雅黑" panose="020B0503020204020204" pitchFamily="34" charset="-122"/>
              </a:rPr>
              <a:t>Girshick</a:t>
            </a:r>
            <a:r>
              <a:rPr lang="en-US" altLang="zh-CN" sz="1000" dirty="0">
                <a:latin typeface="微软雅黑" panose="020B0503020204020204" pitchFamily="34" charset="-122"/>
                <a:ea typeface="微软雅黑" panose="020B0503020204020204" pitchFamily="34" charset="-122"/>
              </a:rPr>
              <a:t> R, et al. You Only Look Once: Unified, Real-Time Object Detection[C]. IEEE Conference on Computer Vision and Pattern Recognition (CVPR), Las Vegas, NV, 2016, 779-788.</a:t>
            </a:r>
            <a:endParaRPr lang="zh-CN" altLang="en-US" sz="1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1E5C357F-241F-4969-B756-DBE8D830E3DD}"/>
              </a:ext>
            </a:extLst>
          </p:cNvPr>
          <p:cNvSpPr txBox="1"/>
          <p:nvPr/>
        </p:nvSpPr>
        <p:spPr>
          <a:xfrm>
            <a:off x="4624480" y="1446756"/>
            <a:ext cx="3116830" cy="2000548"/>
          </a:xfrm>
          <a:prstGeom prst="rect">
            <a:avLst/>
          </a:prstGeom>
          <a:noFill/>
        </p:spPr>
        <p:txBody>
          <a:bodyPr wrap="square">
            <a:spAutoFit/>
          </a:bodyPr>
          <a:lstStyle/>
          <a:p>
            <a:pPr marL="57150" indent="-228600">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YOLOv2</a:t>
            </a:r>
          </a:p>
          <a:p>
            <a:pPr marL="514350" lvl="1" indent="-2286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引入</a:t>
            </a:r>
            <a:r>
              <a:rPr lang="en-US" altLang="zh-CN" sz="2000" dirty="0">
                <a:latin typeface="微软雅黑" panose="020B0503020204020204" pitchFamily="34" charset="-122"/>
                <a:ea typeface="微软雅黑" panose="020B0503020204020204" pitchFamily="34" charset="-122"/>
              </a:rPr>
              <a:t>Batch Normalization</a:t>
            </a:r>
          </a:p>
          <a:p>
            <a:pPr marL="514350" lvl="1" indent="-2286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引入</a:t>
            </a:r>
            <a:r>
              <a:rPr lang="en-US" altLang="zh-CN" sz="2000" dirty="0">
                <a:latin typeface="微软雅黑" panose="020B0503020204020204" pitchFamily="34" charset="-122"/>
                <a:ea typeface="微软雅黑" panose="020B0503020204020204" pitchFamily="34" charset="-122"/>
              </a:rPr>
              <a:t>Anchor Box</a:t>
            </a:r>
          </a:p>
          <a:p>
            <a:pPr marL="514350" lvl="1" indent="-2286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用</a:t>
            </a:r>
            <a:r>
              <a:rPr lang="en-US" altLang="zh-CN" sz="2000" dirty="0">
                <a:latin typeface="微软雅黑" panose="020B0503020204020204" pitchFamily="34" charset="-122"/>
                <a:ea typeface="微软雅黑" panose="020B0503020204020204" pitchFamily="34" charset="-122"/>
              </a:rPr>
              <a:t>K-means</a:t>
            </a:r>
            <a:r>
              <a:rPr lang="zh-CN" altLang="en-US" sz="2000" dirty="0">
                <a:latin typeface="微软雅黑" panose="020B0503020204020204" pitchFamily="34" charset="-122"/>
                <a:ea typeface="微软雅黑" panose="020B0503020204020204" pitchFamily="34" charset="-122"/>
              </a:rPr>
              <a:t>聚类选择</a:t>
            </a:r>
            <a:r>
              <a:rPr lang="en-US" altLang="zh-CN" sz="2000" dirty="0">
                <a:latin typeface="微软雅黑" panose="020B0503020204020204" pitchFamily="34" charset="-122"/>
                <a:ea typeface="微软雅黑" panose="020B0503020204020204" pitchFamily="34" charset="-122"/>
              </a:rPr>
              <a:t>Anchor Box</a:t>
            </a:r>
          </a:p>
        </p:txBody>
      </p:sp>
      <p:sp>
        <p:nvSpPr>
          <p:cNvPr id="13" name="文本框 12">
            <a:extLst>
              <a:ext uri="{FF2B5EF4-FFF2-40B4-BE49-F238E27FC236}">
                <a16:creationId xmlns:a16="http://schemas.microsoft.com/office/drawing/2014/main" id="{0112CFA6-9669-45B3-86BB-B0FFB8BDD71C}"/>
              </a:ext>
            </a:extLst>
          </p:cNvPr>
          <p:cNvSpPr txBox="1"/>
          <p:nvPr/>
        </p:nvSpPr>
        <p:spPr>
          <a:xfrm>
            <a:off x="1219200" y="4287057"/>
            <a:ext cx="1060450" cy="369332"/>
          </a:xfrm>
          <a:prstGeom prst="rect">
            <a:avLst/>
          </a:prstGeom>
          <a:noFill/>
        </p:spPr>
        <p:txBody>
          <a:bodyPr wrap="square">
            <a:spAutoFit/>
          </a:bodyPr>
          <a:lstStyle/>
          <a:p>
            <a:r>
              <a:rPr lang="en-US" altLang="zh-CN" sz="1800" b="1" dirty="0"/>
              <a:t>YOLOv1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YOLO</a:t>
            </a:r>
            <a:r>
              <a:rPr lang="zh-CN" altLang="en-US" dirty="0"/>
              <a:t>的基本流程</a:t>
            </a:r>
          </a:p>
        </p:txBody>
      </p:sp>
      <p:sp>
        <p:nvSpPr>
          <p:cNvPr id="3" name="内容占位符 2"/>
          <p:cNvSpPr>
            <a:spLocks noGrp="1"/>
          </p:cNvSpPr>
          <p:nvPr>
            <p:ph idx="1"/>
          </p:nvPr>
        </p:nvSpPr>
        <p:spPr>
          <a:xfrm>
            <a:off x="848591" y="1818409"/>
            <a:ext cx="10555432" cy="4364182"/>
          </a:xfrm>
        </p:spPr>
        <p:txBody>
          <a:bodyPr>
            <a:normAutofit lnSpcReduction="10000"/>
          </a:bodyPr>
          <a:lstStyle/>
          <a:p>
            <a:r>
              <a:rPr lang="en-US" altLang="zh-CN" dirty="0"/>
              <a:t>Resize Image</a:t>
            </a:r>
          </a:p>
          <a:p>
            <a:r>
              <a:rPr lang="zh-CN" altLang="en-US" dirty="0"/>
              <a:t>运行</a:t>
            </a:r>
            <a:r>
              <a:rPr lang="en-US" altLang="zh-CN" dirty="0"/>
              <a:t>CNN</a:t>
            </a:r>
            <a:r>
              <a:rPr lang="zh-CN" altLang="en-US" dirty="0"/>
              <a:t>产生候选</a:t>
            </a:r>
            <a:endParaRPr lang="en-US" altLang="zh-CN" dirty="0"/>
          </a:p>
          <a:p>
            <a:pPr lvl="1"/>
            <a:r>
              <a:rPr lang="zh-CN" altLang="en-US" dirty="0"/>
              <a:t>划分</a:t>
            </a:r>
            <a:r>
              <a:rPr lang="en-US" altLang="zh-CN" dirty="0"/>
              <a:t>S</a:t>
            </a:r>
            <a:r>
              <a:rPr lang="zh-CN" altLang="en-US" dirty="0"/>
              <a:t>*</a:t>
            </a:r>
            <a:r>
              <a:rPr lang="en-US" altLang="zh-CN" dirty="0"/>
              <a:t>S</a:t>
            </a:r>
            <a:r>
              <a:rPr lang="zh-CN" altLang="en-US" dirty="0"/>
              <a:t>粒度的网格（</a:t>
            </a:r>
            <a:r>
              <a:rPr lang="en-US" altLang="zh-CN" dirty="0"/>
              <a:t>grid</a:t>
            </a:r>
            <a:r>
              <a:rPr lang="zh-CN" altLang="en-US" dirty="0"/>
              <a:t>）</a:t>
            </a:r>
            <a:endParaRPr lang="en-US" altLang="zh-CN" dirty="0"/>
          </a:p>
          <a:p>
            <a:pPr lvl="1"/>
            <a:r>
              <a:rPr lang="zh-CN" altLang="en-US" dirty="0"/>
              <a:t>每个</a:t>
            </a:r>
            <a:r>
              <a:rPr lang="en-US" altLang="zh-CN" dirty="0"/>
              <a:t>grid</a:t>
            </a:r>
            <a:r>
              <a:rPr lang="zh-CN" altLang="en-US" dirty="0"/>
              <a:t>上分配</a:t>
            </a:r>
            <a:r>
              <a:rPr lang="en-US" altLang="zh-CN" dirty="0"/>
              <a:t>B</a:t>
            </a:r>
            <a:r>
              <a:rPr lang="zh-CN" altLang="en-US" dirty="0"/>
              <a:t>个先验框（</a:t>
            </a:r>
            <a:r>
              <a:rPr lang="en-US" altLang="zh-CN" dirty="0"/>
              <a:t>Anchor Box</a:t>
            </a:r>
            <a:r>
              <a:rPr lang="zh-CN" altLang="en-US" dirty="0"/>
              <a:t>）</a:t>
            </a:r>
            <a:endParaRPr lang="en-US" altLang="zh-CN" dirty="0"/>
          </a:p>
          <a:p>
            <a:pPr lvl="1"/>
            <a:r>
              <a:rPr lang="zh-CN" altLang="en-US" dirty="0"/>
              <a:t>为每个</a:t>
            </a:r>
            <a:r>
              <a:rPr lang="en-US" altLang="zh-CN" dirty="0"/>
              <a:t>Anchor Box</a:t>
            </a:r>
            <a:r>
              <a:rPr lang="zh-CN" altLang="en-US" dirty="0"/>
              <a:t>产生位置预测</a:t>
            </a:r>
            <a:endParaRPr lang="en-US" altLang="zh-CN" dirty="0"/>
          </a:p>
          <a:p>
            <a:pPr lvl="1"/>
            <a:r>
              <a:rPr lang="zh-CN" altLang="en-US" dirty="0"/>
              <a:t>输出尺寸：</a:t>
            </a:r>
            <a:r>
              <a:rPr lang="en-US" altLang="zh-CN" dirty="0"/>
              <a:t>S*S *(B*5 + C)</a:t>
            </a:r>
          </a:p>
          <a:p>
            <a:pPr lvl="1"/>
            <a:r>
              <a:rPr lang="zh-CN" altLang="en-US" dirty="0"/>
              <a:t>对于</a:t>
            </a:r>
            <a:r>
              <a:rPr lang="en-US" altLang="zh-CN" dirty="0"/>
              <a:t>YOLOv3</a:t>
            </a:r>
            <a:r>
              <a:rPr lang="zh-CN" altLang="en-US" dirty="0"/>
              <a:t>的多尺度预测而言，</a:t>
            </a:r>
            <a:r>
              <a:rPr lang="en-US" altLang="zh-CN" dirty="0"/>
              <a:t>S*S</a:t>
            </a:r>
            <a:r>
              <a:rPr lang="zh-CN" altLang="en-US" dirty="0"/>
              <a:t>的划分将不止一种，对应不同粒度</a:t>
            </a:r>
            <a:endParaRPr lang="en-US" altLang="zh-CN" dirty="0"/>
          </a:p>
          <a:p>
            <a:r>
              <a:rPr lang="zh-CN" altLang="en-US" dirty="0"/>
              <a:t>非极大值抑制</a:t>
            </a:r>
            <a:r>
              <a:rPr lang="en-US" altLang="zh-CN" dirty="0"/>
              <a:t>NMS</a:t>
            </a:r>
            <a:r>
              <a:rPr lang="zh-CN" altLang="en-US" dirty="0"/>
              <a:t>筛选预测</a:t>
            </a:r>
          </a:p>
          <a:p>
            <a:pPr marL="685800" lvl="1"/>
            <a:r>
              <a:rPr lang="zh-CN" altLang="en-US" dirty="0"/>
              <a:t>由于整个网络会产生</a:t>
            </a:r>
            <a:r>
              <a:rPr lang="en-US" altLang="zh-CN" dirty="0"/>
              <a:t>S*S*B</a:t>
            </a:r>
            <a:r>
              <a:rPr lang="zh-CN" altLang="en-US" dirty="0"/>
              <a:t>个预测，这些预测某些可能根本没有物体，某些可能预测了同一个物体，</a:t>
            </a:r>
            <a:r>
              <a:rPr lang="en-US" altLang="zh-CN" dirty="0"/>
              <a:t>NMS</a:t>
            </a:r>
            <a:r>
              <a:rPr lang="zh-CN" altLang="en-US" dirty="0"/>
              <a:t>过程筛选了这些结果，最终保留了那些高置信度且互不重复的预测。</a:t>
            </a:r>
            <a:endParaRPr lang="en-US" altLang="zh-CN" dirty="0"/>
          </a:p>
        </p:txBody>
      </p:sp>
      <p:pic>
        <p:nvPicPr>
          <p:cNvPr id="4" name="图片 3"/>
          <p:cNvPicPr>
            <a:picLocks noChangeAspect="1"/>
          </p:cNvPicPr>
          <p:nvPr/>
        </p:nvPicPr>
        <p:blipFill>
          <a:blip r:embed="rId3"/>
          <a:stretch>
            <a:fillRect/>
          </a:stretch>
        </p:blipFill>
        <p:spPr>
          <a:xfrm>
            <a:off x="5799667" y="833197"/>
            <a:ext cx="6053667" cy="1841500"/>
          </a:xfrm>
          <a:prstGeom prst="rect">
            <a:avLst/>
          </a:prstGeom>
        </p:spPr>
      </p:pic>
      <p:sp>
        <p:nvSpPr>
          <p:cNvPr id="5" name="文本框 4"/>
          <p:cNvSpPr txBox="1"/>
          <p:nvPr/>
        </p:nvSpPr>
        <p:spPr>
          <a:xfrm>
            <a:off x="10795475" y="2528549"/>
            <a:ext cx="683895" cy="252730"/>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Fig.1[2]</a:t>
            </a:r>
            <a:endParaRPr lang="zh-CN" altLang="en-US" sz="105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12</a:t>
            </a:fld>
            <a:endParaRPr lang="zh-CN" altLang="en-US" dirty="0">
              <a:solidFill>
                <a:prstClr val="black">
                  <a:tint val="75000"/>
                </a:prstClr>
              </a:solidFill>
            </a:endParaRPr>
          </a:p>
        </p:txBody>
      </p:sp>
      <p:sp>
        <p:nvSpPr>
          <p:cNvPr id="9" name="矩形 8">
            <a:extLst>
              <a:ext uri="{FF2B5EF4-FFF2-40B4-BE49-F238E27FC236}">
                <a16:creationId xmlns:a16="http://schemas.microsoft.com/office/drawing/2014/main" id="{AB7C1E03-6F75-4DBE-B528-FDBA9DEF2AA8}"/>
              </a:ext>
            </a:extLst>
          </p:cNvPr>
          <p:cNvSpPr/>
          <p:nvPr/>
        </p:nvSpPr>
        <p:spPr>
          <a:xfrm>
            <a:off x="0" y="6445190"/>
            <a:ext cx="6680200" cy="400110"/>
          </a:xfrm>
          <a:prstGeom prst="rect">
            <a:avLst/>
          </a:prstGeom>
        </p:spPr>
        <p:txBody>
          <a:bodyPr wrap="square">
            <a:spAutoFit/>
          </a:bodyPr>
          <a:lstStyle/>
          <a:p>
            <a:pPr marL="228600" indent="-228600">
              <a:buNone/>
            </a:pPr>
            <a:r>
              <a:rPr lang="en-US" altLang="zh-CN" sz="1000" dirty="0">
                <a:latin typeface="微软雅黑" panose="020B0503020204020204" pitchFamily="34" charset="-122"/>
                <a:ea typeface="微软雅黑" panose="020B0503020204020204" pitchFamily="34" charset="-122"/>
              </a:rPr>
              <a:t>2.  </a:t>
            </a:r>
            <a:r>
              <a:rPr lang="en-US" altLang="zh-CN" sz="1000" dirty="0" err="1">
                <a:latin typeface="微软雅黑" panose="020B0503020204020204" pitchFamily="34" charset="-122"/>
                <a:ea typeface="微软雅黑" panose="020B0503020204020204" pitchFamily="34" charset="-122"/>
              </a:rPr>
              <a:t>Redmon</a:t>
            </a:r>
            <a:r>
              <a:rPr lang="en-US" altLang="zh-CN" sz="1000" dirty="0">
                <a:latin typeface="微软雅黑" panose="020B0503020204020204" pitchFamily="34" charset="-122"/>
                <a:ea typeface="微软雅黑" panose="020B0503020204020204" pitchFamily="34" charset="-122"/>
              </a:rPr>
              <a:t> J, </a:t>
            </a:r>
            <a:r>
              <a:rPr lang="en-US" altLang="zh-CN" sz="1000" dirty="0" err="1">
                <a:latin typeface="微软雅黑" panose="020B0503020204020204" pitchFamily="34" charset="-122"/>
                <a:ea typeface="微软雅黑" panose="020B0503020204020204" pitchFamily="34" charset="-122"/>
              </a:rPr>
              <a:t>Divvala</a:t>
            </a:r>
            <a:r>
              <a:rPr lang="en-US" altLang="zh-CN" sz="1000" dirty="0">
                <a:latin typeface="微软雅黑" panose="020B0503020204020204" pitchFamily="34" charset="-122"/>
                <a:ea typeface="微软雅黑" panose="020B0503020204020204" pitchFamily="34" charset="-122"/>
              </a:rPr>
              <a:t> S, </a:t>
            </a:r>
            <a:r>
              <a:rPr lang="en-US" altLang="zh-CN" sz="1000" dirty="0" err="1">
                <a:latin typeface="微软雅黑" panose="020B0503020204020204" pitchFamily="34" charset="-122"/>
                <a:ea typeface="微软雅黑" panose="020B0503020204020204" pitchFamily="34" charset="-122"/>
              </a:rPr>
              <a:t>Girshick</a:t>
            </a:r>
            <a:r>
              <a:rPr lang="en-US" altLang="zh-CN" sz="1000" dirty="0">
                <a:latin typeface="微软雅黑" panose="020B0503020204020204" pitchFamily="34" charset="-122"/>
                <a:ea typeface="微软雅黑" panose="020B0503020204020204" pitchFamily="34" charset="-122"/>
              </a:rPr>
              <a:t> R, et al. You Only Look Once: Unified, Real-Time Object Detection[C]. IEEE Conference on Computer Vision and Pattern Recognition (CVPR), Las Vegas, NV, 2016, 779-788.</a:t>
            </a:r>
            <a:endParaRPr lang="zh-CN" altLang="en-US" sz="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FCE00E3-4B1A-7746-BDE9-5D148264DBBC}"/>
              </a:ext>
            </a:extLst>
          </p:cNvPr>
          <p:cNvSpPr>
            <a:spLocks noGrp="1"/>
          </p:cNvSpPr>
          <p:nvPr>
            <p:ph idx="1"/>
          </p:nvPr>
        </p:nvSpPr>
        <p:spPr>
          <a:xfrm>
            <a:off x="476123" y="1196537"/>
            <a:ext cx="10515600" cy="4351338"/>
          </a:xfrm>
        </p:spPr>
        <p:txBody>
          <a:bodyPr/>
          <a:lstStyle/>
          <a:p>
            <a:pPr>
              <a:lnSpc>
                <a:spcPct val="100000"/>
              </a:lnSpc>
            </a:pPr>
            <a:r>
              <a:rPr lang="en-US" altLang="zh-CN" dirty="0"/>
              <a:t>Non-Maximum Suppression</a:t>
            </a:r>
          </a:p>
          <a:p>
            <a:pPr marL="514350" indent="-514350">
              <a:lnSpc>
                <a:spcPct val="100000"/>
              </a:lnSpc>
              <a:buFont typeface="+mj-lt"/>
              <a:buAutoNum type="arabicPeriod"/>
            </a:pPr>
            <a:r>
              <a:rPr lang="zh-CN" altLang="en-US" dirty="0"/>
              <a:t>将所有框按照置信度（出现目标的概率）排序；</a:t>
            </a:r>
            <a:endParaRPr lang="en-US" altLang="zh-CN" dirty="0"/>
          </a:p>
          <a:p>
            <a:pPr marL="514350" indent="-514350">
              <a:lnSpc>
                <a:spcPct val="100000"/>
              </a:lnSpc>
              <a:buFont typeface="+mj-lt"/>
              <a:buAutoNum type="arabicPeriod"/>
            </a:pPr>
            <a:r>
              <a:rPr lang="zh-CN" altLang="en-US" dirty="0"/>
              <a:t>选择最大置信度的检测框</a:t>
            </a:r>
            <a:r>
              <a:rPr lang="en-US" altLang="zh-CN" dirty="0"/>
              <a:t>M</a:t>
            </a:r>
            <a:r>
              <a:rPr lang="zh-CN" altLang="en-US" dirty="0"/>
              <a:t>，将其他与</a:t>
            </a:r>
            <a:r>
              <a:rPr lang="en-US" altLang="zh-CN" dirty="0"/>
              <a:t>M</a:t>
            </a:r>
            <a:r>
              <a:rPr lang="zh-CN" altLang="en-US" dirty="0"/>
              <a:t>框的交并比（</a:t>
            </a:r>
            <a:r>
              <a:rPr lang="en-US" altLang="zh-CN" dirty="0" err="1"/>
              <a:t>IoU</a:t>
            </a:r>
            <a:r>
              <a:rPr lang="zh-CN" altLang="en-US" dirty="0"/>
              <a:t>）大于阈值</a:t>
            </a:r>
            <a:r>
              <a:rPr lang="en-US" altLang="zh-CN" dirty="0" err="1"/>
              <a:t>Nt</a:t>
            </a:r>
            <a:r>
              <a:rPr lang="zh-CN" altLang="en-US" dirty="0"/>
              <a:t>的框抑制；</a:t>
            </a:r>
            <a:endParaRPr lang="en-US" altLang="zh-CN" dirty="0"/>
          </a:p>
          <a:p>
            <a:pPr marL="514350" indent="-514350">
              <a:lnSpc>
                <a:spcPct val="100000"/>
              </a:lnSpc>
              <a:buFont typeface="+mj-lt"/>
              <a:buAutoNum type="arabicPeriod"/>
            </a:pPr>
            <a:r>
              <a:rPr lang="zh-CN" altLang="en-US" dirty="0"/>
              <a:t>迭代第</a:t>
            </a:r>
            <a:r>
              <a:rPr lang="en-US" altLang="zh-CN" dirty="0"/>
              <a:t>2</a:t>
            </a:r>
            <a:r>
              <a:rPr lang="zh-CN" altLang="en-US" dirty="0"/>
              <a:t>步，直到所有框检测完成。</a:t>
            </a:r>
          </a:p>
        </p:txBody>
      </p:sp>
      <p:sp>
        <p:nvSpPr>
          <p:cNvPr id="5" name="标题 1">
            <a:extLst>
              <a:ext uri="{FF2B5EF4-FFF2-40B4-BE49-F238E27FC236}">
                <a16:creationId xmlns:a16="http://schemas.microsoft.com/office/drawing/2014/main" id="{8E91CF79-9E56-C40E-F4BA-80AECEC566DA}"/>
              </a:ext>
            </a:extLst>
          </p:cNvPr>
          <p:cNvSpPr>
            <a:spLocks noGrp="1"/>
          </p:cNvSpPr>
          <p:nvPr>
            <p:ph type="title"/>
          </p:nvPr>
        </p:nvSpPr>
        <p:spPr>
          <a:xfrm>
            <a:off x="476123" y="101238"/>
            <a:ext cx="10515600" cy="1325563"/>
          </a:xfrm>
        </p:spPr>
        <p:txBody>
          <a:bodyPr/>
          <a:lstStyle/>
          <a:p>
            <a:r>
              <a:rPr lang="zh-CN" altLang="en-US" dirty="0">
                <a:latin typeface="微软雅黑" panose="020B0503020204020204" pitchFamily="34" charset="-122"/>
                <a:ea typeface="微软雅黑" panose="020B0503020204020204" pitchFamily="34" charset="-122"/>
              </a:rPr>
              <a:t>非极大抑制算法（</a:t>
            </a:r>
            <a:r>
              <a:rPr lang="en-US" altLang="zh-CN" dirty="0">
                <a:latin typeface="微软雅黑" panose="020B0503020204020204" pitchFamily="34" charset="-122"/>
                <a:ea typeface="微软雅黑" panose="020B0503020204020204" pitchFamily="34" charset="-122"/>
              </a:rPr>
              <a:t>NMS</a:t>
            </a:r>
            <a:r>
              <a:rPr lang="zh-CN" altLang="en-US" dirty="0">
                <a:latin typeface="微软雅黑" panose="020B0503020204020204" pitchFamily="34" charset="-122"/>
                <a:ea typeface="微软雅黑" panose="020B0503020204020204" pitchFamily="34" charset="-122"/>
              </a:rPr>
              <a:t>）</a:t>
            </a:r>
            <a:endParaRPr lang="zh-CN" altLang="en-US" dirty="0"/>
          </a:p>
        </p:txBody>
      </p:sp>
      <p:pic>
        <p:nvPicPr>
          <p:cNvPr id="3074" name="Picture 2">
            <a:extLst>
              <a:ext uri="{FF2B5EF4-FFF2-40B4-BE49-F238E27FC236}">
                <a16:creationId xmlns:a16="http://schemas.microsoft.com/office/drawing/2014/main" id="{A8FA277A-788C-9C4D-586A-9B47C2997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5667" y="3822283"/>
            <a:ext cx="7276333" cy="303571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71FBD1E1-423D-CC3A-F2E4-337607231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7" y="4730606"/>
            <a:ext cx="4909050" cy="1219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912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YOLO</a:t>
            </a:r>
            <a:r>
              <a:rPr lang="zh-CN" altLang="en-US" dirty="0"/>
              <a:t>的边框预测</a:t>
            </a:r>
          </a:p>
        </p:txBody>
      </p:sp>
      <p:sp>
        <p:nvSpPr>
          <p:cNvPr id="3" name="内容占位符 2"/>
          <p:cNvSpPr>
            <a:spLocks noGrp="1"/>
          </p:cNvSpPr>
          <p:nvPr>
            <p:ph idx="1"/>
          </p:nvPr>
        </p:nvSpPr>
        <p:spPr>
          <a:xfrm>
            <a:off x="848591" y="1818409"/>
            <a:ext cx="7135091" cy="4996295"/>
          </a:xfrm>
        </p:spPr>
        <p:txBody>
          <a:bodyPr>
            <a:normAutofit fontScale="97500" lnSpcReduction="10000"/>
          </a:bodyPr>
          <a:lstStyle/>
          <a:p>
            <a:pPr>
              <a:lnSpc>
                <a:spcPct val="120000"/>
              </a:lnSpc>
            </a:pPr>
            <a:r>
              <a:rPr lang="en-US" altLang="zh-CN" sz="2000" dirty="0"/>
              <a:t>YOLO</a:t>
            </a:r>
            <a:r>
              <a:rPr lang="zh-CN" altLang="en-US" sz="2000" dirty="0"/>
              <a:t>使用的</a:t>
            </a:r>
            <a:r>
              <a:rPr lang="en-US" altLang="zh-CN" sz="2000" dirty="0"/>
              <a:t>Anchor Box</a:t>
            </a:r>
            <a:r>
              <a:rPr lang="zh-CN" altLang="en-US" sz="2000" dirty="0"/>
              <a:t>思想来源于</a:t>
            </a:r>
            <a:r>
              <a:rPr lang="en-US" altLang="zh-CN" sz="2000" dirty="0"/>
              <a:t>Faster R</a:t>
            </a:r>
            <a:r>
              <a:rPr lang="zh-CN" altLang="en-US" sz="2000" dirty="0"/>
              <a:t>-</a:t>
            </a:r>
            <a:r>
              <a:rPr lang="en-US" altLang="zh-CN" sz="2000" dirty="0"/>
              <a:t>CNN</a:t>
            </a:r>
            <a:r>
              <a:rPr lang="zh-CN" altLang="en-US" sz="2000" dirty="0"/>
              <a:t>，如右图所示</a:t>
            </a:r>
          </a:p>
          <a:p>
            <a:pPr marL="685800" lvl="1">
              <a:lnSpc>
                <a:spcPct val="120000"/>
              </a:lnSpc>
            </a:pPr>
            <a:r>
              <a:rPr lang="zh-CN" altLang="en-US" sz="2000" dirty="0"/>
              <a:t>要标定一个矩形框的准确位置信息，需要且仅需要</a:t>
            </a:r>
            <a:r>
              <a:rPr lang="en-US" altLang="zh-CN" sz="2000" dirty="0"/>
              <a:t>4</a:t>
            </a:r>
            <a:r>
              <a:rPr lang="zh-CN" altLang="en-US" sz="2000" dirty="0"/>
              <a:t>个值。对于</a:t>
            </a:r>
            <a:r>
              <a:rPr lang="en-US" altLang="zh-CN" sz="2000" dirty="0"/>
              <a:t>YOLO</a:t>
            </a:r>
            <a:r>
              <a:rPr lang="zh-CN" altLang="en-US" sz="2000" dirty="0"/>
              <a:t>而言，这四个值是框的中心点坐标</a:t>
            </a:r>
            <a:r>
              <a:rPr lang="en-US" altLang="zh-CN" sz="2000" dirty="0"/>
              <a:t>(bx, by)</a:t>
            </a:r>
            <a:r>
              <a:rPr lang="zh-CN" altLang="en-US" sz="2000" dirty="0"/>
              <a:t>，以及框的宽高</a:t>
            </a:r>
            <a:r>
              <a:rPr lang="en-US" altLang="zh-CN" sz="2000" dirty="0"/>
              <a:t>(bw,bh)</a:t>
            </a:r>
          </a:p>
          <a:p>
            <a:pPr marL="685800" lvl="1">
              <a:lnSpc>
                <a:spcPct val="120000"/>
              </a:lnSpc>
            </a:pPr>
            <a:r>
              <a:rPr lang="zh-CN" altLang="en-US" sz="2000" dirty="0"/>
              <a:t>图中的蓝色框为物体的真实位置，也就是网络想要最终输出的预测。但实际上，网络并不直接预测</a:t>
            </a:r>
            <a:r>
              <a:rPr lang="en-US" altLang="zh-CN" sz="2000" dirty="0"/>
              <a:t>bx by bw bh</a:t>
            </a:r>
            <a:r>
              <a:rPr lang="zh-CN" altLang="en-US" sz="2000" dirty="0"/>
              <a:t>这四个值，而是预测四个归化后的尺寸缩放系数</a:t>
            </a:r>
            <a:r>
              <a:rPr lang="en-US" altLang="zh-CN" sz="2000" dirty="0"/>
              <a:t>tx ty tw th</a:t>
            </a:r>
          </a:p>
          <a:p>
            <a:pPr marL="685800" lvl="1">
              <a:lnSpc>
                <a:spcPct val="120000"/>
              </a:lnSpc>
            </a:pPr>
            <a:r>
              <a:rPr lang="zh-CN" altLang="en-US" sz="2000" dirty="0"/>
              <a:t>图中的黑色虚线框即</a:t>
            </a:r>
            <a:r>
              <a:rPr lang="en-US" altLang="zh-CN" sz="2000" dirty="0"/>
              <a:t>Anchor Box</a:t>
            </a:r>
            <a:r>
              <a:rPr lang="zh-CN" altLang="en-US" sz="2000" dirty="0"/>
              <a:t>，它是在训练过程中通过</a:t>
            </a:r>
            <a:r>
              <a:rPr lang="zh-CN" altLang="en-US" sz="2000" b="1" dirty="0"/>
              <a:t>聚类算法事先确定</a:t>
            </a:r>
            <a:r>
              <a:rPr lang="zh-CN" altLang="en-US" sz="2000" dirty="0"/>
              <a:t>的有固定大小的框（此即“先验”的含义），网络预测出四个缩放系数后，只要通过图中的公式进行尺度变换，就可以从原来</a:t>
            </a:r>
            <a:r>
              <a:rPr lang="en-US" altLang="zh-CN" sz="2000" dirty="0"/>
              <a:t>Anchor Box</a:t>
            </a:r>
            <a:r>
              <a:rPr lang="zh-CN" altLang="en-US" sz="2000" dirty="0"/>
              <a:t>映射出预测框的大小，即从黑色虚线框计算出蓝色框的大小。</a:t>
            </a:r>
            <a:endParaRPr lang="en-US" altLang="zh-CN" sz="2000" dirty="0"/>
          </a:p>
          <a:p>
            <a:pPr marL="685800" lvl="1">
              <a:lnSpc>
                <a:spcPct val="120000"/>
              </a:lnSpc>
            </a:pPr>
            <a:endParaRPr lang="en-US" altLang="zh-CN" sz="2055" dirty="0"/>
          </a:p>
          <a:p>
            <a:endParaRPr lang="en-US" altLang="zh-CN" sz="2400" dirty="0"/>
          </a:p>
        </p:txBody>
      </p:sp>
      <p:sp>
        <p:nvSpPr>
          <p:cNvPr id="7" name="灯片编号占位符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14</a:t>
            </a:fld>
            <a:endParaRPr lang="zh-CN" altLang="en-US">
              <a:solidFill>
                <a:prstClr val="black">
                  <a:tint val="75000"/>
                </a:prstClr>
              </a:solidFill>
            </a:endParaRPr>
          </a:p>
        </p:txBody>
      </p:sp>
      <p:pic>
        <p:nvPicPr>
          <p:cNvPr id="6" name="图片 5"/>
          <p:cNvPicPr>
            <a:picLocks noChangeAspect="1"/>
          </p:cNvPicPr>
          <p:nvPr/>
        </p:nvPicPr>
        <p:blipFill>
          <a:blip r:embed="rId3"/>
          <a:stretch>
            <a:fillRect/>
          </a:stretch>
        </p:blipFill>
        <p:spPr>
          <a:xfrm>
            <a:off x="8026977" y="2052205"/>
            <a:ext cx="4078432" cy="29007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Darknet</a:t>
            </a:r>
            <a:r>
              <a:rPr lang="zh-CN" altLang="en-US" dirty="0"/>
              <a:t>网络结构</a:t>
            </a:r>
          </a:p>
        </p:txBody>
      </p:sp>
      <p:sp>
        <p:nvSpPr>
          <p:cNvPr id="3" name="内容占位符 2"/>
          <p:cNvSpPr>
            <a:spLocks noGrp="1"/>
          </p:cNvSpPr>
          <p:nvPr>
            <p:ph idx="1"/>
          </p:nvPr>
        </p:nvSpPr>
        <p:spPr>
          <a:xfrm>
            <a:off x="989845" y="1721462"/>
            <a:ext cx="5391905" cy="4351338"/>
          </a:xfrm>
        </p:spPr>
        <p:txBody>
          <a:bodyPr>
            <a:normAutofit fontScale="92500" lnSpcReduction="10000"/>
          </a:bodyPr>
          <a:lstStyle/>
          <a:p>
            <a:r>
              <a:rPr lang="en-US" altLang="zh-CN" dirty="0"/>
              <a:t>yolov3</a:t>
            </a:r>
            <a:r>
              <a:rPr lang="zh-CN" altLang="en-US" dirty="0"/>
              <a:t>（见</a:t>
            </a:r>
            <a:r>
              <a:rPr lang="en-US" altLang="zh-CN" dirty="0"/>
              <a:t>yolov3.cfg</a:t>
            </a:r>
            <a:r>
              <a:rPr lang="zh-CN" altLang="en-US" dirty="0"/>
              <a:t>）</a:t>
            </a:r>
            <a:endParaRPr lang="en-US" altLang="zh-CN" dirty="0"/>
          </a:p>
          <a:p>
            <a:pPr lvl="1"/>
            <a:r>
              <a:rPr lang="zh-CN" altLang="en-US" dirty="0"/>
              <a:t>卷积层（</a:t>
            </a:r>
            <a:r>
              <a:rPr lang="en-US" altLang="zh-CN" dirty="0"/>
              <a:t>convolutional layer</a:t>
            </a:r>
            <a:r>
              <a:rPr lang="zh-CN" altLang="en-US" dirty="0"/>
              <a:t>）</a:t>
            </a:r>
            <a:endParaRPr lang="en-US" altLang="zh-CN" dirty="0"/>
          </a:p>
          <a:p>
            <a:pPr lvl="1"/>
            <a:r>
              <a:rPr lang="zh-CN" altLang="en-US" dirty="0"/>
              <a:t>上采样层（</a:t>
            </a:r>
            <a:r>
              <a:rPr lang="en-US" altLang="zh-CN" dirty="0" err="1"/>
              <a:t>upsample</a:t>
            </a:r>
            <a:r>
              <a:rPr lang="en-US" altLang="zh-CN" dirty="0"/>
              <a:t> layer</a:t>
            </a:r>
            <a:r>
              <a:rPr lang="zh-CN" altLang="en-US" dirty="0"/>
              <a:t>）</a:t>
            </a:r>
            <a:endParaRPr lang="en-US" altLang="zh-CN" dirty="0"/>
          </a:p>
          <a:p>
            <a:pPr lvl="1"/>
            <a:r>
              <a:rPr lang="zh-CN" altLang="en-US" dirty="0"/>
              <a:t>捷径层（</a:t>
            </a:r>
            <a:r>
              <a:rPr lang="en-US" altLang="zh-CN" dirty="0"/>
              <a:t>shortcut layer</a:t>
            </a:r>
            <a:r>
              <a:rPr lang="zh-CN" altLang="en-US" dirty="0"/>
              <a:t>）</a:t>
            </a:r>
            <a:endParaRPr lang="en-US" altLang="zh-CN" dirty="0"/>
          </a:p>
          <a:p>
            <a:pPr lvl="1"/>
            <a:r>
              <a:rPr lang="zh-CN" altLang="en-US" dirty="0"/>
              <a:t>路由层（</a:t>
            </a:r>
            <a:r>
              <a:rPr lang="en-US" altLang="zh-CN" dirty="0"/>
              <a:t>route layer</a:t>
            </a:r>
            <a:r>
              <a:rPr lang="zh-CN" altLang="en-US" dirty="0"/>
              <a:t>）</a:t>
            </a:r>
            <a:endParaRPr lang="en-US" altLang="zh-CN" dirty="0"/>
          </a:p>
          <a:p>
            <a:pPr lvl="1"/>
            <a:r>
              <a:rPr lang="en-US" altLang="zh-CN" dirty="0"/>
              <a:t>YOLO</a:t>
            </a:r>
            <a:r>
              <a:rPr lang="zh-CN" altLang="en-US" dirty="0"/>
              <a:t>层（</a:t>
            </a:r>
            <a:r>
              <a:rPr lang="en-US" altLang="zh-CN" dirty="0"/>
              <a:t>yolo layer</a:t>
            </a:r>
            <a:r>
              <a:rPr lang="zh-CN" altLang="en-US" dirty="0"/>
              <a:t>）</a:t>
            </a:r>
            <a:endParaRPr lang="en-US" altLang="zh-CN" dirty="0"/>
          </a:p>
          <a:p>
            <a:r>
              <a:rPr lang="en-US" altLang="zh-CN" dirty="0"/>
              <a:t>yolov3-tiny</a:t>
            </a:r>
            <a:r>
              <a:rPr lang="zh-CN" altLang="en-US" dirty="0"/>
              <a:t>（见</a:t>
            </a:r>
            <a:r>
              <a:rPr lang="en-US" altLang="zh-CN" dirty="0"/>
              <a:t>yolov3-tiny.cfg</a:t>
            </a:r>
            <a:r>
              <a:rPr lang="zh-CN" altLang="en-US" dirty="0"/>
              <a:t>）</a:t>
            </a:r>
            <a:endParaRPr lang="en-US" altLang="zh-CN" dirty="0"/>
          </a:p>
          <a:p>
            <a:pPr lvl="1"/>
            <a:r>
              <a:rPr lang="zh-CN" altLang="en-US" dirty="0"/>
              <a:t>卷积层（</a:t>
            </a:r>
            <a:r>
              <a:rPr lang="en-US" altLang="zh-CN" dirty="0"/>
              <a:t>convolutional layer</a:t>
            </a:r>
            <a:r>
              <a:rPr lang="zh-CN" altLang="en-US" dirty="0"/>
              <a:t>）</a:t>
            </a:r>
            <a:endParaRPr lang="en-US" altLang="zh-CN" dirty="0"/>
          </a:p>
          <a:p>
            <a:pPr lvl="1"/>
            <a:r>
              <a:rPr lang="zh-CN" altLang="en-US" dirty="0"/>
              <a:t>最大值池化层（</a:t>
            </a:r>
            <a:r>
              <a:rPr lang="en-US" altLang="zh-CN" dirty="0" err="1"/>
              <a:t>maxpool</a:t>
            </a:r>
            <a:r>
              <a:rPr lang="en-US" altLang="zh-CN" dirty="0"/>
              <a:t> layer</a:t>
            </a:r>
            <a:r>
              <a:rPr lang="zh-CN" altLang="en-US" dirty="0"/>
              <a:t>）</a:t>
            </a:r>
            <a:endParaRPr lang="en-US" altLang="zh-CN" dirty="0"/>
          </a:p>
          <a:p>
            <a:pPr lvl="1"/>
            <a:r>
              <a:rPr lang="zh-CN" altLang="en-US" dirty="0"/>
              <a:t>上采样层（</a:t>
            </a:r>
            <a:r>
              <a:rPr lang="en-US" altLang="zh-CN" dirty="0" err="1"/>
              <a:t>upsample</a:t>
            </a:r>
            <a:r>
              <a:rPr lang="en-US" altLang="zh-CN" dirty="0"/>
              <a:t> layer</a:t>
            </a:r>
            <a:r>
              <a:rPr lang="zh-CN" altLang="en-US" dirty="0"/>
              <a:t>）</a:t>
            </a:r>
            <a:endParaRPr lang="en-US" altLang="zh-CN" dirty="0"/>
          </a:p>
          <a:p>
            <a:pPr lvl="1"/>
            <a:r>
              <a:rPr lang="zh-CN" altLang="en-US" dirty="0"/>
              <a:t>路由层（</a:t>
            </a:r>
            <a:r>
              <a:rPr lang="en-US" altLang="zh-CN" dirty="0"/>
              <a:t>route layer</a:t>
            </a:r>
            <a:r>
              <a:rPr lang="zh-CN" altLang="en-US" dirty="0"/>
              <a:t>）</a:t>
            </a:r>
            <a:endParaRPr lang="en-US" altLang="zh-CN" dirty="0"/>
          </a:p>
          <a:p>
            <a:pPr lvl="1"/>
            <a:r>
              <a:rPr lang="en-US" altLang="zh-CN" dirty="0"/>
              <a:t>YOLO</a:t>
            </a:r>
            <a:r>
              <a:rPr lang="zh-CN" altLang="en-US" dirty="0"/>
              <a:t>层（</a:t>
            </a:r>
            <a:r>
              <a:rPr lang="en-US" altLang="zh-CN" dirty="0"/>
              <a:t>yolo layer</a:t>
            </a:r>
            <a:r>
              <a:rPr lang="zh-CN" altLang="en-US" dirty="0"/>
              <a:t>）</a:t>
            </a:r>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15</a:t>
            </a:fld>
            <a:endParaRPr lang="zh-CN" altLang="en-US">
              <a:solidFill>
                <a:prstClr val="black">
                  <a:tint val="75000"/>
                </a:prstClr>
              </a:solidFill>
            </a:endParaRPr>
          </a:p>
        </p:txBody>
      </p:sp>
      <p:pic>
        <p:nvPicPr>
          <p:cNvPr id="5" name="图片 4"/>
          <p:cNvPicPr/>
          <p:nvPr/>
        </p:nvPicPr>
        <p:blipFill>
          <a:blip r:embed="rId3">
            <a:extLst>
              <a:ext uri="{28A0092B-C50C-407E-A947-70E740481C1C}">
                <a14:useLocalDpi xmlns:a14="http://schemas.microsoft.com/office/drawing/2010/main" val="0"/>
              </a:ext>
            </a:extLst>
          </a:blip>
          <a:stretch>
            <a:fillRect/>
          </a:stretch>
        </p:blipFill>
        <p:spPr>
          <a:xfrm>
            <a:off x="6576125" y="2617667"/>
            <a:ext cx="5133975" cy="30308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7A765A1-1F39-4548-2CBD-523A5038C3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84"/>
          <a:stretch/>
        </p:blipFill>
        <p:spPr bwMode="auto">
          <a:xfrm>
            <a:off x="743038" y="1690688"/>
            <a:ext cx="10339048" cy="4640839"/>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1">
            <a:extLst>
              <a:ext uri="{FF2B5EF4-FFF2-40B4-BE49-F238E27FC236}">
                <a16:creationId xmlns:a16="http://schemas.microsoft.com/office/drawing/2014/main" id="{0F9B8580-069D-0D63-FE20-36A4E70D2D38}"/>
              </a:ext>
            </a:extLst>
          </p:cNvPr>
          <p:cNvSpPr>
            <a:spLocks noGrp="1"/>
          </p:cNvSpPr>
          <p:nvPr>
            <p:ph type="title"/>
          </p:nvPr>
        </p:nvSpPr>
        <p:spPr>
          <a:xfrm>
            <a:off x="838200" y="365125"/>
            <a:ext cx="10515600" cy="1325563"/>
          </a:xfrm>
        </p:spPr>
        <p:txBody>
          <a:bodyPr/>
          <a:lstStyle/>
          <a:p>
            <a:r>
              <a:rPr lang="en-US" altLang="zh-CN" dirty="0"/>
              <a:t>YOLOv3</a:t>
            </a:r>
            <a:r>
              <a:rPr lang="zh-CN" altLang="en-US" dirty="0"/>
              <a:t>：卷积层</a:t>
            </a:r>
          </a:p>
        </p:txBody>
      </p:sp>
      <p:sp>
        <p:nvSpPr>
          <p:cNvPr id="5" name="灯片编号占位符 3">
            <a:extLst>
              <a:ext uri="{FF2B5EF4-FFF2-40B4-BE49-F238E27FC236}">
                <a16:creationId xmlns:a16="http://schemas.microsoft.com/office/drawing/2014/main" id="{DD909607-8119-4D62-B230-338F340423B1}"/>
              </a:ext>
            </a:extLst>
          </p:cNvPr>
          <p:cNvSpPr>
            <a:spLocks noGrp="1"/>
          </p:cNvSpPr>
          <p:nvPr>
            <p:ph type="sldNum" sz="quarter" idx="12"/>
          </p:nvPr>
        </p:nvSpPr>
        <p:spPr>
          <a:xfrm>
            <a:off x="8610600" y="6356350"/>
            <a:ext cx="2743200" cy="365125"/>
          </a:xfrm>
        </p:spPr>
        <p:txBody>
          <a:bodyPr/>
          <a:lstStyle/>
          <a:p>
            <a:fld id="{55481DC2-33FF-4022-91B5-C13EC2E37E98}" type="slidenum">
              <a:rPr lang="zh-CN" altLang="en-US" smtClean="0">
                <a:solidFill>
                  <a:prstClr val="black">
                    <a:tint val="75000"/>
                  </a:prstClr>
                </a:solidFill>
              </a:rPr>
              <a:t>16</a:t>
            </a:fld>
            <a:endParaRPr lang="zh-CN" altLang="en-US">
              <a:solidFill>
                <a:prstClr val="black">
                  <a:tint val="75000"/>
                </a:prstClr>
              </a:solidFill>
            </a:endParaRPr>
          </a:p>
        </p:txBody>
      </p:sp>
    </p:spTree>
    <p:extLst>
      <p:ext uri="{BB962C8B-B14F-4D97-AF65-F5344CB8AC3E}">
        <p14:creationId xmlns:p14="http://schemas.microsoft.com/office/powerpoint/2010/main" val="1291866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EB5F9D5-ABB1-6F93-20B5-A9615C3FF0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986" b="3311"/>
          <a:stretch/>
        </p:blipFill>
        <p:spPr bwMode="auto">
          <a:xfrm>
            <a:off x="936758" y="1834938"/>
            <a:ext cx="10318483" cy="4492220"/>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1">
            <a:extLst>
              <a:ext uri="{FF2B5EF4-FFF2-40B4-BE49-F238E27FC236}">
                <a16:creationId xmlns:a16="http://schemas.microsoft.com/office/drawing/2014/main" id="{C8FE16E2-5C5D-6078-4086-8079091EF272}"/>
              </a:ext>
            </a:extLst>
          </p:cNvPr>
          <p:cNvSpPr>
            <a:spLocks noGrp="1"/>
          </p:cNvSpPr>
          <p:nvPr>
            <p:ph type="title"/>
          </p:nvPr>
        </p:nvSpPr>
        <p:spPr>
          <a:xfrm>
            <a:off x="838200" y="365125"/>
            <a:ext cx="10515600" cy="1325563"/>
          </a:xfrm>
        </p:spPr>
        <p:txBody>
          <a:bodyPr/>
          <a:lstStyle/>
          <a:p>
            <a:r>
              <a:rPr lang="en-US" altLang="zh-CN" dirty="0"/>
              <a:t>YOLOv3</a:t>
            </a:r>
            <a:r>
              <a:rPr lang="zh-CN" altLang="en-US" dirty="0"/>
              <a:t>：卷积层</a:t>
            </a:r>
          </a:p>
        </p:txBody>
      </p:sp>
      <p:sp>
        <p:nvSpPr>
          <p:cNvPr id="2" name="矩形 1">
            <a:extLst>
              <a:ext uri="{FF2B5EF4-FFF2-40B4-BE49-F238E27FC236}">
                <a16:creationId xmlns:a16="http://schemas.microsoft.com/office/drawing/2014/main" id="{2E63BA1A-E4B7-4E1F-A2C2-A80B1EE5DD42}"/>
              </a:ext>
            </a:extLst>
          </p:cNvPr>
          <p:cNvSpPr/>
          <p:nvPr/>
        </p:nvSpPr>
        <p:spPr>
          <a:xfrm>
            <a:off x="5196314" y="5625136"/>
            <a:ext cx="3872011" cy="64323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3">
            <a:extLst>
              <a:ext uri="{FF2B5EF4-FFF2-40B4-BE49-F238E27FC236}">
                <a16:creationId xmlns:a16="http://schemas.microsoft.com/office/drawing/2014/main" id="{CD20FD2C-AA91-4BF7-A3CD-AB4F8A5F22B6}"/>
              </a:ext>
            </a:extLst>
          </p:cNvPr>
          <p:cNvSpPr>
            <a:spLocks noGrp="1"/>
          </p:cNvSpPr>
          <p:nvPr>
            <p:ph type="sldNum" sz="quarter" idx="12"/>
          </p:nvPr>
        </p:nvSpPr>
        <p:spPr>
          <a:xfrm>
            <a:off x="8610600" y="6356350"/>
            <a:ext cx="2743200" cy="365125"/>
          </a:xfrm>
        </p:spPr>
        <p:txBody>
          <a:bodyPr/>
          <a:lstStyle/>
          <a:p>
            <a:fld id="{55481DC2-33FF-4022-91B5-C13EC2E37E98}" type="slidenum">
              <a:rPr lang="zh-CN" altLang="en-US" smtClean="0">
                <a:solidFill>
                  <a:prstClr val="black">
                    <a:tint val="75000"/>
                  </a:prstClr>
                </a:solidFill>
              </a:rPr>
              <a:t>17</a:t>
            </a:fld>
            <a:endParaRPr lang="zh-CN" altLang="en-US">
              <a:solidFill>
                <a:prstClr val="black">
                  <a:tint val="75000"/>
                </a:prstClr>
              </a:solidFill>
            </a:endParaRPr>
          </a:p>
        </p:txBody>
      </p:sp>
    </p:spTree>
    <p:extLst>
      <p:ext uri="{BB962C8B-B14F-4D97-AF65-F5344CB8AC3E}">
        <p14:creationId xmlns:p14="http://schemas.microsoft.com/office/powerpoint/2010/main" val="2542955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YOLOv3</a:t>
            </a:r>
            <a:r>
              <a:rPr lang="zh-CN" altLang="en-US" dirty="0"/>
              <a:t>：卷积层</a:t>
            </a:r>
          </a:p>
        </p:txBody>
      </p:sp>
      <p:sp>
        <p:nvSpPr>
          <p:cNvPr id="3" name="内容占位符 2"/>
          <p:cNvSpPr>
            <a:spLocks noGrp="1"/>
          </p:cNvSpPr>
          <p:nvPr>
            <p:ph idx="1"/>
          </p:nvPr>
        </p:nvSpPr>
        <p:spPr>
          <a:xfrm>
            <a:off x="989846" y="1721462"/>
            <a:ext cx="7221344" cy="4351338"/>
          </a:xfrm>
        </p:spPr>
        <p:txBody>
          <a:bodyPr>
            <a:normAutofit/>
          </a:bodyPr>
          <a:lstStyle/>
          <a:p>
            <a:r>
              <a:rPr lang="en-US" altLang="zh-CN" dirty="0"/>
              <a:t>Convolutional Layer</a:t>
            </a:r>
          </a:p>
          <a:p>
            <a:endParaRPr lang="en-US" altLang="zh-CN" dirty="0"/>
          </a:p>
          <a:p>
            <a:pPr lvl="1"/>
            <a:r>
              <a:rPr lang="en-US" altLang="zh-CN" dirty="0"/>
              <a:t>filter: </a:t>
            </a:r>
            <a:r>
              <a:rPr lang="zh-CN" altLang="en-US" dirty="0"/>
              <a:t>卷积核数量</a:t>
            </a:r>
            <a:endParaRPr lang="en-US" altLang="zh-CN" dirty="0"/>
          </a:p>
          <a:p>
            <a:pPr lvl="1"/>
            <a:r>
              <a:rPr lang="en-US" altLang="zh-CN" dirty="0"/>
              <a:t>size: </a:t>
            </a:r>
            <a:r>
              <a:rPr lang="zh-CN" altLang="en-US" dirty="0"/>
              <a:t>卷积核高宽</a:t>
            </a:r>
            <a:endParaRPr lang="en-US" altLang="zh-CN" dirty="0"/>
          </a:p>
          <a:p>
            <a:pPr lvl="1"/>
            <a:r>
              <a:rPr lang="en-US" altLang="zh-CN" dirty="0"/>
              <a:t>stride: </a:t>
            </a:r>
            <a:r>
              <a:rPr lang="zh-CN" altLang="en-US" dirty="0"/>
              <a:t>步长</a:t>
            </a:r>
            <a:endParaRPr lang="en-US" altLang="zh-CN" dirty="0"/>
          </a:p>
          <a:p>
            <a:pPr lvl="1"/>
            <a:r>
              <a:rPr lang="en-US" altLang="zh-CN" dirty="0"/>
              <a:t>pad: 0</a:t>
            </a:r>
            <a:r>
              <a:rPr lang="zh-CN" altLang="en-US" dirty="0"/>
              <a:t>填充，上下左右对称填充</a:t>
            </a:r>
            <a:endParaRPr lang="en-US" altLang="zh-CN" dirty="0"/>
          </a:p>
          <a:p>
            <a:pPr lvl="1"/>
            <a:r>
              <a:rPr lang="en-US" altLang="zh-CN" dirty="0"/>
              <a:t>activation: </a:t>
            </a:r>
            <a:r>
              <a:rPr lang="zh-CN" altLang="en-US" dirty="0"/>
              <a:t>固定使用</a:t>
            </a:r>
            <a:r>
              <a:rPr lang="en-US" altLang="zh-CN" dirty="0"/>
              <a:t>Leaky </a:t>
            </a:r>
            <a:r>
              <a:rPr lang="en-US" altLang="zh-CN" dirty="0" err="1"/>
              <a:t>ReLU</a:t>
            </a:r>
            <a:r>
              <a:rPr lang="zh-CN" altLang="en-US" dirty="0"/>
              <a:t>，且</a:t>
            </a:r>
            <a:r>
              <a:rPr lang="en-US" altLang="zh-CN" dirty="0"/>
              <a:t>λ=0.1</a:t>
            </a:r>
          </a:p>
          <a:p>
            <a:pPr lvl="1"/>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18</a:t>
            </a:fld>
            <a:endParaRPr lang="zh-CN" altLang="en-US">
              <a:solidFill>
                <a:prstClr val="black">
                  <a:tint val="75000"/>
                </a:prstClr>
              </a:solidFill>
            </a:endParaRPr>
          </a:p>
        </p:txBody>
      </p:sp>
      <p:pic>
        <p:nvPicPr>
          <p:cNvPr id="6" name="图片 5"/>
          <p:cNvPicPr>
            <a:picLocks noChangeAspect="1"/>
          </p:cNvPicPr>
          <p:nvPr/>
        </p:nvPicPr>
        <p:blipFill>
          <a:blip r:embed="rId3"/>
          <a:stretch>
            <a:fillRect/>
          </a:stretch>
        </p:blipFill>
        <p:spPr>
          <a:xfrm>
            <a:off x="5175311" y="1830118"/>
            <a:ext cx="6693023" cy="186282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3EF538-8780-A97B-85BE-A9B315C9F53C}"/>
              </a:ext>
            </a:extLst>
          </p:cNvPr>
          <p:cNvSpPr>
            <a:spLocks noGrp="1"/>
          </p:cNvSpPr>
          <p:nvPr>
            <p:ph type="title"/>
          </p:nvPr>
        </p:nvSpPr>
        <p:spPr/>
        <p:txBody>
          <a:bodyPr/>
          <a:lstStyle/>
          <a:p>
            <a:r>
              <a:rPr lang="en-US" altLang="zh-CN" dirty="0"/>
              <a:t>YOLOv3</a:t>
            </a:r>
            <a:r>
              <a:rPr lang="zh-CN" altLang="en-US" dirty="0"/>
              <a:t>：最大池化层</a:t>
            </a:r>
          </a:p>
        </p:txBody>
      </p:sp>
      <p:pic>
        <p:nvPicPr>
          <p:cNvPr id="4098" name="Picture 2">
            <a:extLst>
              <a:ext uri="{FF2B5EF4-FFF2-40B4-BE49-F238E27FC236}">
                <a16:creationId xmlns:a16="http://schemas.microsoft.com/office/drawing/2014/main" id="{7C4BFF3E-D063-62B3-20F1-2BFB62F90F2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2368"/>
          <a:stretch/>
        </p:blipFill>
        <p:spPr bwMode="auto">
          <a:xfrm>
            <a:off x="5612591" y="2494846"/>
            <a:ext cx="6134100" cy="2804569"/>
          </a:xfrm>
          <a:prstGeom prst="rect">
            <a:avLst/>
          </a:prstGeom>
          <a:noFill/>
          <a:extLst>
            <a:ext uri="{909E8E84-426E-40DD-AFC4-6F175D3DCCD1}">
              <a14:hiddenFill xmlns:a14="http://schemas.microsoft.com/office/drawing/2010/main">
                <a:solidFill>
                  <a:srgbClr val="FFFFFF"/>
                </a:solidFill>
              </a14:hiddenFill>
            </a:ext>
          </a:extLst>
        </p:spPr>
      </p:pic>
      <p:sp>
        <p:nvSpPr>
          <p:cNvPr id="4" name="内容占位符 2">
            <a:extLst>
              <a:ext uri="{FF2B5EF4-FFF2-40B4-BE49-F238E27FC236}">
                <a16:creationId xmlns:a16="http://schemas.microsoft.com/office/drawing/2014/main" id="{5BAAB58F-7C82-8F6E-B2B8-84FA2E88FEF2}"/>
              </a:ext>
            </a:extLst>
          </p:cNvPr>
          <p:cNvSpPr txBox="1">
            <a:spLocks/>
          </p:cNvSpPr>
          <p:nvPr/>
        </p:nvSpPr>
        <p:spPr>
          <a:xfrm>
            <a:off x="989846" y="1721462"/>
            <a:ext cx="722134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err="1"/>
              <a:t>MaxPool</a:t>
            </a:r>
            <a:r>
              <a:rPr lang="en-US" altLang="zh-CN" dirty="0"/>
              <a:t> layer</a:t>
            </a:r>
          </a:p>
          <a:p>
            <a:endParaRPr lang="en-US" altLang="zh-CN" dirty="0"/>
          </a:p>
          <a:p>
            <a:pPr lvl="1"/>
            <a:r>
              <a:rPr lang="en-US" altLang="zh-CN" dirty="0"/>
              <a:t>size:</a:t>
            </a:r>
            <a:r>
              <a:rPr lang="zh-CN" altLang="en-US" dirty="0"/>
              <a:t>最大值池化核尺寸</a:t>
            </a:r>
            <a:endParaRPr lang="en-US" altLang="zh-CN" dirty="0"/>
          </a:p>
          <a:p>
            <a:pPr lvl="1"/>
            <a:r>
              <a:rPr lang="en-US" altLang="zh-CN" dirty="0"/>
              <a:t>stride: </a:t>
            </a:r>
            <a:r>
              <a:rPr lang="zh-CN" altLang="en-US" dirty="0"/>
              <a:t>池化步长</a:t>
            </a:r>
            <a:endParaRPr lang="en-US" altLang="zh-CN" dirty="0"/>
          </a:p>
          <a:p>
            <a:pPr marL="457200" lvl="1" indent="0">
              <a:buNone/>
            </a:pPr>
            <a:endParaRPr lang="en-US" altLang="zh-CN" dirty="0"/>
          </a:p>
        </p:txBody>
      </p:sp>
      <p:sp>
        <p:nvSpPr>
          <p:cNvPr id="5" name="文本框 4">
            <a:extLst>
              <a:ext uri="{FF2B5EF4-FFF2-40B4-BE49-F238E27FC236}">
                <a16:creationId xmlns:a16="http://schemas.microsoft.com/office/drawing/2014/main" id="{80DD40BB-274D-B74E-1687-9B25D51DF229}"/>
              </a:ext>
            </a:extLst>
          </p:cNvPr>
          <p:cNvSpPr txBox="1"/>
          <p:nvPr/>
        </p:nvSpPr>
        <p:spPr>
          <a:xfrm>
            <a:off x="7683119" y="5560043"/>
            <a:ext cx="2545890"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size=2, stride=1</a:t>
            </a:r>
            <a:endParaRPr lang="zh-CN" altLang="en-US" sz="2400" dirty="0">
              <a:latin typeface="微软雅黑" panose="020B0503020204020204" pitchFamily="34" charset="-122"/>
              <a:ea typeface="微软雅黑" panose="020B0503020204020204" pitchFamily="34" charset="-122"/>
            </a:endParaRPr>
          </a:p>
        </p:txBody>
      </p:sp>
      <p:sp>
        <p:nvSpPr>
          <p:cNvPr id="6" name="灯片编号占位符 3">
            <a:extLst>
              <a:ext uri="{FF2B5EF4-FFF2-40B4-BE49-F238E27FC236}">
                <a16:creationId xmlns:a16="http://schemas.microsoft.com/office/drawing/2014/main" id="{F771D77F-5AEE-4760-A6A4-2EBEB7481312}"/>
              </a:ext>
            </a:extLst>
          </p:cNvPr>
          <p:cNvSpPr>
            <a:spLocks noGrp="1"/>
          </p:cNvSpPr>
          <p:nvPr>
            <p:ph type="sldNum" sz="quarter" idx="12"/>
          </p:nvPr>
        </p:nvSpPr>
        <p:spPr>
          <a:xfrm>
            <a:off x="8610600" y="6356350"/>
            <a:ext cx="2743200" cy="365125"/>
          </a:xfrm>
        </p:spPr>
        <p:txBody>
          <a:bodyPr/>
          <a:lstStyle/>
          <a:p>
            <a:fld id="{55481DC2-33FF-4022-91B5-C13EC2E37E98}" type="slidenum">
              <a:rPr lang="zh-CN" altLang="en-US" smtClean="0">
                <a:solidFill>
                  <a:prstClr val="black">
                    <a:tint val="75000"/>
                  </a:prstClr>
                </a:solidFill>
              </a:rPr>
              <a:t>19</a:t>
            </a:fld>
            <a:endParaRPr lang="zh-CN" altLang="en-US">
              <a:solidFill>
                <a:prstClr val="black">
                  <a:tint val="75000"/>
                </a:prstClr>
              </a:solidFill>
            </a:endParaRPr>
          </a:p>
        </p:txBody>
      </p:sp>
    </p:spTree>
    <p:extLst>
      <p:ext uri="{BB962C8B-B14F-4D97-AF65-F5344CB8AC3E}">
        <p14:creationId xmlns:p14="http://schemas.microsoft.com/office/powerpoint/2010/main" val="3116484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YOLOv3</a:t>
            </a:r>
            <a:r>
              <a:rPr lang="zh-CN" altLang="en-US" dirty="0"/>
              <a:t>：上采样层</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err="1"/>
              <a:t>Upsample</a:t>
            </a:r>
            <a:r>
              <a:rPr lang="en-US" altLang="zh-CN" dirty="0"/>
              <a:t> Layer</a:t>
            </a:r>
          </a:p>
          <a:p>
            <a:endParaRPr lang="en-US" altLang="zh-CN" dirty="0"/>
          </a:p>
          <a:p>
            <a:pPr lvl="1"/>
            <a:r>
              <a:rPr lang="en-US" altLang="zh-CN" dirty="0"/>
              <a:t>stride</a:t>
            </a:r>
            <a:r>
              <a:rPr lang="zh-CN" altLang="zh-CN" dirty="0"/>
              <a:t>参数指定了缩放的倍数，</a:t>
            </a:r>
            <a:r>
              <a:rPr lang="en-US" altLang="zh-CN" dirty="0"/>
              <a:t>YOLOv3</a:t>
            </a:r>
            <a:r>
              <a:rPr lang="zh-CN" altLang="zh-CN" dirty="0"/>
              <a:t>中包含两个上采样层，其</a:t>
            </a:r>
            <a:r>
              <a:rPr lang="en-US" altLang="zh-CN" dirty="0"/>
              <a:t>stride</a:t>
            </a:r>
            <a:r>
              <a:rPr lang="zh-CN" altLang="zh-CN" dirty="0"/>
              <a:t>均取</a:t>
            </a:r>
            <a:r>
              <a:rPr lang="en-US" altLang="zh-CN" dirty="0"/>
              <a:t>2</a:t>
            </a:r>
            <a:r>
              <a:rPr lang="zh-CN" altLang="zh-CN" dirty="0"/>
              <a:t>，表示将原输入特征图的高宽均放大两倍。</a:t>
            </a:r>
            <a:endParaRPr lang="en-US" altLang="zh-CN" dirty="0"/>
          </a:p>
          <a:p>
            <a:pPr lvl="1"/>
            <a:r>
              <a:rPr lang="en-US" altLang="zh-CN" dirty="0"/>
              <a:t>YOLOv3</a:t>
            </a:r>
            <a:r>
              <a:rPr lang="zh-CN" altLang="zh-CN" dirty="0"/>
              <a:t>使用了最简单的上采样方法，即把原本位置的</a:t>
            </a:r>
            <a:r>
              <a:rPr lang="en-US" altLang="zh-CN" dirty="0"/>
              <a:t>1</a:t>
            </a:r>
            <a:r>
              <a:rPr lang="zh-CN" altLang="zh-CN" dirty="0"/>
              <a:t>个像素填充为输出特征图中</a:t>
            </a:r>
            <a:r>
              <a:rPr lang="en-US" altLang="zh-CN" dirty="0"/>
              <a:t>2*2</a:t>
            </a:r>
            <a:r>
              <a:rPr lang="zh-CN" altLang="zh-CN" dirty="0"/>
              <a:t>位置中的</a:t>
            </a:r>
            <a:r>
              <a:rPr lang="en-US" altLang="zh-CN" dirty="0"/>
              <a:t>4</a:t>
            </a:r>
            <a:r>
              <a:rPr lang="zh-CN" altLang="zh-CN" dirty="0"/>
              <a:t>个像素。</a:t>
            </a:r>
          </a:p>
          <a:p>
            <a:pPr lvl="1"/>
            <a:endParaRPr lang="zh-CN" altLang="zh-CN" dirty="0"/>
          </a:p>
          <a:p>
            <a:pPr lvl="1"/>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20</a:t>
            </a:fld>
            <a:endParaRPr lang="zh-CN" altLang="en-US">
              <a:solidFill>
                <a:prstClr val="black">
                  <a:tint val="75000"/>
                </a:prstClr>
              </a:solidFill>
            </a:endParaRPr>
          </a:p>
        </p:txBody>
      </p:sp>
      <p:pic>
        <p:nvPicPr>
          <p:cNvPr id="7" name="图片 6"/>
          <p:cNvPicPr>
            <a:picLocks noChangeAspect="1"/>
          </p:cNvPicPr>
          <p:nvPr/>
        </p:nvPicPr>
        <p:blipFill rotWithShape="1">
          <a:blip r:embed="rId3"/>
          <a:srcRect r="35504"/>
          <a:stretch>
            <a:fillRect/>
          </a:stretch>
        </p:blipFill>
        <p:spPr>
          <a:xfrm>
            <a:off x="1577414" y="4742308"/>
            <a:ext cx="5595743" cy="6908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YOLOv3</a:t>
            </a:r>
            <a:r>
              <a:rPr lang="zh-CN" altLang="en-US" dirty="0"/>
              <a:t>：捷径层</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Shortcut Layer</a:t>
            </a:r>
          </a:p>
          <a:p>
            <a:pPr lvl="1"/>
            <a:r>
              <a:rPr lang="zh-CN" altLang="en-US" dirty="0"/>
              <a:t>与</a:t>
            </a:r>
            <a:r>
              <a:rPr lang="en-US" altLang="zh-CN" dirty="0" err="1"/>
              <a:t>ResNet</a:t>
            </a:r>
            <a:r>
              <a:rPr lang="zh-CN" altLang="en-US" dirty="0"/>
              <a:t>的残差块作用类似</a:t>
            </a:r>
            <a:endParaRPr lang="en-US" altLang="zh-CN" dirty="0"/>
          </a:p>
          <a:p>
            <a:pPr lvl="1"/>
            <a:r>
              <a:rPr lang="zh-CN" altLang="zh-CN" dirty="0"/>
              <a:t>接受两个层的输出作为输入，其中一个固定为它的前一层因此不需要特别指定，而另一个输入来源则有</a:t>
            </a:r>
            <a:r>
              <a:rPr lang="en-US" altLang="zh-CN" dirty="0"/>
              <a:t>from</a:t>
            </a:r>
            <a:r>
              <a:rPr lang="zh-CN" altLang="zh-CN" dirty="0"/>
              <a:t>参数指定，表示其与捷径层的相对位置。例如</a:t>
            </a:r>
            <a:r>
              <a:rPr lang="en-US" altLang="zh-CN" dirty="0"/>
              <a:t>-3</a:t>
            </a:r>
            <a:r>
              <a:rPr lang="zh-CN" altLang="zh-CN" dirty="0"/>
              <a:t>即表示捷径层往前数第</a:t>
            </a:r>
            <a:r>
              <a:rPr lang="en-US" altLang="zh-CN" dirty="0"/>
              <a:t>3</a:t>
            </a:r>
            <a:r>
              <a:rPr lang="zh-CN" altLang="zh-CN" dirty="0"/>
              <a:t>层的输出将成为捷径层的输入。</a:t>
            </a:r>
            <a:endParaRPr lang="en-US" altLang="zh-CN" dirty="0"/>
          </a:p>
          <a:p>
            <a:pPr lvl="1"/>
            <a:r>
              <a:rPr lang="zh-CN" altLang="en-US" dirty="0"/>
              <a:t>两层固定为线性加和，因此无特殊激活函数</a:t>
            </a:r>
            <a:endParaRPr lang="zh-CN" altLang="zh-CN" dirty="0"/>
          </a:p>
          <a:p>
            <a:pPr lvl="1"/>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21</a:t>
            </a:fld>
            <a:endParaRPr lang="zh-CN" altLang="en-US">
              <a:solidFill>
                <a:prstClr val="black">
                  <a:tint val="75000"/>
                </a:prstClr>
              </a:solidFill>
            </a:endParaRPr>
          </a:p>
        </p:txBody>
      </p:sp>
      <p:pic>
        <p:nvPicPr>
          <p:cNvPr id="8" name="图片 7"/>
          <p:cNvPicPr>
            <a:picLocks noChangeAspect="1"/>
          </p:cNvPicPr>
          <p:nvPr/>
        </p:nvPicPr>
        <p:blipFill rotWithShape="1">
          <a:blip r:embed="rId3"/>
          <a:srcRect r="41477"/>
          <a:stretch>
            <a:fillRect/>
          </a:stretch>
        </p:blipFill>
        <p:spPr>
          <a:xfrm>
            <a:off x="1484801" y="4650168"/>
            <a:ext cx="5501926" cy="1122192"/>
          </a:xfrm>
          <a:prstGeom prst="rect">
            <a:avLst/>
          </a:prstGeom>
        </p:spPr>
      </p:pic>
      <p:pic>
        <p:nvPicPr>
          <p:cNvPr id="9" name="图片 8"/>
          <p:cNvPicPr/>
          <p:nvPr/>
        </p:nvPicPr>
        <p:blipFill>
          <a:blip r:embed="rId4">
            <a:extLst>
              <a:ext uri="{28A0092B-C50C-407E-A947-70E740481C1C}">
                <a14:useLocalDpi xmlns:a14="http://schemas.microsoft.com/office/drawing/2010/main" val="0"/>
              </a:ext>
            </a:extLst>
          </a:blip>
          <a:stretch>
            <a:fillRect/>
          </a:stretch>
        </p:blipFill>
        <p:spPr>
          <a:xfrm>
            <a:off x="8049168" y="3794397"/>
            <a:ext cx="3295015" cy="27997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YOLOv3</a:t>
            </a:r>
            <a:r>
              <a:rPr lang="zh-CN" altLang="en-US" dirty="0"/>
              <a:t>：路由层</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Route Layer</a:t>
            </a:r>
          </a:p>
          <a:p>
            <a:pPr lvl="1"/>
            <a:r>
              <a:rPr lang="zh-CN" altLang="en-US" sz="2000" dirty="0"/>
              <a:t>与</a:t>
            </a:r>
            <a:r>
              <a:rPr lang="en-US" altLang="zh-CN" sz="2000" dirty="0" err="1"/>
              <a:t>GoogleNet</a:t>
            </a:r>
            <a:r>
              <a:rPr lang="zh-CN" altLang="en-US" sz="2000" dirty="0"/>
              <a:t>的</a:t>
            </a:r>
            <a:r>
              <a:rPr lang="en-US" altLang="zh-CN" sz="2000" dirty="0"/>
              <a:t>Inception Block</a:t>
            </a:r>
            <a:r>
              <a:rPr lang="zh-CN" altLang="en-US" sz="2000" dirty="0"/>
              <a:t>作用类似</a:t>
            </a:r>
            <a:endParaRPr lang="en-US" altLang="zh-CN" sz="2000" dirty="0"/>
          </a:p>
          <a:p>
            <a:pPr lvl="1"/>
            <a:r>
              <a:rPr lang="zh-CN" altLang="en-US" sz="2000" dirty="0"/>
              <a:t>接</a:t>
            </a:r>
            <a:r>
              <a:rPr lang="zh-CN" altLang="zh-CN" sz="2000" dirty="0"/>
              <a:t>受</a:t>
            </a:r>
            <a:r>
              <a:rPr lang="zh-CN" altLang="en-US" sz="2000" dirty="0"/>
              <a:t>的两个层</a:t>
            </a:r>
            <a:r>
              <a:rPr lang="zh-CN" altLang="zh-CN" sz="2000" dirty="0"/>
              <a:t>输入</a:t>
            </a:r>
            <a:r>
              <a:rPr lang="zh-CN" altLang="en-US" sz="2000" dirty="0"/>
              <a:t>应</a:t>
            </a:r>
            <a:r>
              <a:rPr lang="zh-CN" altLang="zh-CN" sz="2000" dirty="0"/>
              <a:t>具有相同的宽高，</a:t>
            </a:r>
            <a:r>
              <a:rPr lang="en-US" altLang="zh-CN" sz="2000" dirty="0"/>
              <a:t>Route</a:t>
            </a:r>
            <a:r>
              <a:rPr lang="zh-CN" altLang="zh-CN" sz="2000" dirty="0"/>
              <a:t>的作用就是简单地把两个输入在纵深方向上拼在一起</a:t>
            </a:r>
            <a:endParaRPr lang="en-US" altLang="zh-CN" sz="2000" dirty="0"/>
          </a:p>
          <a:p>
            <a:pPr lvl="1"/>
            <a:r>
              <a:rPr lang="zh-CN" altLang="zh-CN" sz="2000" dirty="0"/>
              <a:t>其中一个固定为它的前一层，不需要特别指定，另一个输入由</a:t>
            </a:r>
            <a:r>
              <a:rPr lang="en-US" altLang="zh-CN" sz="2000" dirty="0"/>
              <a:t>layers</a:t>
            </a:r>
            <a:r>
              <a:rPr lang="zh-CN" altLang="zh-CN" sz="2000" dirty="0"/>
              <a:t>参数指定，同样表示其与</a:t>
            </a:r>
            <a:r>
              <a:rPr lang="en-US" altLang="zh-CN" sz="2000" dirty="0"/>
              <a:t>Route</a:t>
            </a:r>
            <a:r>
              <a:rPr lang="zh-CN" altLang="zh-CN" sz="2000" dirty="0"/>
              <a:t>层之间的相对位置。</a:t>
            </a:r>
            <a:br>
              <a:rPr lang="en-US" altLang="zh-CN" sz="2000" dirty="0"/>
            </a:br>
            <a:endParaRPr lang="zh-CN" altLang="zh-CN" sz="2000" dirty="0"/>
          </a:p>
          <a:p>
            <a:pPr lvl="1"/>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22</a:t>
            </a:fld>
            <a:endParaRPr lang="zh-CN" altLang="en-US">
              <a:solidFill>
                <a:prstClr val="black">
                  <a:tint val="75000"/>
                </a:prstClr>
              </a:solidFill>
            </a:endParaRPr>
          </a:p>
        </p:txBody>
      </p:sp>
      <p:pic>
        <p:nvPicPr>
          <p:cNvPr id="5" name="图片 4"/>
          <p:cNvPicPr>
            <a:picLocks noChangeAspect="1"/>
          </p:cNvPicPr>
          <p:nvPr/>
        </p:nvPicPr>
        <p:blipFill rotWithShape="1">
          <a:blip r:embed="rId3"/>
          <a:srcRect r="54539"/>
          <a:stretch>
            <a:fillRect/>
          </a:stretch>
        </p:blipFill>
        <p:spPr>
          <a:xfrm>
            <a:off x="1432031" y="4495818"/>
            <a:ext cx="4977647" cy="871826"/>
          </a:xfrm>
          <a:prstGeom prst="rect">
            <a:avLst/>
          </a:prstGeom>
        </p:spPr>
      </p:pic>
      <p:pic>
        <p:nvPicPr>
          <p:cNvPr id="10" name="图片 9"/>
          <p:cNvPicPr/>
          <p:nvPr/>
        </p:nvPicPr>
        <p:blipFill>
          <a:blip r:embed="rId4">
            <a:extLst>
              <a:ext uri="{28A0092B-C50C-407E-A947-70E740481C1C}">
                <a14:useLocalDpi xmlns:a14="http://schemas.microsoft.com/office/drawing/2010/main" val="0"/>
              </a:ext>
            </a:extLst>
          </a:blip>
          <a:stretch>
            <a:fillRect/>
          </a:stretch>
        </p:blipFill>
        <p:spPr>
          <a:xfrm>
            <a:off x="7344792" y="3698875"/>
            <a:ext cx="3133725" cy="26574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YOLOv3</a:t>
            </a:r>
            <a:r>
              <a:rPr lang="zh-CN" altLang="en-US" dirty="0"/>
              <a:t>：</a:t>
            </a:r>
            <a:r>
              <a:rPr lang="en-US" altLang="zh-CN" dirty="0"/>
              <a:t>YOLO</a:t>
            </a:r>
            <a:r>
              <a:rPr lang="zh-CN" altLang="en-US" dirty="0"/>
              <a:t>层</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89845" y="1721462"/>
                <a:ext cx="9787645" cy="4351338"/>
              </a:xfrm>
            </p:spPr>
            <p:txBody>
              <a:bodyPr>
                <a:normAutofit/>
              </a:bodyPr>
              <a:lstStyle/>
              <a:p>
                <a:r>
                  <a:rPr lang="en-US" altLang="zh-CN" dirty="0"/>
                  <a:t>YOLO Layer</a:t>
                </a:r>
              </a:p>
              <a:p>
                <a:pPr lvl="1"/>
                <a:r>
                  <a:rPr lang="zh-CN" altLang="en-US" dirty="0"/>
                  <a:t>这是网络的最后一层，它生成对输入图像的预测</a:t>
                </a:r>
                <a:endParaRPr lang="en-US" altLang="zh-CN" dirty="0"/>
              </a:p>
              <a:p>
                <a:pPr lvl="1"/>
                <a:r>
                  <a:rPr lang="zh-CN" altLang="en-US" dirty="0"/>
                  <a:t>输出向量结构</a:t>
                </a:r>
                <a:endParaRPr lang="en-US" altLang="zh-CN" dirty="0"/>
              </a:p>
              <a:p>
                <a:pPr marL="457200" lvl="1" indent="0">
                  <a:buNone/>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Output</m:t>
                      </m:r>
                      <m:r>
                        <a:rPr lang="en-US" altLang="zh-CN">
                          <a:latin typeface="Cambria Math" panose="02040503050406030204" pitchFamily="18" charset="0"/>
                        </a:rPr>
                        <m:t>: </m:t>
                      </m:r>
                      <m:r>
                        <m:rPr>
                          <m:sty m:val="p"/>
                        </m:rPr>
                        <a:rPr lang="en-US" altLang="zh-CN">
                          <a:latin typeface="Cambria Math" panose="02040503050406030204" pitchFamily="18" charset="0"/>
                        </a:rPr>
                        <m:t>S</m:t>
                      </m:r>
                      <m:r>
                        <a:rPr lang="en-US" altLang="zh-CN">
                          <a:latin typeface="Cambria Math" panose="02040503050406030204" pitchFamily="18" charset="0"/>
                        </a:rPr>
                        <m:t>×</m:t>
                      </m:r>
                      <m:r>
                        <m:rPr>
                          <m:sty m:val="p"/>
                        </m:rPr>
                        <a:rPr lang="en-US" altLang="zh-CN">
                          <a:latin typeface="Cambria Math" panose="02040503050406030204" pitchFamily="18" charset="0"/>
                        </a:rPr>
                        <m:t>S</m:t>
                      </m:r>
                      <m:r>
                        <a:rPr lang="en-US" altLang="zh-CN">
                          <a:latin typeface="Cambria Math" panose="02040503050406030204" pitchFamily="18" charset="0"/>
                        </a:rPr>
                        <m:t>×</m:t>
                      </m:r>
                      <m:d>
                        <m:dPr>
                          <m:begChr m:val="{"/>
                          <m:endChr m:val="}"/>
                          <m:ctrlPr>
                            <a:rPr lang="en-US" altLang="zh-CN" i="1">
                              <a:latin typeface="Cambria Math" panose="02040503050406030204" pitchFamily="18" charset="0"/>
                            </a:rPr>
                          </m:ctrlPr>
                        </m:dPr>
                        <m:e>
                          <m:r>
                            <m:rPr>
                              <m:sty m:val="p"/>
                            </m:rPr>
                            <a:rPr lang="en-US" altLang="zh-CN">
                              <a:latin typeface="Cambria Math" panose="02040503050406030204" pitchFamily="18" charset="0"/>
                            </a:rPr>
                            <m:t>B</m:t>
                          </m:r>
                          <m:r>
                            <a:rPr lang="en-US" altLang="zh-CN">
                              <a:latin typeface="Cambria Math" panose="02040503050406030204" pitchFamily="18" charset="0"/>
                            </a:rPr>
                            <m:t>×</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𝑥</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𝑦</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𝑤</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h</m:t>
                                  </m:r>
                                </m:sub>
                              </m:sSub>
                              <m:r>
                                <a:rPr lang="en-US" altLang="zh-CN" i="1">
                                  <a:latin typeface="Cambria Math" panose="02040503050406030204" pitchFamily="18" charset="0"/>
                                </a:rPr>
                                <m:t>,</m:t>
                              </m:r>
                              <m:r>
                                <a:rPr lang="en-US" altLang="zh-CN" i="1">
                                  <a:latin typeface="Cambria Math" panose="02040503050406030204" pitchFamily="18" charset="0"/>
                                </a:rPr>
                                <m:t>𝑝</m:t>
                              </m:r>
                            </m:e>
                          </m:d>
                          <m:r>
                            <a:rPr lang="en-US" altLang="zh-CN">
                              <a:latin typeface="Cambria Math" panose="02040503050406030204" pitchFamily="18" charset="0"/>
                            </a:rPr>
                            <m:t>,</m:t>
                          </m:r>
                          <m:d>
                            <m:dPr>
                              <m:ctrlPr>
                                <a:rPr lang="en-US"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𝑁</m:t>
                                  </m:r>
                                  <m:r>
                                    <a:rPr lang="en-US" altLang="zh-CN" i="1">
                                      <a:latin typeface="Cambria Math" panose="02040503050406030204" pitchFamily="18" charset="0"/>
                                    </a:rPr>
                                    <m:t>−1</m:t>
                                  </m:r>
                                </m:sub>
                              </m:sSub>
                            </m:e>
                          </m:d>
                        </m:e>
                      </m:d>
                    </m:oMath>
                  </m:oMathPara>
                </a14:m>
                <a:endParaRPr lang="en-US" altLang="zh-CN" dirty="0"/>
              </a:p>
              <a:p>
                <a:pPr lvl="1"/>
                <a:r>
                  <a:rPr lang="zh-CN" altLang="en-US" dirty="0"/>
                  <a:t>每个</a:t>
                </a:r>
                <a:r>
                  <a:rPr lang="en-US" altLang="zh-CN" dirty="0"/>
                  <a:t>Anchor Box</a:t>
                </a:r>
                <a:r>
                  <a:rPr lang="zh-CN" altLang="en-US" dirty="0"/>
                  <a:t>内有物体的概率预测为：</a:t>
                </a:r>
                <a:endParaRPr lang="en-US" altLang="zh-CN" dirty="0"/>
              </a:p>
              <a:p>
                <a:pPr marL="457200" lvl="1" indent="0">
                  <a:buNone/>
                </a:pPr>
                <a14:m>
                  <m:oMathPara xmlns:m="http://schemas.openxmlformats.org/officeDocument/2006/math">
                    <m:oMathParaPr>
                      <m:jc m:val="centerGroup"/>
                    </m:oMathParaPr>
                    <m:oMath xmlns:m="http://schemas.openxmlformats.org/officeDocument/2006/math">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Pr</m:t>
                          </m:r>
                        </m:fName>
                        <m:e>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𝐶𝑙𝑎𝑠𝑠</m:t>
                                  </m:r>
                                </m:e>
                                <m:sub>
                                  <m:r>
                                    <a:rPr lang="en-US" altLang="zh-CN" i="1">
                                      <a:latin typeface="Cambria Math" panose="02040503050406030204" pitchFamily="18" charset="0"/>
                                    </a:rPr>
                                    <m:t>𝑖</m:t>
                                  </m:r>
                                </m:sub>
                              </m:sSub>
                            </m:e>
                          </m:d>
                        </m:e>
                      </m:func>
                      <m:r>
                        <a:rPr lang="en-US" altLang="zh-CN">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Pr</m:t>
                          </m:r>
                        </m:fName>
                        <m:e>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Object</m:t>
                              </m:r>
                            </m:e>
                          </m:d>
                        </m:e>
                      </m:func>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Pr</m:t>
                          </m:r>
                        </m:fName>
                        <m:e>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𝐶𝑙𝑎𝑠𝑠</m:t>
                                  </m:r>
                                </m:e>
                                <m:sub>
                                  <m:r>
                                    <a:rPr lang="en-US" altLang="zh-CN" i="1">
                                      <a:latin typeface="Cambria Math" panose="02040503050406030204" pitchFamily="18" charset="0"/>
                                    </a:rPr>
                                    <m:t>𝑖</m:t>
                                  </m:r>
                                </m:sub>
                              </m:sSub>
                            </m:e>
                            <m:e>
                              <m:r>
                                <m:rPr>
                                  <m:sty m:val="p"/>
                                </m:rPr>
                                <a:rPr lang="en-US" altLang="zh-CN">
                                  <a:latin typeface="Cambria Math" panose="02040503050406030204" pitchFamily="18" charset="0"/>
                                </a:rPr>
                                <m:t>Object</m:t>
                              </m:r>
                            </m:e>
                          </m:d>
                        </m:e>
                      </m:func>
                    </m:oMath>
                  </m:oMathPara>
                </a14:m>
                <a:endParaRPr lang="en-US" altLang="zh-CN" dirty="0"/>
              </a:p>
              <a:p>
                <a:pPr lvl="1"/>
                <a:r>
                  <a:rPr lang="zh-CN" altLang="en-US" dirty="0"/>
                  <a:t>输出向量送入</a:t>
                </a:r>
                <a:r>
                  <a:rPr lang="en-US" altLang="zh-CN" dirty="0"/>
                  <a:t>NMS</a:t>
                </a:r>
                <a:r>
                  <a:rPr lang="zh-CN" altLang="en-US" dirty="0"/>
                  <a:t>产生最终预测</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89845" y="1721462"/>
                <a:ext cx="9787645" cy="4351338"/>
              </a:xfrm>
              <a:blipFill rotWithShape="1">
                <a:blip r:embed="rId3"/>
                <a:stretch>
                  <a:fillRect l="-1121" t="-2381"/>
                </a:stretch>
              </a:blipFill>
            </p:spPr>
            <p:txBody>
              <a:bodyPr/>
              <a:lstStyle/>
              <a:p>
                <a:r>
                  <a:rPr lang="zh-CN" altLang="en-US">
                    <a:noFill/>
                  </a:rPr>
                  <a:t> </a:t>
                </a:r>
                <a:endParaRPr lang="zh-CN" altLang="en-US">
                  <a:noFill/>
                </a:endParaRPr>
              </a:p>
            </p:txBody>
          </p:sp>
        </mc:Fallback>
      </mc:AlternateContent>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23</a:t>
            </a:fld>
            <a:endParaRPr lang="zh-CN" altLang="en-US">
              <a:solidFill>
                <a:prstClr val="black">
                  <a:tint val="75000"/>
                </a:prst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YOLOv3-tiny</a:t>
            </a:r>
            <a:endParaRPr lang="zh-CN" altLang="en-US" dirty="0"/>
          </a:p>
        </p:txBody>
      </p:sp>
      <p:sp>
        <p:nvSpPr>
          <p:cNvPr id="3" name="内容占位符 2"/>
          <p:cNvSpPr>
            <a:spLocks noGrp="1"/>
          </p:cNvSpPr>
          <p:nvPr>
            <p:ph idx="1"/>
          </p:nvPr>
        </p:nvSpPr>
        <p:spPr>
          <a:xfrm>
            <a:off x="989845" y="1721462"/>
            <a:ext cx="9787645" cy="4351338"/>
          </a:xfrm>
        </p:spPr>
        <p:txBody>
          <a:bodyPr>
            <a:normAutofit/>
          </a:bodyPr>
          <a:lstStyle/>
          <a:p>
            <a:r>
              <a:rPr lang="en-US" altLang="zh-CN" sz="2400" dirty="0"/>
              <a:t>YOLOv3</a:t>
            </a:r>
            <a:r>
              <a:rPr lang="zh-CN" altLang="en-US" sz="2400" dirty="0"/>
              <a:t>算法共有</a:t>
            </a:r>
            <a:r>
              <a:rPr lang="en-US" altLang="zh-CN" sz="2400" dirty="0"/>
              <a:t>106</a:t>
            </a:r>
            <a:r>
              <a:rPr lang="zh-CN" altLang="en-US" sz="2400" dirty="0"/>
              <a:t>层，其中骨干网络（即</a:t>
            </a:r>
            <a:r>
              <a:rPr lang="en-US" altLang="zh-CN" sz="2400" dirty="0"/>
              <a:t>Darknet-53</a:t>
            </a:r>
            <a:r>
              <a:rPr lang="zh-CN" altLang="en-US" sz="2400" dirty="0"/>
              <a:t>）包含</a:t>
            </a:r>
            <a:r>
              <a:rPr lang="en-US" altLang="zh-CN" sz="2400" dirty="0"/>
              <a:t>53</a:t>
            </a:r>
            <a:r>
              <a:rPr lang="zh-CN" altLang="en-US" sz="2400" dirty="0"/>
              <a:t>个卷积层。实际上如果把残差块等结构中也用到的卷积也计入，则共有</a:t>
            </a:r>
            <a:r>
              <a:rPr lang="en-US" altLang="zh-CN" sz="2400" dirty="0"/>
              <a:t>75</a:t>
            </a:r>
            <a:r>
              <a:rPr lang="zh-CN" altLang="en-US" sz="2400" dirty="0"/>
              <a:t>个卷积层。而</a:t>
            </a:r>
            <a:r>
              <a:rPr lang="en-US" altLang="zh-CN" sz="2400" dirty="0"/>
              <a:t>YOLOv3-tiny</a:t>
            </a:r>
            <a:r>
              <a:rPr lang="zh-CN" altLang="en-US" sz="2400" dirty="0"/>
              <a:t>则仅有</a:t>
            </a:r>
            <a:r>
              <a:rPr lang="en-US" altLang="zh-CN" sz="2400" dirty="0"/>
              <a:t>23</a:t>
            </a:r>
            <a:r>
              <a:rPr lang="zh-CN" altLang="en-US" sz="2400" dirty="0"/>
              <a:t>个网络层，其中卷积层</a:t>
            </a:r>
            <a:r>
              <a:rPr lang="en-US" altLang="zh-CN" sz="2400" dirty="0"/>
              <a:t>13</a:t>
            </a:r>
            <a:r>
              <a:rPr lang="zh-CN" altLang="en-US" sz="2400" dirty="0"/>
              <a:t>个，数据规模大幅减小</a:t>
            </a:r>
            <a:endParaRPr lang="en-US" altLang="zh-CN" sz="2400" dirty="0"/>
          </a:p>
          <a:p>
            <a:r>
              <a:rPr lang="en-US" altLang="zh-CN" sz="2400" dirty="0"/>
              <a:t>YOLOv3</a:t>
            </a:r>
            <a:r>
              <a:rPr lang="zh-CN" altLang="en-US" sz="2400" dirty="0"/>
              <a:t>不使用池化层，而是用</a:t>
            </a:r>
            <a:r>
              <a:rPr lang="en-US" altLang="zh-CN" sz="2400" dirty="0"/>
              <a:t>2</a:t>
            </a:r>
            <a:r>
              <a:rPr lang="zh-CN" altLang="en-US" sz="2400" dirty="0"/>
              <a:t>*</a:t>
            </a:r>
            <a:r>
              <a:rPr lang="en-US" altLang="zh-CN" sz="2400" dirty="0"/>
              <a:t>2</a:t>
            </a:r>
            <a:r>
              <a:rPr lang="zh-CN" altLang="en-US" sz="2400" dirty="0"/>
              <a:t>的卷积层替代池化。</a:t>
            </a:r>
            <a:r>
              <a:rPr lang="en-US" altLang="zh-CN" sz="2400" dirty="0"/>
              <a:t>YOLOv3-tiny</a:t>
            </a:r>
            <a:r>
              <a:rPr lang="zh-CN" altLang="en-US" sz="2400" dirty="0"/>
              <a:t>则保留了最大值池化层。此外，</a:t>
            </a:r>
            <a:r>
              <a:rPr lang="en-US" altLang="zh-CN" sz="2400" dirty="0"/>
              <a:t>YOLOv3-tiny</a:t>
            </a:r>
            <a:r>
              <a:rPr lang="zh-CN" altLang="en-US" sz="2400" dirty="0"/>
              <a:t>不使用类似</a:t>
            </a:r>
            <a:r>
              <a:rPr lang="en-US" altLang="zh-CN" sz="2400" dirty="0" err="1"/>
              <a:t>ResNet</a:t>
            </a:r>
            <a:r>
              <a:rPr lang="zh-CN" altLang="en-US" sz="2400" dirty="0"/>
              <a:t>的残差块，因此没有捷径</a:t>
            </a:r>
            <a:r>
              <a:rPr lang="en-US" altLang="zh-CN" sz="2400" dirty="0"/>
              <a:t>(Shortcut)</a:t>
            </a:r>
            <a:r>
              <a:rPr lang="zh-CN" altLang="en-US" sz="2400" dirty="0"/>
              <a:t>层</a:t>
            </a:r>
            <a:endParaRPr lang="en-US" altLang="zh-CN" sz="2400" dirty="0"/>
          </a:p>
          <a:p>
            <a:r>
              <a:rPr lang="en-US" altLang="zh-CN" sz="2400" dirty="0"/>
              <a:t>YOLOv3</a:t>
            </a:r>
            <a:r>
              <a:rPr lang="zh-CN" altLang="en-US" sz="2400" dirty="0"/>
              <a:t>和</a:t>
            </a:r>
            <a:r>
              <a:rPr lang="en-US" altLang="zh-CN" sz="2400" dirty="0"/>
              <a:t>YOLOv3-tiny</a:t>
            </a:r>
            <a:r>
              <a:rPr lang="zh-CN" altLang="en-US" sz="2400" dirty="0"/>
              <a:t>均不使用全连接层，整个网络结构以</a:t>
            </a:r>
            <a:r>
              <a:rPr lang="en-US" altLang="zh-CN" sz="2400" dirty="0"/>
              <a:t>YOLO</a:t>
            </a:r>
            <a:r>
              <a:rPr lang="zh-CN" altLang="en-US" sz="2400" dirty="0"/>
              <a:t>层结尾，用</a:t>
            </a:r>
            <a:r>
              <a:rPr lang="en-US" altLang="zh-CN" sz="2400" dirty="0"/>
              <a:t>Sigmoid</a:t>
            </a:r>
            <a:r>
              <a:rPr lang="zh-CN" altLang="en-US" sz="2400" dirty="0"/>
              <a:t>激活来替换传统的</a:t>
            </a:r>
            <a:r>
              <a:rPr lang="en-US" altLang="zh-CN" sz="2400" dirty="0" err="1"/>
              <a:t>Softmax</a:t>
            </a:r>
            <a:r>
              <a:rPr lang="zh-CN" altLang="en-US" sz="2400" dirty="0"/>
              <a:t>分类器，以更好地应对待检测图像中的目标重叠</a:t>
            </a:r>
            <a:endParaRPr lang="en-US" altLang="zh-CN" sz="2400" dirty="0"/>
          </a:p>
          <a:p>
            <a:endParaRPr lang="en-US" altLang="zh-CN" sz="2400" dirty="0"/>
          </a:p>
          <a:p>
            <a:endParaRPr lang="en-US" altLang="zh-CN" sz="2400"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24</a:t>
            </a:fld>
            <a:endParaRPr lang="zh-CN" altLang="en-US">
              <a:solidFill>
                <a:prstClr val="black">
                  <a:tint val="75000"/>
                </a:prst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项目框架</a:t>
            </a:r>
          </a:p>
        </p:txBody>
      </p:sp>
      <p:sp>
        <p:nvSpPr>
          <p:cNvPr id="3" name="内容占位符 2"/>
          <p:cNvSpPr>
            <a:spLocks noGrp="1"/>
          </p:cNvSpPr>
          <p:nvPr>
            <p:ph idx="1"/>
          </p:nvPr>
        </p:nvSpPr>
        <p:spPr>
          <a:xfrm>
            <a:off x="989845" y="1721462"/>
            <a:ext cx="9787645" cy="4351338"/>
          </a:xfrm>
        </p:spPr>
        <p:txBody>
          <a:bodyPr>
            <a:normAutofit/>
          </a:bodyPr>
          <a:lstStyle/>
          <a:p>
            <a:r>
              <a:rPr lang="zh-CN" altLang="en-US" dirty="0"/>
              <a:t>项目结构</a:t>
            </a:r>
            <a:endParaRPr lang="en-US" altLang="zh-CN" dirty="0"/>
          </a:p>
          <a:p>
            <a:pPr lvl="1"/>
            <a:r>
              <a:rPr lang="zh-CN" altLang="en-US" dirty="0"/>
              <a:t>由</a:t>
            </a:r>
            <a:r>
              <a:rPr lang="en-US" altLang="zh-CN" dirty="0"/>
              <a:t>C</a:t>
            </a:r>
            <a:r>
              <a:rPr lang="zh-CN" altLang="en-US" dirty="0"/>
              <a:t>语言编写</a:t>
            </a:r>
            <a:endParaRPr lang="en-US" altLang="zh-CN" dirty="0"/>
          </a:p>
          <a:p>
            <a:pPr lvl="1"/>
            <a:r>
              <a:rPr lang="zh-CN" altLang="en-US" dirty="0"/>
              <a:t>使用一个简化版本的</a:t>
            </a:r>
            <a:r>
              <a:rPr lang="en-US" altLang="zh-CN" dirty="0" err="1"/>
              <a:t>Darknet</a:t>
            </a:r>
            <a:r>
              <a:rPr lang="zh-CN" altLang="en-US" dirty="0"/>
              <a:t>框架，仅实现前面提到的</a:t>
            </a:r>
            <a:r>
              <a:rPr lang="en-US" altLang="zh-CN" dirty="0"/>
              <a:t>YOLOv3</a:t>
            </a:r>
            <a:r>
              <a:rPr lang="zh-CN" altLang="en-US" dirty="0"/>
              <a:t>及其</a:t>
            </a:r>
            <a:r>
              <a:rPr lang="en-US" altLang="zh-CN" dirty="0"/>
              <a:t>tiny</a:t>
            </a:r>
            <a:r>
              <a:rPr lang="zh-CN" altLang="en-US" dirty="0"/>
              <a:t>版本所必须的</a:t>
            </a:r>
            <a:r>
              <a:rPr lang="en-US" altLang="zh-CN" dirty="0"/>
              <a:t>6</a:t>
            </a:r>
            <a:r>
              <a:rPr lang="zh-CN" altLang="en-US" dirty="0"/>
              <a:t>种网络类型</a:t>
            </a:r>
            <a:endParaRPr lang="en-US" altLang="zh-CN" dirty="0"/>
          </a:p>
          <a:p>
            <a:pPr lvl="1"/>
            <a:r>
              <a:rPr lang="zh-CN" altLang="en-US" dirty="0"/>
              <a:t>用户需完成的代码全部位于</a:t>
            </a:r>
            <a:r>
              <a:rPr lang="en-US" altLang="zh-CN" dirty="0"/>
              <a:t>work/</a:t>
            </a:r>
            <a:r>
              <a:rPr lang="en-US" altLang="zh-CN" dirty="0" err="1"/>
              <a:t>work.c</a:t>
            </a:r>
            <a:r>
              <a:rPr lang="zh-CN" altLang="en-US" dirty="0"/>
              <a:t>中，共四个函数</a:t>
            </a:r>
            <a:endParaRPr lang="en-US" altLang="zh-CN" dirty="0"/>
          </a:p>
          <a:p>
            <a:pPr lvl="1"/>
            <a:endParaRPr lang="en-US" altLang="zh-CN" dirty="0"/>
          </a:p>
          <a:p>
            <a:pPr marL="457200" lvl="1" indent="0">
              <a:buNone/>
            </a:pPr>
            <a:endParaRPr lang="en-US" altLang="zh-CN" dirty="0"/>
          </a:p>
          <a:p>
            <a:endParaRPr lang="en-US" altLang="zh-CN" dirty="0"/>
          </a:p>
        </p:txBody>
      </p:sp>
      <p:sp>
        <p:nvSpPr>
          <p:cNvPr id="4" name="灯片编号占位符 3"/>
          <p:cNvSpPr>
            <a:spLocks noGrp="1"/>
          </p:cNvSpPr>
          <p:nvPr>
            <p:ph type="sldNum" sz="quarter" idx="12"/>
          </p:nvPr>
        </p:nvSpPr>
        <p:spPr>
          <a:xfrm>
            <a:off x="8610600" y="6329717"/>
            <a:ext cx="2743200" cy="365125"/>
          </a:xfrm>
        </p:spPr>
        <p:txBody>
          <a:bodyPr/>
          <a:lstStyle/>
          <a:p>
            <a:fld id="{55481DC2-33FF-4022-91B5-C13EC2E37E98}" type="slidenum">
              <a:rPr lang="zh-CN" altLang="en-US" smtClean="0">
                <a:solidFill>
                  <a:prstClr val="black">
                    <a:tint val="75000"/>
                  </a:prstClr>
                </a:solidFill>
              </a:rPr>
              <a:t>25</a:t>
            </a:fld>
            <a:endParaRPr lang="zh-CN" altLang="en-US">
              <a:solidFill>
                <a:prstClr val="black">
                  <a:tint val="75000"/>
                </a:prstClr>
              </a:solidFill>
            </a:endParaRPr>
          </a:p>
        </p:txBody>
      </p:sp>
      <p:pic>
        <p:nvPicPr>
          <p:cNvPr id="5" name="图片 4"/>
          <p:cNvPicPr>
            <a:picLocks noChangeAspect="1"/>
          </p:cNvPicPr>
          <p:nvPr/>
        </p:nvPicPr>
        <p:blipFill>
          <a:blip r:embed="rId3"/>
          <a:stretch>
            <a:fillRect/>
          </a:stretch>
        </p:blipFill>
        <p:spPr>
          <a:xfrm>
            <a:off x="1514009" y="3754903"/>
            <a:ext cx="9163981" cy="275737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项目框架</a:t>
            </a:r>
          </a:p>
        </p:txBody>
      </p:sp>
      <p:sp>
        <p:nvSpPr>
          <p:cNvPr id="3" name="内容占位符 2"/>
          <p:cNvSpPr>
            <a:spLocks noGrp="1"/>
          </p:cNvSpPr>
          <p:nvPr>
            <p:ph idx="1"/>
          </p:nvPr>
        </p:nvSpPr>
        <p:spPr>
          <a:xfrm>
            <a:off x="989845" y="1721462"/>
            <a:ext cx="9787645" cy="4351338"/>
          </a:xfrm>
        </p:spPr>
        <p:txBody>
          <a:bodyPr>
            <a:normAutofit/>
          </a:bodyPr>
          <a:lstStyle/>
          <a:p>
            <a:r>
              <a:rPr lang="zh-CN" altLang="en-US" dirty="0"/>
              <a:t>主函数入口</a:t>
            </a:r>
            <a:endParaRPr lang="en-US" altLang="zh-CN" dirty="0"/>
          </a:p>
          <a:p>
            <a:pPr lvl="1"/>
            <a:r>
              <a:rPr lang="en-US" altLang="zh-CN" dirty="0"/>
              <a:t>yolo_test_x86   </a:t>
            </a:r>
            <a:r>
              <a:rPr lang="zh-CN" altLang="en-US" dirty="0"/>
              <a:t>用于</a:t>
            </a:r>
            <a:r>
              <a:rPr lang="en-US" altLang="zh-CN" dirty="0"/>
              <a:t>x86</a:t>
            </a:r>
            <a:r>
              <a:rPr lang="zh-CN" altLang="en-US" dirty="0"/>
              <a:t>平台的测试</a:t>
            </a:r>
            <a:endParaRPr lang="en-US" altLang="zh-CN" dirty="0"/>
          </a:p>
          <a:p>
            <a:pPr lvl="1"/>
            <a:r>
              <a:rPr lang="en-US" altLang="zh-CN" dirty="0" err="1"/>
              <a:t>yolo_test_riscv</a:t>
            </a:r>
            <a:r>
              <a:rPr lang="en-US" altLang="zh-CN" dirty="0"/>
              <a:t> </a:t>
            </a:r>
            <a:r>
              <a:rPr lang="zh-CN" altLang="en-US" dirty="0"/>
              <a:t> 用于</a:t>
            </a:r>
            <a:r>
              <a:rPr lang="en-US" altLang="zh-CN" dirty="0"/>
              <a:t>RISC-V</a:t>
            </a:r>
            <a:r>
              <a:rPr lang="zh-CN" altLang="en-US" dirty="0"/>
              <a:t>平台的测试</a:t>
            </a:r>
            <a:endParaRPr lang="en-US" altLang="zh-CN" dirty="0"/>
          </a:p>
          <a:p>
            <a:r>
              <a:rPr lang="zh-CN" altLang="en-US" dirty="0"/>
              <a:t>用户编写完成的程序经过编译后会通过动态链接的方式在运行时加载</a:t>
            </a:r>
            <a:endParaRPr lang="en-US" altLang="zh-CN" dirty="0"/>
          </a:p>
          <a:p>
            <a:r>
              <a:rPr lang="zh-CN" altLang="en-US" dirty="0"/>
              <a:t>使用</a:t>
            </a:r>
            <a:r>
              <a:rPr lang="en-US" altLang="zh-CN" dirty="0"/>
              <a:t>work</a:t>
            </a:r>
            <a:r>
              <a:rPr lang="zh-CN" altLang="en-US" dirty="0"/>
              <a:t>目录下的</a:t>
            </a:r>
            <a:r>
              <a:rPr lang="en-US" altLang="zh-CN" dirty="0" err="1"/>
              <a:t>Makefile</a:t>
            </a:r>
            <a:r>
              <a:rPr lang="zh-CN" altLang="en-US" dirty="0"/>
              <a:t>即可完成编译，将会生成两个动态链接库，用于在</a:t>
            </a:r>
            <a:r>
              <a:rPr lang="en-US" altLang="zh-CN" dirty="0"/>
              <a:t>x86</a:t>
            </a:r>
            <a:r>
              <a:rPr lang="zh-CN" altLang="en-US" dirty="0"/>
              <a:t>和</a:t>
            </a:r>
            <a:r>
              <a:rPr lang="en-US" altLang="zh-CN" dirty="0"/>
              <a:t>RISC-V</a:t>
            </a:r>
            <a:r>
              <a:rPr lang="zh-CN" altLang="en-US" dirty="0"/>
              <a:t>两个平台上进行测试</a:t>
            </a:r>
            <a:endParaRPr lang="en-US"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26</a:t>
            </a:fld>
            <a:endParaRPr lang="zh-CN" altLang="en-US">
              <a:solidFill>
                <a:prstClr val="black">
                  <a:tint val="75000"/>
                </a:prst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项目框架</a:t>
            </a:r>
          </a:p>
        </p:txBody>
      </p:sp>
      <p:sp>
        <p:nvSpPr>
          <p:cNvPr id="3" name="内容占位符 2"/>
          <p:cNvSpPr>
            <a:spLocks noGrp="1"/>
          </p:cNvSpPr>
          <p:nvPr>
            <p:ph idx="1"/>
          </p:nvPr>
        </p:nvSpPr>
        <p:spPr>
          <a:xfrm>
            <a:off x="989845" y="1721462"/>
            <a:ext cx="4230225" cy="4351338"/>
          </a:xfrm>
        </p:spPr>
        <p:txBody>
          <a:bodyPr>
            <a:normAutofit/>
          </a:bodyPr>
          <a:lstStyle/>
          <a:p>
            <a:pPr algn="just"/>
            <a:r>
              <a:rPr lang="zh-CN" altLang="en-US" sz="2000" dirty="0"/>
              <a:t>使用</a:t>
            </a:r>
            <a:r>
              <a:rPr lang="en-US" altLang="zh-CN" sz="2000" dirty="0"/>
              <a:t>layer</a:t>
            </a:r>
            <a:r>
              <a:rPr lang="zh-CN" altLang="en-US" sz="2000" dirty="0"/>
              <a:t>结构体对所有网络层类型建模，</a:t>
            </a:r>
            <a:r>
              <a:rPr lang="en-US" altLang="zh-CN" sz="2000" dirty="0"/>
              <a:t>YOLOv3</a:t>
            </a:r>
            <a:r>
              <a:rPr lang="zh-CN" altLang="en-US" sz="2000" dirty="0"/>
              <a:t>包含</a:t>
            </a:r>
            <a:r>
              <a:rPr lang="en-US" altLang="zh-CN" sz="2000" dirty="0"/>
              <a:t>106</a:t>
            </a:r>
            <a:r>
              <a:rPr lang="zh-CN" altLang="en-US" sz="2000" dirty="0"/>
              <a:t>个网络层，则程序运行时会例化</a:t>
            </a:r>
            <a:r>
              <a:rPr lang="en-US" altLang="zh-CN" sz="2000" dirty="0"/>
              <a:t>106</a:t>
            </a:r>
            <a:r>
              <a:rPr lang="zh-CN" altLang="en-US" sz="2000" dirty="0"/>
              <a:t>个</a:t>
            </a:r>
            <a:r>
              <a:rPr lang="en-US" altLang="zh-CN" sz="2000" dirty="0"/>
              <a:t>layer</a:t>
            </a:r>
            <a:r>
              <a:rPr lang="zh-CN" altLang="en-US" sz="2000" dirty="0"/>
              <a:t>结构体。</a:t>
            </a:r>
            <a:endParaRPr lang="en-US" altLang="zh-CN" sz="2000" dirty="0"/>
          </a:p>
          <a:p>
            <a:pPr algn="just"/>
            <a:r>
              <a:rPr lang="en-US" altLang="zh-CN" sz="2000" dirty="0"/>
              <a:t>layer</a:t>
            </a:r>
            <a:r>
              <a:rPr lang="zh-CN" altLang="en-US" sz="2000" dirty="0"/>
              <a:t>结构体通过链表有序连接，网络前向传播的过程也就是数据在链表节点上顺次传递的过程。</a:t>
            </a:r>
            <a:endParaRPr lang="en-US" altLang="zh-CN" sz="2000" dirty="0"/>
          </a:p>
          <a:p>
            <a:pPr algn="just"/>
            <a:r>
              <a:rPr lang="zh-CN" altLang="en-US" sz="2000" dirty="0"/>
              <a:t>不同类型的网络层应当有不同的传播函数实现，但是</a:t>
            </a:r>
            <a:r>
              <a:rPr lang="en-US" altLang="zh-CN" sz="2000" dirty="0"/>
              <a:t>C</a:t>
            </a:r>
            <a:r>
              <a:rPr lang="zh-CN" altLang="en-US" sz="2000" dirty="0"/>
              <a:t>结构体没有成员函数的概念，因此这些不同的传播函数在</a:t>
            </a:r>
            <a:r>
              <a:rPr lang="en-US" altLang="zh-CN" sz="2000" dirty="0"/>
              <a:t>layer</a:t>
            </a:r>
            <a:r>
              <a:rPr lang="zh-CN" altLang="en-US" sz="2000" dirty="0"/>
              <a:t>结构体种通过函数指针来实现</a:t>
            </a:r>
            <a:endParaRPr lang="en-US" altLang="zh-CN" sz="2000"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27</a:t>
            </a:fld>
            <a:endParaRPr lang="zh-CN" altLang="en-US">
              <a:solidFill>
                <a:prstClr val="black">
                  <a:tint val="75000"/>
                </a:prstClr>
              </a:solidFill>
            </a:endParaRPr>
          </a:p>
        </p:txBody>
      </p:sp>
      <p:pic>
        <p:nvPicPr>
          <p:cNvPr id="1026" name="Picture 2" descr="detection_proc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0047" y="1196582"/>
            <a:ext cx="6461106" cy="4369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编程说明</a:t>
            </a:r>
          </a:p>
        </p:txBody>
      </p:sp>
      <p:sp>
        <p:nvSpPr>
          <p:cNvPr id="3" name="内容占位符 2"/>
          <p:cNvSpPr>
            <a:spLocks noGrp="1"/>
          </p:cNvSpPr>
          <p:nvPr>
            <p:ph idx="1"/>
          </p:nvPr>
        </p:nvSpPr>
        <p:spPr>
          <a:xfrm>
            <a:off x="989845" y="1721462"/>
            <a:ext cx="9787645" cy="4351338"/>
          </a:xfrm>
        </p:spPr>
        <p:txBody>
          <a:bodyPr>
            <a:normAutofit/>
          </a:bodyPr>
          <a:lstStyle/>
          <a:p>
            <a:r>
              <a:rPr lang="zh-CN" altLang="en-US" sz="2400" dirty="0"/>
              <a:t>需要编写</a:t>
            </a:r>
            <a:r>
              <a:rPr lang="en-US" altLang="zh-CN" sz="2400" dirty="0"/>
              <a:t>4</a:t>
            </a:r>
            <a:r>
              <a:rPr lang="zh-CN" altLang="en-US" sz="2400" dirty="0"/>
              <a:t>个函数，全部位于</a:t>
            </a:r>
            <a:r>
              <a:rPr lang="en-US" altLang="zh-CN" sz="2400" dirty="0"/>
              <a:t>work/</a:t>
            </a:r>
            <a:r>
              <a:rPr lang="en-US" altLang="zh-CN" sz="2400" dirty="0" err="1"/>
              <a:t>work.c</a:t>
            </a:r>
            <a:r>
              <a:rPr lang="zh-CN" altLang="en-US" sz="2400" dirty="0"/>
              <a:t>中</a:t>
            </a:r>
            <a:endParaRPr lang="en-US" altLang="zh-CN" sz="2400" dirty="0"/>
          </a:p>
          <a:p>
            <a:r>
              <a:rPr lang="zh-CN" altLang="en-US" sz="2400" dirty="0"/>
              <a:t>为了方便</a:t>
            </a:r>
            <a:r>
              <a:rPr lang="en-US" altLang="zh-CN" sz="2400" dirty="0"/>
              <a:t>C</a:t>
            </a:r>
            <a:r>
              <a:rPr lang="zh-CN" altLang="en-US" sz="2400" dirty="0"/>
              <a:t>中数据的表示和储存，所有的高为输入数据全部被平铺成一维数组。具体而言，如下图所示的输入层：</a:t>
            </a:r>
            <a:endParaRPr lang="en-US" altLang="zh-CN" sz="2400"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28</a:t>
            </a:fld>
            <a:endParaRPr lang="zh-CN" altLang="en-US">
              <a:solidFill>
                <a:prstClr val="black">
                  <a:tint val="75000"/>
                </a:prstClr>
              </a:solidFill>
            </a:endParaRPr>
          </a:p>
        </p:txBody>
      </p:sp>
      <p:pic>
        <p:nvPicPr>
          <p:cNvPr id="2051" name="Picture 3" descr="1-Pag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693" y="3108922"/>
            <a:ext cx="5179797" cy="333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p:cNvSpPr txBox="1"/>
          <p:nvPr/>
        </p:nvSpPr>
        <p:spPr>
          <a:xfrm>
            <a:off x="1142246" y="3595456"/>
            <a:ext cx="4788038" cy="26297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展开为一维数组后，其顺序应为：</a:t>
            </a:r>
            <a:endParaRPr lang="en-US" altLang="zh-CN" sz="2400" dirty="0"/>
          </a:p>
          <a:p>
            <a:pPr marL="0" indent="0">
              <a:buNone/>
            </a:pPr>
            <a:endParaRPr lang="en-US" altLang="zh-CN" sz="2400" dirty="0"/>
          </a:p>
          <a:p>
            <a:pPr marL="0" indent="0">
              <a:buNone/>
            </a:pPr>
            <a:r>
              <a:rPr lang="en-US" altLang="zh-CN" sz="2400" dirty="0"/>
              <a:t>{1,2,3,4,5,6,7,8,9, \</a:t>
            </a:r>
          </a:p>
          <a:p>
            <a:pPr marL="0" indent="0">
              <a:buNone/>
            </a:pPr>
            <a:r>
              <a:rPr lang="en-US" altLang="zh-CN" sz="2400" dirty="0"/>
              <a:t>10,11,12,13,14,15,16,17,18}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编程说明</a:t>
            </a:r>
          </a:p>
        </p:txBody>
      </p:sp>
      <p:sp>
        <p:nvSpPr>
          <p:cNvPr id="3" name="内容占位符 2"/>
          <p:cNvSpPr>
            <a:spLocks noGrp="1"/>
          </p:cNvSpPr>
          <p:nvPr>
            <p:ph idx="1"/>
          </p:nvPr>
        </p:nvSpPr>
        <p:spPr>
          <a:xfrm>
            <a:off x="989845" y="1721462"/>
            <a:ext cx="9787645" cy="4351338"/>
          </a:xfrm>
        </p:spPr>
        <p:txBody>
          <a:bodyPr>
            <a:normAutofit/>
          </a:bodyPr>
          <a:lstStyle/>
          <a:p>
            <a:r>
              <a:rPr lang="zh-CN" altLang="en-US" sz="2400" dirty="0"/>
              <a:t>编写完成的函数的输出应当按照上述方式组织为一维数组。</a:t>
            </a:r>
            <a:endParaRPr lang="en-US" altLang="zh-CN" sz="2400" dirty="0"/>
          </a:p>
          <a:p>
            <a:r>
              <a:rPr lang="zh-CN" altLang="en-US" sz="2400" dirty="0"/>
              <a:t>本实验中所有在函数的参数列表中列举出来的数据指针（</a:t>
            </a:r>
            <a:r>
              <a:rPr lang="zh-CN" altLang="zh-CN" sz="2400" dirty="0"/>
              <a:t>例如</a:t>
            </a:r>
            <a:r>
              <a:rPr lang="en-US" altLang="zh-CN" sz="2400" dirty="0"/>
              <a:t>float* input</a:t>
            </a:r>
            <a:r>
              <a:rPr lang="zh-CN" altLang="zh-CN" sz="2400" dirty="0"/>
              <a:t>、</a:t>
            </a:r>
            <a:r>
              <a:rPr lang="en-US" altLang="zh-CN" sz="2400" dirty="0"/>
              <a:t>float* output</a:t>
            </a:r>
            <a:r>
              <a:rPr lang="zh-CN" altLang="zh-CN" sz="2400" dirty="0"/>
              <a:t>、</a:t>
            </a:r>
            <a:r>
              <a:rPr lang="en-US" altLang="zh-CN" sz="2400" dirty="0"/>
              <a:t>float* weight</a:t>
            </a:r>
            <a:r>
              <a:rPr lang="zh-CN" altLang="zh-CN" sz="2400" dirty="0"/>
              <a:t>等</a:t>
            </a:r>
            <a:r>
              <a:rPr lang="zh-CN" altLang="en-US" sz="2400" dirty="0"/>
              <a:t>），均可以默认它们在函数调用前已经通过</a:t>
            </a:r>
            <a:r>
              <a:rPr lang="en-US" altLang="zh-CN" sz="2400" dirty="0" err="1"/>
              <a:t>malloc</a:t>
            </a:r>
            <a:r>
              <a:rPr lang="zh-CN" altLang="en-US" sz="2400" dirty="0"/>
              <a:t>函数分配到了存储空间。因此在编程时可以把它们视为可直接使用的数组。但是务必注意核对数据规模，</a:t>
            </a:r>
            <a:r>
              <a:rPr lang="zh-CN" altLang="en-US" sz="2400" b="1" dirty="0"/>
              <a:t>不要发生数组越界。</a:t>
            </a:r>
            <a:endParaRPr lang="en-US" altLang="zh-CN" sz="2400" b="1" dirty="0"/>
          </a:p>
          <a:p>
            <a:r>
              <a:rPr lang="zh-CN" altLang="zh-CN" sz="2400" dirty="0"/>
              <a:t>编程过程如果需要用临时数组来存放中间数据，应当利用传入的网络层参数计算出数据规模后，自行使用</a:t>
            </a:r>
            <a:r>
              <a:rPr lang="en-US" altLang="zh-CN" sz="2400" dirty="0" err="1"/>
              <a:t>malloc</a:t>
            </a:r>
            <a:r>
              <a:rPr lang="zh-CN" altLang="zh-CN" sz="2400" dirty="0"/>
              <a:t>函数为其分配空间。</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29</a:t>
            </a:fld>
            <a:endParaRPr lang="zh-CN" altLang="en-US">
              <a:solidFill>
                <a:prstClr val="black">
                  <a:tint val="75000"/>
                </a:prst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编程接口</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Task1</a:t>
            </a:r>
            <a:r>
              <a:rPr lang="zh-CN" altLang="en-US" dirty="0"/>
              <a:t>： 卷积函数的实现</a:t>
            </a:r>
            <a:endParaRPr lang="en-US" altLang="zh-CN" dirty="0"/>
          </a:p>
          <a:p>
            <a:pPr marL="0" indent="0">
              <a:buNone/>
            </a:pPr>
            <a:r>
              <a:rPr lang="en-US" altLang="zh-CN" sz="2000" dirty="0">
                <a:solidFill>
                  <a:srgbClr val="0070C0"/>
                </a:solidFill>
                <a:latin typeface="Consolas" panose="020B0609020204030204" pitchFamily="49" charset="0"/>
              </a:rPr>
              <a:t>void</a:t>
            </a:r>
            <a:r>
              <a:rPr lang="en-US" altLang="zh-CN" sz="2000" dirty="0">
                <a:latin typeface="Consolas" panose="020B0609020204030204" pitchFamily="49" charset="0"/>
              </a:rPr>
              <a:t> </a:t>
            </a:r>
            <a:r>
              <a:rPr lang="en-US" altLang="zh-CN" sz="2000" dirty="0" err="1">
                <a:solidFill>
                  <a:srgbClr val="FF0000"/>
                </a:solidFill>
                <a:latin typeface="Consolas" panose="020B0609020204030204" pitchFamily="49" charset="0"/>
              </a:rPr>
              <a:t>convolutional_compute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a:t>
            </a:r>
            <a:r>
              <a:rPr lang="en-US" altLang="zh-CN" sz="2000" dirty="0" err="1">
                <a:solidFill>
                  <a:srgbClr val="0070C0"/>
                </a:solidFill>
                <a:latin typeface="Consolas" panose="020B0609020204030204" pitchFamily="49" charset="0"/>
              </a:rPr>
              <a:t>layer_params</a:t>
            </a:r>
            <a:r>
              <a:rPr lang="en-US" altLang="zh-CN" sz="2000" dirty="0">
                <a:latin typeface="Consolas" panose="020B0609020204030204" pitchFamily="49" charset="0"/>
              </a:rPr>
              <a:t> </a:t>
            </a:r>
            <a:r>
              <a:rPr lang="en-US" altLang="zh-CN" sz="2000" dirty="0">
                <a:solidFill>
                  <a:srgbClr val="0070C0"/>
                </a:solidFill>
                <a:latin typeface="Consolas" panose="020B0609020204030204" pitchFamily="49" charset="0"/>
              </a:rPr>
              <a:t>para</a:t>
            </a:r>
            <a:r>
              <a:rPr lang="en-US" altLang="zh-CN" sz="2000" dirty="0">
                <a:latin typeface="Consolas" panose="020B0609020204030204" pitchFamily="49" charset="0"/>
              </a:rPr>
              <a: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input,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weight,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output);</a:t>
            </a:r>
          </a:p>
          <a:p>
            <a:pPr marL="0" indent="0">
              <a:buNone/>
            </a:pPr>
            <a:endParaRPr lang="en-US" altLang="zh-CN" dirty="0"/>
          </a:p>
          <a:p>
            <a:pPr lvl="1"/>
            <a:r>
              <a:rPr lang="zh-CN" altLang="en-US" dirty="0"/>
              <a:t>结构体</a:t>
            </a:r>
            <a:r>
              <a:rPr lang="en-US" altLang="zh-CN" dirty="0" err="1"/>
              <a:t>layer_params</a:t>
            </a:r>
            <a:r>
              <a:rPr lang="zh-CN" altLang="en-US" dirty="0"/>
              <a:t>定义于</a:t>
            </a:r>
            <a:r>
              <a:rPr lang="en-US" altLang="zh-CN" dirty="0"/>
              <a:t>work/</a:t>
            </a:r>
            <a:r>
              <a:rPr lang="en-US" altLang="zh-CN" dirty="0" err="1"/>
              <a:t>work.h</a:t>
            </a:r>
            <a:r>
              <a:rPr lang="zh-CN" altLang="en-US" dirty="0"/>
              <a:t>，其含义为：</a:t>
            </a:r>
            <a:r>
              <a:rPr lang="en-US" altLang="zh-CN" dirty="0"/>
              <a:t>	</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30</a:t>
            </a:fld>
            <a:endParaRPr lang="zh-CN" altLang="en-US">
              <a:solidFill>
                <a:prstClr val="black">
                  <a:tint val="75000"/>
                </a:prstClr>
              </a:solidFill>
            </a:endParaRPr>
          </a:p>
        </p:txBody>
      </p:sp>
      <p:pic>
        <p:nvPicPr>
          <p:cNvPr id="7" name="图片 6"/>
          <p:cNvPicPr>
            <a:picLocks noChangeAspect="1"/>
          </p:cNvPicPr>
          <p:nvPr/>
        </p:nvPicPr>
        <p:blipFill>
          <a:blip r:embed="rId3"/>
          <a:stretch>
            <a:fillRect/>
          </a:stretch>
        </p:blipFill>
        <p:spPr>
          <a:xfrm>
            <a:off x="1642369" y="4053223"/>
            <a:ext cx="9354692" cy="223775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编程接口</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Task2</a:t>
            </a:r>
            <a:r>
              <a:rPr lang="zh-CN" altLang="en-US" dirty="0"/>
              <a:t>： </a:t>
            </a:r>
            <a:r>
              <a:rPr lang="en-US" altLang="zh-CN" dirty="0" err="1"/>
              <a:t>Maxpool</a:t>
            </a:r>
            <a:r>
              <a:rPr lang="zh-CN" altLang="en-US" dirty="0"/>
              <a:t>的前向传播</a:t>
            </a:r>
            <a:endParaRPr lang="en-US" altLang="zh-CN" dirty="0"/>
          </a:p>
          <a:p>
            <a:pPr marL="0" indent="0">
              <a:buNone/>
            </a:pPr>
            <a:r>
              <a:rPr lang="en-US" altLang="zh-CN" sz="2000" dirty="0">
                <a:solidFill>
                  <a:srgbClr val="0070C0"/>
                </a:solidFill>
                <a:latin typeface="Consolas" panose="020B0609020204030204" pitchFamily="49" charset="0"/>
              </a:rPr>
              <a:t>void</a:t>
            </a:r>
            <a:r>
              <a:rPr lang="en-US" altLang="zh-CN" sz="2000" dirty="0">
                <a:latin typeface="Consolas" panose="020B0609020204030204" pitchFamily="49" charset="0"/>
              </a:rPr>
              <a:t> </a:t>
            </a:r>
            <a:r>
              <a:rPr lang="en-US" altLang="zh-CN" sz="2000" dirty="0" err="1">
                <a:solidFill>
                  <a:srgbClr val="FF0000"/>
                </a:solidFill>
                <a:latin typeface="Consolas" panose="020B0609020204030204" pitchFamily="49" charset="0"/>
              </a:rPr>
              <a:t>maxpool_compute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a:t>
            </a:r>
            <a:r>
              <a:rPr lang="en-US" altLang="zh-CN" sz="2000" dirty="0" err="1">
                <a:solidFill>
                  <a:srgbClr val="0070C0"/>
                </a:solidFill>
                <a:latin typeface="Consolas" panose="020B0609020204030204" pitchFamily="49" charset="0"/>
              </a:rPr>
              <a:t>layer_params</a:t>
            </a:r>
            <a:r>
              <a:rPr lang="en-US" altLang="zh-CN" sz="2000" dirty="0">
                <a:latin typeface="Consolas" panose="020B0609020204030204" pitchFamily="49" charset="0"/>
              </a:rPr>
              <a:t> </a:t>
            </a:r>
            <a:r>
              <a:rPr lang="en-US" altLang="zh-CN" sz="2000" dirty="0">
                <a:solidFill>
                  <a:srgbClr val="0070C0"/>
                </a:solidFill>
                <a:latin typeface="Consolas" panose="020B0609020204030204" pitchFamily="49" charset="0"/>
              </a:rPr>
              <a:t>para</a:t>
            </a:r>
            <a:r>
              <a:rPr lang="en-US" altLang="zh-CN" sz="2000" dirty="0">
                <a:latin typeface="Consolas" panose="020B0609020204030204" pitchFamily="49" charset="0"/>
              </a:rPr>
              <a: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input,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output);</a:t>
            </a:r>
          </a:p>
          <a:p>
            <a:pPr marL="0" indent="0">
              <a:buNone/>
            </a:pPr>
            <a:r>
              <a:rPr lang="en-US" altLang="zh-CN" dirty="0"/>
              <a:t>	</a:t>
            </a:r>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31</a:t>
            </a:fld>
            <a:endParaRPr lang="zh-CN" altLang="en-US">
              <a:solidFill>
                <a:prstClr val="black">
                  <a:tint val="75000"/>
                </a:prstClr>
              </a:solidFill>
            </a:endParaRPr>
          </a:p>
        </p:txBody>
      </p:sp>
      <p:pic>
        <p:nvPicPr>
          <p:cNvPr id="6" name="图片 5"/>
          <p:cNvPicPr>
            <a:picLocks noChangeAspect="1"/>
          </p:cNvPicPr>
          <p:nvPr/>
        </p:nvPicPr>
        <p:blipFill>
          <a:blip r:embed="rId3"/>
          <a:stretch>
            <a:fillRect/>
          </a:stretch>
        </p:blipFill>
        <p:spPr>
          <a:xfrm>
            <a:off x="1227240" y="3283957"/>
            <a:ext cx="10126560" cy="27888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编程接口</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Task2</a:t>
            </a:r>
            <a:r>
              <a:rPr lang="zh-CN" altLang="en-US" dirty="0"/>
              <a:t>： </a:t>
            </a:r>
            <a:r>
              <a:rPr lang="en-US" altLang="zh-CN" dirty="0" err="1"/>
              <a:t>Maxpool</a:t>
            </a:r>
            <a:r>
              <a:rPr lang="zh-CN" altLang="en-US" dirty="0"/>
              <a:t>的前向传播</a:t>
            </a:r>
            <a:endParaRPr lang="en-US" altLang="zh-CN" dirty="0"/>
          </a:p>
          <a:p>
            <a:pPr marL="0" indent="0">
              <a:buNone/>
            </a:pPr>
            <a:r>
              <a:rPr lang="zh-CN" altLang="en-US" sz="2400" dirty="0"/>
              <a:t>例：</a:t>
            </a:r>
            <a:r>
              <a:rPr lang="en-US" altLang="zh-CN" sz="2400" dirty="0"/>
              <a:t>	</a:t>
            </a:r>
            <a:r>
              <a:rPr lang="zh-CN" altLang="en-US" sz="2400" dirty="0"/>
              <a:t>对右图，在</a:t>
            </a:r>
            <a:r>
              <a:rPr lang="en-US" altLang="zh-CN" sz="2400" dirty="0" err="1"/>
              <a:t>kernel_size</a:t>
            </a:r>
            <a:r>
              <a:rPr lang="en-US" altLang="zh-CN" sz="2400" dirty="0"/>
              <a:t>=2, stride=2</a:t>
            </a:r>
            <a:r>
              <a:rPr lang="zh-CN" altLang="en-US" sz="2400" dirty="0"/>
              <a:t>时，其输出为：</a:t>
            </a:r>
            <a:endParaRPr lang="en-US" altLang="zh-CN" sz="2400" dirty="0"/>
          </a:p>
          <a:p>
            <a:pPr marL="0" indent="0">
              <a:buNone/>
            </a:pPr>
            <a:endParaRPr lang="en-US" altLang="zh-CN" sz="2400" dirty="0"/>
          </a:p>
          <a:p>
            <a:pPr marL="0" indent="0">
              <a:buNone/>
            </a:pPr>
            <a:r>
              <a:rPr lang="en-US" altLang="zh-CN" sz="2400" dirty="0"/>
              <a:t>output={5,6,8,9,14,15,17,18}</a:t>
            </a:r>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32</a:t>
            </a:fld>
            <a:endParaRPr lang="zh-CN" altLang="en-US">
              <a:solidFill>
                <a:prstClr val="black">
                  <a:tint val="75000"/>
                </a:prstClr>
              </a:solidFill>
            </a:endParaRPr>
          </a:p>
        </p:txBody>
      </p:sp>
      <p:pic>
        <p:nvPicPr>
          <p:cNvPr id="6" name="Picture 3" descr="1-Pag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693" y="3108922"/>
            <a:ext cx="5179797" cy="333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编程接口</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Task3</a:t>
            </a:r>
            <a:r>
              <a:rPr lang="zh-CN" altLang="en-US" dirty="0"/>
              <a:t>： </a:t>
            </a:r>
            <a:r>
              <a:rPr lang="en-US" altLang="zh-CN" dirty="0" err="1"/>
              <a:t>Upsample</a:t>
            </a:r>
            <a:r>
              <a:rPr lang="zh-CN" altLang="en-US" dirty="0"/>
              <a:t>的前向传播</a:t>
            </a:r>
            <a:endParaRPr lang="en-US" altLang="zh-CN" dirty="0"/>
          </a:p>
          <a:p>
            <a:pPr marL="0" indent="0">
              <a:buNone/>
            </a:pPr>
            <a:r>
              <a:rPr lang="en-US" altLang="zh-CN" sz="2000" dirty="0">
                <a:solidFill>
                  <a:srgbClr val="0070C0"/>
                </a:solidFill>
                <a:latin typeface="Consolas" panose="020B0609020204030204" pitchFamily="49" charset="0"/>
              </a:rPr>
              <a:t>void</a:t>
            </a:r>
            <a:r>
              <a:rPr lang="en-US" altLang="zh-CN" sz="2000" dirty="0">
                <a:latin typeface="Consolas" panose="020B0609020204030204" pitchFamily="49" charset="0"/>
              </a:rPr>
              <a:t> </a:t>
            </a:r>
            <a:r>
              <a:rPr lang="en-US" altLang="zh-CN" sz="2000" dirty="0" err="1">
                <a:solidFill>
                  <a:srgbClr val="FF0000"/>
                </a:solidFill>
                <a:latin typeface="Consolas" panose="020B0609020204030204" pitchFamily="49" charset="0"/>
              </a:rPr>
              <a:t>upsample_compute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a:t>
            </a:r>
            <a:r>
              <a:rPr lang="en-US" altLang="zh-CN" sz="2000" dirty="0" err="1">
                <a:solidFill>
                  <a:srgbClr val="0070C0"/>
                </a:solidFill>
                <a:latin typeface="Consolas" panose="020B0609020204030204" pitchFamily="49" charset="0"/>
              </a:rPr>
              <a:t>layer_params</a:t>
            </a:r>
            <a:r>
              <a:rPr lang="en-US" altLang="zh-CN" sz="2000" dirty="0">
                <a:latin typeface="Consolas" panose="020B0609020204030204" pitchFamily="49" charset="0"/>
              </a:rPr>
              <a:t> </a:t>
            </a:r>
            <a:r>
              <a:rPr lang="en-US" altLang="zh-CN" sz="2000" dirty="0">
                <a:solidFill>
                  <a:srgbClr val="0070C0"/>
                </a:solidFill>
                <a:latin typeface="Consolas" panose="020B0609020204030204" pitchFamily="49" charset="0"/>
              </a:rPr>
              <a:t>para</a:t>
            </a:r>
            <a:r>
              <a:rPr lang="en-US" altLang="zh-CN" sz="2000" dirty="0">
                <a:latin typeface="Consolas" panose="020B0609020204030204" pitchFamily="49" charset="0"/>
              </a:rPr>
              <a: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input, </a:t>
            </a: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output);</a:t>
            </a:r>
          </a:p>
          <a:p>
            <a:pPr marL="0" indent="0">
              <a:buNone/>
            </a:pPr>
            <a:r>
              <a:rPr lang="en-US" altLang="zh-CN" dirty="0"/>
              <a:t>	</a:t>
            </a:r>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33</a:t>
            </a:fld>
            <a:endParaRPr lang="zh-CN" altLang="en-US">
              <a:solidFill>
                <a:prstClr val="black">
                  <a:tint val="75000"/>
                </a:prstClr>
              </a:solidFill>
            </a:endParaRPr>
          </a:p>
        </p:txBody>
      </p:sp>
      <p:pic>
        <p:nvPicPr>
          <p:cNvPr id="7" name="图片 6"/>
          <p:cNvPicPr>
            <a:picLocks noChangeAspect="1"/>
          </p:cNvPicPr>
          <p:nvPr/>
        </p:nvPicPr>
        <p:blipFill>
          <a:blip r:embed="rId3"/>
          <a:stretch>
            <a:fillRect/>
          </a:stretch>
        </p:blipFill>
        <p:spPr>
          <a:xfrm>
            <a:off x="1944158" y="3129437"/>
            <a:ext cx="8633321" cy="241022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编程接口</a:t>
            </a:r>
          </a:p>
        </p:txBody>
      </p:sp>
      <p:sp>
        <p:nvSpPr>
          <p:cNvPr id="3" name="内容占位符 2"/>
          <p:cNvSpPr>
            <a:spLocks noGrp="1"/>
          </p:cNvSpPr>
          <p:nvPr>
            <p:ph idx="1"/>
          </p:nvPr>
        </p:nvSpPr>
        <p:spPr>
          <a:xfrm>
            <a:off x="989845" y="1721462"/>
            <a:ext cx="9787645" cy="4351338"/>
          </a:xfrm>
        </p:spPr>
        <p:txBody>
          <a:bodyPr>
            <a:normAutofit fontScale="25000" lnSpcReduction="20000"/>
          </a:bodyPr>
          <a:lstStyle/>
          <a:p>
            <a:r>
              <a:rPr lang="en-US" altLang="zh-CN" sz="11200" dirty="0"/>
              <a:t>Task3</a:t>
            </a:r>
            <a:r>
              <a:rPr lang="zh-CN" altLang="en-US" sz="11200" dirty="0"/>
              <a:t>： </a:t>
            </a:r>
            <a:r>
              <a:rPr lang="en-US" altLang="zh-CN" sz="11200" dirty="0" err="1"/>
              <a:t>Upsample</a:t>
            </a:r>
            <a:r>
              <a:rPr lang="zh-CN" altLang="en-US" sz="11200" dirty="0"/>
              <a:t>的前向传播</a:t>
            </a:r>
            <a:endParaRPr lang="en-US" altLang="zh-CN" sz="11200" dirty="0"/>
          </a:p>
          <a:p>
            <a:pPr marL="0" indent="0">
              <a:buNone/>
            </a:pPr>
            <a:r>
              <a:rPr lang="zh-CN" altLang="en-US" sz="9600" dirty="0"/>
              <a:t>例：</a:t>
            </a:r>
            <a:r>
              <a:rPr lang="en-US" altLang="zh-CN" sz="9600" dirty="0"/>
              <a:t>	</a:t>
            </a:r>
            <a:r>
              <a:rPr lang="zh-CN" altLang="en-US" sz="9600" dirty="0"/>
              <a:t>对右图，在</a:t>
            </a:r>
            <a:r>
              <a:rPr lang="en-US" altLang="zh-CN" sz="9600" dirty="0"/>
              <a:t>stride=2</a:t>
            </a:r>
            <a:r>
              <a:rPr lang="zh-CN" altLang="en-US" sz="9600" dirty="0"/>
              <a:t>时，其输出为：</a:t>
            </a:r>
            <a:endParaRPr lang="en-US" altLang="zh-CN" sz="9600" dirty="0"/>
          </a:p>
          <a:p>
            <a:pPr marL="0" indent="0">
              <a:buNone/>
            </a:pPr>
            <a:endParaRPr lang="en-US" altLang="zh-CN" sz="6200" dirty="0"/>
          </a:p>
          <a:p>
            <a:pPr marL="0" indent="0">
              <a:buNone/>
            </a:pPr>
            <a:r>
              <a:rPr lang="en-US" altLang="zh-CN" sz="8000" dirty="0"/>
              <a:t>output=</a:t>
            </a:r>
          </a:p>
          <a:p>
            <a:pPr marL="0" indent="0">
              <a:buNone/>
            </a:pPr>
            <a:r>
              <a:rPr lang="en-US" altLang="zh-CN" sz="8000" dirty="0"/>
              <a:t>{1,1,2,2,3,3,1,1,2,2,3,3, \</a:t>
            </a:r>
          </a:p>
          <a:p>
            <a:pPr marL="0" indent="0">
              <a:buNone/>
            </a:pPr>
            <a:r>
              <a:rPr lang="en-US" altLang="zh-CN" sz="8000" dirty="0"/>
              <a:t>4,4,5,5,6,6,4,4,5,5,6,6, \</a:t>
            </a:r>
          </a:p>
          <a:p>
            <a:pPr marL="0" indent="0">
              <a:buNone/>
            </a:pPr>
            <a:r>
              <a:rPr lang="en-US" altLang="zh-CN" sz="8000" dirty="0"/>
              <a:t>7,7,8,8,9,9,7,7,8,8,9,9,10,10, \</a:t>
            </a:r>
          </a:p>
          <a:p>
            <a:pPr marL="0" indent="0">
              <a:buNone/>
            </a:pPr>
            <a:r>
              <a:rPr lang="en-US" altLang="zh-CN" sz="8000" dirty="0"/>
              <a:t>11,11,12,12,10,10,11,11,12,12, \</a:t>
            </a:r>
          </a:p>
          <a:p>
            <a:pPr marL="0" indent="0">
              <a:buNone/>
            </a:pPr>
            <a:r>
              <a:rPr lang="en-US" altLang="zh-CN" sz="8000" dirty="0"/>
              <a:t>13,13,14,14,15,15, 13,13,14,14, \</a:t>
            </a:r>
          </a:p>
          <a:p>
            <a:pPr marL="0" indent="0">
              <a:buNone/>
            </a:pPr>
            <a:r>
              <a:rPr lang="en-US" altLang="zh-CN" sz="8000" dirty="0"/>
              <a:t>15,15,16,16,17,17,18,18, \</a:t>
            </a:r>
          </a:p>
          <a:p>
            <a:pPr marL="0" indent="0">
              <a:buNone/>
            </a:pPr>
            <a:r>
              <a:rPr lang="en-US" altLang="zh-CN" sz="8000" dirty="0"/>
              <a:t>16,16,17,17,18,18}</a:t>
            </a:r>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34</a:t>
            </a:fld>
            <a:endParaRPr lang="zh-CN" altLang="en-US">
              <a:solidFill>
                <a:prstClr val="black">
                  <a:tint val="75000"/>
                </a:prstClr>
              </a:solidFill>
            </a:endParaRPr>
          </a:p>
        </p:txBody>
      </p:sp>
      <p:pic>
        <p:nvPicPr>
          <p:cNvPr id="6" name="Picture 3" descr="1-Pag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693" y="3108922"/>
            <a:ext cx="5179797" cy="333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编程接口</a:t>
            </a:r>
          </a:p>
        </p:txBody>
      </p:sp>
      <p:sp>
        <p:nvSpPr>
          <p:cNvPr id="3" name="内容占位符 2"/>
          <p:cNvSpPr>
            <a:spLocks noGrp="1"/>
          </p:cNvSpPr>
          <p:nvPr>
            <p:ph idx="1"/>
          </p:nvPr>
        </p:nvSpPr>
        <p:spPr>
          <a:xfrm>
            <a:off x="989845" y="1721462"/>
            <a:ext cx="9787645" cy="4351338"/>
          </a:xfrm>
        </p:spPr>
        <p:txBody>
          <a:bodyPr>
            <a:normAutofit/>
          </a:bodyPr>
          <a:lstStyle/>
          <a:p>
            <a:r>
              <a:rPr lang="en-US" altLang="zh-CN" dirty="0"/>
              <a:t>Task4</a:t>
            </a:r>
            <a:r>
              <a:rPr lang="zh-CN" altLang="en-US" dirty="0"/>
              <a:t>： </a:t>
            </a:r>
            <a:r>
              <a:rPr lang="en-US" altLang="zh-CN" dirty="0"/>
              <a:t>IOU</a:t>
            </a:r>
            <a:r>
              <a:rPr lang="zh-CN" altLang="en-US" dirty="0"/>
              <a:t>计算</a:t>
            </a:r>
            <a:endParaRPr lang="en-US" altLang="zh-CN" dirty="0"/>
          </a:p>
          <a:p>
            <a:pPr marL="0" indent="0">
              <a:buNone/>
            </a:pPr>
            <a:r>
              <a:rPr lang="en-US" altLang="zh-CN" sz="2000" dirty="0">
                <a:solidFill>
                  <a:srgbClr val="0070C0"/>
                </a:solidFill>
                <a:latin typeface="Consolas" panose="020B0609020204030204" pitchFamily="49" charset="0"/>
              </a:rPr>
              <a:t>float</a:t>
            </a:r>
            <a:r>
              <a:rPr lang="en-US" altLang="zh-CN" sz="2000" dirty="0">
                <a:latin typeface="Consolas" panose="020B0609020204030204" pitchFamily="49" charset="0"/>
              </a:rPr>
              <a:t> </a:t>
            </a:r>
            <a:r>
              <a:rPr lang="en-US" altLang="zh-CN" sz="2000" dirty="0" err="1">
                <a:solidFill>
                  <a:srgbClr val="FF0000"/>
                </a:solidFill>
                <a:latin typeface="Consolas" panose="020B0609020204030204" pitchFamily="49" charset="0"/>
              </a:rPr>
              <a:t>iou_compute</a:t>
            </a:r>
            <a:r>
              <a:rPr lang="en-US" altLang="zh-CN" sz="2000" dirty="0">
                <a:latin typeface="Consolas" panose="020B0609020204030204" pitchFamily="49" charset="0"/>
              </a:rPr>
              <a:t> (</a:t>
            </a:r>
            <a:r>
              <a:rPr lang="en-US" altLang="zh-CN" sz="2000" dirty="0" err="1">
                <a:solidFill>
                  <a:srgbClr val="0070C0"/>
                </a:solidFill>
                <a:latin typeface="Consolas" panose="020B0609020204030204" pitchFamily="49" charset="0"/>
              </a:rPr>
              <a:t>rectangle_box</a:t>
            </a:r>
            <a:r>
              <a:rPr lang="en-US" altLang="zh-CN" sz="2000" dirty="0">
                <a:solidFill>
                  <a:srgbClr val="0070C0"/>
                </a:solidFill>
                <a:latin typeface="Consolas" panose="020B0609020204030204" pitchFamily="49" charset="0"/>
              </a:rPr>
              <a:t> </a:t>
            </a:r>
            <a:r>
              <a:rPr lang="en-US" altLang="zh-CN" sz="2000" dirty="0">
                <a:latin typeface="Consolas" panose="020B0609020204030204" pitchFamily="49" charset="0"/>
              </a:rPr>
              <a:t>A, </a:t>
            </a:r>
            <a:r>
              <a:rPr lang="en-US" altLang="zh-CN" sz="2000" dirty="0" err="1">
                <a:solidFill>
                  <a:srgbClr val="0070C0"/>
                </a:solidFill>
                <a:latin typeface="Consolas" panose="020B0609020204030204" pitchFamily="49" charset="0"/>
              </a:rPr>
              <a:t>rectangle_box</a:t>
            </a:r>
            <a:r>
              <a:rPr lang="en-US" altLang="zh-CN" sz="2000" dirty="0">
                <a:solidFill>
                  <a:srgbClr val="0070C0"/>
                </a:solidFill>
                <a:latin typeface="Consolas" panose="020B0609020204030204" pitchFamily="49" charset="0"/>
              </a:rPr>
              <a:t> </a:t>
            </a:r>
            <a:r>
              <a:rPr lang="en-US" altLang="zh-CN" sz="2000" dirty="0">
                <a:latin typeface="Consolas" panose="020B0609020204030204" pitchFamily="49" charset="0"/>
              </a:rPr>
              <a:t>B);</a:t>
            </a:r>
          </a:p>
          <a:p>
            <a:pPr marL="0" indent="0">
              <a:buNone/>
            </a:pPr>
            <a:r>
              <a:rPr lang="en-US" altLang="zh-CN" dirty="0"/>
              <a:t>	</a:t>
            </a:r>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sz="2400" dirty="0" err="1"/>
              <a:t>x,y</a:t>
            </a:r>
            <a:r>
              <a:rPr lang="en-US" altLang="zh-CN" sz="2400" dirty="0"/>
              <a:t>: </a:t>
            </a:r>
            <a:r>
              <a:rPr lang="zh-CN" altLang="en-US" sz="2400" dirty="0"/>
              <a:t>矩形框中心点坐标</a:t>
            </a:r>
            <a:endParaRPr lang="en-US" altLang="zh-CN" sz="2400" dirty="0"/>
          </a:p>
          <a:p>
            <a:pPr marL="0" indent="0">
              <a:buNone/>
            </a:pPr>
            <a:r>
              <a:rPr lang="en-US" altLang="zh-CN" sz="2400" dirty="0" err="1"/>
              <a:t>w,h</a:t>
            </a:r>
            <a:r>
              <a:rPr lang="zh-CN" altLang="en-US" sz="2400" dirty="0"/>
              <a:t>：矩形框的宽和高</a:t>
            </a:r>
            <a:endParaRPr lang="en-US" altLang="zh-CN" sz="2400" dirty="0"/>
          </a:p>
          <a:p>
            <a:pPr marL="0" indent="0">
              <a:buNone/>
            </a:pPr>
            <a:r>
              <a:rPr lang="en-US" altLang="zh-CN" dirty="0"/>
              <a:t>	</a:t>
            </a:r>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35</a:t>
            </a:fld>
            <a:endParaRPr lang="zh-CN" altLang="en-US">
              <a:solidFill>
                <a:prstClr val="black">
                  <a:tint val="75000"/>
                </a:prstClr>
              </a:solidFill>
            </a:endParaRPr>
          </a:p>
        </p:txBody>
      </p:sp>
      <p:pic>
        <p:nvPicPr>
          <p:cNvPr id="5" name="图片 4"/>
          <p:cNvPicPr>
            <a:picLocks noChangeAspect="1"/>
          </p:cNvPicPr>
          <p:nvPr/>
        </p:nvPicPr>
        <p:blipFill>
          <a:blip r:embed="rId3"/>
          <a:stretch>
            <a:fillRect/>
          </a:stretch>
        </p:blipFill>
        <p:spPr>
          <a:xfrm>
            <a:off x="1042238" y="2938115"/>
            <a:ext cx="9682857" cy="154510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编译运行</a:t>
            </a:r>
          </a:p>
        </p:txBody>
      </p:sp>
      <p:sp>
        <p:nvSpPr>
          <p:cNvPr id="3" name="内容占位符 2"/>
          <p:cNvSpPr>
            <a:spLocks noGrp="1"/>
          </p:cNvSpPr>
          <p:nvPr>
            <p:ph idx="1"/>
          </p:nvPr>
        </p:nvSpPr>
        <p:spPr>
          <a:xfrm>
            <a:off x="989845" y="1721462"/>
            <a:ext cx="9787645" cy="4351338"/>
          </a:xfrm>
        </p:spPr>
        <p:txBody>
          <a:bodyPr>
            <a:normAutofit/>
          </a:bodyPr>
          <a:lstStyle/>
          <a:p>
            <a:r>
              <a:rPr lang="zh-CN" altLang="zh-CN" dirty="0"/>
              <a:t>在项目的</a:t>
            </a:r>
            <a:r>
              <a:rPr lang="en-US" altLang="zh-CN" dirty="0"/>
              <a:t>work/</a:t>
            </a:r>
            <a:r>
              <a:rPr lang="zh-CN" altLang="zh-CN" dirty="0"/>
              <a:t>目录下已经存放了一个写好的</a:t>
            </a:r>
            <a:r>
              <a:rPr lang="en-US" altLang="zh-CN" dirty="0" err="1"/>
              <a:t>Makefile</a:t>
            </a:r>
            <a:r>
              <a:rPr lang="zh-CN" altLang="zh-CN" dirty="0"/>
              <a:t>，正常情况下使用</a:t>
            </a:r>
            <a:r>
              <a:rPr lang="en-US" altLang="zh-CN" dirty="0"/>
              <a:t>make</a:t>
            </a:r>
            <a:r>
              <a:rPr lang="zh-CN" altLang="zh-CN" dirty="0"/>
              <a:t>命令即可完成编译。注意</a:t>
            </a:r>
            <a:r>
              <a:rPr lang="en-US" altLang="zh-CN" dirty="0" err="1"/>
              <a:t>Makefile</a:t>
            </a:r>
            <a:r>
              <a:rPr lang="zh-CN" altLang="zh-CN" dirty="0"/>
              <a:t>中</a:t>
            </a:r>
            <a:r>
              <a:rPr lang="zh-CN" altLang="en-US" dirty="0"/>
              <a:t>用到了</a:t>
            </a:r>
            <a:r>
              <a:rPr lang="en-US" altLang="zh-CN" dirty="0"/>
              <a:t>RISC-V</a:t>
            </a:r>
            <a:r>
              <a:rPr lang="zh-CN" altLang="zh-CN" dirty="0"/>
              <a:t>工具链，必要情况下可以根据自己的情况对工具链的路径和版本进行指定。</a:t>
            </a:r>
            <a:endParaRPr lang="en-US" altLang="zh-CN" dirty="0"/>
          </a:p>
          <a:p>
            <a:r>
              <a:rPr lang="zh-CN" altLang="en-US" dirty="0"/>
              <a:t>将项目拷贝进</a:t>
            </a:r>
            <a:r>
              <a:rPr lang="en-US" altLang="zh-CN" dirty="0"/>
              <a:t>RISC-V QEMU</a:t>
            </a:r>
            <a:r>
              <a:rPr lang="zh-CN" altLang="en-US" dirty="0"/>
              <a:t>上的</a:t>
            </a:r>
            <a:r>
              <a:rPr lang="en-US" altLang="zh-CN" dirty="0"/>
              <a:t>Linux</a:t>
            </a:r>
            <a:r>
              <a:rPr lang="zh-CN" altLang="en-US" dirty="0"/>
              <a:t>文件系统，运行</a:t>
            </a:r>
            <a:r>
              <a:rPr lang="en-US" altLang="zh-CN" dirty="0" err="1"/>
              <a:t>yolo_test_riscv</a:t>
            </a:r>
            <a:r>
              <a:rPr lang="zh-CN" altLang="en-US" dirty="0"/>
              <a:t>即可在</a:t>
            </a:r>
            <a:r>
              <a:rPr lang="en-US" altLang="zh-CN" dirty="0"/>
              <a:t>QEMU</a:t>
            </a:r>
            <a:r>
              <a:rPr lang="zh-CN" altLang="en-US" dirty="0"/>
              <a:t>虚拟环境中进行测试。</a:t>
            </a:r>
            <a:endParaRPr lang="en-US" altLang="zh-CN" dirty="0"/>
          </a:p>
          <a:p>
            <a:r>
              <a:rPr lang="zh-CN" altLang="zh-CN" dirty="0"/>
              <a:t>运行</a:t>
            </a:r>
            <a:r>
              <a:rPr lang="en-US" altLang="zh-CN" dirty="0"/>
              <a:t>QEMU</a:t>
            </a:r>
            <a:r>
              <a:rPr lang="zh-CN" altLang="zh-CN" dirty="0"/>
              <a:t>时，请注意用</a:t>
            </a:r>
            <a:r>
              <a:rPr lang="en-US" altLang="zh-CN" dirty="0"/>
              <a:t>-m</a:t>
            </a:r>
            <a:r>
              <a:rPr lang="zh-CN" altLang="zh-CN" dirty="0"/>
              <a:t>选项和</a:t>
            </a:r>
            <a:r>
              <a:rPr lang="en-US" altLang="zh-CN" dirty="0"/>
              <a:t>-</a:t>
            </a:r>
            <a:r>
              <a:rPr lang="en-US" altLang="zh-CN" dirty="0" err="1"/>
              <a:t>smp</a:t>
            </a:r>
            <a:r>
              <a:rPr lang="zh-CN" altLang="zh-CN" dirty="0"/>
              <a:t>选项为</a:t>
            </a:r>
            <a:r>
              <a:rPr lang="en-US" altLang="zh-CN" dirty="0"/>
              <a:t>QEMU</a:t>
            </a:r>
            <a:r>
              <a:rPr lang="zh-CN" altLang="zh-CN" dirty="0"/>
              <a:t>分配足够的系统资源，否则</a:t>
            </a:r>
            <a:r>
              <a:rPr lang="en-US" altLang="zh-CN" dirty="0"/>
              <a:t>YOLO</a:t>
            </a:r>
            <a:r>
              <a:rPr lang="zh-CN" altLang="zh-CN" dirty="0"/>
              <a:t>可能无法正常运行</a:t>
            </a:r>
            <a:r>
              <a:rPr lang="zh-CN" altLang="en-US" dirty="0"/>
              <a:t>。</a:t>
            </a:r>
            <a:endParaRPr lang="zh-CN" altLang="zh-CN" dirty="0"/>
          </a:p>
        </p:txBody>
      </p:sp>
      <p:sp>
        <p:nvSpPr>
          <p:cNvPr id="4" name="灯片编号占位符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t>36</a:t>
            </a:fld>
            <a:endParaRPr lang="zh-CN" altLang="en-US">
              <a:solidFill>
                <a:prstClr val="black">
                  <a:tint val="75000"/>
                </a:prstClr>
              </a:solidFill>
            </a:endParaRPr>
          </a:p>
        </p:txBody>
      </p:sp>
    </p:spTree>
  </p:cSld>
  <p:clrMapOvr>
    <a:masterClrMapping/>
  </p:clrMapOvr>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973</TotalTime>
  <Words>2994</Words>
  <Application>Microsoft Office PowerPoint</Application>
  <PresentationFormat>宽屏</PresentationFormat>
  <Paragraphs>323</Paragraphs>
  <Slides>36</Slides>
  <Notes>29</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36</vt:i4>
      </vt:variant>
    </vt:vector>
  </HeadingPairs>
  <TitlesOfParts>
    <vt:vector size="44" baseType="lpstr">
      <vt:lpstr>sans-serif</vt:lpstr>
      <vt:lpstr>等线</vt:lpstr>
      <vt:lpstr>微软雅黑</vt:lpstr>
      <vt:lpstr>Arial</vt:lpstr>
      <vt:lpstr>Cambria Math</vt:lpstr>
      <vt:lpstr>Consolas</vt:lpstr>
      <vt:lpstr>webwppDefTheme</vt:lpstr>
      <vt:lpstr>Office 主题​​</vt:lpstr>
      <vt:lpstr>QEMU上运行YOLO算法</vt:lpstr>
      <vt:lpstr>目录</vt:lpstr>
      <vt:lpstr>一、算法介绍</vt:lpstr>
      <vt:lpstr>目标检测算法</vt:lpstr>
      <vt:lpstr>目标检测算法</vt:lpstr>
      <vt:lpstr>目标检测算法</vt:lpstr>
      <vt:lpstr>目标检测算法</vt:lpstr>
      <vt:lpstr>YOLO算法的基本特点</vt:lpstr>
      <vt:lpstr>目标检测算法</vt:lpstr>
      <vt:lpstr>YOLO算法的演进</vt:lpstr>
      <vt:lpstr>YOLO算法的演进</vt:lpstr>
      <vt:lpstr>YOLO的基本流程</vt:lpstr>
      <vt:lpstr>非极大抑制算法（NMS）</vt:lpstr>
      <vt:lpstr>YOLO的边框预测</vt:lpstr>
      <vt:lpstr>Darknet网络结构</vt:lpstr>
      <vt:lpstr>YOLOv3：卷积层</vt:lpstr>
      <vt:lpstr>YOLOv3：卷积层</vt:lpstr>
      <vt:lpstr>YOLOv3：卷积层</vt:lpstr>
      <vt:lpstr>YOLOv3：最大池化层</vt:lpstr>
      <vt:lpstr>YOLOv3：上采样层</vt:lpstr>
      <vt:lpstr>YOLOv3：捷径层</vt:lpstr>
      <vt:lpstr>YOLOv3：路由层</vt:lpstr>
      <vt:lpstr>YOLOv3：YOLO层</vt:lpstr>
      <vt:lpstr>YOLOv3-tiny</vt:lpstr>
      <vt:lpstr>项目框架</vt:lpstr>
      <vt:lpstr>项目框架</vt:lpstr>
      <vt:lpstr>项目框架</vt:lpstr>
      <vt:lpstr>编程说明</vt:lpstr>
      <vt:lpstr>编程说明</vt:lpstr>
      <vt:lpstr>编程接口</vt:lpstr>
      <vt:lpstr>编程接口</vt:lpstr>
      <vt:lpstr>编程接口</vt:lpstr>
      <vt:lpstr>编程接口</vt:lpstr>
      <vt:lpstr>编程接口</vt:lpstr>
      <vt:lpstr>编程接口</vt:lpstr>
      <vt:lpstr>编译运行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QEMU上运行YOLO算法</dc:title>
  <dc:creator>刘 旭东</dc:creator>
  <cp:lastModifiedBy>ChenKaiqi</cp:lastModifiedBy>
  <cp:revision>25</cp:revision>
  <dcterms:created xsi:type="dcterms:W3CDTF">2020-11-03T12:56:19Z</dcterms:created>
  <dcterms:modified xsi:type="dcterms:W3CDTF">2025-03-20T12:05:51Z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