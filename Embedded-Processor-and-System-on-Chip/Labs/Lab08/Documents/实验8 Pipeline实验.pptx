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2" r:id="rId5"/>
    <p:sldId id="280" r:id="rId6"/>
    <p:sldId id="281" r:id="rId7"/>
    <p:sldId id="282" r:id="rId8"/>
    <p:sldId id="283" r:id="rId9"/>
    <p:sldId id="284" r:id="rId10"/>
    <p:sldId id="285" r:id="rId11"/>
    <p:sldId id="286" r:id="rId12"/>
    <p:sldId id="287" r:id="rId13"/>
    <p:sldId id="288" r:id="rId14"/>
    <p:sldId id="274" r:id="rId15"/>
    <p:sldId id="293" r:id="rId16"/>
    <p:sldId id="258" r:id="rId17"/>
    <p:sldId id="260" r:id="rId18"/>
    <p:sldId id="267"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76" d="100"/>
          <a:sy n="76" d="100"/>
        </p:scale>
        <p:origin x="102"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379ea384f285cb02" providerId="LiveId" clId="{B27293A8-8AAC-4AE1-8332-B7F3AF61852B}"/>
    <pc:docChg chg="undo delSld modSld">
      <pc:chgData name="" userId="379ea384f285cb02" providerId="LiveId" clId="{B27293A8-8AAC-4AE1-8332-B7F3AF61852B}" dt="2021-04-29T10:09:50.672" v="210"/>
      <pc:docMkLst>
        <pc:docMk/>
      </pc:docMkLst>
      <pc:sldChg chg="modSp">
        <pc:chgData name="" userId="379ea384f285cb02" providerId="LiveId" clId="{B27293A8-8AAC-4AE1-8332-B7F3AF61852B}" dt="2021-04-29T10:03:40.044" v="3" actId="20577"/>
        <pc:sldMkLst>
          <pc:docMk/>
          <pc:sldMk cId="2093443036" sldId="257"/>
        </pc:sldMkLst>
        <pc:spChg chg="mod">
          <ac:chgData name="" userId="379ea384f285cb02" providerId="LiveId" clId="{B27293A8-8AAC-4AE1-8332-B7F3AF61852B}" dt="2021-04-29T10:03:40.044" v="3" actId="20577"/>
          <ac:spMkLst>
            <pc:docMk/>
            <pc:sldMk cId="2093443036" sldId="257"/>
            <ac:spMk id="3" creationId="{171028C1-EEA6-4D48-960A-0C3F2E15A5D6}"/>
          </ac:spMkLst>
        </pc:spChg>
      </pc:sldChg>
      <pc:sldChg chg="addSp modSp">
        <pc:chgData name="" userId="379ea384f285cb02" providerId="LiveId" clId="{B27293A8-8AAC-4AE1-8332-B7F3AF61852B}" dt="2021-04-29T10:07:08.311" v="83"/>
        <pc:sldMkLst>
          <pc:docMk/>
          <pc:sldMk cId="3560163637" sldId="258"/>
        </pc:sldMkLst>
        <pc:spChg chg="mod">
          <ac:chgData name="" userId="379ea384f285cb02" providerId="LiveId" clId="{B27293A8-8AAC-4AE1-8332-B7F3AF61852B}" dt="2021-04-29T10:07:08.311" v="83"/>
          <ac:spMkLst>
            <pc:docMk/>
            <pc:sldMk cId="3560163637" sldId="258"/>
            <ac:spMk id="3" creationId="{210F1BFE-51F6-447F-8582-2979424826ED}"/>
          </ac:spMkLst>
        </pc:spChg>
        <pc:picChg chg="add mod">
          <ac:chgData name="" userId="379ea384f285cb02" providerId="LiveId" clId="{B27293A8-8AAC-4AE1-8332-B7F3AF61852B}" dt="2021-04-29T10:06:37.900" v="64" actId="1076"/>
          <ac:picMkLst>
            <pc:docMk/>
            <pc:sldMk cId="3560163637" sldId="258"/>
            <ac:picMk id="4" creationId="{975ADB9D-362C-46A2-B95D-F4EE50821239}"/>
          </ac:picMkLst>
        </pc:picChg>
      </pc:sldChg>
      <pc:sldChg chg="delSp modSp del">
        <pc:chgData name="" userId="379ea384f285cb02" providerId="LiveId" clId="{B27293A8-8AAC-4AE1-8332-B7F3AF61852B}" dt="2021-04-29T10:06:33.724" v="63" actId="2696"/>
        <pc:sldMkLst>
          <pc:docMk/>
          <pc:sldMk cId="1090875562" sldId="259"/>
        </pc:sldMkLst>
        <pc:spChg chg="mod">
          <ac:chgData name="" userId="379ea384f285cb02" providerId="LiveId" clId="{B27293A8-8AAC-4AE1-8332-B7F3AF61852B}" dt="2021-04-29T10:06:16.840" v="59" actId="20577"/>
          <ac:spMkLst>
            <pc:docMk/>
            <pc:sldMk cId="1090875562" sldId="259"/>
            <ac:spMk id="3" creationId="{A58210FC-444D-4CE8-A028-52C8F2DEE2EB}"/>
          </ac:spMkLst>
        </pc:spChg>
        <pc:picChg chg="del">
          <ac:chgData name="" userId="379ea384f285cb02" providerId="LiveId" clId="{B27293A8-8AAC-4AE1-8332-B7F3AF61852B}" dt="2021-04-29T10:06:21.658" v="60"/>
          <ac:picMkLst>
            <pc:docMk/>
            <pc:sldMk cId="1090875562" sldId="259"/>
            <ac:picMk id="4" creationId="{6672CD80-8E29-44FB-9612-C869A7DE2E62}"/>
          </ac:picMkLst>
        </pc:picChg>
      </pc:sldChg>
      <pc:sldChg chg="del">
        <pc:chgData name="" userId="379ea384f285cb02" providerId="LiveId" clId="{B27293A8-8AAC-4AE1-8332-B7F3AF61852B}" dt="2021-04-29T10:04:26.642" v="11" actId="2696"/>
        <pc:sldMkLst>
          <pc:docMk/>
          <pc:sldMk cId="3113242137" sldId="263"/>
        </pc:sldMkLst>
      </pc:sldChg>
      <pc:sldChg chg="del">
        <pc:chgData name="" userId="379ea384f285cb02" providerId="LiveId" clId="{B27293A8-8AAC-4AE1-8332-B7F3AF61852B}" dt="2021-04-29T10:04:27.441" v="12" actId="2696"/>
        <pc:sldMkLst>
          <pc:docMk/>
          <pc:sldMk cId="1160733995" sldId="264"/>
        </pc:sldMkLst>
      </pc:sldChg>
      <pc:sldChg chg="del">
        <pc:chgData name="" userId="379ea384f285cb02" providerId="LiveId" clId="{B27293A8-8AAC-4AE1-8332-B7F3AF61852B}" dt="2021-04-29T10:04:28.230" v="13" actId="2696"/>
        <pc:sldMkLst>
          <pc:docMk/>
          <pc:sldMk cId="3180103830" sldId="265"/>
        </pc:sldMkLst>
      </pc:sldChg>
      <pc:sldChg chg="modSp">
        <pc:chgData name="" userId="379ea384f285cb02" providerId="LiveId" clId="{B27293A8-8AAC-4AE1-8332-B7F3AF61852B}" dt="2021-04-29T10:09:50.672" v="210"/>
        <pc:sldMkLst>
          <pc:docMk/>
          <pc:sldMk cId="3241706466" sldId="267"/>
        </pc:sldMkLst>
        <pc:spChg chg="mod">
          <ac:chgData name="" userId="379ea384f285cb02" providerId="LiveId" clId="{B27293A8-8AAC-4AE1-8332-B7F3AF61852B}" dt="2021-04-29T10:09:50.672" v="210"/>
          <ac:spMkLst>
            <pc:docMk/>
            <pc:sldMk cId="3241706466" sldId="267"/>
            <ac:spMk id="3" creationId="{711FDF76-DE5A-4F6E-9FCD-4E314039F616}"/>
          </ac:spMkLst>
        </pc:spChg>
      </pc:sldChg>
      <pc:sldChg chg="del">
        <pc:chgData name="" userId="379ea384f285cb02" providerId="LiveId" clId="{B27293A8-8AAC-4AE1-8332-B7F3AF61852B}" dt="2021-04-29T10:04:22.098" v="7" actId="2696"/>
        <pc:sldMkLst>
          <pc:docMk/>
          <pc:sldMk cId="2237323124" sldId="276"/>
        </pc:sldMkLst>
      </pc:sldChg>
      <pc:sldChg chg="del">
        <pc:chgData name="" userId="379ea384f285cb02" providerId="LiveId" clId="{B27293A8-8AAC-4AE1-8332-B7F3AF61852B}" dt="2021-04-29T10:04:23.033" v="8" actId="2696"/>
        <pc:sldMkLst>
          <pc:docMk/>
          <pc:sldMk cId="2667034026" sldId="277"/>
        </pc:sldMkLst>
      </pc:sldChg>
      <pc:sldChg chg="del">
        <pc:chgData name="" userId="379ea384f285cb02" providerId="LiveId" clId="{B27293A8-8AAC-4AE1-8332-B7F3AF61852B}" dt="2021-04-29T10:04:23.926" v="9" actId="2696"/>
        <pc:sldMkLst>
          <pc:docMk/>
          <pc:sldMk cId="2304151884" sldId="278"/>
        </pc:sldMkLst>
      </pc:sldChg>
      <pc:sldChg chg="del">
        <pc:chgData name="" userId="379ea384f285cb02" providerId="LiveId" clId="{B27293A8-8AAC-4AE1-8332-B7F3AF61852B}" dt="2021-04-29T10:04:24.741" v="10" actId="2696"/>
        <pc:sldMkLst>
          <pc:docMk/>
          <pc:sldMk cId="412618284" sldId="279"/>
        </pc:sldMkLst>
      </pc:sldChg>
      <pc:sldChg chg="del">
        <pc:chgData name="" userId="379ea384f285cb02" providerId="LiveId" clId="{B27293A8-8AAC-4AE1-8332-B7F3AF61852B}" dt="2021-04-29T10:03:54.067" v="4" actId="2696"/>
        <pc:sldMkLst>
          <pc:docMk/>
          <pc:sldMk cId="470415347" sldId="294"/>
        </pc:sldMkLst>
      </pc:sldChg>
      <pc:sldChg chg="del">
        <pc:chgData name="" userId="379ea384f285cb02" providerId="LiveId" clId="{B27293A8-8AAC-4AE1-8332-B7F3AF61852B}" dt="2021-04-29T10:03:55.431" v="5" actId="2696"/>
        <pc:sldMkLst>
          <pc:docMk/>
          <pc:sldMk cId="3851011369" sldId="295"/>
        </pc:sldMkLst>
      </pc:sldChg>
      <pc:sldChg chg="del">
        <pc:chgData name="" userId="379ea384f285cb02" providerId="LiveId" clId="{B27293A8-8AAC-4AE1-8332-B7F3AF61852B}" dt="2021-04-29T10:04:04.315" v="6" actId="2696"/>
        <pc:sldMkLst>
          <pc:docMk/>
          <pc:sldMk cId="2935505118" sldId="29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E5E28-8EFD-438E-BFE7-6D9355C8795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3294528-65F0-4556-9BD2-FC3224D0F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360CDD3-BA5E-4C2D-8669-4C14C513A79B}"/>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5" name="页脚占位符 4">
            <a:extLst>
              <a:ext uri="{FF2B5EF4-FFF2-40B4-BE49-F238E27FC236}">
                <a16:creationId xmlns:a16="http://schemas.microsoft.com/office/drawing/2014/main" id="{77E16D37-31BB-42BC-98C3-01131D4901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DD6EEF1-6014-4AA1-B223-9A6DEE92F7B9}"/>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701222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056011-BA88-4362-8561-AADE5E9DA6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EB879C-3B3C-4B20-B42E-D35FE4D5D7B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E8AED24-2E2E-44F5-9D73-E54876EAE8CC}"/>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5" name="页脚占位符 4">
            <a:extLst>
              <a:ext uri="{FF2B5EF4-FFF2-40B4-BE49-F238E27FC236}">
                <a16:creationId xmlns:a16="http://schemas.microsoft.com/office/drawing/2014/main" id="{D179B7C1-FF6C-43AB-A82D-D82D2D9D79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B7388C-3B6E-440E-8AE1-E5006D53132E}"/>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2183666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8AD623-2923-4E3E-A914-923FFDA06CB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18BE000-677F-4F3F-9814-8FD817B0B3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266C56A2-953E-4ADE-9617-481A2C7329B6}"/>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5" name="页脚占位符 4">
            <a:extLst>
              <a:ext uri="{FF2B5EF4-FFF2-40B4-BE49-F238E27FC236}">
                <a16:creationId xmlns:a16="http://schemas.microsoft.com/office/drawing/2014/main" id="{CEB43F2E-5C42-4583-B3A0-25700AF73E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8DDD72-9092-46A0-AF9D-83C561C26B37}"/>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2729476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B5505-AEC5-421D-A808-1FFC459BFE1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BAE89C8-A42A-4855-8200-FC0FC89FAD46}"/>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EBD69334-6314-4023-AD8E-1AA72C645B0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EAEA09D3-118D-415C-95FA-D519D43E6741}"/>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6" name="页脚占位符 5">
            <a:extLst>
              <a:ext uri="{FF2B5EF4-FFF2-40B4-BE49-F238E27FC236}">
                <a16:creationId xmlns:a16="http://schemas.microsoft.com/office/drawing/2014/main" id="{0BBD4F30-77E2-4781-B0DF-E55E8D3ED4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F7ABDF0-79F8-4D07-B97E-7583B22B68D6}"/>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2682922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9BCEB0-FFAD-4E0F-89C5-6871A9C71CE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66B6612-3313-481A-BBF8-82E5E74353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B0EA2B7F-32C2-41AB-978E-E3CC4F5BE227}"/>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4141B2B3-C92D-459D-9AD6-D16ADFDFFA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C00E39A-1E9B-42B9-AC08-0FC70094ECFF}"/>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5C04632-2A19-4B6A-A789-4DED5BAE96EB}"/>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8" name="页脚占位符 7">
            <a:extLst>
              <a:ext uri="{FF2B5EF4-FFF2-40B4-BE49-F238E27FC236}">
                <a16:creationId xmlns:a16="http://schemas.microsoft.com/office/drawing/2014/main" id="{F4244A9A-93E0-44AC-BA4A-ECDED225B93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7B72D5D-6BB3-461D-9159-78CF545DAD88}"/>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2984504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FE3844-4AFA-4E81-A73E-D3F5C965B11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FFB37CA-FD71-4F0A-8C4D-44AA23B5AE65}"/>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4" name="页脚占位符 3">
            <a:extLst>
              <a:ext uri="{FF2B5EF4-FFF2-40B4-BE49-F238E27FC236}">
                <a16:creationId xmlns:a16="http://schemas.microsoft.com/office/drawing/2014/main" id="{A464798E-7FE0-40B5-B113-52ED34E6F7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1BCC821-1987-4DAA-8FDC-F3CE2340B267}"/>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1071957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26AADBD-22DB-4A16-8543-0154B68D8EEE}"/>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3" name="页脚占位符 2">
            <a:extLst>
              <a:ext uri="{FF2B5EF4-FFF2-40B4-BE49-F238E27FC236}">
                <a16:creationId xmlns:a16="http://schemas.microsoft.com/office/drawing/2014/main" id="{B50B744A-358C-4FAF-9049-85AFC5CACD1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5C95C35-A9B8-4446-A55B-0251BEFC8C48}"/>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478051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4F5B0C-AD18-4954-8D40-73BD367CC89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09C4118-CAFE-4EBE-A5E2-1B81D40FC0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6A77242-31FB-4CEE-8AB8-A1D75C8162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D1E7A98-5166-4D1F-9650-138C7681F231}"/>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6" name="页脚占位符 5">
            <a:extLst>
              <a:ext uri="{FF2B5EF4-FFF2-40B4-BE49-F238E27FC236}">
                <a16:creationId xmlns:a16="http://schemas.microsoft.com/office/drawing/2014/main" id="{39F1BDBC-BEC9-47DE-9499-3FA013955F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F8FA23-5C21-4556-9C6F-85F4A6759CB7}"/>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1820144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82168-C1CE-4364-AB0E-3300D161170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2F4222-5537-45F6-B6A0-BEEAD38114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133D67B-F145-4E37-B5F5-1B32B5418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A8BFA51-EFE1-433F-A534-5325D472CAD7}"/>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6" name="页脚占位符 5">
            <a:extLst>
              <a:ext uri="{FF2B5EF4-FFF2-40B4-BE49-F238E27FC236}">
                <a16:creationId xmlns:a16="http://schemas.microsoft.com/office/drawing/2014/main" id="{964BD23B-9F82-4D2F-A3BF-09D36CC056C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C6B57A1-E474-4088-AD11-1517D97B2C42}"/>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1568498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D0673-A4BA-4263-8324-3F2A0684102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17DE9C8-CBE2-43F7-8928-4EB6D8016C47}"/>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63E7A74-2EAC-4F61-825C-B8CBB5A3A848}"/>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5" name="页脚占位符 4">
            <a:extLst>
              <a:ext uri="{FF2B5EF4-FFF2-40B4-BE49-F238E27FC236}">
                <a16:creationId xmlns:a16="http://schemas.microsoft.com/office/drawing/2014/main" id="{0006F8B4-8F8A-40FD-A68E-130D327C16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7B09A9-F2E4-46C6-9729-0E704075C0EE}"/>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2088303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3744D08-BBEF-43E7-BECE-6588EE0B5C8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B0CB491-6AD6-4AFE-A24B-98ADFC42EB3C}"/>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C54038A-F5DC-4F7B-8236-4EAD486A725C}"/>
              </a:ext>
            </a:extLst>
          </p:cNvPr>
          <p:cNvSpPr>
            <a:spLocks noGrp="1"/>
          </p:cNvSpPr>
          <p:nvPr>
            <p:ph type="dt" sz="half" idx="10"/>
          </p:nvPr>
        </p:nvSpPr>
        <p:spPr/>
        <p:txBody>
          <a:bodyPr/>
          <a:lstStyle/>
          <a:p>
            <a:fld id="{3CBC5DC7-DDCE-4D08-B5A7-55D42AB687EF}" type="datetimeFigureOut">
              <a:rPr lang="zh-CN" altLang="en-US" smtClean="0"/>
              <a:t>2023/4/18</a:t>
            </a:fld>
            <a:endParaRPr lang="zh-CN" altLang="en-US"/>
          </a:p>
        </p:txBody>
      </p:sp>
      <p:sp>
        <p:nvSpPr>
          <p:cNvPr id="5" name="页脚占位符 4">
            <a:extLst>
              <a:ext uri="{FF2B5EF4-FFF2-40B4-BE49-F238E27FC236}">
                <a16:creationId xmlns:a16="http://schemas.microsoft.com/office/drawing/2014/main" id="{21B0A85A-ABF6-4E91-B6D7-143D7506AE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731269A-32C4-44D7-83E7-F6172842DD26}"/>
              </a:ext>
            </a:extLst>
          </p:cNvPr>
          <p:cNvSpPr>
            <a:spLocks noGrp="1"/>
          </p:cNvSpPr>
          <p:nvPr>
            <p:ph type="sldNum" sz="quarter" idx="12"/>
          </p:nvPr>
        </p:nvSpPr>
        <p:spPr/>
        <p:txBody>
          <a:bodyPr/>
          <a:lstStyle/>
          <a:p>
            <a:fld id="{155388AC-AAE0-44E9-8EF0-F0A304C15CAE}" type="slidenum">
              <a:rPr lang="zh-CN" altLang="en-US" smtClean="0"/>
              <a:t>‹#›</a:t>
            </a:fld>
            <a:endParaRPr lang="zh-CN" altLang="en-US"/>
          </a:p>
        </p:txBody>
      </p:sp>
    </p:spTree>
    <p:extLst>
      <p:ext uri="{BB962C8B-B14F-4D97-AF65-F5344CB8AC3E}">
        <p14:creationId xmlns:p14="http://schemas.microsoft.com/office/powerpoint/2010/main" val="1373200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1C37687-5F61-4B20-93F4-66E3C6DD3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FB31A50E-F0BD-450E-A235-06C23A1C03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AC2749C7-3308-416C-936D-B424EC8781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3CBC5DC7-DDCE-4D08-B5A7-55D42AB687EF}" type="datetimeFigureOut">
              <a:rPr lang="zh-CN" altLang="en-US" smtClean="0"/>
              <a:pPr/>
              <a:t>2023/4/18</a:t>
            </a:fld>
            <a:endParaRPr lang="zh-CN" altLang="en-US" dirty="0"/>
          </a:p>
        </p:txBody>
      </p:sp>
      <p:sp>
        <p:nvSpPr>
          <p:cNvPr id="5" name="页脚占位符 4">
            <a:extLst>
              <a:ext uri="{FF2B5EF4-FFF2-40B4-BE49-F238E27FC236}">
                <a16:creationId xmlns:a16="http://schemas.microsoft.com/office/drawing/2014/main" id="{6BDD88C2-7C2E-4CE3-9E9E-11F33C427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a:extLst>
              <a:ext uri="{FF2B5EF4-FFF2-40B4-BE49-F238E27FC236}">
                <a16:creationId xmlns:a16="http://schemas.microsoft.com/office/drawing/2014/main" id="{A9F24DCC-E3A5-4B46-9E19-F7BB92C3AA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155388AC-AAE0-44E9-8EF0-F0A304C15CAE}" type="slidenum">
              <a:rPr lang="zh-CN" altLang="en-US" smtClean="0"/>
              <a:pPr/>
              <a:t>‹#›</a:t>
            </a:fld>
            <a:endParaRPr lang="zh-CN" altLang="en-US" dirty="0"/>
          </a:p>
        </p:txBody>
      </p:sp>
    </p:spTree>
    <p:extLst>
      <p:ext uri="{BB962C8B-B14F-4D97-AF65-F5344CB8AC3E}">
        <p14:creationId xmlns:p14="http://schemas.microsoft.com/office/powerpoint/2010/main" val="3441668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66B87A-C1C4-4398-8873-A04708F06002}"/>
              </a:ext>
            </a:extLst>
          </p:cNvPr>
          <p:cNvSpPr>
            <a:spLocks noGrp="1"/>
          </p:cNvSpPr>
          <p:nvPr>
            <p:ph type="ctrTitle"/>
          </p:nvPr>
        </p:nvSpPr>
        <p:spPr/>
        <p:txBody>
          <a:bodyPr/>
          <a:lstStyle/>
          <a:p>
            <a:r>
              <a:rPr lang="en-US" altLang="zh-CN" dirty="0"/>
              <a:t>Pipeline</a:t>
            </a:r>
            <a:r>
              <a:rPr lang="zh-CN" altLang="en-US" dirty="0"/>
              <a:t>实验</a:t>
            </a:r>
          </a:p>
        </p:txBody>
      </p:sp>
      <p:sp>
        <p:nvSpPr>
          <p:cNvPr id="3" name="副标题 2">
            <a:extLst>
              <a:ext uri="{FF2B5EF4-FFF2-40B4-BE49-F238E27FC236}">
                <a16:creationId xmlns:a16="http://schemas.microsoft.com/office/drawing/2014/main" id="{497EDAAE-F24E-4899-95DD-1A75F105A720}"/>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1765446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5EFB6-C67E-4559-A9B8-29FE279E111E}"/>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目录</a:t>
            </a:r>
          </a:p>
        </p:txBody>
      </p:sp>
      <p:sp>
        <p:nvSpPr>
          <p:cNvPr id="3" name="内容占位符 2">
            <a:extLst>
              <a:ext uri="{FF2B5EF4-FFF2-40B4-BE49-F238E27FC236}">
                <a16:creationId xmlns:a16="http://schemas.microsoft.com/office/drawing/2014/main" id="{171028C1-EEA6-4D48-960A-0C3F2E15A5D6}"/>
              </a:ext>
            </a:extLst>
          </p:cNvPr>
          <p:cNvSpPr>
            <a:spLocks noGrp="1"/>
          </p:cNvSpPr>
          <p:nvPr>
            <p:ph idx="1"/>
          </p:nvPr>
        </p:nvSpPr>
        <p:spPr/>
        <p:txBody>
          <a:bodyPr/>
          <a:lstStyle/>
          <a:p>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一、分支预测</a:t>
            </a:r>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二、</a:t>
            </a:r>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对流水线的配置</a:t>
            </a:r>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三、实验步骤</a:t>
            </a:r>
            <a:endParaRPr lang="en-US" altLang="zh-CN"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93443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9B2339-2D9F-42F3-AC40-85AD27256423}"/>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Pipeline</a:t>
            </a:r>
            <a:r>
              <a:rPr lang="zh-CN" altLang="en-US" dirty="0">
                <a:latin typeface="黑体" panose="02010609060101010101" pitchFamily="49" charset="-122"/>
                <a:ea typeface="黑体" panose="02010609060101010101" pitchFamily="49" charset="-122"/>
              </a:rPr>
              <a:t>回顾和介绍</a:t>
            </a:r>
          </a:p>
        </p:txBody>
      </p:sp>
      <p:sp>
        <p:nvSpPr>
          <p:cNvPr id="3" name="内容占位符 2">
            <a:extLst>
              <a:ext uri="{FF2B5EF4-FFF2-40B4-BE49-F238E27FC236}">
                <a16:creationId xmlns:a16="http://schemas.microsoft.com/office/drawing/2014/main" id="{C713C6A5-73B6-47D4-8A1E-42BA727E4D26}"/>
              </a:ext>
            </a:extLst>
          </p:cNvPr>
          <p:cNvSpPr>
            <a:spLocks noGrp="1"/>
          </p:cNvSpPr>
          <p:nvPr>
            <p:ph idx="1"/>
          </p:nvPr>
        </p:nvSpPr>
        <p:spPr>
          <a:xfrm>
            <a:off x="838200" y="1825625"/>
            <a:ext cx="10515600" cy="4907684"/>
          </a:xfrm>
        </p:spPr>
        <p:txBody>
          <a:bodyPr>
            <a:normAutofit/>
          </a:bodyPr>
          <a:lstStyle/>
          <a:p>
            <a:r>
              <a:rPr lang="zh-CN" altLang="en-US" dirty="0">
                <a:latin typeface="黑体" panose="02010609060101010101" pitchFamily="49" charset="-122"/>
                <a:ea typeface="黑体" panose="02010609060101010101" pitchFamily="49" charset="-122"/>
              </a:rPr>
              <a:t>流水线</a:t>
            </a:r>
            <a:r>
              <a:rPr lang="en-US" altLang="zh-CN" dirty="0">
                <a:latin typeface="黑体" panose="02010609060101010101" pitchFamily="49" charset="-122"/>
                <a:ea typeface="黑体" panose="02010609060101010101" pitchFamily="49" charset="-122"/>
              </a:rPr>
              <a:t>(Pipeline)</a:t>
            </a:r>
            <a:r>
              <a:rPr lang="zh-CN" altLang="en-US" dirty="0">
                <a:latin typeface="黑体" panose="02010609060101010101" pitchFamily="49" charset="-122"/>
                <a:ea typeface="黑体" panose="02010609060101010101" pitchFamily="49" charset="-122"/>
              </a:rPr>
              <a:t>是一种将多条指令重叠执行的实现技术。一条指令的执行需要多个操作，流水线技术充分利用了这些操作之间的并行性。目前，流水线已经成为了高速</a:t>
            </a:r>
            <a:r>
              <a:rPr lang="en-US" altLang="zh-CN" dirty="0">
                <a:latin typeface="黑体" panose="02010609060101010101" pitchFamily="49" charset="-122"/>
                <a:ea typeface="黑体" panose="02010609060101010101" pitchFamily="49" charset="-122"/>
              </a:rPr>
              <a:t>CPU</a:t>
            </a:r>
            <a:r>
              <a:rPr lang="zh-CN" altLang="en-US" dirty="0">
                <a:latin typeface="黑体" panose="02010609060101010101" pitchFamily="49" charset="-122"/>
                <a:ea typeface="黑体" panose="02010609060101010101" pitchFamily="49" charset="-122"/>
              </a:rPr>
              <a:t>中采用的关键技术。</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在计算机流水线中，流水线中的每个步骤完成指令的一部分。不同步骤并行完成不同指令的不同部分。这些步骤中的每一步都称为流水级或流水段。</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流水线能有效提高指令执行的吞吐率，吞吐率由指令退出流水线的频率所决定。</a:t>
            </a:r>
          </a:p>
        </p:txBody>
      </p:sp>
    </p:spTree>
    <p:extLst>
      <p:ext uri="{BB962C8B-B14F-4D97-AF65-F5344CB8AC3E}">
        <p14:creationId xmlns:p14="http://schemas.microsoft.com/office/powerpoint/2010/main" val="288966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68A1C9-B4A7-49AD-9E21-6CB5AF3D8DCB}"/>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RISC</a:t>
            </a:r>
            <a:r>
              <a:rPr lang="zh-CN" altLang="en-US" dirty="0">
                <a:latin typeface="黑体" panose="02010609060101010101" pitchFamily="49" charset="-122"/>
                <a:ea typeface="黑体" panose="02010609060101010101" pitchFamily="49" charset="-122"/>
              </a:rPr>
              <a:t>五级流水线</a:t>
            </a:r>
          </a:p>
        </p:txBody>
      </p:sp>
      <p:sp>
        <p:nvSpPr>
          <p:cNvPr id="3" name="内容占位符 2">
            <a:extLst>
              <a:ext uri="{FF2B5EF4-FFF2-40B4-BE49-F238E27FC236}">
                <a16:creationId xmlns:a16="http://schemas.microsoft.com/office/drawing/2014/main" id="{A22E278A-A112-42E6-85AC-29214CB3E005}"/>
              </a:ext>
            </a:extLst>
          </p:cNvPr>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一个简单的</a:t>
            </a:r>
            <a:r>
              <a:rPr lang="en-US" altLang="zh-CN" dirty="0">
                <a:latin typeface="黑体" panose="02010609060101010101" pitchFamily="49" charset="-122"/>
                <a:ea typeface="黑体" panose="02010609060101010101" pitchFamily="49" charset="-122"/>
              </a:rPr>
              <a:t>RISC</a:t>
            </a:r>
            <a:r>
              <a:rPr lang="zh-CN" altLang="en-US" dirty="0">
                <a:latin typeface="黑体" panose="02010609060101010101" pitchFamily="49" charset="-122"/>
                <a:ea typeface="黑体" panose="02010609060101010101" pitchFamily="49" charset="-122"/>
              </a:rPr>
              <a:t>五级流水线包括以下步骤：</a:t>
            </a:r>
            <a:endParaRPr lang="en-US" altLang="zh-CN" dirty="0">
              <a:latin typeface="黑体" panose="02010609060101010101" pitchFamily="49" charset="-122"/>
              <a:ea typeface="黑体" panose="02010609060101010101" pitchFamily="49" charset="-122"/>
            </a:endParaRPr>
          </a:p>
          <a:p>
            <a:pPr lvl="1"/>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、取指令周期</a:t>
            </a:r>
            <a:r>
              <a:rPr lang="en-US" altLang="zh-CN" dirty="0">
                <a:latin typeface="黑体" panose="02010609060101010101" pitchFamily="49" charset="-122"/>
                <a:ea typeface="黑体" panose="02010609060101010101" pitchFamily="49" charset="-122"/>
              </a:rPr>
              <a:t>(IF)</a:t>
            </a:r>
          </a:p>
          <a:p>
            <a:pPr lvl="1"/>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、指令译码</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读寄存器周期</a:t>
            </a:r>
            <a:r>
              <a:rPr lang="en-US" altLang="zh-CN" dirty="0">
                <a:latin typeface="黑体" panose="02010609060101010101" pitchFamily="49" charset="-122"/>
                <a:ea typeface="黑体" panose="02010609060101010101" pitchFamily="49" charset="-122"/>
              </a:rPr>
              <a:t>(ID)</a:t>
            </a:r>
          </a:p>
          <a:p>
            <a:pPr lvl="1"/>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、执行</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有效地址周期</a:t>
            </a:r>
            <a:r>
              <a:rPr lang="en-US" altLang="zh-CN" dirty="0">
                <a:latin typeface="黑体" panose="02010609060101010101" pitchFamily="49" charset="-122"/>
                <a:ea typeface="黑体" panose="02010609060101010101" pitchFamily="49" charset="-122"/>
              </a:rPr>
              <a:t>(EX)</a:t>
            </a:r>
          </a:p>
          <a:p>
            <a:pPr lvl="1"/>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、访问存储器</a:t>
            </a:r>
            <a:r>
              <a:rPr lang="en-US" altLang="zh-CN" dirty="0">
                <a:latin typeface="黑体" panose="02010609060101010101" pitchFamily="49" charset="-122"/>
                <a:ea typeface="黑体" panose="02010609060101010101" pitchFamily="49" charset="-122"/>
              </a:rPr>
              <a:t>(MEM)</a:t>
            </a:r>
          </a:p>
          <a:p>
            <a:pPr lvl="1"/>
            <a:r>
              <a:rPr lang="en-US" altLang="zh-CN" dirty="0">
                <a:latin typeface="黑体" panose="02010609060101010101" pitchFamily="49" charset="-122"/>
                <a:ea typeface="黑体" panose="02010609060101010101" pitchFamily="49" charset="-122"/>
              </a:rPr>
              <a:t>5</a:t>
            </a:r>
            <a:r>
              <a:rPr lang="zh-CN" altLang="en-US" dirty="0">
                <a:latin typeface="黑体" panose="02010609060101010101" pitchFamily="49" charset="-122"/>
                <a:ea typeface="黑体" panose="02010609060101010101" pitchFamily="49" charset="-122"/>
              </a:rPr>
              <a:t>、写回周期</a:t>
            </a:r>
            <a:r>
              <a:rPr lang="en-US" altLang="zh-CN" dirty="0">
                <a:latin typeface="黑体" panose="02010609060101010101" pitchFamily="49" charset="-122"/>
                <a:ea typeface="黑体" panose="02010609060101010101" pitchFamily="49" charset="-122"/>
              </a:rPr>
              <a:t>(WB)</a:t>
            </a:r>
            <a:endParaRPr lang="zh-CN" altLang="en-US" dirty="0">
              <a:latin typeface="黑体" panose="02010609060101010101" pitchFamily="49" charset="-122"/>
              <a:ea typeface="黑体" panose="02010609060101010101" pitchFamily="49" charset="-122"/>
            </a:endParaRPr>
          </a:p>
        </p:txBody>
      </p:sp>
      <p:pic>
        <p:nvPicPr>
          <p:cNvPr id="4" name="图片 3">
            <a:extLst>
              <a:ext uri="{FF2B5EF4-FFF2-40B4-BE49-F238E27FC236}">
                <a16:creationId xmlns:a16="http://schemas.microsoft.com/office/drawing/2014/main" id="{1126B4FE-F4B4-4AF7-977F-655FF3E2DA3B}"/>
              </a:ext>
            </a:extLst>
          </p:cNvPr>
          <p:cNvPicPr>
            <a:picLocks noChangeAspect="1"/>
          </p:cNvPicPr>
          <p:nvPr/>
        </p:nvPicPr>
        <p:blipFill>
          <a:blip r:embed="rId2"/>
          <a:stretch>
            <a:fillRect/>
          </a:stretch>
        </p:blipFill>
        <p:spPr>
          <a:xfrm>
            <a:off x="838200" y="4273078"/>
            <a:ext cx="8374085" cy="2219797"/>
          </a:xfrm>
          <a:prstGeom prst="rect">
            <a:avLst/>
          </a:prstGeom>
        </p:spPr>
      </p:pic>
    </p:spTree>
    <p:extLst>
      <p:ext uri="{BB962C8B-B14F-4D97-AF65-F5344CB8AC3E}">
        <p14:creationId xmlns:p14="http://schemas.microsoft.com/office/powerpoint/2010/main" val="1130745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A92B61-9E37-4071-8D27-AB68D660419D}"/>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流水线带来的性能提升</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ACBDE89-7BA4-4FE7-86CA-130993E674BF}"/>
                  </a:ext>
                </a:extLst>
              </p:cNvPr>
              <p:cNvSpPr>
                <a:spLocks noGrp="1"/>
              </p:cNvSpPr>
              <p:nvPr>
                <p:ph idx="1"/>
              </p:nvPr>
            </p:nvSpPr>
            <p:spPr/>
            <p:txBody>
              <a:bodyPr/>
              <a:lstStyle/>
              <a:p>
                <a:r>
                  <a:rPr kumimoji="1" lang="zh-CN" altLang="en-US" dirty="0">
                    <a:latin typeface="黑体" panose="02010609060101010101" pitchFamily="49" charset="-122"/>
                    <a:ea typeface="黑体" panose="02010609060101010101" pitchFamily="49" charset="-122"/>
                  </a:rPr>
                  <a:t>讨论处理器的性能，一种直观的方式是衡量执行相同的算法所需要的时间，即</a:t>
                </a:r>
                <a14:m>
                  <m:oMath xmlns:m="http://schemas.openxmlformats.org/officeDocument/2006/math">
                    <m:r>
                      <a:rPr kumimoji="1" lang="en-US" altLang="zh-CN" i="1" dirty="0">
                        <a:latin typeface="Cambria Math" panose="02040503050406030204" pitchFamily="18" charset="0"/>
                      </a:rPr>
                      <m:t>𝑇</m:t>
                    </m:r>
                    <m:r>
                      <a:rPr kumimoji="1" lang="en-US" altLang="zh-CN" i="1" dirty="0">
                        <a:latin typeface="Cambria Math" panose="02040503050406030204" pitchFamily="18" charset="0"/>
                      </a:rPr>
                      <m:t>=</m:t>
                    </m:r>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𝑇</m:t>
                        </m:r>
                      </m:e>
                      <m:sub>
                        <m:r>
                          <a:rPr kumimoji="1" lang="en-US" altLang="zh-CN" i="1" dirty="0">
                            <a:latin typeface="Cambria Math" panose="02040503050406030204" pitchFamily="18" charset="0"/>
                          </a:rPr>
                          <m:t>𝑐𝑦𝑐𝑙𝑒</m:t>
                        </m:r>
                      </m:sub>
                    </m:sSub>
                    <m:r>
                      <a:rPr kumimoji="1" lang="en-US" altLang="zh-CN" i="1" dirty="0">
                        <a:latin typeface="Cambria Math" panose="02040503050406030204" pitchFamily="18" charset="0"/>
                      </a:rPr>
                      <m:t>×</m:t>
                    </m:r>
                    <m:f>
                      <m:fPr>
                        <m:ctrlPr>
                          <a:rPr kumimoji="1" lang="en-US" altLang="zh-CN" i="1" dirty="0">
                            <a:latin typeface="Cambria Math" panose="02040503050406030204" pitchFamily="18" charset="0"/>
                          </a:rPr>
                        </m:ctrlPr>
                      </m:fPr>
                      <m:num>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𝑁</m:t>
                            </m:r>
                          </m:e>
                          <m:sub>
                            <m:r>
                              <a:rPr kumimoji="1" lang="en-US" altLang="zh-CN" i="1" dirty="0">
                                <a:latin typeface="Cambria Math" panose="02040503050406030204" pitchFamily="18" charset="0"/>
                              </a:rPr>
                              <m:t>𝑐𝑦𝑐𝑙𝑒</m:t>
                            </m:r>
                          </m:sub>
                        </m:sSub>
                      </m:num>
                      <m:den>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𝑁</m:t>
                            </m:r>
                          </m:e>
                          <m:sub>
                            <m:r>
                              <a:rPr kumimoji="1" lang="en-US" altLang="zh-CN" i="1" dirty="0">
                                <a:latin typeface="Cambria Math" panose="02040503050406030204" pitchFamily="18" charset="0"/>
                              </a:rPr>
                              <m:t>𝑖𝑛𝑠𝑡𝑟𝑢𝑐𝑡𝑖𝑜𝑛</m:t>
                            </m:r>
                          </m:sub>
                        </m:sSub>
                      </m:den>
                    </m:f>
                    <m:r>
                      <a:rPr kumimoji="1" lang="en-US" altLang="zh-CN" i="1" dirty="0">
                        <a:latin typeface="Cambria Math" panose="02040503050406030204" pitchFamily="18" charset="0"/>
                      </a:rPr>
                      <m:t>×</m:t>
                    </m:r>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𝑁</m:t>
                        </m:r>
                      </m:e>
                      <m:sub>
                        <m:r>
                          <a:rPr kumimoji="1" lang="en-US" altLang="zh-CN" i="1" dirty="0">
                            <a:latin typeface="Cambria Math" panose="02040503050406030204" pitchFamily="18" charset="0"/>
                          </a:rPr>
                          <m:t>𝑖𝑛𝑠𝑡𝑟𝑢𝑐𝑡𝑖𝑜𝑛</m:t>
                        </m:r>
                      </m:sub>
                    </m:sSub>
                  </m:oMath>
                </a14:m>
                <a:endParaRPr lang="en-US" altLang="zh-CN" dirty="0">
                  <a:latin typeface="黑体" panose="02010609060101010101" pitchFamily="49" charset="-122"/>
                  <a:ea typeface="黑体" panose="02010609060101010101" pitchFamily="49" charset="-122"/>
                </a:endParaRPr>
              </a:p>
              <a:p>
                <a:r>
                  <a:rPr kumimoji="1" lang="zh-CN" altLang="en-US" dirty="0">
                    <a:latin typeface="黑体" panose="02010609060101010101" pitchFamily="49" charset="-122"/>
                    <a:ea typeface="黑体" panose="02010609060101010101" pitchFamily="49" charset="-122"/>
                  </a:rPr>
                  <a:t>假设指令的执行被分割成了</a:t>
                </a:r>
                <a14:m>
                  <m:oMath xmlns:m="http://schemas.openxmlformats.org/officeDocument/2006/math">
                    <m:r>
                      <a:rPr kumimoji="1" lang="en" altLang="zh-CN" i="1">
                        <a:latin typeface="Cambria Math" panose="02040503050406030204" pitchFamily="18" charset="0"/>
                      </a:rPr>
                      <m:t>𝐾</m:t>
                    </m:r>
                  </m:oMath>
                </a14:m>
                <a:r>
                  <a:rPr kumimoji="1" lang="zh-CN" altLang="en-US" dirty="0">
                    <a:latin typeface="黑体" panose="02010609060101010101" pitchFamily="49" charset="-122"/>
                    <a:ea typeface="黑体" panose="02010609060101010101" pitchFamily="49" charset="-122"/>
                  </a:rPr>
                  <a:t>个阶段，其中最长的阶段执行时间为 </a:t>
                </a:r>
                <a14:m>
                  <m:oMath xmlns:m="http://schemas.openxmlformats.org/officeDocument/2006/math">
                    <m:sSub>
                      <m:sSubPr>
                        <m:ctrlPr>
                          <a:rPr kumimoji="1" lang="en-US" altLang="zh-CN" i="1">
                            <a:latin typeface="Cambria Math" panose="02040503050406030204" pitchFamily="18" charset="0"/>
                          </a:rPr>
                        </m:ctrlPr>
                      </m:sSubPr>
                      <m:e>
                        <m:r>
                          <a:rPr kumimoji="1" lang="en" altLang="zh-CN" i="1">
                            <a:latin typeface="Cambria Math" panose="02040503050406030204" pitchFamily="18" charset="0"/>
                          </a:rPr>
                          <m:t>𝑇</m:t>
                        </m:r>
                      </m:e>
                      <m:sub>
                        <m:r>
                          <a:rPr kumimoji="1" lang="en" altLang="zh-CN" i="1">
                            <a:latin typeface="Cambria Math" panose="02040503050406030204" pitchFamily="18" charset="0"/>
                          </a:rPr>
                          <m:t>𝑠𝑒𝑔</m:t>
                        </m:r>
                      </m:sub>
                    </m:sSub>
                  </m:oMath>
                </a14:m>
                <a:r>
                  <a:rPr kumimoji="1" lang="zh-CN" altLang="en" dirty="0">
                    <a:latin typeface="黑体" panose="02010609060101010101" pitchFamily="49" charset="-122"/>
                    <a:ea typeface="黑体" panose="02010609060101010101" pitchFamily="49" charset="-122"/>
                  </a:rPr>
                  <a:t>，</a:t>
                </a:r>
                <a:r>
                  <a:rPr kumimoji="1" lang="zh-CN" altLang="en-US" dirty="0">
                    <a:latin typeface="黑体" panose="02010609060101010101" pitchFamily="49" charset="-122"/>
                    <a:ea typeface="黑体" panose="02010609060101010101" pitchFamily="49" charset="-122"/>
                  </a:rPr>
                  <a:t>那么有无流水线的时间之比为：</a:t>
                </a:r>
                <a:r>
                  <a:rPr kumimoji="1" lang="en-US" altLang="zh-CN" dirty="0">
                    <a:latin typeface="黑体" panose="02010609060101010101" pitchFamily="49" charset="-122"/>
                    <a:ea typeface="黑体" panose="02010609060101010101" pitchFamily="49" charset="-122"/>
                  </a:rPr>
                  <a:t> </a:t>
                </a:r>
                <a14:m>
                  <m:oMath xmlns:m="http://schemas.openxmlformats.org/officeDocument/2006/math">
                    <m:r>
                      <a:rPr kumimoji="1" lang="en-US" altLang="zh-CN" i="1">
                        <a:latin typeface="Cambria Math" panose="02040503050406030204" pitchFamily="18" charset="0"/>
                      </a:rPr>
                      <m:t>𝑆</m:t>
                    </m:r>
                    <m:r>
                      <a:rPr kumimoji="1" lang="en-US" altLang="zh-CN" i="1">
                        <a:latin typeface="Cambria Math" panose="02040503050406030204" pitchFamily="18" charset="0"/>
                      </a:rPr>
                      <m:t>=</m:t>
                    </m:r>
                    <m:f>
                      <m:fPr>
                        <m:ctrlPr>
                          <a:rPr kumimoji="1" lang="en-US" altLang="zh-CN" i="1">
                            <a:latin typeface="Cambria Math" panose="02040503050406030204" pitchFamily="18" charset="0"/>
                          </a:rPr>
                        </m:ctrlPr>
                      </m:fPr>
                      <m:num>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𝑇</m:t>
                            </m:r>
                          </m:e>
                          <m:sub>
                            <m:r>
                              <a:rPr kumimoji="1" lang="en-US" altLang="zh-CN" i="1">
                                <a:latin typeface="Cambria Math" panose="02040503050406030204" pitchFamily="18" charset="0"/>
                              </a:rPr>
                              <m:t>𝑠𝑒𝑔</m:t>
                            </m:r>
                          </m:sub>
                        </m:sSub>
                      </m:num>
                      <m:den>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𝑇</m:t>
                            </m:r>
                          </m:e>
                          <m:sub>
                            <m:r>
                              <a:rPr kumimoji="1" lang="en-US" altLang="zh-CN" i="1">
                                <a:latin typeface="Cambria Math" panose="02040503050406030204" pitchFamily="18" charset="0"/>
                              </a:rPr>
                              <m:t>𝑐𝑦𝑐𝑙𝑒</m:t>
                            </m:r>
                          </m:sub>
                        </m:sSub>
                      </m:den>
                    </m:f>
                    <m:r>
                      <a:rPr kumimoji="1" lang="en-US" altLang="zh-CN" i="1">
                        <a:latin typeface="Cambria Math" panose="02040503050406030204" pitchFamily="18" charset="0"/>
                      </a:rPr>
                      <m:t>×</m:t>
                    </m:r>
                    <m:f>
                      <m:fPr>
                        <m:ctrlPr>
                          <a:rPr kumimoji="1" lang="en-US" altLang="zh-CN" i="1">
                            <a:latin typeface="Cambria Math" panose="02040503050406030204" pitchFamily="18" charset="0"/>
                          </a:rPr>
                        </m:ctrlPr>
                      </m:fPr>
                      <m:num>
                        <m:r>
                          <a:rPr kumimoji="1" lang="en-US" altLang="zh-CN" i="1">
                            <a:latin typeface="Cambria Math" panose="02040503050406030204" pitchFamily="18" charset="0"/>
                          </a:rPr>
                          <m:t>𝐶𝑃</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𝐼</m:t>
                            </m:r>
                          </m:e>
                          <m:sub>
                            <m:r>
                              <a:rPr kumimoji="1" lang="en-US" altLang="zh-CN" i="1">
                                <a:latin typeface="Cambria Math" panose="02040503050406030204" pitchFamily="18" charset="0"/>
                              </a:rPr>
                              <m:t>𝑝𝑖𝑝𝑒𝑙𝑖𝑛𝑒</m:t>
                            </m:r>
                          </m:sub>
                        </m:sSub>
                      </m:num>
                      <m:den>
                        <m:r>
                          <a:rPr kumimoji="1" lang="en-US" altLang="zh-CN" i="1">
                            <a:latin typeface="Cambria Math" panose="02040503050406030204" pitchFamily="18" charset="0"/>
                          </a:rPr>
                          <m:t>𝐶𝑃</m:t>
                        </m:r>
                        <m:sSup>
                          <m:sSupPr>
                            <m:ctrlPr>
                              <a:rPr kumimoji="1" lang="en-US" altLang="zh-CN" i="1">
                                <a:latin typeface="Cambria Math" panose="02040503050406030204" pitchFamily="18" charset="0"/>
                              </a:rPr>
                            </m:ctrlPr>
                          </m:sSupPr>
                          <m:e>
                            <m:r>
                              <a:rPr kumimoji="1" lang="en-US" altLang="zh-CN" i="1">
                                <a:latin typeface="Cambria Math" panose="02040503050406030204" pitchFamily="18" charset="0"/>
                              </a:rPr>
                              <m:t>𝐼</m:t>
                            </m:r>
                          </m:e>
                          <m:sup>
                            <m:r>
                              <a:rPr kumimoji="1" lang="en-US" altLang="zh-CN" i="1">
                                <a:latin typeface="Cambria Math" panose="02040503050406030204" pitchFamily="18" charset="0"/>
                              </a:rPr>
                              <m:t>′</m:t>
                            </m:r>
                          </m:sup>
                        </m:sSup>
                      </m:den>
                    </m:f>
                  </m:oMath>
                </a14:m>
                <a:endParaRPr kumimoji="1" lang="en-US" altLang="zh-CN" dirty="0">
                  <a:latin typeface="黑体" panose="02010609060101010101" pitchFamily="49" charset="-122"/>
                  <a:ea typeface="黑体" panose="02010609060101010101" pitchFamily="49" charset="-122"/>
                </a:endParaRPr>
              </a:p>
              <a:p>
                <a:r>
                  <a:rPr kumimoji="1" lang="zh-CN" altLang="en-US" dirty="0">
                    <a:latin typeface="黑体" panose="02010609060101010101" pitchFamily="49" charset="-122"/>
                    <a:ea typeface="黑体" panose="02010609060101010101" pitchFamily="49" charset="-122"/>
                  </a:rPr>
                  <a:t>在不考虑指令间的依赖时，</a:t>
                </a:r>
                <a14:m>
                  <m:oMath xmlns:m="http://schemas.openxmlformats.org/officeDocument/2006/math">
                    <m:r>
                      <a:rPr kumimoji="1" lang="en-US" altLang="zh-CN" b="0" i="1" smtClean="0">
                        <a:latin typeface="Cambria Math" panose="02040503050406030204" pitchFamily="18" charset="0"/>
                      </a:rPr>
                      <m:t>𝑆</m:t>
                    </m:r>
                    <m:r>
                      <a:rPr kumimoji="1" lang="en-US" altLang="zh-CN"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1</m:t>
                        </m:r>
                      </m:num>
                      <m:den>
                        <m:r>
                          <a:rPr kumimoji="1" lang="en-US" altLang="zh-CN" b="0" i="1" smtClean="0">
                            <a:latin typeface="Cambria Math" panose="02040503050406030204" pitchFamily="18" charset="0"/>
                          </a:rPr>
                          <m:t>𝐾</m:t>
                        </m:r>
                      </m:den>
                    </m:f>
                  </m:oMath>
                </a14:m>
                <a:endParaRPr lang="zh-CN" altLang="en-US" dirty="0">
                  <a:latin typeface="黑体" panose="02010609060101010101" pitchFamily="49" charset="-122"/>
                  <a:ea typeface="黑体" panose="02010609060101010101" pitchFamily="49" charset="-122"/>
                </a:endParaRPr>
              </a:p>
            </p:txBody>
          </p:sp>
        </mc:Choice>
        <mc:Fallback>
          <p:sp>
            <p:nvSpPr>
              <p:cNvPr id="3" name="内容占位符 2">
                <a:extLst>
                  <a:ext uri="{FF2B5EF4-FFF2-40B4-BE49-F238E27FC236}">
                    <a16:creationId xmlns:a16="http://schemas.microsoft.com/office/drawing/2014/main" id="{CACBDE89-7BA4-4FE7-86CA-130993E674B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3658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43C2E6-9EE2-49CE-A3B6-643FCF68A20B}"/>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流水线的冲突</a:t>
            </a:r>
          </a:p>
        </p:txBody>
      </p:sp>
      <p:sp>
        <p:nvSpPr>
          <p:cNvPr id="3" name="内容占位符 2">
            <a:extLst>
              <a:ext uri="{FF2B5EF4-FFF2-40B4-BE49-F238E27FC236}">
                <a16:creationId xmlns:a16="http://schemas.microsoft.com/office/drawing/2014/main" id="{ADE15448-C811-449B-A79A-A1615B271A5B}"/>
              </a:ext>
            </a:extLst>
          </p:cNvPr>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实际流水线中存在冲突，会阻止指令流中的下一条指令在其自己的指定时钟周期内执行。冲突降低了流水化所能获得的加速比。共有以下三类冲突：</a:t>
            </a:r>
            <a:endParaRPr lang="en-US" altLang="zh-CN" dirty="0">
              <a:latin typeface="黑体" panose="02010609060101010101" pitchFamily="49" charset="-122"/>
              <a:ea typeface="黑体" panose="02010609060101010101" pitchFamily="49" charset="-122"/>
            </a:endParaRPr>
          </a:p>
          <a:p>
            <a:pPr lvl="1"/>
            <a:r>
              <a:rPr kumimoji="1" lang="zh-CN" altLang="en-US" dirty="0">
                <a:latin typeface="黑体" panose="02010609060101010101" pitchFamily="49" charset="-122"/>
                <a:ea typeface="黑体" panose="02010609060101010101" pitchFamily="49" charset="-122"/>
              </a:rPr>
              <a:t>结构冲突。由于硬件资源不足而导致的流水线暂停的现象。例如由于下一级的指令在流水线中停顿而导致本条指令不能进入下一个阶段。</a:t>
            </a:r>
            <a:endParaRPr kumimoji="1" lang="en-US" altLang="zh-CN" dirty="0">
              <a:latin typeface="黑体" panose="02010609060101010101" pitchFamily="49" charset="-122"/>
              <a:ea typeface="黑体" panose="02010609060101010101" pitchFamily="49" charset="-122"/>
            </a:endParaRPr>
          </a:p>
          <a:p>
            <a:pPr lvl="1"/>
            <a:r>
              <a:rPr kumimoji="1" lang="zh-CN" altLang="en-US" dirty="0">
                <a:latin typeface="黑体" panose="02010609060101010101" pitchFamily="49" charset="-122"/>
                <a:ea typeface="黑体" panose="02010609060101010101" pitchFamily="49" charset="-122"/>
              </a:rPr>
              <a:t>控制冲突。是由于跳转指令不能立刻确定下一条指令的去向而导致的流水线暂停的现象。</a:t>
            </a:r>
            <a:endParaRPr kumimoji="1" lang="en-US" altLang="zh-CN" dirty="0">
              <a:latin typeface="黑体" panose="02010609060101010101" pitchFamily="49" charset="-122"/>
              <a:ea typeface="黑体" panose="02010609060101010101" pitchFamily="49" charset="-122"/>
            </a:endParaRPr>
          </a:p>
          <a:p>
            <a:pPr lvl="1"/>
            <a:r>
              <a:rPr kumimoji="1" lang="zh-CN" altLang="en-US" dirty="0">
                <a:latin typeface="黑体" panose="02010609060101010101" pitchFamily="49" charset="-122"/>
                <a:ea typeface="黑体" panose="02010609060101010101" pitchFamily="49" charset="-122"/>
              </a:rPr>
              <a:t>数据冲突。又称为寄存器命名冲突，是由于寄存器操作数之间存在依赖关系，而流水线必须在依赖的寄存器的数据可用后才能继续执行的情况。</a:t>
            </a:r>
            <a:endParaRPr kumimoji="1" lang="en-US" altLang="zh-CN" dirty="0">
              <a:latin typeface="黑体" panose="02010609060101010101" pitchFamily="49" charset="-122"/>
              <a:ea typeface="黑体" panose="02010609060101010101" pitchFamily="49" charset="-122"/>
            </a:endParaRPr>
          </a:p>
          <a:p>
            <a:pPr lvl="1"/>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63062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83AD64-202D-4CB0-9113-C0F1944F7ECC}"/>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分支预测</a:t>
            </a:r>
          </a:p>
        </p:txBody>
      </p:sp>
      <p:sp>
        <p:nvSpPr>
          <p:cNvPr id="3" name="内容占位符 2">
            <a:extLst>
              <a:ext uri="{FF2B5EF4-FFF2-40B4-BE49-F238E27FC236}">
                <a16:creationId xmlns:a16="http://schemas.microsoft.com/office/drawing/2014/main" id="{CAC71F04-48C0-4777-BD77-B61ED5CD0C38}"/>
              </a:ext>
            </a:extLst>
          </p:cNvPr>
          <p:cNvSpPr>
            <a:spLocks noGrp="1"/>
          </p:cNvSpPr>
          <p:nvPr>
            <p:ph idx="1"/>
          </p:nvPr>
        </p:nvSpPr>
        <p:spPr/>
        <p:txBody>
          <a:bodyPr>
            <a:normAutofit/>
          </a:bodyPr>
          <a:lstStyle/>
          <a:p>
            <a:r>
              <a:rPr lang="zh-CN" altLang="en-US" sz="2400" dirty="0">
                <a:latin typeface="黑体" panose="02010609060101010101" pitchFamily="49" charset="-122"/>
                <a:ea typeface="黑体" panose="02010609060101010101" pitchFamily="49" charset="-122"/>
              </a:rPr>
              <a:t>流水线可以通过预测分支的行为方式来降低分支的性能损失。</a:t>
            </a:r>
            <a:endParaRPr lang="en-US" altLang="zh-CN" sz="2400" dirty="0">
              <a:latin typeface="黑体" panose="02010609060101010101" pitchFamily="49" charset="-122"/>
              <a:ea typeface="黑体" panose="02010609060101010101" pitchFamily="49" charset="-122"/>
            </a:endParaRPr>
          </a:p>
          <a:p>
            <a:r>
              <a:rPr lang="zh-CN" altLang="en-US" sz="2400" dirty="0">
                <a:latin typeface="黑体" panose="02010609060101010101" pitchFamily="49" charset="-122"/>
                <a:ea typeface="黑体" panose="02010609060101010101" pitchFamily="49" charset="-122"/>
              </a:rPr>
              <a:t>分支预测分为静态预测和动态预测。静态预测根据编译器或操作码等做出判断，往往用来预测没有历史信息的分支（例如</a:t>
            </a:r>
            <a:r>
              <a:rPr lang="en-US" altLang="zh-CN" sz="2400" dirty="0">
                <a:latin typeface="黑体" panose="02010609060101010101" pitchFamily="49" charset="-122"/>
                <a:ea typeface="黑体" panose="02010609060101010101" pitchFamily="49" charset="-122"/>
              </a:rPr>
              <a:t>Not Taken</a:t>
            </a:r>
            <a:r>
              <a:rPr lang="zh-CN" altLang="en-US" sz="2400" dirty="0">
                <a:latin typeface="黑体" panose="02010609060101010101" pitchFamily="49" charset="-122"/>
                <a:ea typeface="黑体" panose="02010609060101010101" pitchFamily="49" charset="-122"/>
              </a:rPr>
              <a:t>）；动态预测则根据分支的历史信息做出判断。</a:t>
            </a:r>
            <a:endParaRPr lang="en-US" altLang="zh-CN" sz="2400" dirty="0">
              <a:latin typeface="黑体" panose="02010609060101010101" pitchFamily="49" charset="-122"/>
              <a:ea typeface="黑体" panose="02010609060101010101" pitchFamily="49" charset="-122"/>
            </a:endParaRPr>
          </a:p>
          <a:p>
            <a:r>
              <a:rPr lang="en-US" altLang="zh-CN" sz="2400" dirty="0">
                <a:latin typeface="黑体" panose="02010609060101010101" pitchFamily="49" charset="-122"/>
                <a:ea typeface="黑体" panose="02010609060101010101" pitchFamily="49" charset="-122"/>
              </a:rPr>
              <a:t>1bit</a:t>
            </a:r>
            <a:r>
              <a:rPr lang="zh-CN" altLang="en-US" sz="2400" dirty="0">
                <a:latin typeface="黑体" panose="02010609060101010101" pitchFamily="49" charset="-122"/>
                <a:ea typeface="黑体" panose="02010609060101010101" pitchFamily="49" charset="-122"/>
              </a:rPr>
              <a:t>预测器（</a:t>
            </a:r>
            <a:r>
              <a:rPr lang="en-US" altLang="zh-CN" sz="2400" dirty="0">
                <a:latin typeface="黑体" panose="02010609060101010101" pitchFamily="49" charset="-122"/>
                <a:ea typeface="黑体" panose="02010609060101010101" pitchFamily="49" charset="-122"/>
              </a:rPr>
              <a:t>last-outcome prediction</a:t>
            </a:r>
            <a:r>
              <a:rPr lang="zh-CN" altLang="en-US" sz="2400" dirty="0">
                <a:latin typeface="黑体" panose="02010609060101010101" pitchFamily="49" charset="-122"/>
                <a:ea typeface="黑体" panose="02010609060101010101" pitchFamily="49" charset="-122"/>
              </a:rPr>
              <a:t>）就是一个简单的动态分支预测器，</a:t>
            </a:r>
            <a:r>
              <a:rPr lang="zh-CN" altLang="en-US" sz="2400" dirty="0">
                <a:solidFill>
                  <a:prstClr val="black"/>
                </a:solidFill>
                <a:latin typeface="黑体" panose="02010609060101010101" pitchFamily="49" charset="-122"/>
                <a:ea typeface="黑体" panose="02010609060101010101" pitchFamily="49" charset="-122"/>
              </a:rPr>
              <a:t>记录每个分支转移最近一次是否成立，并使用</a:t>
            </a:r>
            <a:r>
              <a:rPr lang="en-US" altLang="zh-CN" sz="2400" dirty="0">
                <a:solidFill>
                  <a:prstClr val="black"/>
                </a:solidFill>
                <a:latin typeface="黑体" panose="02010609060101010101" pitchFamily="49" charset="-122"/>
                <a:ea typeface="黑体" panose="02010609060101010101" pitchFamily="49" charset="-122"/>
              </a:rPr>
              <a:t>PC</a:t>
            </a:r>
            <a:r>
              <a:rPr lang="zh-CN" altLang="en-US" sz="2400" dirty="0">
                <a:solidFill>
                  <a:prstClr val="black"/>
                </a:solidFill>
                <a:latin typeface="黑体" panose="02010609060101010101" pitchFamily="49" charset="-122"/>
                <a:ea typeface="黑体" panose="02010609060101010101" pitchFamily="49" charset="-122"/>
              </a:rPr>
              <a:t>的一部分</a:t>
            </a:r>
            <a:r>
              <a:rPr lang="en-US" altLang="zh-CN" sz="2400" dirty="0">
                <a:solidFill>
                  <a:prstClr val="black"/>
                </a:solidFill>
                <a:latin typeface="黑体" panose="02010609060101010101" pitchFamily="49" charset="-122"/>
                <a:ea typeface="黑体" panose="02010609060101010101" pitchFamily="49" charset="-122"/>
              </a:rPr>
              <a:t>(low-order bits</a:t>
            </a:r>
            <a:r>
              <a:rPr lang="zh-CN" altLang="en-US" sz="2400" dirty="0">
                <a:solidFill>
                  <a:prstClr val="black"/>
                </a:solidFill>
                <a:latin typeface="黑体" panose="02010609060101010101" pitchFamily="49" charset="-122"/>
                <a:ea typeface="黑体" panose="02010609060101010101" pitchFamily="49" charset="-122"/>
              </a:rPr>
              <a:t>）来索引。</a:t>
            </a:r>
            <a:endParaRPr lang="en-US" altLang="zh-CN" sz="2400" dirty="0">
              <a:latin typeface="黑体" panose="02010609060101010101" pitchFamily="49" charset="-122"/>
              <a:ea typeface="黑体" panose="02010609060101010101" pitchFamily="49" charset="-122"/>
            </a:endParaRPr>
          </a:p>
        </p:txBody>
      </p:sp>
      <p:pic>
        <p:nvPicPr>
          <p:cNvPr id="4" name="Picture 4">
            <a:extLst>
              <a:ext uri="{FF2B5EF4-FFF2-40B4-BE49-F238E27FC236}">
                <a16:creationId xmlns:a16="http://schemas.microsoft.com/office/drawing/2014/main" id="{1494C9D2-D5E9-41B3-B178-568E0F0A2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526099"/>
            <a:ext cx="4295775"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7426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7C9A7-65A5-4316-A3E4-9D9B67AB9ABA}"/>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分支预测器</a:t>
            </a:r>
          </a:p>
        </p:txBody>
      </p:sp>
      <p:sp>
        <p:nvSpPr>
          <p:cNvPr id="3" name="内容占位符 2">
            <a:extLst>
              <a:ext uri="{FF2B5EF4-FFF2-40B4-BE49-F238E27FC236}">
                <a16:creationId xmlns:a16="http://schemas.microsoft.com/office/drawing/2014/main" id="{21929056-47FB-4BD0-BF52-7EC0A79DAAB0}"/>
              </a:ext>
            </a:extLst>
          </p:cNvPr>
          <p:cNvSpPr>
            <a:spLocks noGrp="1"/>
          </p:cNvSpPr>
          <p:nvPr>
            <p:ph idx="1"/>
          </p:nvPr>
        </p:nvSpPr>
        <p:spPr>
          <a:xfrm>
            <a:off x="838199" y="1825625"/>
            <a:ext cx="3858492" cy="4351338"/>
          </a:xfrm>
        </p:spPr>
        <p:txBody>
          <a:bodyPr/>
          <a:lstStyle/>
          <a:p>
            <a:r>
              <a:rPr lang="zh-CN" altLang="en-US" dirty="0">
                <a:latin typeface="黑体" panose="02010609060101010101" pitchFamily="49" charset="-122"/>
                <a:ea typeface="黑体" panose="02010609060101010101" pitchFamily="49" charset="-122"/>
              </a:rPr>
              <a:t>更好地支持频繁跳转的情况</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右图是一个简单的</a:t>
            </a:r>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分支预测器。</a:t>
            </a:r>
            <a:r>
              <a:rPr lang="zh-CN" altLang="en-US" dirty="0">
                <a:solidFill>
                  <a:prstClr val="black"/>
                </a:solidFill>
                <a:latin typeface="黑体" panose="02010609060101010101" pitchFamily="49" charset="-122"/>
                <a:ea typeface="黑体" panose="02010609060101010101" pitchFamily="49" charset="-122"/>
              </a:rPr>
              <a:t>一种预测必须失败两次才会被改变。</a:t>
            </a:r>
            <a:endParaRPr lang="en-US" altLang="zh-CN" dirty="0">
              <a:solidFill>
                <a:prstClr val="black"/>
              </a:solidFill>
              <a:latin typeface="黑体" panose="02010609060101010101" pitchFamily="49" charset="-122"/>
              <a:ea typeface="黑体" panose="02010609060101010101" pitchFamily="49" charset="-122"/>
            </a:endParaRPr>
          </a:p>
        </p:txBody>
      </p:sp>
      <p:pic>
        <p:nvPicPr>
          <p:cNvPr id="4" name="Picture 2">
            <a:extLst>
              <a:ext uri="{FF2B5EF4-FFF2-40B4-BE49-F238E27FC236}">
                <a16:creationId xmlns:a16="http://schemas.microsoft.com/office/drawing/2014/main" id="{05F05F5E-5112-44CB-B07C-875312A48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8550" y="2230581"/>
            <a:ext cx="6363177" cy="3946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5917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66A5D6-EEA0-457C-AA20-F8AE192AB264}"/>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采用</a:t>
            </a:r>
            <a:r>
              <a:rPr lang="en-US" altLang="zh-CN" dirty="0">
                <a:latin typeface="黑体" panose="02010609060101010101" pitchFamily="49" charset="-122"/>
                <a:ea typeface="黑体" panose="02010609060101010101" pitchFamily="49" charset="-122"/>
              </a:rPr>
              <a:t>GHR</a:t>
            </a:r>
            <a:r>
              <a:rPr lang="zh-CN" altLang="en-US" dirty="0">
                <a:latin typeface="黑体" panose="02010609060101010101" pitchFamily="49" charset="-122"/>
                <a:ea typeface="黑体" panose="02010609060101010101" pitchFamily="49" charset="-122"/>
              </a:rPr>
              <a:t>的两级预测器（全局预测器）</a:t>
            </a:r>
          </a:p>
        </p:txBody>
      </p:sp>
      <p:sp>
        <p:nvSpPr>
          <p:cNvPr id="3" name="内容占位符 2">
            <a:extLst>
              <a:ext uri="{FF2B5EF4-FFF2-40B4-BE49-F238E27FC236}">
                <a16:creationId xmlns:a16="http://schemas.microsoft.com/office/drawing/2014/main" id="{7FEFCE48-0D5D-42C7-878B-C15C51B600FD}"/>
              </a:ext>
            </a:extLst>
          </p:cNvPr>
          <p:cNvSpPr>
            <a:spLocks noGrp="1"/>
          </p:cNvSpPr>
          <p:nvPr>
            <p:ph idx="1"/>
          </p:nvPr>
        </p:nvSpPr>
        <p:spPr>
          <a:xfrm>
            <a:off x="838200" y="1825624"/>
            <a:ext cx="6657109" cy="5032375"/>
          </a:xfrm>
        </p:spPr>
        <p:txBody>
          <a:bodyPr/>
          <a:lstStyle/>
          <a:p>
            <a:r>
              <a:rPr lang="zh-CN" altLang="en-US" dirty="0">
                <a:latin typeface="黑体" panose="02010609060101010101" pitchFamily="49" charset="-122"/>
                <a:ea typeface="黑体" panose="02010609060101010101" pitchFamily="49" charset="-122"/>
              </a:rPr>
              <a:t>不同分支之间具有相关性，为了利用这种相关性，可以采用</a:t>
            </a:r>
            <a:r>
              <a:rPr lang="en-US" altLang="zh-CN" dirty="0">
                <a:latin typeface="黑体" panose="02010609060101010101" pitchFamily="49" charset="-122"/>
                <a:ea typeface="黑体" panose="02010609060101010101" pitchFamily="49" charset="-122"/>
              </a:rPr>
              <a:t>GHR</a:t>
            </a:r>
            <a:r>
              <a:rPr lang="zh-CN" altLang="en-US" dirty="0">
                <a:latin typeface="黑体" panose="02010609060101010101" pitchFamily="49" charset="-122"/>
                <a:ea typeface="黑体" panose="02010609060101010101" pitchFamily="49" charset="-122"/>
              </a:rPr>
              <a:t>（全局历史寄存器）来记录最近的分支跳转信息。</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右图是一个（</a:t>
            </a:r>
            <a:r>
              <a:rPr lang="en-US" altLang="zh-CN" dirty="0">
                <a:latin typeface="黑体" panose="02010609060101010101" pitchFamily="49" charset="-122"/>
                <a:ea typeface="黑体" panose="02010609060101010101" pitchFamily="49" charset="-122"/>
              </a:rPr>
              <a:t>2,2</a:t>
            </a:r>
            <a:r>
              <a:rPr lang="zh-CN" altLang="en-US" dirty="0">
                <a:latin typeface="黑体" panose="02010609060101010101" pitchFamily="49" charset="-122"/>
                <a:ea typeface="黑体" panose="02010609060101010101" pitchFamily="49" charset="-122"/>
              </a:rPr>
              <a:t>）两级预测器，第一级是一个</a:t>
            </a:r>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的</a:t>
            </a:r>
            <a:r>
              <a:rPr lang="en-US" altLang="zh-CN" dirty="0">
                <a:latin typeface="黑体" panose="02010609060101010101" pitchFamily="49" charset="-122"/>
                <a:ea typeface="黑体" panose="02010609060101010101" pitchFamily="49" charset="-122"/>
              </a:rPr>
              <a:t>GHR</a:t>
            </a:r>
            <a:r>
              <a:rPr lang="zh-CN" altLang="en-US" dirty="0">
                <a:latin typeface="黑体" panose="02010609060101010101" pitchFamily="49" charset="-122"/>
                <a:ea typeface="黑体" panose="02010609060101010101" pitchFamily="49" charset="-122"/>
              </a:rPr>
              <a:t>，第二级是一个</a:t>
            </a:r>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预测器。利用</a:t>
            </a:r>
            <a:r>
              <a:rPr lang="en-US" altLang="zh-CN" dirty="0">
                <a:latin typeface="黑体" panose="02010609060101010101" pitchFamily="49" charset="-122"/>
                <a:ea typeface="黑体" panose="02010609060101010101" pitchFamily="49" charset="-122"/>
              </a:rPr>
              <a:t>GHR</a:t>
            </a:r>
            <a:r>
              <a:rPr lang="zh-CN" altLang="en-US" dirty="0">
                <a:latin typeface="黑体" panose="02010609060101010101" pitchFamily="49" charset="-122"/>
                <a:ea typeface="黑体" panose="02010609060101010101" pitchFamily="49" charset="-122"/>
              </a:rPr>
              <a:t>和</a:t>
            </a:r>
            <a:r>
              <a:rPr lang="en-US" altLang="zh-CN" dirty="0">
                <a:latin typeface="黑体" panose="02010609060101010101" pitchFamily="49" charset="-122"/>
                <a:ea typeface="黑体" panose="02010609060101010101" pitchFamily="49" charset="-122"/>
              </a:rPr>
              <a:t>PC</a:t>
            </a:r>
            <a:r>
              <a:rPr lang="zh-CN" altLang="en-US" dirty="0">
                <a:latin typeface="黑体" panose="02010609060101010101" pitchFamily="49" charset="-122"/>
                <a:ea typeface="黑体" panose="02010609060101010101" pitchFamily="49" charset="-122"/>
              </a:rPr>
              <a:t>共同索引</a:t>
            </a:r>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预测器。利用了分支指令执行的全局历史信息。</a:t>
            </a:r>
          </a:p>
        </p:txBody>
      </p:sp>
      <p:pic>
        <p:nvPicPr>
          <p:cNvPr id="4" name="Picture 6">
            <a:extLst>
              <a:ext uri="{FF2B5EF4-FFF2-40B4-BE49-F238E27FC236}">
                <a16:creationId xmlns:a16="http://schemas.microsoft.com/office/drawing/2014/main" id="{D187AA39-8E90-4491-A21B-DA3E1E4C6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0455" y="2012856"/>
            <a:ext cx="3753345" cy="4193980"/>
          </a:xfrm>
          <a:prstGeom prst="rect">
            <a:avLst/>
          </a:prstGeom>
          <a:noFill/>
          <a:ln w="25400">
            <a:solidFill>
              <a:srgbClr val="FF3399"/>
            </a:solidFill>
            <a:prstDash val="sysDot"/>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849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A2696-6A46-48D1-89EE-9B39F0AEE7F9}"/>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采用</a:t>
            </a:r>
            <a:r>
              <a:rPr lang="en-US" altLang="zh-CN" dirty="0">
                <a:latin typeface="黑体" panose="02010609060101010101" pitchFamily="49" charset="-122"/>
                <a:ea typeface="黑体" panose="02010609060101010101" pitchFamily="49" charset="-122"/>
              </a:rPr>
              <a:t>BHT</a:t>
            </a:r>
            <a:r>
              <a:rPr lang="zh-CN" altLang="en-US" dirty="0">
                <a:latin typeface="黑体" panose="02010609060101010101" pitchFamily="49" charset="-122"/>
                <a:ea typeface="黑体" panose="02010609060101010101" pitchFamily="49" charset="-122"/>
              </a:rPr>
              <a:t>的两级预测器（局部预测器）</a:t>
            </a:r>
          </a:p>
        </p:txBody>
      </p:sp>
      <p:sp>
        <p:nvSpPr>
          <p:cNvPr id="3" name="内容占位符 2">
            <a:extLst>
              <a:ext uri="{FF2B5EF4-FFF2-40B4-BE49-F238E27FC236}">
                <a16:creationId xmlns:a16="http://schemas.microsoft.com/office/drawing/2014/main" id="{5FCC9514-A0BA-42B8-A070-CCA5072AFB61}"/>
              </a:ext>
            </a:extLst>
          </p:cNvPr>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为了实现更高的预测准确率，还可以采用一个</a:t>
            </a:r>
            <a:r>
              <a:rPr lang="en-US" altLang="zh-CN" dirty="0">
                <a:latin typeface="黑体" panose="02010609060101010101" pitchFamily="49" charset="-122"/>
                <a:ea typeface="黑体" panose="02010609060101010101" pitchFamily="49" charset="-122"/>
              </a:rPr>
              <a:t>BHT</a:t>
            </a:r>
            <a:r>
              <a:rPr lang="zh-CN" altLang="en-US" dirty="0">
                <a:latin typeface="黑体" panose="02010609060101010101" pitchFamily="49" charset="-122"/>
                <a:ea typeface="黑体" panose="02010609060101010101" pitchFamily="49" charset="-122"/>
              </a:rPr>
              <a:t>（分支历史表）记录每个分支局部的分支跳转历史信息。</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BHT</a:t>
            </a:r>
            <a:r>
              <a:rPr lang="zh-CN" altLang="en-US" dirty="0">
                <a:latin typeface="黑体" panose="02010609060101010101" pitchFamily="49" charset="-122"/>
                <a:ea typeface="黑体" panose="02010609060101010101" pitchFamily="49" charset="-122"/>
              </a:rPr>
              <a:t>和</a:t>
            </a:r>
            <a:r>
              <a:rPr lang="en-US" altLang="zh-CN" dirty="0">
                <a:latin typeface="黑体" panose="02010609060101010101" pitchFamily="49" charset="-122"/>
                <a:ea typeface="黑体" panose="02010609060101010101" pitchFamily="49" charset="-122"/>
              </a:rPr>
              <a:t>1bit</a:t>
            </a:r>
            <a:r>
              <a:rPr lang="zh-CN" altLang="en-US" dirty="0">
                <a:latin typeface="黑体" panose="02010609060101010101" pitchFamily="49" charset="-122"/>
                <a:ea typeface="黑体" panose="02010609060101010101" pitchFamily="49" charset="-122"/>
              </a:rPr>
              <a:t>或</a:t>
            </a:r>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预测器构成两级预测器。</a:t>
            </a:r>
          </a:p>
        </p:txBody>
      </p:sp>
      <p:pic>
        <p:nvPicPr>
          <p:cNvPr id="4" name="图片 3">
            <a:extLst>
              <a:ext uri="{FF2B5EF4-FFF2-40B4-BE49-F238E27FC236}">
                <a16:creationId xmlns:a16="http://schemas.microsoft.com/office/drawing/2014/main" id="{99FB0D1C-2E85-42AE-BE0E-09940321D1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2298" y="3829412"/>
            <a:ext cx="7896225" cy="2857500"/>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6723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ED1F43-7B52-4CA7-B77F-C19BB0669B74}"/>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Tournament </a:t>
            </a:r>
            <a:r>
              <a:rPr lang="zh-CN" altLang="en-US" dirty="0">
                <a:latin typeface="黑体" panose="02010609060101010101" pitchFamily="49" charset="-122"/>
                <a:ea typeface="黑体" panose="02010609060101010101" pitchFamily="49" charset="-122"/>
              </a:rPr>
              <a:t>预测器</a:t>
            </a:r>
          </a:p>
        </p:txBody>
      </p:sp>
      <p:sp>
        <p:nvSpPr>
          <p:cNvPr id="3" name="内容占位符 2">
            <a:extLst>
              <a:ext uri="{FF2B5EF4-FFF2-40B4-BE49-F238E27FC236}">
                <a16:creationId xmlns:a16="http://schemas.microsoft.com/office/drawing/2014/main" id="{2494CC38-57C3-4D30-AEC8-ADD38EBA065A}"/>
              </a:ext>
            </a:extLst>
          </p:cNvPr>
          <p:cNvSpPr>
            <a:spLocks noGrp="1"/>
          </p:cNvSpPr>
          <p:nvPr>
            <p:ph idx="1"/>
          </p:nvPr>
        </p:nvSpPr>
        <p:spPr/>
        <p:txBody>
          <a:bodyPr/>
          <a:lstStyle/>
          <a:p>
            <a:r>
              <a:rPr lang="en-US" altLang="zh-CN" dirty="0">
                <a:latin typeface="黑体" panose="02010609060101010101" pitchFamily="49" charset="-122"/>
                <a:ea typeface="黑体" panose="02010609060101010101" pitchFamily="49" charset="-122"/>
              </a:rPr>
              <a:t>Tournament </a:t>
            </a:r>
            <a:r>
              <a:rPr lang="zh-CN" altLang="en-US" dirty="0">
                <a:latin typeface="黑体" panose="02010609060101010101" pitchFamily="49" charset="-122"/>
                <a:ea typeface="黑体" panose="02010609060101010101" pitchFamily="49" charset="-122"/>
              </a:rPr>
              <a:t>预测器结合了全局分支预测器和局部分支预测器。利用一个</a:t>
            </a:r>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计数器实现两种预测器的选择（跟前面的</a:t>
            </a:r>
            <a:r>
              <a:rPr lang="en-US" altLang="zh-CN" dirty="0">
                <a:latin typeface="黑体" panose="02010609060101010101" pitchFamily="49" charset="-122"/>
                <a:ea typeface="黑体" panose="02010609060101010101" pitchFamily="49" charset="-122"/>
              </a:rPr>
              <a:t>2bit</a:t>
            </a:r>
            <a:r>
              <a:rPr lang="zh-CN" altLang="en-US" dirty="0">
                <a:latin typeface="黑体" panose="02010609060101010101" pitchFamily="49" charset="-122"/>
                <a:ea typeface="黑体" panose="02010609060101010101" pitchFamily="49" charset="-122"/>
              </a:rPr>
              <a:t>预测器相似）。</a:t>
            </a:r>
          </a:p>
        </p:txBody>
      </p:sp>
      <p:pic>
        <p:nvPicPr>
          <p:cNvPr id="4" name="图片 3">
            <a:extLst>
              <a:ext uri="{FF2B5EF4-FFF2-40B4-BE49-F238E27FC236}">
                <a16:creationId xmlns:a16="http://schemas.microsoft.com/office/drawing/2014/main" id="{96594A0C-4817-45AA-B261-2C0D7202DB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64646" y="3092677"/>
            <a:ext cx="7662707" cy="3570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1688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60FC6-61B0-4503-9FA7-0862E47AC1BA}"/>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BTB</a:t>
            </a:r>
            <a:endParaRPr lang="zh-CN" altLang="en-US"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233EA4D9-605B-445F-BADD-3614E46749EC}"/>
              </a:ext>
            </a:extLst>
          </p:cNvPr>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前面介绍的一些分支预测器都只预测了转移方向，必须等转移地址计算出来才能取分支路径上的指令。这对于深流水线结构，有不小的效率损失。</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BTB</a:t>
            </a:r>
            <a:r>
              <a:rPr lang="zh-CN" altLang="en-US" dirty="0">
                <a:latin typeface="黑体" panose="02010609060101010101" pitchFamily="49" charset="-122"/>
                <a:ea typeface="黑体" panose="02010609060101010101" pitchFamily="49" charset="-122"/>
              </a:rPr>
              <a:t>（分支目标缓存）不仅存储了分支是否跳转的信息还存储了跳转的目标地址。</a:t>
            </a:r>
            <a:endParaRPr lang="en-US" altLang="zh-CN" dirty="0">
              <a:latin typeface="黑体" panose="02010609060101010101" pitchFamily="49" charset="-122"/>
              <a:ea typeface="黑体" panose="02010609060101010101" pitchFamily="49" charset="-122"/>
            </a:endParaRPr>
          </a:p>
        </p:txBody>
      </p:sp>
      <p:pic>
        <p:nvPicPr>
          <p:cNvPr id="4" name="Picture 2">
            <a:extLst>
              <a:ext uri="{FF2B5EF4-FFF2-40B4-BE49-F238E27FC236}">
                <a16:creationId xmlns:a16="http://schemas.microsoft.com/office/drawing/2014/main" id="{A0187EEE-12E2-42BE-AADB-266FC9E51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4668" y="3602181"/>
            <a:ext cx="6012437" cy="3131127"/>
          </a:xfrm>
          <a:prstGeom prst="rect">
            <a:avLst/>
          </a:prstGeom>
          <a:noFill/>
          <a:ln w="38100">
            <a:solidFill>
              <a:srgbClr val="FF3399"/>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829082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3F1F75-C1F6-47EB-BAF7-C46D5E0058A7}"/>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BTB</a:t>
            </a:r>
            <a:r>
              <a:rPr lang="zh-CN" altLang="en-US" dirty="0">
                <a:latin typeface="黑体" panose="02010609060101010101" pitchFamily="49" charset="-122"/>
                <a:ea typeface="黑体" panose="02010609060101010101" pitchFamily="49" charset="-122"/>
              </a:rPr>
              <a:t>与</a:t>
            </a:r>
            <a:r>
              <a:rPr lang="en-US" altLang="zh-CN" dirty="0">
                <a:latin typeface="黑体" panose="02010609060101010101" pitchFamily="49" charset="-122"/>
                <a:ea typeface="黑体" panose="02010609060101010101" pitchFamily="49" charset="-122"/>
              </a:rPr>
              <a:t>BHT</a:t>
            </a:r>
            <a:r>
              <a:rPr lang="zh-CN" altLang="en-US" dirty="0">
                <a:latin typeface="黑体" panose="02010609060101010101" pitchFamily="49" charset="-122"/>
                <a:ea typeface="黑体" panose="02010609060101010101" pitchFamily="49" charset="-122"/>
              </a:rPr>
              <a:t>相互结合</a:t>
            </a:r>
          </a:p>
        </p:txBody>
      </p:sp>
      <p:sp>
        <p:nvSpPr>
          <p:cNvPr id="3" name="内容占位符 2">
            <a:extLst>
              <a:ext uri="{FF2B5EF4-FFF2-40B4-BE49-F238E27FC236}">
                <a16:creationId xmlns:a16="http://schemas.microsoft.com/office/drawing/2014/main" id="{1490A4EC-9E96-4EE7-B625-1B722FFF3CB8}"/>
              </a:ext>
            </a:extLst>
          </p:cNvPr>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由于</a:t>
            </a:r>
            <a:r>
              <a:rPr lang="en-US" altLang="zh-CN" dirty="0">
                <a:latin typeface="黑体" panose="02010609060101010101" pitchFamily="49" charset="-122"/>
                <a:ea typeface="黑体" panose="02010609060101010101" pitchFamily="49" charset="-122"/>
              </a:rPr>
              <a:t>PC</a:t>
            </a:r>
            <a:r>
              <a:rPr lang="zh-CN" altLang="en-US" dirty="0">
                <a:latin typeface="黑体" panose="02010609060101010101" pitchFamily="49" charset="-122"/>
                <a:ea typeface="黑体" panose="02010609060101010101" pitchFamily="49" charset="-122"/>
              </a:rPr>
              <a:t>的存储成本很高，</a:t>
            </a:r>
            <a:r>
              <a:rPr lang="en-US" altLang="zh-CN" dirty="0">
                <a:latin typeface="黑体" panose="02010609060101010101" pitchFamily="49" charset="-122"/>
                <a:ea typeface="黑体" panose="02010609060101010101" pitchFamily="49" charset="-122"/>
              </a:rPr>
              <a:t>BTB</a:t>
            </a:r>
            <a:r>
              <a:rPr lang="zh-CN" altLang="en-US" dirty="0">
                <a:latin typeface="黑体" panose="02010609060101010101" pitchFamily="49" charset="-122"/>
                <a:ea typeface="黑体" panose="02010609060101010101" pitchFamily="49" charset="-122"/>
              </a:rPr>
              <a:t>中只能存储有限的分支。而</a:t>
            </a:r>
            <a:r>
              <a:rPr lang="en-US" altLang="zh-CN" dirty="0">
                <a:latin typeface="黑体" panose="02010609060101010101" pitchFamily="49" charset="-122"/>
                <a:ea typeface="黑体" panose="02010609060101010101" pitchFamily="49" charset="-122"/>
              </a:rPr>
              <a:t>BHT</a:t>
            </a:r>
            <a:r>
              <a:rPr lang="zh-CN" altLang="en-US" dirty="0">
                <a:latin typeface="黑体" panose="02010609060101010101" pitchFamily="49" charset="-122"/>
                <a:ea typeface="黑体" panose="02010609060101010101" pitchFamily="49" charset="-122"/>
              </a:rPr>
              <a:t>成本较低，如果增加深度可以提高其预测精度。可以采用有限容量的</a:t>
            </a:r>
            <a:r>
              <a:rPr lang="en-US" altLang="zh-CN" dirty="0">
                <a:latin typeface="黑体" panose="02010609060101010101" pitchFamily="49" charset="-122"/>
                <a:ea typeface="黑体" panose="02010609060101010101" pitchFamily="49" charset="-122"/>
              </a:rPr>
              <a:t>BTB</a:t>
            </a:r>
            <a:r>
              <a:rPr lang="zh-CN" altLang="en-US" dirty="0">
                <a:latin typeface="黑体" panose="02010609060101010101" pitchFamily="49" charset="-122"/>
                <a:ea typeface="黑体" panose="02010609060101010101" pitchFamily="49" charset="-122"/>
              </a:rPr>
              <a:t>，再辅以</a:t>
            </a:r>
            <a:r>
              <a:rPr lang="en-US" altLang="zh-CN" dirty="0">
                <a:latin typeface="黑体" panose="02010609060101010101" pitchFamily="49" charset="-122"/>
                <a:ea typeface="黑体" panose="02010609060101010101" pitchFamily="49" charset="-122"/>
              </a:rPr>
              <a:t>BHT</a:t>
            </a:r>
            <a:r>
              <a:rPr lang="zh-CN" altLang="en-US" dirty="0">
                <a:latin typeface="黑体" panose="02010609060101010101" pitchFamily="49" charset="-122"/>
                <a:ea typeface="黑体" panose="02010609060101010101" pitchFamily="49" charset="-122"/>
              </a:rPr>
              <a:t>捕捉</a:t>
            </a:r>
            <a:r>
              <a:rPr lang="en-US" altLang="zh-CN" dirty="0">
                <a:latin typeface="黑体" panose="02010609060101010101" pitchFamily="49" charset="-122"/>
                <a:ea typeface="黑体" panose="02010609060101010101" pitchFamily="49" charset="-122"/>
              </a:rPr>
              <a:t>BTB</a:t>
            </a:r>
            <a:r>
              <a:rPr lang="zh-CN" altLang="en-US" dirty="0">
                <a:latin typeface="黑体" panose="02010609060101010101" pitchFamily="49" charset="-122"/>
                <a:ea typeface="黑体" panose="02010609060101010101" pitchFamily="49" charset="-122"/>
              </a:rPr>
              <a:t>遗漏的分支转移。</a:t>
            </a:r>
          </a:p>
        </p:txBody>
      </p:sp>
    </p:spTree>
    <p:extLst>
      <p:ext uri="{BB962C8B-B14F-4D97-AF65-F5344CB8AC3E}">
        <p14:creationId xmlns:p14="http://schemas.microsoft.com/office/powerpoint/2010/main" val="43753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31DC0A-D7FA-4565-AB22-1CEB45AF7C5A}"/>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的流水线</a:t>
            </a:r>
          </a:p>
        </p:txBody>
      </p:sp>
      <p:sp>
        <p:nvSpPr>
          <p:cNvPr id="3" name="内容占位符 2">
            <a:extLst>
              <a:ext uri="{FF2B5EF4-FFF2-40B4-BE49-F238E27FC236}">
                <a16:creationId xmlns:a16="http://schemas.microsoft.com/office/drawing/2014/main" id="{5027FE0D-8F0E-407F-A278-DE2050858FDB}"/>
              </a:ext>
            </a:extLst>
          </p:cNvPr>
          <p:cNvSpPr>
            <a:spLocks noGrp="1"/>
          </p:cNvSpPr>
          <p:nvPr>
            <p:ph idx="1"/>
          </p:nvPr>
        </p:nvSpPr>
        <p:spPr>
          <a:xfrm>
            <a:off x="838200" y="1825625"/>
            <a:ext cx="4398818" cy="4810702"/>
          </a:xfrm>
        </p:spPr>
        <p:txBody>
          <a:bodyPr>
            <a:normAutofit/>
          </a:bodyPr>
          <a:lstStyle/>
          <a:p>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拥有可配置的 </a:t>
            </a:r>
            <a:r>
              <a:rPr lang="en-US" altLang="zh-CN" dirty="0">
                <a:latin typeface="黑体" panose="02010609060101010101" pitchFamily="49" charset="-122"/>
                <a:ea typeface="黑体" panose="02010609060101010101" pitchFamily="49" charset="-122"/>
              </a:rPr>
              <a:t>9-12 </a:t>
            </a:r>
            <a:r>
              <a:rPr lang="zh-CN" altLang="en-US" dirty="0">
                <a:latin typeface="黑体" panose="02010609060101010101" pitchFamily="49" charset="-122"/>
                <a:ea typeface="黑体" panose="02010609060101010101" pitchFamily="49" charset="-122"/>
              </a:rPr>
              <a:t>级流水线，以</a:t>
            </a:r>
            <a:r>
              <a:rPr lang="en-US" altLang="zh-CN" dirty="0">
                <a:latin typeface="黑体" panose="02010609060101010101" pitchFamily="49" charset="-122"/>
                <a:ea typeface="黑体" panose="02010609060101010101" pitchFamily="49" charset="-122"/>
              </a:rPr>
              <a:t>9</a:t>
            </a:r>
            <a:r>
              <a:rPr lang="zh-CN" altLang="en-US" dirty="0">
                <a:latin typeface="黑体" panose="02010609060101010101" pitchFamily="49" charset="-122"/>
                <a:ea typeface="黑体" panose="02010609060101010101" pitchFamily="49" charset="-122"/>
              </a:rPr>
              <a:t>级流水线为例，流水线各阶段分别为：</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指令获取、指令封装、指令缓存、指令译码、指令重命名、指令发射、访问寄存器堆、指令执行、指令回写</a:t>
            </a:r>
          </a:p>
          <a:p>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流水线采用</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发射、</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执行的深度乱序执行架构。</a:t>
            </a:r>
          </a:p>
        </p:txBody>
      </p:sp>
      <p:pic>
        <p:nvPicPr>
          <p:cNvPr id="8" name="图片 7">
            <a:extLst>
              <a:ext uri="{FF2B5EF4-FFF2-40B4-BE49-F238E27FC236}">
                <a16:creationId xmlns:a16="http://schemas.microsoft.com/office/drawing/2014/main" id="{12FF9F29-F18A-46ED-91B1-7562EBBDF2BF}"/>
              </a:ext>
            </a:extLst>
          </p:cNvPr>
          <p:cNvPicPr>
            <a:picLocks noChangeAspect="1"/>
          </p:cNvPicPr>
          <p:nvPr/>
        </p:nvPicPr>
        <p:blipFill>
          <a:blip r:embed="rId2"/>
          <a:stretch>
            <a:fillRect/>
          </a:stretch>
        </p:blipFill>
        <p:spPr>
          <a:xfrm>
            <a:off x="5591868" y="1825625"/>
            <a:ext cx="5658640" cy="4553585"/>
          </a:xfrm>
          <a:prstGeom prst="rect">
            <a:avLst/>
          </a:prstGeom>
        </p:spPr>
      </p:pic>
    </p:spTree>
    <p:extLst>
      <p:ext uri="{BB962C8B-B14F-4D97-AF65-F5344CB8AC3E}">
        <p14:creationId xmlns:p14="http://schemas.microsoft.com/office/powerpoint/2010/main" val="868121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DD59B0-7474-4617-89A5-63544E3EB2DE}"/>
              </a:ext>
            </a:extLst>
          </p:cNvPr>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的分支预测</a:t>
            </a:r>
          </a:p>
        </p:txBody>
      </p:sp>
      <p:sp>
        <p:nvSpPr>
          <p:cNvPr id="3" name="内容占位符 2">
            <a:extLst>
              <a:ext uri="{FF2B5EF4-FFF2-40B4-BE49-F238E27FC236}">
                <a16:creationId xmlns:a16="http://schemas.microsoft.com/office/drawing/2014/main" id="{F63D3D72-EC89-4E03-8BA5-CDBAFE9957C3}"/>
              </a:ext>
            </a:extLst>
          </p:cNvPr>
          <p:cNvSpPr>
            <a:spLocks noGrp="1"/>
          </p:cNvSpPr>
          <p:nvPr>
            <p:ph idx="1"/>
          </p:nvPr>
        </p:nvSpPr>
        <p:spPr/>
        <p:txBody>
          <a:bodyPr/>
          <a:lstStyle/>
          <a:p>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采用了混合的分支预测技术，主要包括：</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分支历史表</a:t>
            </a:r>
          </a:p>
          <a:p>
            <a:pPr lvl="1"/>
            <a:r>
              <a:rPr lang="zh-CN" altLang="zh-CN" dirty="0">
                <a:latin typeface="黑体" panose="02010609060101010101" pitchFamily="49" charset="-122"/>
                <a:ea typeface="黑体" panose="02010609060101010101" pitchFamily="49" charset="-122"/>
              </a:rPr>
              <a:t>分支跳转目标预测器</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间接分支预测器</a:t>
            </a:r>
            <a:endParaRPr lang="en-US" altLang="zh-CN" dirty="0">
              <a:latin typeface="黑体" panose="02010609060101010101" pitchFamily="49" charset="-122"/>
              <a:ea typeface="黑体" panose="02010609060101010101" pitchFamily="49" charset="-122"/>
            </a:endParaRPr>
          </a:p>
          <a:p>
            <a:pPr lvl="1"/>
            <a:r>
              <a:rPr lang="zh-CN" altLang="zh-CN" dirty="0">
                <a:latin typeface="黑体" panose="02010609060101010101" pitchFamily="49" charset="-122"/>
                <a:ea typeface="黑体" panose="02010609060101010101" pitchFamily="49" charset="-122"/>
              </a:rPr>
              <a:t>快速跳转目标预测器</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返回地址预测器</a:t>
            </a:r>
          </a:p>
        </p:txBody>
      </p:sp>
      <p:pic>
        <p:nvPicPr>
          <p:cNvPr id="4" name="图片 3">
            <a:extLst>
              <a:ext uri="{FF2B5EF4-FFF2-40B4-BE49-F238E27FC236}">
                <a16:creationId xmlns:a16="http://schemas.microsoft.com/office/drawing/2014/main" id="{C0CFB2B7-256C-4BED-83A8-DFF53287F6D4}"/>
              </a:ext>
            </a:extLst>
          </p:cNvPr>
          <p:cNvPicPr>
            <a:picLocks noChangeAspect="1"/>
          </p:cNvPicPr>
          <p:nvPr/>
        </p:nvPicPr>
        <p:blipFill>
          <a:blip r:embed="rId2"/>
          <a:stretch>
            <a:fillRect/>
          </a:stretch>
        </p:blipFill>
        <p:spPr>
          <a:xfrm>
            <a:off x="6712704" y="2563091"/>
            <a:ext cx="4459326" cy="2701636"/>
          </a:xfrm>
          <a:prstGeom prst="rect">
            <a:avLst/>
          </a:prstGeom>
        </p:spPr>
      </p:pic>
    </p:spTree>
    <p:extLst>
      <p:ext uri="{BB962C8B-B14F-4D97-AF65-F5344CB8AC3E}">
        <p14:creationId xmlns:p14="http://schemas.microsoft.com/office/powerpoint/2010/main" val="1697560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7C8DDB-E9BD-42A2-9647-3860CA22D553}"/>
              </a:ext>
            </a:extLst>
          </p:cNvPr>
          <p:cNvSpPr>
            <a:spLocks noGrp="1"/>
          </p:cNvSpPr>
          <p:nvPr>
            <p:ph type="title"/>
          </p:nvPr>
        </p:nvSpPr>
        <p:spPr/>
        <p:txBody>
          <a:bodyPr>
            <a:normAutofit/>
          </a:bodyPr>
          <a:lstStyle/>
          <a:p>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对流水线的配置</a:t>
            </a:r>
          </a:p>
        </p:txBody>
      </p:sp>
      <p:sp>
        <p:nvSpPr>
          <p:cNvPr id="3" name="内容占位符 2">
            <a:extLst>
              <a:ext uri="{FF2B5EF4-FFF2-40B4-BE49-F238E27FC236}">
                <a16:creationId xmlns:a16="http://schemas.microsoft.com/office/drawing/2014/main" id="{210F1BFE-51F6-447F-8582-2979424826ED}"/>
              </a:ext>
            </a:extLst>
          </p:cNvPr>
          <p:cNvSpPr>
            <a:spLocks noGrp="1"/>
          </p:cNvSpPr>
          <p:nvPr>
            <p:ph idx="1"/>
          </p:nvPr>
        </p:nvSpPr>
        <p:spPr/>
        <p:txBody>
          <a:bodyPr/>
          <a:lstStyle/>
          <a:p>
            <a:r>
              <a:rPr lang="en-US" altLang="zh-CN" dirty="0">
                <a:latin typeface="黑体" panose="02010609060101010101" pitchFamily="49" charset="-122"/>
                <a:ea typeface="黑体" panose="02010609060101010101" pitchFamily="49" charset="-122"/>
              </a:rPr>
              <a:t>C910</a:t>
            </a:r>
            <a:r>
              <a:rPr lang="zh-CN" altLang="en-US" dirty="0">
                <a:latin typeface="黑体" panose="02010609060101010101" pitchFamily="49" charset="-122"/>
                <a:ea typeface="黑体" panose="02010609060101010101" pitchFamily="49" charset="-122"/>
              </a:rPr>
              <a:t>可以通过配置控制状态寄存器（</a:t>
            </a:r>
            <a:r>
              <a:rPr lang="en-US" altLang="zh-CN" dirty="0">
                <a:latin typeface="黑体" panose="02010609060101010101" pitchFamily="49" charset="-122"/>
                <a:ea typeface="黑体" panose="02010609060101010101" pitchFamily="49" charset="-122"/>
              </a:rPr>
              <a:t>CSR</a:t>
            </a:r>
            <a:r>
              <a:rPr lang="zh-CN" altLang="en-US" dirty="0">
                <a:latin typeface="黑体" panose="02010609060101010101" pitchFamily="49" charset="-122"/>
                <a:ea typeface="黑体" panose="02010609060101010101" pitchFamily="49" charset="-122"/>
              </a:rPr>
              <a:t>）来实现调整</a:t>
            </a:r>
            <a:r>
              <a:rPr lang="en-US" altLang="zh-CN" dirty="0">
                <a:latin typeface="黑体" panose="02010609060101010101" pitchFamily="49" charset="-122"/>
                <a:ea typeface="黑体" panose="02010609060101010101" pitchFamily="49" charset="-122"/>
              </a:rPr>
              <a:t>Pipeline</a:t>
            </a:r>
            <a:r>
              <a:rPr lang="zh-CN" altLang="en-US" dirty="0">
                <a:latin typeface="黑体" panose="02010609060101010101" pitchFamily="49" charset="-122"/>
                <a:ea typeface="黑体" panose="02010609060101010101" pitchFamily="49" charset="-122"/>
              </a:rPr>
              <a:t>参数，本实验中主要通过设置</a:t>
            </a:r>
            <a:r>
              <a:rPr lang="zh-CN" altLang="zh-CN" dirty="0">
                <a:latin typeface="黑体" panose="02010609060101010101" pitchFamily="49" charset="-122"/>
                <a:ea typeface="黑体" panose="02010609060101010101" pitchFamily="49" charset="-122"/>
              </a:rPr>
              <a:t>机器模式硬件配置寄存器（</a:t>
            </a:r>
            <a:r>
              <a:rPr lang="en-US" altLang="zh-CN" b="1" dirty="0">
                <a:latin typeface="黑体" panose="02010609060101010101" pitchFamily="49" charset="-122"/>
                <a:ea typeface="黑体" panose="02010609060101010101" pitchFamily="49" charset="-122"/>
              </a:rPr>
              <a:t>MHCR</a:t>
            </a:r>
            <a:r>
              <a:rPr lang="zh-CN"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来实现不同分支预测的配置。</a:t>
            </a:r>
            <a:r>
              <a:rPr lang="en-US" altLang="zh-CN" dirty="0">
                <a:latin typeface="黑体" panose="02010609060101010101" pitchFamily="49" charset="-122"/>
                <a:ea typeface="黑体" panose="02010609060101010101" pitchFamily="49" charset="-122"/>
              </a:rPr>
              <a:t>MHCR</a:t>
            </a:r>
            <a:r>
              <a:rPr lang="zh-CN" altLang="en-US" dirty="0">
                <a:latin typeface="黑体" panose="02010609060101010101" pitchFamily="49" charset="-122"/>
                <a:ea typeface="黑体" panose="02010609060101010101" pitchFamily="49" charset="-122"/>
              </a:rPr>
              <a:t>各有效位如下图所示。</a:t>
            </a:r>
          </a:p>
        </p:txBody>
      </p:sp>
      <p:pic>
        <p:nvPicPr>
          <p:cNvPr id="4" name="图片 3">
            <a:extLst>
              <a:ext uri="{FF2B5EF4-FFF2-40B4-BE49-F238E27FC236}">
                <a16:creationId xmlns:a16="http://schemas.microsoft.com/office/drawing/2014/main" id="{975ADB9D-362C-46A2-B95D-F4EE50821239}"/>
              </a:ext>
            </a:extLst>
          </p:cNvPr>
          <p:cNvPicPr/>
          <p:nvPr/>
        </p:nvPicPr>
        <p:blipFill>
          <a:blip r:embed="rId2"/>
          <a:stretch>
            <a:fillRect/>
          </a:stretch>
        </p:blipFill>
        <p:spPr>
          <a:xfrm>
            <a:off x="2067187" y="3436644"/>
            <a:ext cx="8229600" cy="2875256"/>
          </a:xfrm>
          <a:prstGeom prst="rect">
            <a:avLst/>
          </a:prstGeom>
        </p:spPr>
      </p:pic>
    </p:spTree>
    <p:extLst>
      <p:ext uri="{BB962C8B-B14F-4D97-AF65-F5344CB8AC3E}">
        <p14:creationId xmlns:p14="http://schemas.microsoft.com/office/powerpoint/2010/main" val="3560163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DEF06-3671-4559-B602-1EEB65D7D8FB}"/>
              </a:ext>
            </a:extLst>
          </p:cNvPr>
          <p:cNvSpPr>
            <a:spLocks noGrp="1"/>
          </p:cNvSpPr>
          <p:nvPr>
            <p:ph type="title"/>
          </p:nvPr>
        </p:nvSpPr>
        <p:spPr/>
        <p:txBody>
          <a:bodyPr/>
          <a:lstStyle/>
          <a:p>
            <a:r>
              <a:rPr lang="zh-CN" altLang="zh-CN" dirty="0">
                <a:latin typeface="黑体" panose="02010609060101010101" pitchFamily="49" charset="-122"/>
                <a:ea typeface="黑体" panose="02010609060101010101" pitchFamily="49" charset="-122"/>
              </a:rPr>
              <a:t>机器模式硬件配置寄存器（</a:t>
            </a:r>
            <a:r>
              <a:rPr lang="en-US" altLang="zh-CN" b="1" dirty="0">
                <a:latin typeface="黑体" panose="02010609060101010101" pitchFamily="49" charset="-122"/>
                <a:ea typeface="黑体" panose="02010609060101010101" pitchFamily="49" charset="-122"/>
              </a:rPr>
              <a:t>MHCR</a:t>
            </a:r>
            <a:r>
              <a:rPr lang="zh-CN"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5E6DDF3D-CF99-453E-BBAB-90099E93DA1A}"/>
              </a:ext>
            </a:extLst>
          </p:cNvPr>
          <p:cNvSpPr>
            <a:spLocks noGrp="1"/>
          </p:cNvSpPr>
          <p:nvPr>
            <p:ph idx="1"/>
          </p:nvPr>
        </p:nvSpPr>
        <p:spPr>
          <a:xfrm>
            <a:off x="838200" y="1825625"/>
            <a:ext cx="10515600" cy="4781652"/>
          </a:xfrm>
        </p:spPr>
        <p:txBody>
          <a:bodyPr>
            <a:normAutofit fontScale="85000" lnSpcReduction="20000"/>
          </a:bodyPr>
          <a:lstStyle/>
          <a:p>
            <a:r>
              <a:rPr lang="en-US" altLang="zh-CN" dirty="0">
                <a:latin typeface="黑体" panose="02010609060101010101" pitchFamily="49" charset="-122"/>
                <a:ea typeface="黑体" panose="02010609060101010101" pitchFamily="49" charset="-122"/>
              </a:rPr>
              <a:t>RS-</a:t>
            </a:r>
            <a:r>
              <a:rPr lang="zh-CN" altLang="en-US" dirty="0">
                <a:latin typeface="黑体" panose="02010609060101010101" pitchFamily="49" charset="-122"/>
                <a:ea typeface="黑体" panose="02010609060101010101" pitchFamily="49" charset="-122"/>
              </a:rPr>
              <a:t>地址返回栈设置位：</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RS=0</a:t>
            </a:r>
            <a:r>
              <a:rPr lang="zh-CN" altLang="en-US" dirty="0">
                <a:latin typeface="黑体" panose="02010609060101010101" pitchFamily="49" charset="-122"/>
                <a:ea typeface="黑体" panose="02010609060101010101" pitchFamily="49" charset="-122"/>
              </a:rPr>
              <a:t>时，返回栈关闭。</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RS=1</a:t>
            </a:r>
            <a:r>
              <a:rPr lang="zh-CN" altLang="en-US" dirty="0">
                <a:latin typeface="黑体" panose="02010609060101010101" pitchFamily="49" charset="-122"/>
                <a:ea typeface="黑体" panose="02010609060101010101" pitchFamily="49" charset="-122"/>
              </a:rPr>
              <a:t>时，返回栈开启。</a:t>
            </a:r>
          </a:p>
          <a:p>
            <a:r>
              <a:rPr lang="en-US" altLang="zh-CN" dirty="0">
                <a:latin typeface="黑体" panose="02010609060101010101" pitchFamily="49" charset="-122"/>
                <a:ea typeface="黑体" panose="02010609060101010101" pitchFamily="49" charset="-122"/>
              </a:rPr>
              <a:t>BPE-</a:t>
            </a:r>
            <a:r>
              <a:rPr lang="zh-CN" altLang="en-US" dirty="0">
                <a:latin typeface="黑体" panose="02010609060101010101" pitchFamily="49" charset="-122"/>
                <a:ea typeface="黑体" panose="02010609060101010101" pitchFamily="49" charset="-122"/>
              </a:rPr>
              <a:t>允许预测跳转设置位：</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BPE=0</a:t>
            </a:r>
            <a:r>
              <a:rPr lang="zh-CN" altLang="en-US" dirty="0">
                <a:latin typeface="黑体" panose="02010609060101010101" pitchFamily="49" charset="-122"/>
                <a:ea typeface="黑体" panose="02010609060101010101" pitchFamily="49" charset="-122"/>
              </a:rPr>
              <a:t>时，预测跳转关闭。</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BPE=1</a:t>
            </a:r>
            <a:r>
              <a:rPr lang="zh-CN" altLang="en-US" dirty="0">
                <a:latin typeface="黑体" panose="02010609060101010101" pitchFamily="49" charset="-122"/>
                <a:ea typeface="黑体" panose="02010609060101010101" pitchFamily="49" charset="-122"/>
              </a:rPr>
              <a:t>时，预测跳转开启。</a:t>
            </a:r>
          </a:p>
          <a:p>
            <a:r>
              <a:rPr lang="en-US" altLang="zh-CN" dirty="0">
                <a:latin typeface="黑体" panose="02010609060101010101" pitchFamily="49" charset="-122"/>
                <a:ea typeface="黑体" panose="02010609060101010101" pitchFamily="49" charset="-122"/>
              </a:rPr>
              <a:t>BTB-</a:t>
            </a:r>
            <a:r>
              <a:rPr lang="zh-CN" altLang="en-US" dirty="0">
                <a:latin typeface="黑体" panose="02010609060101010101" pitchFamily="49" charset="-122"/>
                <a:ea typeface="黑体" panose="02010609060101010101" pitchFamily="49" charset="-122"/>
              </a:rPr>
              <a:t>分支目标预测使能位：</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BTB=0</a:t>
            </a:r>
            <a:r>
              <a:rPr lang="zh-CN" altLang="en-US" dirty="0">
                <a:latin typeface="黑体" panose="02010609060101010101" pitchFamily="49" charset="-122"/>
                <a:ea typeface="黑体" panose="02010609060101010101" pitchFamily="49" charset="-122"/>
              </a:rPr>
              <a:t>时，分支目标预测关闭。</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BTB=1</a:t>
            </a:r>
            <a:r>
              <a:rPr lang="zh-CN" altLang="en-US" dirty="0">
                <a:latin typeface="黑体" panose="02010609060101010101" pitchFamily="49" charset="-122"/>
                <a:ea typeface="黑体" panose="02010609060101010101" pitchFamily="49" charset="-122"/>
              </a:rPr>
              <a:t>时，分支目标预测开启。</a:t>
            </a:r>
          </a:p>
          <a:p>
            <a:r>
              <a:rPr lang="en-US" altLang="zh-CN" dirty="0">
                <a:latin typeface="黑体" panose="02010609060101010101" pitchFamily="49" charset="-122"/>
                <a:ea typeface="黑体" panose="02010609060101010101" pitchFamily="49" charset="-122"/>
              </a:rPr>
              <a:t>IBPE-</a:t>
            </a:r>
            <a:r>
              <a:rPr lang="zh-CN" altLang="en-US" dirty="0">
                <a:latin typeface="黑体" panose="02010609060101010101" pitchFamily="49" charset="-122"/>
                <a:ea typeface="黑体" panose="02010609060101010101" pitchFamily="49" charset="-122"/>
              </a:rPr>
              <a:t>间接分支跳转预测跳转使能位：</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IBPE=0</a:t>
            </a:r>
            <a:r>
              <a:rPr lang="zh-CN" altLang="en-US" dirty="0">
                <a:latin typeface="黑体" panose="02010609060101010101" pitchFamily="49" charset="-122"/>
                <a:ea typeface="黑体" panose="02010609060101010101" pitchFamily="49" charset="-122"/>
              </a:rPr>
              <a:t>时，间接分支跳转预测关闭。</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IBPE=1</a:t>
            </a:r>
            <a:r>
              <a:rPr lang="zh-CN" altLang="en-US" dirty="0">
                <a:latin typeface="黑体" panose="02010609060101010101" pitchFamily="49" charset="-122"/>
                <a:ea typeface="黑体" panose="02010609060101010101" pitchFamily="49" charset="-122"/>
              </a:rPr>
              <a:t>时，间接分支跳转预测开启。</a:t>
            </a:r>
          </a:p>
          <a:p>
            <a:r>
              <a:rPr lang="en-US" altLang="zh-CN" dirty="0">
                <a:latin typeface="黑体" panose="02010609060101010101" pitchFamily="49" charset="-122"/>
                <a:ea typeface="黑体" panose="02010609060101010101" pitchFamily="49" charset="-122"/>
              </a:rPr>
              <a:t>L0BTB-</a:t>
            </a:r>
            <a:r>
              <a:rPr lang="zh-CN" altLang="en-US" dirty="0">
                <a:latin typeface="黑体" panose="02010609060101010101" pitchFamily="49" charset="-122"/>
                <a:ea typeface="黑体" panose="02010609060101010101" pitchFamily="49" charset="-122"/>
              </a:rPr>
              <a:t>第一级分支目标预测使能位：</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L0BTB=0</a:t>
            </a:r>
            <a:r>
              <a:rPr lang="zh-CN" altLang="en-US" dirty="0">
                <a:latin typeface="黑体" panose="02010609060101010101" pitchFamily="49" charset="-122"/>
                <a:ea typeface="黑体" panose="02010609060101010101" pitchFamily="49" charset="-122"/>
              </a:rPr>
              <a:t>时，第一级分支目标预测关闭。</a:t>
            </a:r>
          </a:p>
          <a:p>
            <a:pPr lvl="1"/>
            <a:r>
              <a:rPr lang="zh-CN" altLang="en-US" dirty="0">
                <a:latin typeface="黑体" panose="02010609060101010101" pitchFamily="49" charset="-122"/>
                <a:ea typeface="黑体" panose="02010609060101010101" pitchFamily="49" charset="-122"/>
              </a:rPr>
              <a:t>当</a:t>
            </a:r>
            <a:r>
              <a:rPr lang="en-US" altLang="zh-CN" dirty="0">
                <a:latin typeface="黑体" panose="02010609060101010101" pitchFamily="49" charset="-122"/>
                <a:ea typeface="黑体" panose="02010609060101010101" pitchFamily="49" charset="-122"/>
              </a:rPr>
              <a:t>L0BTB=1</a:t>
            </a:r>
            <a:r>
              <a:rPr lang="zh-CN" altLang="en-US" dirty="0">
                <a:latin typeface="黑体" panose="02010609060101010101" pitchFamily="49" charset="-122"/>
                <a:ea typeface="黑体" panose="02010609060101010101" pitchFamily="49" charset="-122"/>
              </a:rPr>
              <a:t>时，第一级分支目标预测开启。</a:t>
            </a:r>
          </a:p>
        </p:txBody>
      </p:sp>
    </p:spTree>
    <p:extLst>
      <p:ext uri="{BB962C8B-B14F-4D97-AF65-F5344CB8AC3E}">
        <p14:creationId xmlns:p14="http://schemas.microsoft.com/office/powerpoint/2010/main" val="1435469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0FE8D6-59AE-4451-8124-51DDD9343B84}"/>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实验步骤</a:t>
            </a:r>
          </a:p>
        </p:txBody>
      </p:sp>
      <p:sp>
        <p:nvSpPr>
          <p:cNvPr id="3" name="内容占位符 2">
            <a:extLst>
              <a:ext uri="{FF2B5EF4-FFF2-40B4-BE49-F238E27FC236}">
                <a16:creationId xmlns:a16="http://schemas.microsoft.com/office/drawing/2014/main" id="{711FDF76-DE5A-4F6E-9FCD-4E314039F616}"/>
              </a:ext>
            </a:extLst>
          </p:cNvPr>
          <p:cNvSpPr>
            <a:spLocks noGrp="1"/>
          </p:cNvSpPr>
          <p:nvPr>
            <p:ph idx="1"/>
          </p:nvPr>
        </p:nvSpPr>
        <p:spPr/>
        <p:txBody>
          <a:bodyPr/>
          <a:lstStyle/>
          <a:p>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a:t>
            </a:r>
            <a:r>
              <a:rPr lang="zh-CN" altLang="zh-CN" dirty="0">
                <a:latin typeface="黑体" panose="02010609060101010101" pitchFamily="49" charset="-122"/>
                <a:ea typeface="黑体" panose="02010609060101010101" pitchFamily="49" charset="-122"/>
              </a:rPr>
              <a:t>在</a:t>
            </a:r>
            <a:r>
              <a:rPr lang="en-US" altLang="zh-CN" dirty="0">
                <a:latin typeface="黑体" panose="02010609060101010101" pitchFamily="49" charset="-122"/>
                <a:ea typeface="黑体" panose="02010609060101010101" pitchFamily="49" charset="-122"/>
              </a:rPr>
              <a:t>lib/</a:t>
            </a:r>
            <a:r>
              <a:rPr lang="en-US" altLang="zh-CN" dirty="0" err="1">
                <a:latin typeface="黑体" panose="02010609060101010101" pitchFamily="49" charset="-122"/>
                <a:ea typeface="黑体" panose="02010609060101010101" pitchFamily="49" charset="-122"/>
              </a:rPr>
              <a:t>clib</a:t>
            </a:r>
            <a:r>
              <a:rPr lang="zh-CN" altLang="zh-CN" dirty="0">
                <a:latin typeface="黑体" panose="02010609060101010101" pitchFamily="49" charset="-122"/>
                <a:ea typeface="黑体" panose="02010609060101010101" pitchFamily="49" charset="-122"/>
              </a:rPr>
              <a:t>目录下的</a:t>
            </a:r>
            <a:r>
              <a:rPr lang="en-US" altLang="zh-CN" dirty="0">
                <a:latin typeface="黑体" panose="02010609060101010101" pitchFamily="49" charset="-122"/>
                <a:ea typeface="黑体" panose="02010609060101010101" pitchFamily="49" charset="-122"/>
              </a:rPr>
              <a:t>crt0.s</a:t>
            </a:r>
            <a:r>
              <a:rPr lang="zh-CN" altLang="en-US" dirty="0">
                <a:latin typeface="黑体" panose="02010609060101010101" pitchFamily="49" charset="-122"/>
                <a:ea typeface="黑体" panose="02010609060101010101" pitchFamily="49" charset="-122"/>
              </a:rPr>
              <a:t>启动</a:t>
            </a:r>
            <a:r>
              <a:rPr lang="zh-CN" altLang="zh-CN" dirty="0">
                <a:latin typeface="黑体" panose="02010609060101010101" pitchFamily="49" charset="-122"/>
                <a:ea typeface="黑体" panose="02010609060101010101" pitchFamily="49" charset="-122"/>
              </a:rPr>
              <a:t>文件中，</a:t>
            </a:r>
            <a:r>
              <a:rPr lang="zh-CN" altLang="en-US" dirty="0">
                <a:latin typeface="黑体" panose="02010609060101010101" pitchFamily="49" charset="-122"/>
                <a:ea typeface="黑体" panose="02010609060101010101" pitchFamily="49" charset="-122"/>
              </a:rPr>
              <a:t>对</a:t>
            </a:r>
            <a:r>
              <a:rPr lang="en-US" altLang="zh-CN" dirty="0">
                <a:latin typeface="黑体" panose="02010609060101010101" pitchFamily="49" charset="-122"/>
                <a:ea typeface="黑体" panose="02010609060101010101" pitchFamily="49" charset="-122"/>
              </a:rPr>
              <a:t>MHCR</a:t>
            </a:r>
            <a:r>
              <a:rPr lang="zh-CN" altLang="en-US" dirty="0">
                <a:latin typeface="黑体" panose="02010609060101010101" pitchFamily="49" charset="-122"/>
                <a:ea typeface="黑体" panose="02010609060101010101" pitchFamily="49" charset="-122"/>
              </a:rPr>
              <a:t>寄存器进行设置，选择对应的分支预测配置。</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、在选择的分支预测配置情况下，仿真</a:t>
            </a:r>
            <a:r>
              <a:rPr lang="en-US" altLang="zh-CN" dirty="0" err="1">
                <a:latin typeface="黑体" panose="02010609060101010101" pitchFamily="49" charset="-122"/>
                <a:ea typeface="黑体" panose="02010609060101010101" pitchFamily="49" charset="-122"/>
              </a:rPr>
              <a:t>dhrystone</a:t>
            </a:r>
            <a:r>
              <a:rPr lang="zh-CN" altLang="en-US" dirty="0">
                <a:latin typeface="黑体" panose="02010609060101010101" pitchFamily="49" charset="-122"/>
                <a:ea typeface="黑体" panose="02010609060101010101" pitchFamily="49" charset="-122"/>
              </a:rPr>
              <a:t>和</a:t>
            </a:r>
            <a:r>
              <a:rPr lang="en-US" altLang="zh-CN" dirty="0" err="1">
                <a:latin typeface="黑体" panose="02010609060101010101" pitchFamily="49" charset="-122"/>
                <a:ea typeface="黑体" panose="02010609060101010101" pitchFamily="49" charset="-122"/>
              </a:rPr>
              <a:t>coremark</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分别</a:t>
            </a:r>
            <a:r>
              <a:rPr lang="zh-CN" altLang="zh-CN" dirty="0">
                <a:latin typeface="黑体" panose="02010609060101010101" pitchFamily="49" charset="-122"/>
                <a:ea typeface="黑体" panose="02010609060101010101" pitchFamily="49" charset="-122"/>
              </a:rPr>
              <a:t>统计</a:t>
            </a:r>
            <a:r>
              <a:rPr lang="en-US" altLang="zh-CN" dirty="0" err="1">
                <a:latin typeface="黑体" panose="02010609060101010101" pitchFamily="49" charset="-122"/>
                <a:ea typeface="黑体" panose="02010609060101010101" pitchFamily="49" charset="-122"/>
              </a:rPr>
              <a:t>dhrystone</a:t>
            </a:r>
            <a:r>
              <a:rPr lang="zh-CN" altLang="en-US" dirty="0">
                <a:latin typeface="黑体" panose="02010609060101010101" pitchFamily="49" charset="-122"/>
                <a:ea typeface="黑体" panose="02010609060101010101" pitchFamily="49" charset="-122"/>
              </a:rPr>
              <a:t>和</a:t>
            </a:r>
            <a:r>
              <a:rPr lang="en-US" altLang="zh-CN" dirty="0" err="1">
                <a:latin typeface="黑体" panose="02010609060101010101" pitchFamily="49" charset="-122"/>
                <a:ea typeface="黑体" panose="02010609060101010101" pitchFamily="49" charset="-122"/>
              </a:rPr>
              <a:t>coremark</a:t>
            </a:r>
            <a:r>
              <a:rPr lang="zh-CN" altLang="en-US" dirty="0">
                <a:latin typeface="黑体" panose="02010609060101010101" pitchFamily="49" charset="-122"/>
                <a:ea typeface="黑体" panose="02010609060101010101" pitchFamily="49" charset="-122"/>
              </a:rPr>
              <a:t>两种</a:t>
            </a:r>
            <a:r>
              <a:rPr lang="en-US" altLang="zh-CN" dirty="0">
                <a:latin typeface="黑体" panose="02010609060101010101" pitchFamily="49" charset="-122"/>
                <a:ea typeface="黑体" panose="02010609060101010101" pitchFamily="49" charset="-122"/>
              </a:rPr>
              <a:t>benchmark</a:t>
            </a:r>
            <a:r>
              <a:rPr lang="zh-CN" altLang="en-US" dirty="0">
                <a:latin typeface="黑体" panose="02010609060101010101" pitchFamily="49" charset="-122"/>
                <a:ea typeface="黑体" panose="02010609060101010101" pitchFamily="49" charset="-122"/>
              </a:rPr>
              <a:t>在不同分支预测配置下的测试结果，</a:t>
            </a:r>
            <a:r>
              <a:rPr lang="zh-CN" altLang="zh-CN" dirty="0">
                <a:latin typeface="黑体" panose="02010609060101010101" pitchFamily="49" charset="-122"/>
                <a:ea typeface="黑体" panose="02010609060101010101" pitchFamily="49" charset="-122"/>
              </a:rPr>
              <a:t>最终汇总成</a:t>
            </a:r>
            <a:r>
              <a:rPr lang="zh-CN" altLang="en-US" dirty="0">
                <a:latin typeface="黑体" panose="02010609060101010101" pitchFamily="49" charset="-122"/>
                <a:ea typeface="黑体" panose="02010609060101010101" pitchFamily="49" charset="-122"/>
              </a:rPr>
              <a:t>两张</a:t>
            </a:r>
            <a:r>
              <a:rPr lang="zh-CN" altLang="zh-CN" dirty="0">
                <a:latin typeface="黑体" panose="02010609060101010101" pitchFamily="49" charset="-122"/>
                <a:ea typeface="黑体" panose="02010609060101010101" pitchFamily="49" charset="-122"/>
              </a:rPr>
              <a:t>表</a:t>
            </a:r>
            <a:r>
              <a:rPr lang="zh-CN" altLang="en-US" dirty="0">
                <a:latin typeface="黑体" panose="02010609060101010101" pitchFamily="49" charset="-122"/>
                <a:ea typeface="黑体" panose="02010609060101010101" pitchFamily="49" charset="-122"/>
              </a:rPr>
              <a:t>格</a:t>
            </a:r>
            <a:r>
              <a:rPr lang="zh-CN"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（表格见实验文档）</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、对不同配置下的测试结果进行比较，分析原因。</a:t>
            </a:r>
            <a:endParaRPr lang="en-US" altLang="zh-CN" dirty="0">
              <a:latin typeface="黑体" panose="02010609060101010101" pitchFamily="49" charset="-122"/>
              <a:ea typeface="黑体" panose="02010609060101010101" pitchFamily="49" charset="-122"/>
            </a:endParaRPr>
          </a:p>
          <a:p>
            <a:endParaRPr lang="zh-CN" altLang="en-US" dirty="0"/>
          </a:p>
        </p:txBody>
      </p:sp>
    </p:spTree>
    <p:extLst>
      <p:ext uri="{BB962C8B-B14F-4D97-AF65-F5344CB8AC3E}">
        <p14:creationId xmlns:p14="http://schemas.microsoft.com/office/powerpoint/2010/main" val="32417064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TotalTime>
  <Words>1270</Words>
  <Application>Microsoft Office PowerPoint</Application>
  <PresentationFormat>宽屏</PresentationFormat>
  <Paragraphs>82</Paragraphs>
  <Slides>18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黑体</vt:lpstr>
      <vt:lpstr>微软雅黑</vt:lpstr>
      <vt:lpstr>Arial</vt:lpstr>
      <vt:lpstr>Cambria Math</vt:lpstr>
      <vt:lpstr>Office 主题​​</vt:lpstr>
      <vt:lpstr>Pipeline实验</vt:lpstr>
      <vt:lpstr>目录</vt:lpstr>
      <vt:lpstr>Pipeline回顾和介绍</vt:lpstr>
      <vt:lpstr>RISC五级流水线</vt:lpstr>
      <vt:lpstr>流水线带来的性能提升</vt:lpstr>
      <vt:lpstr>流水线的冲突</vt:lpstr>
      <vt:lpstr>分支预测</vt:lpstr>
      <vt:lpstr>2bit分支预测器</vt:lpstr>
      <vt:lpstr>采用GHR的两级预测器（全局预测器）</vt:lpstr>
      <vt:lpstr>采用BHT的两级预测器（局部预测器）</vt:lpstr>
      <vt:lpstr>Tournament 预测器</vt:lpstr>
      <vt:lpstr>BTB</vt:lpstr>
      <vt:lpstr>BTB与BHT相互结合</vt:lpstr>
      <vt:lpstr>C910的流水线</vt:lpstr>
      <vt:lpstr>C910的分支预测</vt:lpstr>
      <vt:lpstr>C910对流水线的配置</vt:lpstr>
      <vt:lpstr>机器模式硬件配置寄存器（MHCR）</vt:lpstr>
      <vt:lpstr>实验步骤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Pipeline实验</dc:title>
  <dc:creator>刘 旭东</dc:creator>
  <cp:lastModifiedBy>Li Menghan</cp:lastModifiedBy>
  <cp:revision>44</cp:revision>
  <dcterms:created xsi:type="dcterms:W3CDTF">2020-08-02T15:18:39Z</dcterms:created>
  <dcterms:modified xsi:type="dcterms:W3CDTF">2023-04-18T02:51:29Z</dcterms:modified>
</cp:coreProperties>
</file>