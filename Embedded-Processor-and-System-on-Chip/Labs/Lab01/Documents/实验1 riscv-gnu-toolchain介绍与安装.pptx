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57" r:id="rId3"/>
    <p:sldId id="268" r:id="rId4"/>
    <p:sldId id="271" r:id="rId5"/>
    <p:sldId id="270" r:id="rId6"/>
    <p:sldId id="272" r:id="rId7"/>
    <p:sldId id="274" r:id="rId8"/>
    <p:sldId id="275" r:id="rId9"/>
    <p:sldId id="276" r:id="rId10"/>
    <p:sldId id="277" r:id="rId11"/>
    <p:sldId id="278" r:id="rId12"/>
    <p:sldId id="282" r:id="rId13"/>
    <p:sldId id="258" r:id="rId14"/>
    <p:sldId id="259" r:id="rId15"/>
    <p:sldId id="260" r:id="rId16"/>
    <p:sldId id="261" r:id="rId17"/>
    <p:sldId id="262" r:id="rId18"/>
    <p:sldId id="263" r:id="rId19"/>
    <p:sldId id="264" r:id="rId20"/>
    <p:sldId id="265" r:id="rId21"/>
    <p:sldId id="266" r:id="rId22"/>
    <p:sldId id="267" r:id="rId2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0" d="100"/>
          <a:sy n="130" d="100"/>
        </p:scale>
        <p:origin x="511"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userId="508a02571d4e5c38" providerId="LiveId" clId="{0C7E824F-9BB4-469D-ACB8-4349F7BFD175}"/>
    <pc:docChg chg="modSld">
      <pc:chgData name="" userId="508a02571d4e5c38" providerId="LiveId" clId="{0C7E824F-9BB4-469D-ACB8-4349F7BFD175}" dt="2021-09-22T01:46:49.678" v="1"/>
      <pc:docMkLst>
        <pc:docMk/>
      </pc:docMkLst>
      <pc:sldChg chg="modSp">
        <pc:chgData name="" userId="508a02571d4e5c38" providerId="LiveId" clId="{0C7E824F-9BB4-469D-ACB8-4349F7BFD175}" dt="2021-09-22T01:46:49.678" v="1"/>
        <pc:sldMkLst>
          <pc:docMk/>
          <pc:sldMk cId="796197755" sldId="275"/>
        </pc:sldMkLst>
        <pc:spChg chg="mod">
          <ac:chgData name="" userId="508a02571d4e5c38" providerId="LiveId" clId="{0C7E824F-9BB4-469D-ACB8-4349F7BFD175}" dt="2021-09-22T01:46:49.678" v="1"/>
          <ac:spMkLst>
            <pc:docMk/>
            <pc:sldMk cId="796197755" sldId="275"/>
            <ac:spMk id="3" creationId="{CE7EB8D8-9053-489F-804B-F2BA176165CD}"/>
          </ac:spMkLst>
        </pc:spChg>
      </pc:sldChg>
    </pc:docChg>
  </pc:docChgLst>
  <pc:docChgLst>
    <pc:chgData userId="379ea384f285cb02" providerId="LiveId" clId="{D7217DF7-8E8A-4C14-AE14-95BD2B4B85EC}"/>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466076-4377-478B-B88F-EA786268C41F}" type="datetimeFigureOut">
              <a:rPr lang="zh-CN" altLang="en-US" smtClean="0"/>
              <a:t>2021/9/22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DC50D1-5F03-4BE5-A1E9-EA9428705CC9}" type="slidenum">
              <a:rPr lang="zh-CN" altLang="en-US" smtClean="0"/>
              <a:t>‹#›</a:t>
            </a:fld>
            <a:endParaRPr lang="zh-CN" altLang="en-US"/>
          </a:p>
        </p:txBody>
      </p:sp>
    </p:spTree>
    <p:extLst>
      <p:ext uri="{BB962C8B-B14F-4D97-AF65-F5344CB8AC3E}">
        <p14:creationId xmlns:p14="http://schemas.microsoft.com/office/powerpoint/2010/main" val="27169614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8DC50D1-5F03-4BE5-A1E9-EA9428705CC9}" type="slidenum">
              <a:rPr lang="zh-CN" altLang="en-US" smtClean="0"/>
              <a:t>1</a:t>
            </a:fld>
            <a:endParaRPr lang="zh-CN" altLang="en-US"/>
          </a:p>
        </p:txBody>
      </p:sp>
    </p:spTree>
    <p:extLst>
      <p:ext uri="{BB962C8B-B14F-4D97-AF65-F5344CB8AC3E}">
        <p14:creationId xmlns:p14="http://schemas.microsoft.com/office/powerpoint/2010/main" val="42246186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8DC50D1-5F03-4BE5-A1E9-EA9428705CC9}" type="slidenum">
              <a:rPr lang="zh-CN" altLang="en-US" smtClean="0"/>
              <a:t>16</a:t>
            </a:fld>
            <a:endParaRPr lang="zh-CN" altLang="en-US"/>
          </a:p>
        </p:txBody>
      </p:sp>
    </p:spTree>
    <p:extLst>
      <p:ext uri="{BB962C8B-B14F-4D97-AF65-F5344CB8AC3E}">
        <p14:creationId xmlns:p14="http://schemas.microsoft.com/office/powerpoint/2010/main" val="34744290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402D16-5A43-49AB-A11C-FA7CB6863D36}"/>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34FE790C-3D60-4DF5-A26B-CE50FF3BE7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08DABB75-29DC-4E3B-B9BF-D9CCE937B77A}"/>
              </a:ext>
            </a:extLst>
          </p:cNvPr>
          <p:cNvSpPr>
            <a:spLocks noGrp="1"/>
          </p:cNvSpPr>
          <p:nvPr>
            <p:ph type="dt" sz="half" idx="10"/>
          </p:nvPr>
        </p:nvSpPr>
        <p:spPr/>
        <p:txBody>
          <a:bodyPr/>
          <a:lstStyle/>
          <a:p>
            <a:fld id="{07C718C6-8462-4F9C-8428-2130AD8674D0}" type="datetime1">
              <a:rPr lang="zh-CN" altLang="en-US" smtClean="0"/>
              <a:t>2021/9/22</a:t>
            </a:fld>
            <a:endParaRPr lang="zh-CN" altLang="en-US"/>
          </a:p>
        </p:txBody>
      </p:sp>
      <p:sp>
        <p:nvSpPr>
          <p:cNvPr id="5" name="页脚占位符 4">
            <a:extLst>
              <a:ext uri="{FF2B5EF4-FFF2-40B4-BE49-F238E27FC236}">
                <a16:creationId xmlns:a16="http://schemas.microsoft.com/office/drawing/2014/main" id="{19354FB4-F63B-4482-9D31-A9363E380E8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8E47E83-7082-49F5-8F23-E36E90D4B6C3}"/>
              </a:ext>
            </a:extLst>
          </p:cNvPr>
          <p:cNvSpPr>
            <a:spLocks noGrp="1"/>
          </p:cNvSpPr>
          <p:nvPr>
            <p:ph type="sldNum" sz="quarter" idx="12"/>
          </p:nvPr>
        </p:nvSpPr>
        <p:spPr/>
        <p:txBody>
          <a:bodyPr/>
          <a:lstStyle/>
          <a:p>
            <a:fld id="{B1C307C6-FA7C-4D4E-9E80-039A033D7CBB}" type="slidenum">
              <a:rPr lang="zh-CN" altLang="en-US" smtClean="0"/>
              <a:t>‹#›</a:t>
            </a:fld>
            <a:endParaRPr lang="zh-CN" altLang="en-US"/>
          </a:p>
        </p:txBody>
      </p:sp>
    </p:spTree>
    <p:extLst>
      <p:ext uri="{BB962C8B-B14F-4D97-AF65-F5344CB8AC3E}">
        <p14:creationId xmlns:p14="http://schemas.microsoft.com/office/powerpoint/2010/main" val="62008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D784FC-3328-46EE-861F-22A08F6C4BF2}"/>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DE84097-1485-44B8-B65D-922696CB99E2}"/>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156EB362-E56F-4070-8754-68D0B2F45AB5}"/>
              </a:ext>
            </a:extLst>
          </p:cNvPr>
          <p:cNvSpPr>
            <a:spLocks noGrp="1"/>
          </p:cNvSpPr>
          <p:nvPr>
            <p:ph type="dt" sz="half" idx="10"/>
          </p:nvPr>
        </p:nvSpPr>
        <p:spPr/>
        <p:txBody>
          <a:bodyPr/>
          <a:lstStyle/>
          <a:p>
            <a:fld id="{502ECCC5-44A8-4AC2-9DDB-24A356BF9F77}" type="datetime1">
              <a:rPr lang="zh-CN" altLang="en-US" smtClean="0"/>
              <a:t>2021/9/22</a:t>
            </a:fld>
            <a:endParaRPr lang="zh-CN" altLang="en-US"/>
          </a:p>
        </p:txBody>
      </p:sp>
      <p:sp>
        <p:nvSpPr>
          <p:cNvPr id="5" name="页脚占位符 4">
            <a:extLst>
              <a:ext uri="{FF2B5EF4-FFF2-40B4-BE49-F238E27FC236}">
                <a16:creationId xmlns:a16="http://schemas.microsoft.com/office/drawing/2014/main" id="{88E09024-7097-425A-BA6B-6BDC6E721A2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5531EAC-B439-43A0-B8C0-FEE353663362}"/>
              </a:ext>
            </a:extLst>
          </p:cNvPr>
          <p:cNvSpPr>
            <a:spLocks noGrp="1"/>
          </p:cNvSpPr>
          <p:nvPr>
            <p:ph type="sldNum" sz="quarter" idx="12"/>
          </p:nvPr>
        </p:nvSpPr>
        <p:spPr/>
        <p:txBody>
          <a:bodyPr/>
          <a:lstStyle/>
          <a:p>
            <a:fld id="{B1C307C6-FA7C-4D4E-9E80-039A033D7CBB}" type="slidenum">
              <a:rPr lang="zh-CN" altLang="en-US" smtClean="0"/>
              <a:t>‹#›</a:t>
            </a:fld>
            <a:endParaRPr lang="zh-CN" altLang="en-US"/>
          </a:p>
        </p:txBody>
      </p:sp>
    </p:spTree>
    <p:extLst>
      <p:ext uri="{BB962C8B-B14F-4D97-AF65-F5344CB8AC3E}">
        <p14:creationId xmlns:p14="http://schemas.microsoft.com/office/powerpoint/2010/main" val="40607757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BD511A-6431-48B8-BB08-5B65F5A3C4EC}"/>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7FE95DB9-8B3D-43E5-996F-8B84A475853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DF7CB977-BD76-44CD-A6BF-14537281F954}"/>
              </a:ext>
            </a:extLst>
          </p:cNvPr>
          <p:cNvSpPr>
            <a:spLocks noGrp="1"/>
          </p:cNvSpPr>
          <p:nvPr>
            <p:ph type="dt" sz="half" idx="10"/>
          </p:nvPr>
        </p:nvSpPr>
        <p:spPr/>
        <p:txBody>
          <a:bodyPr/>
          <a:lstStyle/>
          <a:p>
            <a:fld id="{47A392F8-4432-443F-9BE6-3E5C772FA2A6}" type="datetime1">
              <a:rPr lang="zh-CN" altLang="en-US" smtClean="0"/>
              <a:t>2021/9/22</a:t>
            </a:fld>
            <a:endParaRPr lang="zh-CN" altLang="en-US"/>
          </a:p>
        </p:txBody>
      </p:sp>
      <p:sp>
        <p:nvSpPr>
          <p:cNvPr id="5" name="页脚占位符 4">
            <a:extLst>
              <a:ext uri="{FF2B5EF4-FFF2-40B4-BE49-F238E27FC236}">
                <a16:creationId xmlns:a16="http://schemas.microsoft.com/office/drawing/2014/main" id="{72FD790F-515D-44C2-80B6-5164311B931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296FDC0-ADC6-432F-AB0C-545A11AC8666}"/>
              </a:ext>
            </a:extLst>
          </p:cNvPr>
          <p:cNvSpPr>
            <a:spLocks noGrp="1"/>
          </p:cNvSpPr>
          <p:nvPr>
            <p:ph type="sldNum" sz="quarter" idx="12"/>
          </p:nvPr>
        </p:nvSpPr>
        <p:spPr/>
        <p:txBody>
          <a:bodyPr/>
          <a:lstStyle/>
          <a:p>
            <a:fld id="{B1C307C6-FA7C-4D4E-9E80-039A033D7CBB}" type="slidenum">
              <a:rPr lang="zh-CN" altLang="en-US" smtClean="0"/>
              <a:t>‹#›</a:t>
            </a:fld>
            <a:endParaRPr lang="zh-CN" altLang="en-US"/>
          </a:p>
        </p:txBody>
      </p:sp>
    </p:spTree>
    <p:extLst>
      <p:ext uri="{BB962C8B-B14F-4D97-AF65-F5344CB8AC3E}">
        <p14:creationId xmlns:p14="http://schemas.microsoft.com/office/powerpoint/2010/main" val="3444107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3F279C-F497-4EB0-B457-018DE29533F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CE72B36B-CF82-4B16-ACF6-57E3F106418F}"/>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2B0C8453-7E24-431A-BF02-DEC6F8A8EEFE}"/>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67637A5A-02B3-47F2-BE39-80C42CC5CEC7}"/>
              </a:ext>
            </a:extLst>
          </p:cNvPr>
          <p:cNvSpPr>
            <a:spLocks noGrp="1"/>
          </p:cNvSpPr>
          <p:nvPr>
            <p:ph type="dt" sz="half" idx="10"/>
          </p:nvPr>
        </p:nvSpPr>
        <p:spPr/>
        <p:txBody>
          <a:bodyPr/>
          <a:lstStyle/>
          <a:p>
            <a:fld id="{32D6B073-3C0C-44B9-8AA2-932E5224169D}" type="datetime1">
              <a:rPr lang="zh-CN" altLang="en-US" smtClean="0"/>
              <a:t>2021/9/22</a:t>
            </a:fld>
            <a:endParaRPr lang="zh-CN" altLang="en-US"/>
          </a:p>
        </p:txBody>
      </p:sp>
      <p:sp>
        <p:nvSpPr>
          <p:cNvPr id="6" name="页脚占位符 5">
            <a:extLst>
              <a:ext uri="{FF2B5EF4-FFF2-40B4-BE49-F238E27FC236}">
                <a16:creationId xmlns:a16="http://schemas.microsoft.com/office/drawing/2014/main" id="{F254A896-08D0-4053-8978-A8671461824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08EA266-6D84-4D17-BC33-E0C5081B44B1}"/>
              </a:ext>
            </a:extLst>
          </p:cNvPr>
          <p:cNvSpPr>
            <a:spLocks noGrp="1"/>
          </p:cNvSpPr>
          <p:nvPr>
            <p:ph type="sldNum" sz="quarter" idx="12"/>
          </p:nvPr>
        </p:nvSpPr>
        <p:spPr/>
        <p:txBody>
          <a:bodyPr/>
          <a:lstStyle/>
          <a:p>
            <a:fld id="{B1C307C6-FA7C-4D4E-9E80-039A033D7CBB}" type="slidenum">
              <a:rPr lang="zh-CN" altLang="en-US" smtClean="0"/>
              <a:t>‹#›</a:t>
            </a:fld>
            <a:endParaRPr lang="zh-CN" altLang="en-US"/>
          </a:p>
        </p:txBody>
      </p:sp>
    </p:spTree>
    <p:extLst>
      <p:ext uri="{BB962C8B-B14F-4D97-AF65-F5344CB8AC3E}">
        <p14:creationId xmlns:p14="http://schemas.microsoft.com/office/powerpoint/2010/main" val="10366318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9EDECF-14BD-4CF9-9EA6-DE5BDC5F6CC5}"/>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AD6C708A-DB11-4D97-BA8C-4821420EC71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E3A1767A-1F55-4264-80D9-37B0ACA587C8}"/>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5988807A-461F-4043-96E5-5C0D6FE6414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3F28A8C6-6B83-40F9-BD61-0EF18231D705}"/>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39AF6DB0-280A-40E7-AC5D-2E77B53B0FA6}"/>
              </a:ext>
            </a:extLst>
          </p:cNvPr>
          <p:cNvSpPr>
            <a:spLocks noGrp="1"/>
          </p:cNvSpPr>
          <p:nvPr>
            <p:ph type="dt" sz="half" idx="10"/>
          </p:nvPr>
        </p:nvSpPr>
        <p:spPr/>
        <p:txBody>
          <a:bodyPr/>
          <a:lstStyle/>
          <a:p>
            <a:fld id="{CB4B30AF-FC10-42E9-9063-AD879C2BD1DD}" type="datetime1">
              <a:rPr lang="zh-CN" altLang="en-US" smtClean="0"/>
              <a:t>2021/9/22</a:t>
            </a:fld>
            <a:endParaRPr lang="zh-CN" altLang="en-US"/>
          </a:p>
        </p:txBody>
      </p:sp>
      <p:sp>
        <p:nvSpPr>
          <p:cNvPr id="8" name="页脚占位符 7">
            <a:extLst>
              <a:ext uri="{FF2B5EF4-FFF2-40B4-BE49-F238E27FC236}">
                <a16:creationId xmlns:a16="http://schemas.microsoft.com/office/drawing/2014/main" id="{E6A7C5BA-07D0-455D-91A9-5850B8D2B7A7}"/>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0E4E162F-6A0F-4A03-8338-8B6A173D60A8}"/>
              </a:ext>
            </a:extLst>
          </p:cNvPr>
          <p:cNvSpPr>
            <a:spLocks noGrp="1"/>
          </p:cNvSpPr>
          <p:nvPr>
            <p:ph type="sldNum" sz="quarter" idx="12"/>
          </p:nvPr>
        </p:nvSpPr>
        <p:spPr/>
        <p:txBody>
          <a:bodyPr/>
          <a:lstStyle/>
          <a:p>
            <a:fld id="{B1C307C6-FA7C-4D4E-9E80-039A033D7CBB}" type="slidenum">
              <a:rPr lang="zh-CN" altLang="en-US" smtClean="0"/>
              <a:t>‹#›</a:t>
            </a:fld>
            <a:endParaRPr lang="zh-CN" altLang="en-US"/>
          </a:p>
        </p:txBody>
      </p:sp>
    </p:spTree>
    <p:extLst>
      <p:ext uri="{BB962C8B-B14F-4D97-AF65-F5344CB8AC3E}">
        <p14:creationId xmlns:p14="http://schemas.microsoft.com/office/powerpoint/2010/main" val="38740443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EF36BE-7D0E-4D04-BA00-45ADE190DC9E}"/>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81FA3701-D808-4588-B7C0-BCED47B32F5A}"/>
              </a:ext>
            </a:extLst>
          </p:cNvPr>
          <p:cNvSpPr>
            <a:spLocks noGrp="1"/>
          </p:cNvSpPr>
          <p:nvPr>
            <p:ph type="dt" sz="half" idx="10"/>
          </p:nvPr>
        </p:nvSpPr>
        <p:spPr/>
        <p:txBody>
          <a:bodyPr/>
          <a:lstStyle/>
          <a:p>
            <a:fld id="{F479672F-55EC-42A7-8CD8-103EE76CBBAB}" type="datetime1">
              <a:rPr lang="zh-CN" altLang="en-US" smtClean="0"/>
              <a:t>2021/9/22</a:t>
            </a:fld>
            <a:endParaRPr lang="zh-CN" altLang="en-US"/>
          </a:p>
        </p:txBody>
      </p:sp>
      <p:sp>
        <p:nvSpPr>
          <p:cNvPr id="4" name="页脚占位符 3">
            <a:extLst>
              <a:ext uri="{FF2B5EF4-FFF2-40B4-BE49-F238E27FC236}">
                <a16:creationId xmlns:a16="http://schemas.microsoft.com/office/drawing/2014/main" id="{1EAD829E-F5FB-4ED9-A8E2-38161E7BBA28}"/>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036203F5-6445-455E-886F-E7F1F24550B7}"/>
              </a:ext>
            </a:extLst>
          </p:cNvPr>
          <p:cNvSpPr>
            <a:spLocks noGrp="1"/>
          </p:cNvSpPr>
          <p:nvPr>
            <p:ph type="sldNum" sz="quarter" idx="12"/>
          </p:nvPr>
        </p:nvSpPr>
        <p:spPr/>
        <p:txBody>
          <a:bodyPr/>
          <a:lstStyle/>
          <a:p>
            <a:fld id="{B1C307C6-FA7C-4D4E-9E80-039A033D7CBB}" type="slidenum">
              <a:rPr lang="zh-CN" altLang="en-US" smtClean="0"/>
              <a:t>‹#›</a:t>
            </a:fld>
            <a:endParaRPr lang="zh-CN" altLang="en-US"/>
          </a:p>
        </p:txBody>
      </p:sp>
    </p:spTree>
    <p:extLst>
      <p:ext uri="{BB962C8B-B14F-4D97-AF65-F5344CB8AC3E}">
        <p14:creationId xmlns:p14="http://schemas.microsoft.com/office/powerpoint/2010/main" val="28906375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67FABEA-32AF-49DD-AEC3-785F8F37367D}"/>
              </a:ext>
            </a:extLst>
          </p:cNvPr>
          <p:cNvSpPr>
            <a:spLocks noGrp="1"/>
          </p:cNvSpPr>
          <p:nvPr>
            <p:ph type="dt" sz="half" idx="10"/>
          </p:nvPr>
        </p:nvSpPr>
        <p:spPr/>
        <p:txBody>
          <a:bodyPr/>
          <a:lstStyle/>
          <a:p>
            <a:fld id="{881A0C87-0352-4322-94F2-490EC6CA3676}" type="datetime1">
              <a:rPr lang="zh-CN" altLang="en-US" smtClean="0"/>
              <a:t>2021/9/22</a:t>
            </a:fld>
            <a:endParaRPr lang="zh-CN" altLang="en-US"/>
          </a:p>
        </p:txBody>
      </p:sp>
      <p:sp>
        <p:nvSpPr>
          <p:cNvPr id="3" name="页脚占位符 2">
            <a:extLst>
              <a:ext uri="{FF2B5EF4-FFF2-40B4-BE49-F238E27FC236}">
                <a16:creationId xmlns:a16="http://schemas.microsoft.com/office/drawing/2014/main" id="{20CB4EAA-B7A8-475F-9A83-35F754C57762}"/>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B7E29521-50F4-401D-B2EF-C1F981E73139}"/>
              </a:ext>
            </a:extLst>
          </p:cNvPr>
          <p:cNvSpPr>
            <a:spLocks noGrp="1"/>
          </p:cNvSpPr>
          <p:nvPr>
            <p:ph type="sldNum" sz="quarter" idx="12"/>
          </p:nvPr>
        </p:nvSpPr>
        <p:spPr/>
        <p:txBody>
          <a:bodyPr/>
          <a:lstStyle/>
          <a:p>
            <a:fld id="{B1C307C6-FA7C-4D4E-9E80-039A033D7CBB}" type="slidenum">
              <a:rPr lang="zh-CN" altLang="en-US" smtClean="0"/>
              <a:t>‹#›</a:t>
            </a:fld>
            <a:endParaRPr lang="zh-CN" altLang="en-US"/>
          </a:p>
        </p:txBody>
      </p:sp>
    </p:spTree>
    <p:extLst>
      <p:ext uri="{BB962C8B-B14F-4D97-AF65-F5344CB8AC3E}">
        <p14:creationId xmlns:p14="http://schemas.microsoft.com/office/powerpoint/2010/main" val="37384578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5E80D3-AAF4-4C55-8660-3A2AB1091FF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A8E7BDA2-8DFC-4FDD-BBB4-C4884195083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35180845-E2B0-400A-8643-BCA5D95C04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53FD5FDB-7B6F-467A-9D9D-4E235A38E594}"/>
              </a:ext>
            </a:extLst>
          </p:cNvPr>
          <p:cNvSpPr>
            <a:spLocks noGrp="1"/>
          </p:cNvSpPr>
          <p:nvPr>
            <p:ph type="dt" sz="half" idx="10"/>
          </p:nvPr>
        </p:nvSpPr>
        <p:spPr/>
        <p:txBody>
          <a:bodyPr/>
          <a:lstStyle/>
          <a:p>
            <a:fld id="{A3AAF627-9FE0-4A39-8C01-FD7224983CCF}" type="datetime1">
              <a:rPr lang="zh-CN" altLang="en-US" smtClean="0"/>
              <a:t>2021/9/22</a:t>
            </a:fld>
            <a:endParaRPr lang="zh-CN" altLang="en-US"/>
          </a:p>
        </p:txBody>
      </p:sp>
      <p:sp>
        <p:nvSpPr>
          <p:cNvPr id="6" name="页脚占位符 5">
            <a:extLst>
              <a:ext uri="{FF2B5EF4-FFF2-40B4-BE49-F238E27FC236}">
                <a16:creationId xmlns:a16="http://schemas.microsoft.com/office/drawing/2014/main" id="{E009614A-6C15-4486-8BED-E46D34DF727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846060D-DFA2-4038-896A-54DB48DAC29D}"/>
              </a:ext>
            </a:extLst>
          </p:cNvPr>
          <p:cNvSpPr>
            <a:spLocks noGrp="1"/>
          </p:cNvSpPr>
          <p:nvPr>
            <p:ph type="sldNum" sz="quarter" idx="12"/>
          </p:nvPr>
        </p:nvSpPr>
        <p:spPr/>
        <p:txBody>
          <a:bodyPr/>
          <a:lstStyle/>
          <a:p>
            <a:fld id="{B1C307C6-FA7C-4D4E-9E80-039A033D7CBB}" type="slidenum">
              <a:rPr lang="zh-CN" altLang="en-US" smtClean="0"/>
              <a:t>‹#›</a:t>
            </a:fld>
            <a:endParaRPr lang="zh-CN" altLang="en-US"/>
          </a:p>
        </p:txBody>
      </p:sp>
    </p:spTree>
    <p:extLst>
      <p:ext uri="{BB962C8B-B14F-4D97-AF65-F5344CB8AC3E}">
        <p14:creationId xmlns:p14="http://schemas.microsoft.com/office/powerpoint/2010/main" val="5680886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E85D2AA-9AE7-4B9D-B35F-783AA059151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040DFC8E-E5FD-481D-BE82-C412C0A1C81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1E6B4F26-A141-4649-84FA-C3C784C385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768B45BE-D9E0-4289-B135-F585BD6A9100}"/>
              </a:ext>
            </a:extLst>
          </p:cNvPr>
          <p:cNvSpPr>
            <a:spLocks noGrp="1"/>
          </p:cNvSpPr>
          <p:nvPr>
            <p:ph type="dt" sz="half" idx="10"/>
          </p:nvPr>
        </p:nvSpPr>
        <p:spPr/>
        <p:txBody>
          <a:bodyPr/>
          <a:lstStyle/>
          <a:p>
            <a:fld id="{F6A9382C-CF5C-4D8C-A437-169662820BC1}" type="datetime1">
              <a:rPr lang="zh-CN" altLang="en-US" smtClean="0"/>
              <a:t>2021/9/22</a:t>
            </a:fld>
            <a:endParaRPr lang="zh-CN" altLang="en-US"/>
          </a:p>
        </p:txBody>
      </p:sp>
      <p:sp>
        <p:nvSpPr>
          <p:cNvPr id="6" name="页脚占位符 5">
            <a:extLst>
              <a:ext uri="{FF2B5EF4-FFF2-40B4-BE49-F238E27FC236}">
                <a16:creationId xmlns:a16="http://schemas.microsoft.com/office/drawing/2014/main" id="{8EEA5C02-A6B4-4C39-B250-A99E9D38F9E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2F1D09C-1F74-4E27-8E26-271D44EDFC52}"/>
              </a:ext>
            </a:extLst>
          </p:cNvPr>
          <p:cNvSpPr>
            <a:spLocks noGrp="1"/>
          </p:cNvSpPr>
          <p:nvPr>
            <p:ph type="sldNum" sz="quarter" idx="12"/>
          </p:nvPr>
        </p:nvSpPr>
        <p:spPr/>
        <p:txBody>
          <a:bodyPr/>
          <a:lstStyle/>
          <a:p>
            <a:fld id="{B1C307C6-FA7C-4D4E-9E80-039A033D7CBB}" type="slidenum">
              <a:rPr lang="zh-CN" altLang="en-US" smtClean="0"/>
              <a:t>‹#›</a:t>
            </a:fld>
            <a:endParaRPr lang="zh-CN" altLang="en-US"/>
          </a:p>
        </p:txBody>
      </p:sp>
    </p:spTree>
    <p:extLst>
      <p:ext uri="{BB962C8B-B14F-4D97-AF65-F5344CB8AC3E}">
        <p14:creationId xmlns:p14="http://schemas.microsoft.com/office/powerpoint/2010/main" val="1194058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4C492C4-1119-4E86-93E3-F6B386F29921}"/>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216C95EE-C468-4F59-8F46-D69B133BE797}"/>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DE244FFE-508D-4B37-A478-2EB134C35BC1}"/>
              </a:ext>
            </a:extLst>
          </p:cNvPr>
          <p:cNvSpPr>
            <a:spLocks noGrp="1"/>
          </p:cNvSpPr>
          <p:nvPr>
            <p:ph type="dt" sz="half" idx="10"/>
          </p:nvPr>
        </p:nvSpPr>
        <p:spPr/>
        <p:txBody>
          <a:bodyPr/>
          <a:lstStyle/>
          <a:p>
            <a:fld id="{26115039-2390-4B33-B1FB-6245309D5240}" type="datetime1">
              <a:rPr lang="zh-CN" altLang="en-US" smtClean="0"/>
              <a:t>2021/9/22</a:t>
            </a:fld>
            <a:endParaRPr lang="zh-CN" altLang="en-US"/>
          </a:p>
        </p:txBody>
      </p:sp>
      <p:sp>
        <p:nvSpPr>
          <p:cNvPr id="5" name="页脚占位符 4">
            <a:extLst>
              <a:ext uri="{FF2B5EF4-FFF2-40B4-BE49-F238E27FC236}">
                <a16:creationId xmlns:a16="http://schemas.microsoft.com/office/drawing/2014/main" id="{B3AFF1A0-116A-41CC-A4E3-4F1E8F29DC1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95F3ACA-C766-40EE-9A80-D6AD089345A9}"/>
              </a:ext>
            </a:extLst>
          </p:cNvPr>
          <p:cNvSpPr>
            <a:spLocks noGrp="1"/>
          </p:cNvSpPr>
          <p:nvPr>
            <p:ph type="sldNum" sz="quarter" idx="12"/>
          </p:nvPr>
        </p:nvSpPr>
        <p:spPr/>
        <p:txBody>
          <a:bodyPr/>
          <a:lstStyle/>
          <a:p>
            <a:fld id="{B1C307C6-FA7C-4D4E-9E80-039A033D7CBB}" type="slidenum">
              <a:rPr lang="zh-CN" altLang="en-US" smtClean="0"/>
              <a:t>‹#›</a:t>
            </a:fld>
            <a:endParaRPr lang="zh-CN" altLang="en-US"/>
          </a:p>
        </p:txBody>
      </p:sp>
    </p:spTree>
    <p:extLst>
      <p:ext uri="{BB962C8B-B14F-4D97-AF65-F5344CB8AC3E}">
        <p14:creationId xmlns:p14="http://schemas.microsoft.com/office/powerpoint/2010/main" val="33192122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B9981AA8-C297-4ED4-93D9-97D21C142DDA}"/>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ECC5EA7-27C6-4EC4-A979-A8C723FCE792}"/>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F8238FE4-8170-415A-87DA-68BFD8A2935C}"/>
              </a:ext>
            </a:extLst>
          </p:cNvPr>
          <p:cNvSpPr>
            <a:spLocks noGrp="1"/>
          </p:cNvSpPr>
          <p:nvPr>
            <p:ph type="dt" sz="half" idx="10"/>
          </p:nvPr>
        </p:nvSpPr>
        <p:spPr/>
        <p:txBody>
          <a:bodyPr/>
          <a:lstStyle/>
          <a:p>
            <a:fld id="{A9A21A3A-DD3F-4247-BC85-DDF78E9C0B2D}" type="datetime1">
              <a:rPr lang="zh-CN" altLang="en-US" smtClean="0"/>
              <a:t>2021/9/22</a:t>
            </a:fld>
            <a:endParaRPr lang="zh-CN" altLang="en-US"/>
          </a:p>
        </p:txBody>
      </p:sp>
      <p:sp>
        <p:nvSpPr>
          <p:cNvPr id="5" name="页脚占位符 4">
            <a:extLst>
              <a:ext uri="{FF2B5EF4-FFF2-40B4-BE49-F238E27FC236}">
                <a16:creationId xmlns:a16="http://schemas.microsoft.com/office/drawing/2014/main" id="{D1B1009B-79F7-44DF-8FCC-3541977732C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C148A99-338D-437B-98ED-8DB6B8B19429}"/>
              </a:ext>
            </a:extLst>
          </p:cNvPr>
          <p:cNvSpPr>
            <a:spLocks noGrp="1"/>
          </p:cNvSpPr>
          <p:nvPr>
            <p:ph type="sldNum" sz="quarter" idx="12"/>
          </p:nvPr>
        </p:nvSpPr>
        <p:spPr/>
        <p:txBody>
          <a:bodyPr/>
          <a:lstStyle/>
          <a:p>
            <a:fld id="{B1C307C6-FA7C-4D4E-9E80-039A033D7CBB}" type="slidenum">
              <a:rPr lang="zh-CN" altLang="en-US" smtClean="0"/>
              <a:t>‹#›</a:t>
            </a:fld>
            <a:endParaRPr lang="zh-CN" altLang="en-US"/>
          </a:p>
        </p:txBody>
      </p:sp>
    </p:spTree>
    <p:extLst>
      <p:ext uri="{BB962C8B-B14F-4D97-AF65-F5344CB8AC3E}">
        <p14:creationId xmlns:p14="http://schemas.microsoft.com/office/powerpoint/2010/main" val="38361734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9E89822F-0DBE-4AFF-A57F-451BC2AF8C7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0F0CAF4F-B5F8-4297-B02B-79D4AEA7431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023A62EA-DA24-4833-9AB5-E3C62018D83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A744A3-E228-4F59-B16D-25D550792B8E}" type="datetime1">
              <a:rPr lang="zh-CN" altLang="en-US" smtClean="0"/>
              <a:t>2021/9/22</a:t>
            </a:fld>
            <a:endParaRPr lang="zh-CN" altLang="en-US"/>
          </a:p>
        </p:txBody>
      </p:sp>
      <p:sp>
        <p:nvSpPr>
          <p:cNvPr id="5" name="页脚占位符 4">
            <a:extLst>
              <a:ext uri="{FF2B5EF4-FFF2-40B4-BE49-F238E27FC236}">
                <a16:creationId xmlns:a16="http://schemas.microsoft.com/office/drawing/2014/main" id="{4810E35F-902B-4B7A-8418-02B53DC0DD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78CF9764-53E0-43E7-AD2A-AB7C7D430AC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C307C6-FA7C-4D4E-9E80-039A033D7CBB}" type="slidenum">
              <a:rPr lang="zh-CN" altLang="en-US" smtClean="0"/>
              <a:t>‹#›</a:t>
            </a:fld>
            <a:endParaRPr lang="zh-CN" altLang="en-US"/>
          </a:p>
        </p:txBody>
      </p:sp>
      <p:pic>
        <p:nvPicPr>
          <p:cNvPr id="7" name="图片 6"/>
          <p:cNvPicPr>
            <a:picLocks noChangeAspect="1"/>
          </p:cNvPicPr>
          <p:nvPr userDrawn="1"/>
        </p:nvPicPr>
        <p:blipFill>
          <a:blip r:embed="rId13"/>
          <a:stretch>
            <a:fillRect/>
          </a:stretch>
        </p:blipFill>
        <p:spPr>
          <a:xfrm>
            <a:off x="10975521" y="73331"/>
            <a:ext cx="1216479" cy="1216479"/>
          </a:xfrm>
          <a:prstGeom prst="rect">
            <a:avLst/>
          </a:prstGeom>
        </p:spPr>
      </p:pic>
    </p:spTree>
    <p:extLst>
      <p:ext uri="{BB962C8B-B14F-4D97-AF65-F5344CB8AC3E}">
        <p14:creationId xmlns:p14="http://schemas.microsoft.com/office/powerpoint/2010/main" val="6135070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github.com/riscv/riscv-gnu-toolchain"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5CBBDF-57C9-42F3-BD96-41048FFFB9DF}"/>
              </a:ext>
            </a:extLst>
          </p:cNvPr>
          <p:cNvSpPr>
            <a:spLocks noGrp="1"/>
          </p:cNvSpPr>
          <p:nvPr>
            <p:ph type="ctrTitle"/>
          </p:nvPr>
        </p:nvSpPr>
        <p:spPr/>
        <p:txBody>
          <a:bodyPr/>
          <a:lstStyle/>
          <a:p>
            <a:r>
              <a:rPr lang="en-US" altLang="zh-CN" b="1" dirty="0">
                <a:latin typeface="微软雅黑" panose="020B0503020204020204" pitchFamily="34" charset="-122"/>
                <a:ea typeface="微软雅黑" panose="020B0503020204020204" pitchFamily="34" charset="-122"/>
              </a:rPr>
              <a:t>RISCV-gnu-toolchain</a:t>
            </a:r>
            <a:r>
              <a:rPr lang="zh-CN" altLang="en-US" b="1" dirty="0">
                <a:latin typeface="微软雅黑" panose="020B0503020204020204" pitchFamily="34" charset="-122"/>
                <a:ea typeface="微软雅黑" panose="020B0503020204020204" pitchFamily="34" charset="-122"/>
              </a:rPr>
              <a:t>介绍与安装</a:t>
            </a:r>
          </a:p>
        </p:txBody>
      </p:sp>
      <p:sp>
        <p:nvSpPr>
          <p:cNvPr id="3" name="副标题 2">
            <a:extLst>
              <a:ext uri="{FF2B5EF4-FFF2-40B4-BE49-F238E27FC236}">
                <a16:creationId xmlns:a16="http://schemas.microsoft.com/office/drawing/2014/main" id="{C2C371BA-83FA-4899-B26D-3F422645B52B}"/>
              </a:ext>
            </a:extLst>
          </p:cNvPr>
          <p:cNvSpPr>
            <a:spLocks noGrp="1"/>
          </p:cNvSpPr>
          <p:nvPr>
            <p:ph type="subTitle" idx="1"/>
          </p:nvPr>
        </p:nvSpPr>
        <p:spPr/>
        <p:txBody>
          <a:bodyPr/>
          <a:lstStyle/>
          <a:p>
            <a:endParaRPr lang="zh-CN" altLang="en-US" dirty="0"/>
          </a:p>
        </p:txBody>
      </p:sp>
    </p:spTree>
    <p:extLst>
      <p:ext uri="{BB962C8B-B14F-4D97-AF65-F5344CB8AC3E}">
        <p14:creationId xmlns:p14="http://schemas.microsoft.com/office/powerpoint/2010/main" val="33866842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5685908-A824-433F-B86E-F7C861D71E36}"/>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目录</a:t>
            </a:r>
          </a:p>
        </p:txBody>
      </p:sp>
      <p:sp>
        <p:nvSpPr>
          <p:cNvPr id="3" name="内容占位符 2">
            <a:extLst>
              <a:ext uri="{FF2B5EF4-FFF2-40B4-BE49-F238E27FC236}">
                <a16:creationId xmlns:a16="http://schemas.microsoft.com/office/drawing/2014/main" id="{4BA5BCEC-F904-42F8-9D38-28A9F7D34502}"/>
              </a:ext>
            </a:extLst>
          </p:cNvPr>
          <p:cNvSpPr>
            <a:spLocks noGrp="1"/>
          </p:cNvSpPr>
          <p:nvPr>
            <p:ph idx="1"/>
          </p:nvPr>
        </p:nvSpPr>
        <p:spPr/>
        <p:txBody>
          <a:bodyPr>
            <a:normAutofit/>
          </a:bodyPr>
          <a:lstStyle/>
          <a:p>
            <a:pPr marL="0" indent="0">
              <a:buNone/>
            </a:pP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一、</a:t>
            </a:r>
            <a:r>
              <a:rPr lang="en-US" altLang="zh-CN" dirty="0">
                <a:latin typeface="微软雅黑" panose="020B0503020204020204" pitchFamily="34" charset="-122"/>
                <a:ea typeface="微软雅黑" panose="020B0503020204020204" pitchFamily="34" charset="-122"/>
              </a:rPr>
              <a:t>GNU</a:t>
            </a:r>
            <a:r>
              <a:rPr lang="zh-CN" altLang="en-US" dirty="0">
                <a:latin typeface="微软雅黑" panose="020B0503020204020204" pitchFamily="34" charset="-122"/>
                <a:ea typeface="微软雅黑" panose="020B0503020204020204" pitchFamily="34" charset="-122"/>
              </a:rPr>
              <a:t>项目和</a:t>
            </a:r>
            <a:r>
              <a:rPr lang="en-US" altLang="zh-CN" dirty="0">
                <a:latin typeface="微软雅黑" panose="020B0503020204020204" pitchFamily="34" charset="-122"/>
                <a:ea typeface="微软雅黑" panose="020B0503020204020204" pitchFamily="34" charset="-122"/>
              </a:rPr>
              <a:t>LLVM</a:t>
            </a:r>
            <a:r>
              <a:rPr lang="zh-CN" altLang="en-US" dirty="0">
                <a:latin typeface="微软雅黑" panose="020B0503020204020204" pitchFamily="34" charset="-122"/>
                <a:ea typeface="微软雅黑" panose="020B0503020204020204" pitchFamily="34" charset="-122"/>
              </a:rPr>
              <a:t>项目介绍</a:t>
            </a: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二、环境配置及</a:t>
            </a:r>
            <a:r>
              <a:rPr lang="en-US" altLang="zh-CN" dirty="0" err="1">
                <a:latin typeface="微软雅黑" panose="020B0503020204020204" pitchFamily="34" charset="-122"/>
                <a:ea typeface="微软雅黑" panose="020B0503020204020204" pitchFamily="34" charset="-122"/>
              </a:rPr>
              <a:t>riscv</a:t>
            </a:r>
            <a:r>
              <a:rPr lang="en-US" altLang="zh-CN" dirty="0">
                <a:latin typeface="微软雅黑" panose="020B0503020204020204" pitchFamily="34" charset="-122"/>
                <a:ea typeface="微软雅黑" panose="020B0503020204020204" pitchFamily="34" charset="-122"/>
              </a:rPr>
              <a:t>-gnu-toolchain</a:t>
            </a:r>
            <a:r>
              <a:rPr lang="zh-CN" altLang="en-US" dirty="0">
                <a:latin typeface="微软雅黑" panose="020B0503020204020204" pitchFamily="34" charset="-122"/>
                <a:ea typeface="微软雅黑" panose="020B0503020204020204" pitchFamily="34" charset="-122"/>
              </a:rPr>
              <a:t>安装</a:t>
            </a: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二、常用</a:t>
            </a:r>
            <a:r>
              <a:rPr lang="en-US" altLang="zh-CN" dirty="0">
                <a:latin typeface="微软雅黑" panose="020B0503020204020204" pitchFamily="34" charset="-122"/>
                <a:ea typeface="微软雅黑" panose="020B0503020204020204" pitchFamily="34" charset="-122"/>
              </a:rPr>
              <a:t>GNU</a:t>
            </a:r>
            <a:r>
              <a:rPr lang="zh-CN" altLang="en-US" dirty="0">
                <a:latin typeface="微软雅黑" panose="020B0503020204020204" pitchFamily="34" charset="-122"/>
                <a:ea typeface="微软雅黑" panose="020B0503020204020204" pitchFamily="34" charset="-122"/>
              </a:rPr>
              <a:t>工具介绍</a:t>
            </a:r>
          </a:p>
        </p:txBody>
      </p:sp>
      <p:sp>
        <p:nvSpPr>
          <p:cNvPr id="4" name="灯片编号占位符 3"/>
          <p:cNvSpPr>
            <a:spLocks noGrp="1"/>
          </p:cNvSpPr>
          <p:nvPr>
            <p:ph type="sldNum" sz="quarter" idx="12"/>
          </p:nvPr>
        </p:nvSpPr>
        <p:spPr/>
        <p:txBody>
          <a:bodyPr/>
          <a:lstStyle/>
          <a:p>
            <a:fld id="{B1C307C6-FA7C-4D4E-9E80-039A033D7CBB}" type="slidenum">
              <a:rPr lang="zh-CN" altLang="en-US" smtClean="0"/>
              <a:t>2</a:t>
            </a:fld>
            <a:endParaRPr lang="zh-CN" altLang="en-US"/>
          </a:p>
        </p:txBody>
      </p:sp>
    </p:spTree>
    <p:extLst>
      <p:ext uri="{BB962C8B-B14F-4D97-AF65-F5344CB8AC3E}">
        <p14:creationId xmlns:p14="http://schemas.microsoft.com/office/powerpoint/2010/main" val="37690292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0EE7D7-F7CD-4011-9D19-6F10F4D2379B}"/>
              </a:ext>
            </a:extLst>
          </p:cNvPr>
          <p:cNvSpPr>
            <a:spLocks noGrp="1"/>
          </p:cNvSpPr>
          <p:nvPr>
            <p:ph type="title"/>
          </p:nvPr>
        </p:nvSpPr>
        <p:spPr/>
        <p:txBody>
          <a:bodyPr/>
          <a:lstStyle/>
          <a:p>
            <a:r>
              <a:rPr lang="en-US" altLang="zh-CN" dirty="0">
                <a:latin typeface="微软雅黑" panose="020B0503020204020204" pitchFamily="34" charset="-122"/>
                <a:ea typeface="微软雅黑" panose="020B0503020204020204" pitchFamily="34" charset="-122"/>
              </a:rPr>
              <a:t>GNU</a:t>
            </a:r>
            <a:r>
              <a:rPr lang="zh-CN" altLang="en-US" dirty="0">
                <a:latin typeface="微软雅黑" panose="020B0503020204020204" pitchFamily="34" charset="-122"/>
                <a:ea typeface="微软雅黑" panose="020B0503020204020204" pitchFamily="34" charset="-122"/>
              </a:rPr>
              <a:t>项目和</a:t>
            </a:r>
            <a:r>
              <a:rPr lang="en-US" altLang="zh-CN" dirty="0">
                <a:latin typeface="微软雅黑" panose="020B0503020204020204" pitchFamily="34" charset="-122"/>
                <a:ea typeface="微软雅黑" panose="020B0503020204020204" pitchFamily="34" charset="-122"/>
              </a:rPr>
              <a:t>LLVM</a:t>
            </a:r>
            <a:r>
              <a:rPr lang="zh-CN" altLang="en-US" dirty="0">
                <a:latin typeface="微软雅黑" panose="020B0503020204020204" pitchFamily="34" charset="-122"/>
                <a:ea typeface="微软雅黑" panose="020B0503020204020204" pitchFamily="34" charset="-122"/>
              </a:rPr>
              <a:t>项目介绍</a:t>
            </a:r>
            <a:r>
              <a:rPr lang="en-US" altLang="zh-CN" dirty="0">
                <a:latin typeface="微软雅黑" panose="020B0503020204020204" pitchFamily="34" charset="-122"/>
                <a:ea typeface="微软雅黑" panose="020B0503020204020204" pitchFamily="34" charset="-122"/>
              </a:rPr>
              <a:t>-GNU</a:t>
            </a:r>
            <a:endParaRPr lang="zh-CN" altLang="en-US" dirty="0">
              <a:latin typeface="微软雅黑" panose="020B0503020204020204" pitchFamily="34" charset="-122"/>
              <a:ea typeface="微软雅黑" panose="020B0503020204020204" pitchFamily="34" charset="-122"/>
            </a:endParaRPr>
          </a:p>
        </p:txBody>
      </p:sp>
      <p:sp>
        <p:nvSpPr>
          <p:cNvPr id="3" name="内容占位符 2">
            <a:extLst>
              <a:ext uri="{FF2B5EF4-FFF2-40B4-BE49-F238E27FC236}">
                <a16:creationId xmlns:a16="http://schemas.microsoft.com/office/drawing/2014/main" id="{3A027A44-A4B8-4C49-BE54-CC37FBAE2EED}"/>
              </a:ext>
            </a:extLst>
          </p:cNvPr>
          <p:cNvSpPr>
            <a:spLocks noGrp="1"/>
          </p:cNvSpPr>
          <p:nvPr>
            <p:ph idx="1"/>
          </p:nvPr>
        </p:nvSpPr>
        <p:spPr/>
        <p:txBody>
          <a:bodyPr>
            <a:normAutofit fontScale="92500" lnSpcReduction="20000"/>
          </a:bodyPr>
          <a:lstStyle/>
          <a:p>
            <a:pPr>
              <a:lnSpc>
                <a:spcPct val="150000"/>
              </a:lnSpc>
            </a:pPr>
            <a:r>
              <a:rPr lang="en-US" altLang="zh-CN" dirty="0">
                <a:latin typeface="微软雅黑" panose="020B0503020204020204" pitchFamily="34" charset="-122"/>
                <a:ea typeface="微软雅黑" panose="020B0503020204020204" pitchFamily="34" charset="-122"/>
              </a:rPr>
              <a:t>GCC</a:t>
            </a:r>
            <a:r>
              <a:rPr lang="zh-CN" altLang="en-US" dirty="0">
                <a:latin typeface="微软雅黑" panose="020B0503020204020204" pitchFamily="34" charset="-122"/>
                <a:ea typeface="微软雅黑" panose="020B0503020204020204" pitchFamily="34" charset="-122"/>
              </a:rPr>
              <a:t>是</a:t>
            </a:r>
            <a:r>
              <a:rPr lang="en-US" altLang="zh-CN" dirty="0">
                <a:latin typeface="微软雅黑" panose="020B0503020204020204" pitchFamily="34" charset="-122"/>
                <a:ea typeface="微软雅黑" panose="020B0503020204020204" pitchFamily="34" charset="-122"/>
              </a:rPr>
              <a:t>GNU(GNU</a:t>
            </a:r>
            <a:r>
              <a:rPr lang="zh-CN" altLang="en-US" dirty="0">
                <a:latin typeface="微软雅黑" panose="020B0503020204020204" pitchFamily="34" charset="-122"/>
                <a:ea typeface="微软雅黑" panose="020B0503020204020204" pitchFamily="34" charset="-122"/>
              </a:rPr>
              <a:t>是</a:t>
            </a:r>
            <a:r>
              <a:rPr lang="en-US" altLang="zh-CN" dirty="0">
                <a:latin typeface="微软雅黑" panose="020B0503020204020204" pitchFamily="34" charset="-122"/>
                <a:ea typeface="微软雅黑" panose="020B0503020204020204" pitchFamily="34" charset="-122"/>
              </a:rPr>
              <a:t>GNU’s Not Unix</a:t>
            </a:r>
            <a:r>
              <a:rPr lang="zh-CN" altLang="en-US" dirty="0">
                <a:latin typeface="微软雅黑" panose="020B0503020204020204" pitchFamily="34" charset="-122"/>
                <a:ea typeface="微软雅黑" panose="020B0503020204020204" pitchFamily="34" charset="-122"/>
              </a:rPr>
              <a:t>的简写</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项目开发出来的额众多有用工具之一。</a:t>
            </a:r>
            <a:r>
              <a:rPr lang="en-US" altLang="zh-CN" dirty="0">
                <a:latin typeface="微软雅黑" panose="020B0503020204020204" pitchFamily="34" charset="-122"/>
                <a:ea typeface="微软雅黑" panose="020B0503020204020204" pitchFamily="34" charset="-122"/>
              </a:rPr>
              <a:t>GNU</a:t>
            </a:r>
            <a:r>
              <a:rPr lang="zh-CN" altLang="en-US" dirty="0">
                <a:latin typeface="微软雅黑" panose="020B0503020204020204" pitchFamily="34" charset="-122"/>
                <a:ea typeface="微软雅黑" panose="020B0503020204020204" pitchFamily="34" charset="-122"/>
              </a:rPr>
              <a:t>项目是</a:t>
            </a:r>
            <a:r>
              <a:rPr lang="en-US" altLang="zh-CN" dirty="0">
                <a:latin typeface="微软雅黑" panose="020B0503020204020204" pitchFamily="34" charset="-122"/>
                <a:ea typeface="微软雅黑" panose="020B0503020204020204" pitchFamily="34" charset="-122"/>
              </a:rPr>
              <a:t>1984</a:t>
            </a:r>
            <a:r>
              <a:rPr lang="zh-CN" altLang="en-US" dirty="0">
                <a:latin typeface="微软雅黑" panose="020B0503020204020204" pitchFamily="34" charset="-122"/>
                <a:ea typeface="微软雅黑" panose="020B0503020204020204" pitchFamily="34" charset="-122"/>
              </a:rPr>
              <a:t>年由</a:t>
            </a:r>
            <a:r>
              <a:rPr lang="en-US" altLang="zh-CN" dirty="0">
                <a:latin typeface="微软雅黑" panose="020B0503020204020204" pitchFamily="34" charset="-122"/>
                <a:ea typeface="微软雅黑" panose="020B0503020204020204" pitchFamily="34" charset="-122"/>
              </a:rPr>
              <a:t>Richard Stallman</a:t>
            </a:r>
            <a:r>
              <a:rPr lang="zh-CN" altLang="en-US" dirty="0">
                <a:latin typeface="微软雅黑" panose="020B0503020204020204" pitchFamily="34" charset="-122"/>
                <a:ea typeface="微软雅黑" panose="020B0503020204020204" pitchFamily="34" charset="-122"/>
              </a:rPr>
              <a:t>发起的一个免税的慈善项目，该项目的目标非常宏大，就是开发出一个完整的类</a:t>
            </a:r>
            <a:r>
              <a:rPr lang="en-US" altLang="zh-CN" dirty="0">
                <a:latin typeface="微软雅黑" panose="020B0503020204020204" pitchFamily="34" charset="-122"/>
                <a:ea typeface="微软雅黑" panose="020B0503020204020204" pitchFamily="34" charset="-122"/>
              </a:rPr>
              <a:t>Unix</a:t>
            </a:r>
            <a:r>
              <a:rPr lang="zh-CN" altLang="en-US" dirty="0">
                <a:latin typeface="微软雅黑" panose="020B0503020204020204" pitchFamily="34" charset="-122"/>
                <a:ea typeface="微软雅黑" panose="020B0503020204020204" pitchFamily="34" charset="-122"/>
              </a:rPr>
              <a:t>的系统，其源代码能够不受限制地被修改和传播。到</a:t>
            </a:r>
            <a:r>
              <a:rPr lang="en-US" altLang="zh-CN" dirty="0">
                <a:latin typeface="微软雅黑" panose="020B0503020204020204" pitchFamily="34" charset="-122"/>
                <a:ea typeface="微软雅黑" panose="020B0503020204020204" pitchFamily="34" charset="-122"/>
              </a:rPr>
              <a:t>2002</a:t>
            </a:r>
            <a:r>
              <a:rPr lang="zh-CN" altLang="en-US" dirty="0">
                <a:latin typeface="微软雅黑" panose="020B0503020204020204" pitchFamily="34" charset="-122"/>
                <a:ea typeface="微软雅黑" panose="020B0503020204020204" pitchFamily="34" charset="-122"/>
              </a:rPr>
              <a:t>年，</a:t>
            </a:r>
            <a:r>
              <a:rPr lang="en-US" altLang="zh-CN" dirty="0">
                <a:latin typeface="微软雅黑" panose="020B0503020204020204" pitchFamily="34" charset="-122"/>
                <a:ea typeface="微软雅黑" panose="020B0503020204020204" pitchFamily="34" charset="-122"/>
              </a:rPr>
              <a:t>GNU</a:t>
            </a:r>
            <a:r>
              <a:rPr lang="zh-CN" altLang="en-US" dirty="0">
                <a:latin typeface="微软雅黑" panose="020B0503020204020204" pitchFamily="34" charset="-122"/>
                <a:ea typeface="微软雅黑" panose="020B0503020204020204" pitchFamily="34" charset="-122"/>
              </a:rPr>
              <a:t>项目已经发展成一个</a:t>
            </a:r>
            <a:r>
              <a:rPr lang="en-US" altLang="zh-CN" dirty="0">
                <a:latin typeface="微软雅黑" panose="020B0503020204020204" pitchFamily="34" charset="-122"/>
                <a:ea typeface="微软雅黑" panose="020B0503020204020204" pitchFamily="34" charset="-122"/>
              </a:rPr>
              <a:t>Unix</a:t>
            </a:r>
            <a:r>
              <a:rPr lang="zh-CN" altLang="en-US" dirty="0">
                <a:latin typeface="微软雅黑" panose="020B0503020204020204" pitchFamily="34" charset="-122"/>
                <a:ea typeface="微软雅黑" panose="020B0503020204020204" pitchFamily="34" charset="-122"/>
              </a:rPr>
              <a:t>操作系统地所有主要部件构成的环境，但内核除外，内核是由</a:t>
            </a:r>
            <a:r>
              <a:rPr lang="en-US" altLang="zh-CN" dirty="0">
                <a:latin typeface="微软雅黑" panose="020B0503020204020204" pitchFamily="34" charset="-122"/>
                <a:ea typeface="微软雅黑" panose="020B0503020204020204" pitchFamily="34" charset="-122"/>
              </a:rPr>
              <a:t>Linux</a:t>
            </a:r>
            <a:r>
              <a:rPr lang="zh-CN" altLang="en-US" dirty="0">
                <a:latin typeface="微软雅黑" panose="020B0503020204020204" pitchFamily="34" charset="-122"/>
                <a:ea typeface="微软雅黑" panose="020B0503020204020204" pitchFamily="34" charset="-122"/>
              </a:rPr>
              <a:t>项目独立发展而来的。</a:t>
            </a:r>
            <a:r>
              <a:rPr lang="en-US" altLang="zh-CN" dirty="0">
                <a:latin typeface="微软雅黑" panose="020B0503020204020204" pitchFamily="34" charset="-122"/>
                <a:ea typeface="微软雅黑" panose="020B0503020204020204" pitchFamily="34" charset="-122"/>
              </a:rPr>
              <a:t>GNU</a:t>
            </a:r>
            <a:r>
              <a:rPr lang="zh-CN" altLang="en-US" dirty="0">
                <a:latin typeface="微软雅黑" panose="020B0503020204020204" pitchFamily="34" charset="-122"/>
                <a:ea typeface="微软雅黑" panose="020B0503020204020204" pitchFamily="34" charset="-122"/>
              </a:rPr>
              <a:t>环境包括</a:t>
            </a:r>
            <a:r>
              <a:rPr lang="en-US" altLang="zh-CN" dirty="0">
                <a:latin typeface="微软雅黑" panose="020B0503020204020204" pitchFamily="34" charset="-122"/>
                <a:ea typeface="微软雅黑" panose="020B0503020204020204" pitchFamily="34" charset="-122"/>
              </a:rPr>
              <a:t>EMAC</a:t>
            </a:r>
            <a:r>
              <a:rPr lang="zh-CN" altLang="en-US" dirty="0">
                <a:latin typeface="微软雅黑" panose="020B0503020204020204" pitchFamily="34" charset="-122"/>
                <a:ea typeface="微软雅黑" panose="020B0503020204020204" pitchFamily="34" charset="-122"/>
              </a:rPr>
              <a:t>编辑器、</a:t>
            </a:r>
            <a:r>
              <a:rPr lang="en-US" altLang="zh-CN" dirty="0">
                <a:latin typeface="微软雅黑" panose="020B0503020204020204" pitchFamily="34" charset="-122"/>
                <a:ea typeface="微软雅黑" panose="020B0503020204020204" pitchFamily="34" charset="-122"/>
              </a:rPr>
              <a:t>GCC</a:t>
            </a:r>
            <a:r>
              <a:rPr lang="zh-CN" altLang="en-US" dirty="0">
                <a:latin typeface="微软雅黑" panose="020B0503020204020204" pitchFamily="34" charset="-122"/>
                <a:ea typeface="微软雅黑" panose="020B0503020204020204" pitchFamily="34" charset="-122"/>
              </a:rPr>
              <a:t>编译器、</a:t>
            </a:r>
            <a:r>
              <a:rPr lang="en-US" altLang="zh-CN" dirty="0">
                <a:latin typeface="微软雅黑" panose="020B0503020204020204" pitchFamily="34" charset="-122"/>
                <a:ea typeface="微软雅黑" panose="020B0503020204020204" pitchFamily="34" charset="-122"/>
              </a:rPr>
              <a:t>GDB</a:t>
            </a:r>
            <a:r>
              <a:rPr lang="zh-CN" altLang="en-US" dirty="0">
                <a:latin typeface="微软雅黑" panose="020B0503020204020204" pitchFamily="34" charset="-122"/>
                <a:ea typeface="微软雅黑" panose="020B0503020204020204" pitchFamily="34" charset="-122"/>
              </a:rPr>
              <a:t>调试器、汇编器、链接器、处理二进制文件的工具以及其他一些部件</a:t>
            </a:r>
          </a:p>
        </p:txBody>
      </p:sp>
      <p:sp>
        <p:nvSpPr>
          <p:cNvPr id="4" name="灯片编号占位符 3"/>
          <p:cNvSpPr>
            <a:spLocks noGrp="1"/>
          </p:cNvSpPr>
          <p:nvPr>
            <p:ph type="sldNum" sz="quarter" idx="12"/>
          </p:nvPr>
        </p:nvSpPr>
        <p:spPr/>
        <p:txBody>
          <a:bodyPr/>
          <a:lstStyle/>
          <a:p>
            <a:fld id="{B1C307C6-FA7C-4D4E-9E80-039A033D7CBB}" type="slidenum">
              <a:rPr lang="zh-CN" altLang="en-US" smtClean="0"/>
              <a:t>3</a:t>
            </a:fld>
            <a:endParaRPr lang="zh-CN" altLang="en-US"/>
          </a:p>
        </p:txBody>
      </p:sp>
    </p:spTree>
    <p:extLst>
      <p:ext uri="{BB962C8B-B14F-4D97-AF65-F5344CB8AC3E}">
        <p14:creationId xmlns:p14="http://schemas.microsoft.com/office/powerpoint/2010/main" val="37262204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F2CCFE-F6E7-44B0-B2D8-DFB530DBD238}"/>
              </a:ext>
            </a:extLst>
          </p:cNvPr>
          <p:cNvSpPr>
            <a:spLocks noGrp="1"/>
          </p:cNvSpPr>
          <p:nvPr>
            <p:ph type="title"/>
          </p:nvPr>
        </p:nvSpPr>
        <p:spPr/>
        <p:txBody>
          <a:bodyPr/>
          <a:lstStyle/>
          <a:p>
            <a:r>
              <a:rPr lang="en-US" altLang="zh-CN" dirty="0">
                <a:latin typeface="微软雅黑" panose="020B0503020204020204" pitchFamily="34" charset="-122"/>
                <a:ea typeface="微软雅黑" panose="020B0503020204020204" pitchFamily="34" charset="-122"/>
              </a:rPr>
              <a:t>GNU</a:t>
            </a:r>
            <a:r>
              <a:rPr lang="zh-CN" altLang="en-US" dirty="0">
                <a:latin typeface="微软雅黑" panose="020B0503020204020204" pitchFamily="34" charset="-122"/>
                <a:ea typeface="微软雅黑" panose="020B0503020204020204" pitchFamily="34" charset="-122"/>
              </a:rPr>
              <a:t>项目和</a:t>
            </a:r>
            <a:r>
              <a:rPr lang="en-US" altLang="zh-CN" dirty="0">
                <a:latin typeface="微软雅黑" panose="020B0503020204020204" pitchFamily="34" charset="-122"/>
                <a:ea typeface="微软雅黑" panose="020B0503020204020204" pitchFamily="34" charset="-122"/>
              </a:rPr>
              <a:t>LLVM</a:t>
            </a:r>
            <a:r>
              <a:rPr lang="zh-CN" altLang="en-US" dirty="0">
                <a:latin typeface="微软雅黑" panose="020B0503020204020204" pitchFamily="34" charset="-122"/>
                <a:ea typeface="微软雅黑" panose="020B0503020204020204" pitchFamily="34" charset="-122"/>
              </a:rPr>
              <a:t>项目介绍</a:t>
            </a:r>
            <a:r>
              <a:rPr lang="en-US" altLang="zh-CN" dirty="0">
                <a:latin typeface="微软雅黑" panose="020B0503020204020204" pitchFamily="34" charset="-122"/>
                <a:ea typeface="微软雅黑" panose="020B0503020204020204" pitchFamily="34" charset="-122"/>
              </a:rPr>
              <a:t>-GNU</a:t>
            </a:r>
            <a:endParaRPr lang="zh-CN" altLang="en-US" dirty="0">
              <a:latin typeface="微软雅黑" panose="020B0503020204020204" pitchFamily="34" charset="-122"/>
              <a:ea typeface="微软雅黑" panose="020B0503020204020204" pitchFamily="34" charset="-122"/>
            </a:endParaRPr>
          </a:p>
        </p:txBody>
      </p:sp>
      <p:sp>
        <p:nvSpPr>
          <p:cNvPr id="3" name="内容占位符 2">
            <a:extLst>
              <a:ext uri="{FF2B5EF4-FFF2-40B4-BE49-F238E27FC236}">
                <a16:creationId xmlns:a16="http://schemas.microsoft.com/office/drawing/2014/main" id="{FC0E062A-D965-4F2B-8EF9-2767FB9B1C89}"/>
              </a:ext>
            </a:extLst>
          </p:cNvPr>
          <p:cNvSpPr>
            <a:spLocks noGrp="1"/>
          </p:cNvSpPr>
          <p:nvPr>
            <p:ph idx="1"/>
          </p:nvPr>
        </p:nvSpPr>
        <p:spPr/>
        <p:txBody>
          <a:bodyPr>
            <a:normAutofit fontScale="55000" lnSpcReduction="20000"/>
          </a:bodyPr>
          <a:lstStyle/>
          <a:p>
            <a:pPr>
              <a:lnSpc>
                <a:spcPct val="170000"/>
              </a:lnSpc>
            </a:pPr>
            <a:r>
              <a:rPr lang="en-US" altLang="zh-CN" dirty="0">
                <a:latin typeface="微软雅黑" panose="020B0503020204020204" pitchFamily="34" charset="-122"/>
                <a:ea typeface="微软雅黑" panose="020B0503020204020204" pitchFamily="34" charset="-122"/>
              </a:rPr>
              <a:t>GNU</a:t>
            </a:r>
            <a:r>
              <a:rPr lang="zh-CN" altLang="en-US" dirty="0">
                <a:latin typeface="微软雅黑" panose="020B0503020204020204" pitchFamily="34" charset="-122"/>
                <a:ea typeface="微软雅黑" panose="020B0503020204020204" pitchFamily="34" charset="-122"/>
              </a:rPr>
              <a:t>的协议条款</a:t>
            </a:r>
            <a:r>
              <a:rPr lang="en-US" altLang="zh-CN" dirty="0">
                <a:latin typeface="微软雅黑" panose="020B0503020204020204" pitchFamily="34" charset="-122"/>
                <a:ea typeface="微软雅黑" panose="020B0503020204020204" pitchFamily="34" charset="-122"/>
              </a:rPr>
              <a:t>-GPL</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GNU General Public License</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a:lnSpc>
                <a:spcPct val="170000"/>
              </a:lnSpc>
            </a:pPr>
            <a:r>
              <a:rPr lang="en-US" altLang="zh-CN" dirty="0">
                <a:latin typeface="微软雅黑" panose="020B0503020204020204" pitchFamily="34" charset="-122"/>
                <a:ea typeface="微软雅黑" panose="020B0503020204020204" pitchFamily="34" charset="-122"/>
              </a:rPr>
              <a:t>GPL</a:t>
            </a:r>
            <a:r>
              <a:rPr lang="zh-CN" altLang="en-US" dirty="0">
                <a:latin typeface="微软雅黑" panose="020B0503020204020204" pitchFamily="34" charset="-122"/>
                <a:ea typeface="微软雅黑" panose="020B0503020204020204" pitchFamily="34" charset="-122"/>
              </a:rPr>
              <a:t>授予程序接受人以下权利，或称“自由”：</a:t>
            </a:r>
          </a:p>
          <a:p>
            <a:pPr lvl="1">
              <a:lnSpc>
                <a:spcPct val="170000"/>
              </a:lnSpc>
            </a:pPr>
            <a:r>
              <a:rPr lang="zh-CN" altLang="en-US" dirty="0">
                <a:latin typeface="微软雅黑" panose="020B0503020204020204" pitchFamily="34" charset="-122"/>
                <a:ea typeface="微软雅黑" panose="020B0503020204020204" pitchFamily="34" charset="-122"/>
              </a:rPr>
              <a:t>以任何目的运行此程序的自由；</a:t>
            </a:r>
          </a:p>
          <a:p>
            <a:pPr lvl="1">
              <a:lnSpc>
                <a:spcPct val="170000"/>
              </a:lnSpc>
            </a:pPr>
            <a:r>
              <a:rPr lang="zh-CN" altLang="en-US" dirty="0">
                <a:latin typeface="微软雅黑" panose="020B0503020204020204" pitchFamily="34" charset="-122"/>
                <a:ea typeface="微软雅黑" panose="020B0503020204020204" pitchFamily="34" charset="-122"/>
              </a:rPr>
              <a:t>再发行复制件的自由；</a:t>
            </a:r>
          </a:p>
          <a:p>
            <a:pPr lvl="1">
              <a:lnSpc>
                <a:spcPct val="170000"/>
              </a:lnSpc>
            </a:pPr>
            <a:r>
              <a:rPr lang="zh-CN" altLang="en-US" dirty="0">
                <a:latin typeface="微软雅黑" panose="020B0503020204020204" pitchFamily="34" charset="-122"/>
                <a:ea typeface="微软雅黑" panose="020B0503020204020204" pitchFamily="34" charset="-122"/>
              </a:rPr>
              <a:t>改进此程序，并公开发布改进的自由（前提是能得到源代码）。</a:t>
            </a:r>
          </a:p>
          <a:p>
            <a:pPr>
              <a:lnSpc>
                <a:spcPct val="170000"/>
              </a:lnSpc>
            </a:pPr>
            <a:r>
              <a:rPr lang="zh-CN" altLang="en-US" dirty="0">
                <a:latin typeface="微软雅黑" panose="020B0503020204020204" pitchFamily="34" charset="-122"/>
                <a:ea typeface="微软雅黑" panose="020B0503020204020204" pitchFamily="34" charset="-122"/>
              </a:rPr>
              <a:t>相反地，随版权所有软件的最终用户许可证几乎从不授予用户任何权利（除了使用的权利），甚至可能限制法律允许的行为，比如逆向工程。</a:t>
            </a:r>
          </a:p>
          <a:p>
            <a:pPr>
              <a:lnSpc>
                <a:spcPct val="170000"/>
              </a:lnSpc>
            </a:pPr>
            <a:r>
              <a:rPr lang="zh-CN" altLang="en-US" dirty="0">
                <a:latin typeface="微软雅黑" panose="020B0503020204020204" pitchFamily="34" charset="-122"/>
                <a:ea typeface="微软雅黑" panose="020B0503020204020204" pitchFamily="34" charset="-122"/>
              </a:rPr>
              <a:t>由于某些原因，</a:t>
            </a:r>
            <a:r>
              <a:rPr lang="en-US" altLang="zh-CN" dirty="0">
                <a:latin typeface="微软雅黑" panose="020B0503020204020204" pitchFamily="34" charset="-122"/>
                <a:ea typeface="微软雅黑" panose="020B0503020204020204" pitchFamily="34" charset="-122"/>
              </a:rPr>
              <a:t>GPL</a:t>
            </a:r>
            <a:r>
              <a:rPr lang="zh-CN" altLang="en-US" dirty="0">
                <a:latin typeface="微软雅黑" panose="020B0503020204020204" pitchFamily="34" charset="-122"/>
                <a:ea typeface="微软雅黑" panose="020B0503020204020204" pitchFamily="34" charset="-122"/>
              </a:rPr>
              <a:t>成为了自由软件和开源软件的最流行许可证。到</a:t>
            </a:r>
            <a:r>
              <a:rPr lang="en-US" altLang="zh-CN" dirty="0">
                <a:latin typeface="微软雅黑" panose="020B0503020204020204" pitchFamily="34" charset="-122"/>
                <a:ea typeface="微软雅黑" panose="020B0503020204020204" pitchFamily="34" charset="-122"/>
              </a:rPr>
              <a:t>2004</a:t>
            </a:r>
            <a:r>
              <a:rPr lang="zh-CN" altLang="en-US" dirty="0">
                <a:latin typeface="微软雅黑" panose="020B0503020204020204" pitchFamily="34" charset="-122"/>
                <a:ea typeface="微软雅黑" panose="020B0503020204020204" pitchFamily="34" charset="-122"/>
              </a:rPr>
              <a:t>年</a:t>
            </a:r>
            <a:r>
              <a:rPr lang="en-US" altLang="zh-CN" dirty="0">
                <a:latin typeface="微软雅黑" panose="020B0503020204020204" pitchFamily="34" charset="-122"/>
                <a:ea typeface="微软雅黑" panose="020B0503020204020204" pitchFamily="34" charset="-122"/>
              </a:rPr>
              <a:t>4</a:t>
            </a:r>
            <a:r>
              <a:rPr lang="zh-CN" altLang="en-US" dirty="0">
                <a:latin typeface="微软雅黑" panose="020B0503020204020204" pitchFamily="34" charset="-122"/>
                <a:ea typeface="微软雅黑" panose="020B0503020204020204" pitchFamily="34" charset="-122"/>
              </a:rPr>
              <a:t>月，</a:t>
            </a:r>
            <a:r>
              <a:rPr lang="en-US" altLang="zh-CN" dirty="0">
                <a:latin typeface="微软雅黑" panose="020B0503020204020204" pitchFamily="34" charset="-122"/>
                <a:ea typeface="微软雅黑" panose="020B0503020204020204" pitchFamily="34" charset="-122"/>
              </a:rPr>
              <a:t>GPL</a:t>
            </a:r>
            <a:r>
              <a:rPr lang="zh-CN" altLang="en-US" dirty="0">
                <a:latin typeface="微软雅黑" panose="020B0503020204020204" pitchFamily="34" charset="-122"/>
                <a:ea typeface="微软雅黑" panose="020B0503020204020204" pitchFamily="34" charset="-122"/>
              </a:rPr>
              <a:t>已占</a:t>
            </a:r>
            <a:r>
              <a:rPr lang="en-US" altLang="zh-CN" dirty="0" err="1">
                <a:latin typeface="微软雅黑" panose="020B0503020204020204" pitchFamily="34" charset="-122"/>
                <a:ea typeface="微软雅黑" panose="020B0503020204020204" pitchFamily="34" charset="-122"/>
              </a:rPr>
              <a:t>Freshmeat</a:t>
            </a:r>
            <a:r>
              <a:rPr lang="zh-CN" altLang="en-US" dirty="0">
                <a:latin typeface="微软雅黑" panose="020B0503020204020204" pitchFamily="34" charset="-122"/>
                <a:ea typeface="微软雅黑" panose="020B0503020204020204" pitchFamily="34" charset="-122"/>
              </a:rPr>
              <a:t>上所列的自由软件的约</a:t>
            </a:r>
            <a:r>
              <a:rPr lang="en-US" altLang="zh-CN" dirty="0">
                <a:latin typeface="微软雅黑" panose="020B0503020204020204" pitchFamily="34" charset="-122"/>
                <a:ea typeface="微软雅黑" panose="020B0503020204020204" pitchFamily="34" charset="-122"/>
              </a:rPr>
              <a:t>75%</a:t>
            </a:r>
            <a:r>
              <a:rPr lang="zh-CN" altLang="en-US"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SourceForge</a:t>
            </a:r>
            <a:r>
              <a:rPr lang="zh-CN" altLang="en-US" dirty="0">
                <a:latin typeface="微软雅黑" panose="020B0503020204020204" pitchFamily="34" charset="-122"/>
                <a:ea typeface="微软雅黑" panose="020B0503020204020204" pitchFamily="34" charset="-122"/>
              </a:rPr>
              <a:t>的约</a:t>
            </a:r>
            <a:r>
              <a:rPr lang="en-US" altLang="zh-CN" dirty="0">
                <a:latin typeface="微软雅黑" panose="020B0503020204020204" pitchFamily="34" charset="-122"/>
                <a:ea typeface="微软雅黑" panose="020B0503020204020204" pitchFamily="34" charset="-122"/>
              </a:rPr>
              <a:t>68%</a:t>
            </a:r>
            <a:r>
              <a:rPr lang="zh-CN" altLang="en-US" dirty="0">
                <a:latin typeface="微软雅黑" panose="020B0503020204020204" pitchFamily="34" charset="-122"/>
                <a:ea typeface="微软雅黑" panose="020B0503020204020204" pitchFamily="34" charset="-122"/>
              </a:rPr>
              <a:t>。类似的，</a:t>
            </a:r>
            <a:r>
              <a:rPr lang="en-US" altLang="zh-CN" dirty="0">
                <a:latin typeface="微软雅黑" panose="020B0503020204020204" pitchFamily="34" charset="-122"/>
                <a:ea typeface="微软雅黑" panose="020B0503020204020204" pitchFamily="34" charset="-122"/>
              </a:rPr>
              <a:t>2001</a:t>
            </a:r>
            <a:r>
              <a:rPr lang="zh-CN" altLang="en-US" dirty="0">
                <a:latin typeface="微软雅黑" panose="020B0503020204020204" pitchFamily="34" charset="-122"/>
                <a:ea typeface="微软雅黑" panose="020B0503020204020204" pitchFamily="34" charset="-122"/>
              </a:rPr>
              <a:t>年一项关于</a:t>
            </a:r>
            <a:r>
              <a:rPr lang="en-US" altLang="zh-CN" dirty="0">
                <a:latin typeface="微软雅黑" panose="020B0503020204020204" pitchFamily="34" charset="-122"/>
                <a:ea typeface="微软雅黑" panose="020B0503020204020204" pitchFamily="34" charset="-122"/>
              </a:rPr>
              <a:t>Red Hat Linux 7.1</a:t>
            </a:r>
            <a:r>
              <a:rPr lang="zh-CN" altLang="en-US" dirty="0">
                <a:latin typeface="微软雅黑" panose="020B0503020204020204" pitchFamily="34" charset="-122"/>
                <a:ea typeface="微软雅黑" panose="020B0503020204020204" pitchFamily="34" charset="-122"/>
              </a:rPr>
              <a:t>的调查显示一般的代码都以</a:t>
            </a:r>
            <a:r>
              <a:rPr lang="en-US" altLang="zh-CN" dirty="0">
                <a:latin typeface="微软雅黑" panose="020B0503020204020204" pitchFamily="34" charset="-122"/>
                <a:ea typeface="微软雅黑" panose="020B0503020204020204" pitchFamily="34" charset="-122"/>
              </a:rPr>
              <a:t>GPL</a:t>
            </a:r>
            <a:r>
              <a:rPr lang="zh-CN" altLang="en-US" dirty="0">
                <a:latin typeface="微软雅黑" panose="020B0503020204020204" pitchFamily="34" charset="-122"/>
                <a:ea typeface="微软雅黑" panose="020B0503020204020204" pitchFamily="34" charset="-122"/>
              </a:rPr>
              <a:t>发布。著名的</a:t>
            </a:r>
            <a:r>
              <a:rPr lang="en-US" altLang="zh-CN" dirty="0">
                <a:latin typeface="微软雅黑" panose="020B0503020204020204" pitchFamily="34" charset="-122"/>
                <a:ea typeface="微软雅黑" panose="020B0503020204020204" pitchFamily="34" charset="-122"/>
              </a:rPr>
              <a:t>GPL</a:t>
            </a:r>
            <a:r>
              <a:rPr lang="zh-CN" altLang="en-US" dirty="0">
                <a:latin typeface="微软雅黑" panose="020B0503020204020204" pitchFamily="34" charset="-122"/>
                <a:ea typeface="微软雅黑" panose="020B0503020204020204" pitchFamily="34" charset="-122"/>
              </a:rPr>
              <a:t>自由软件包括</a:t>
            </a:r>
            <a:r>
              <a:rPr lang="en-US" altLang="zh-CN" dirty="0">
                <a:latin typeface="微软雅黑" panose="020B0503020204020204" pitchFamily="34" charset="-122"/>
                <a:ea typeface="微软雅黑" panose="020B0503020204020204" pitchFamily="34" charset="-122"/>
              </a:rPr>
              <a:t>Linux</a:t>
            </a:r>
            <a:r>
              <a:rPr lang="zh-CN" altLang="en-US" dirty="0">
                <a:latin typeface="微软雅黑" panose="020B0503020204020204" pitchFamily="34" charset="-122"/>
                <a:ea typeface="微软雅黑" panose="020B0503020204020204" pitchFamily="34" charset="-122"/>
              </a:rPr>
              <a:t>核心和</a:t>
            </a:r>
            <a:r>
              <a:rPr lang="en-US" altLang="zh-CN" dirty="0">
                <a:latin typeface="微软雅黑" panose="020B0503020204020204" pitchFamily="34" charset="-122"/>
                <a:ea typeface="微软雅黑" panose="020B0503020204020204" pitchFamily="34" charset="-122"/>
              </a:rPr>
              <a:t>GCC</a:t>
            </a:r>
            <a:r>
              <a:rPr lang="zh-CN" altLang="en-US" dirty="0">
                <a:latin typeface="微软雅黑" panose="020B0503020204020204" pitchFamily="34" charset="-122"/>
                <a:ea typeface="微软雅黑" panose="020B0503020204020204" pitchFamily="34" charset="-122"/>
              </a:rPr>
              <a:t>。</a:t>
            </a:r>
          </a:p>
        </p:txBody>
      </p:sp>
      <p:pic>
        <p:nvPicPr>
          <p:cNvPr id="5" name="图片 4">
            <a:extLst>
              <a:ext uri="{FF2B5EF4-FFF2-40B4-BE49-F238E27FC236}">
                <a16:creationId xmlns:a16="http://schemas.microsoft.com/office/drawing/2014/main" id="{DCCCA419-C55F-4071-BC1F-B97D81DFCC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84206" y="1428994"/>
            <a:ext cx="2095500" cy="2047875"/>
          </a:xfrm>
          <a:prstGeom prst="rect">
            <a:avLst/>
          </a:prstGeom>
        </p:spPr>
      </p:pic>
      <p:sp>
        <p:nvSpPr>
          <p:cNvPr id="6" name="文本框 5">
            <a:extLst>
              <a:ext uri="{FF2B5EF4-FFF2-40B4-BE49-F238E27FC236}">
                <a16:creationId xmlns:a16="http://schemas.microsoft.com/office/drawing/2014/main" id="{3601F2FD-A27B-4EC3-ADFD-37259B1EFCCA}"/>
              </a:ext>
            </a:extLst>
          </p:cNvPr>
          <p:cNvSpPr txBox="1"/>
          <p:nvPr/>
        </p:nvSpPr>
        <p:spPr>
          <a:xfrm>
            <a:off x="7964365" y="3427140"/>
            <a:ext cx="1357746"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GPL</a:t>
            </a:r>
            <a:r>
              <a:rPr lang="zh-CN" altLang="en-US" dirty="0">
                <a:latin typeface="微软雅黑" panose="020B0503020204020204" pitchFamily="34" charset="-122"/>
                <a:ea typeface="微软雅黑" panose="020B0503020204020204" pitchFamily="34" charset="-122"/>
              </a:rPr>
              <a:t>标志</a:t>
            </a:r>
          </a:p>
        </p:txBody>
      </p:sp>
      <p:sp>
        <p:nvSpPr>
          <p:cNvPr id="4" name="灯片编号占位符 3"/>
          <p:cNvSpPr>
            <a:spLocks noGrp="1"/>
          </p:cNvSpPr>
          <p:nvPr>
            <p:ph type="sldNum" sz="quarter" idx="12"/>
          </p:nvPr>
        </p:nvSpPr>
        <p:spPr/>
        <p:txBody>
          <a:bodyPr/>
          <a:lstStyle/>
          <a:p>
            <a:fld id="{B1C307C6-FA7C-4D4E-9E80-039A033D7CBB}" type="slidenum">
              <a:rPr lang="zh-CN" altLang="en-US" smtClean="0"/>
              <a:t>4</a:t>
            </a:fld>
            <a:endParaRPr lang="zh-CN" altLang="en-US"/>
          </a:p>
        </p:txBody>
      </p:sp>
    </p:spTree>
    <p:extLst>
      <p:ext uri="{BB962C8B-B14F-4D97-AF65-F5344CB8AC3E}">
        <p14:creationId xmlns:p14="http://schemas.microsoft.com/office/powerpoint/2010/main" val="22792602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716558-88BF-41B0-A348-9CDD39205E93}"/>
              </a:ext>
            </a:extLst>
          </p:cNvPr>
          <p:cNvSpPr>
            <a:spLocks noGrp="1"/>
          </p:cNvSpPr>
          <p:nvPr>
            <p:ph type="title"/>
          </p:nvPr>
        </p:nvSpPr>
        <p:spPr/>
        <p:txBody>
          <a:bodyPr/>
          <a:lstStyle/>
          <a:p>
            <a:r>
              <a:rPr lang="en-US" altLang="zh-CN" dirty="0">
                <a:latin typeface="微软雅黑" panose="020B0503020204020204" pitchFamily="34" charset="-122"/>
                <a:ea typeface="微软雅黑" panose="020B0503020204020204" pitchFamily="34" charset="-122"/>
              </a:rPr>
              <a:t>GNU</a:t>
            </a:r>
            <a:r>
              <a:rPr lang="zh-CN" altLang="en-US" dirty="0">
                <a:latin typeface="微软雅黑" panose="020B0503020204020204" pitchFamily="34" charset="-122"/>
                <a:ea typeface="微软雅黑" panose="020B0503020204020204" pitchFamily="34" charset="-122"/>
              </a:rPr>
              <a:t>项目和</a:t>
            </a:r>
            <a:r>
              <a:rPr lang="en-US" altLang="zh-CN" dirty="0">
                <a:latin typeface="微软雅黑" panose="020B0503020204020204" pitchFamily="34" charset="-122"/>
                <a:ea typeface="微软雅黑" panose="020B0503020204020204" pitchFamily="34" charset="-122"/>
              </a:rPr>
              <a:t>LLVM</a:t>
            </a:r>
            <a:r>
              <a:rPr lang="zh-CN" altLang="en-US" dirty="0">
                <a:latin typeface="微软雅黑" panose="020B0503020204020204" pitchFamily="34" charset="-122"/>
                <a:ea typeface="微软雅黑" panose="020B0503020204020204" pitchFamily="34" charset="-122"/>
              </a:rPr>
              <a:t>项目介绍</a:t>
            </a:r>
            <a:r>
              <a:rPr lang="en-US" altLang="zh-CN" dirty="0">
                <a:latin typeface="微软雅黑" panose="020B0503020204020204" pitchFamily="34" charset="-122"/>
                <a:ea typeface="微软雅黑" panose="020B0503020204020204" pitchFamily="34" charset="-122"/>
              </a:rPr>
              <a:t>-GNU</a:t>
            </a:r>
            <a:endParaRPr lang="zh-CN" altLang="en-US" dirty="0">
              <a:latin typeface="微软雅黑" panose="020B0503020204020204" pitchFamily="34" charset="-122"/>
              <a:ea typeface="微软雅黑" panose="020B0503020204020204" pitchFamily="34" charset="-122"/>
            </a:endParaRPr>
          </a:p>
        </p:txBody>
      </p:sp>
      <p:sp>
        <p:nvSpPr>
          <p:cNvPr id="3" name="内容占位符 2">
            <a:extLst>
              <a:ext uri="{FF2B5EF4-FFF2-40B4-BE49-F238E27FC236}">
                <a16:creationId xmlns:a16="http://schemas.microsoft.com/office/drawing/2014/main" id="{B33EE393-A2D4-4333-AF58-C78C1EB7B79F}"/>
              </a:ext>
            </a:extLst>
          </p:cNvPr>
          <p:cNvSpPr>
            <a:spLocks noGrp="1"/>
          </p:cNvSpPr>
          <p:nvPr>
            <p:ph idx="1"/>
          </p:nvPr>
        </p:nvSpPr>
        <p:spPr/>
        <p:txBody>
          <a:bodyPr/>
          <a:lstStyle/>
          <a:p>
            <a:pPr>
              <a:lnSpc>
                <a:spcPct val="130000"/>
              </a:lnSpc>
            </a:pPr>
            <a:r>
              <a:rPr lang="en-US" altLang="zh-CN" dirty="0">
                <a:latin typeface="微软雅黑" panose="020B0503020204020204" pitchFamily="34" charset="-122"/>
                <a:ea typeface="微软雅黑" panose="020B0503020204020204" pitchFamily="34" charset="-122"/>
              </a:rPr>
              <a:t>1991</a:t>
            </a:r>
            <a:r>
              <a:rPr lang="zh-CN" altLang="en-US" dirty="0">
                <a:latin typeface="微软雅黑" panose="020B0503020204020204" pitchFamily="34" charset="-122"/>
                <a:ea typeface="微软雅黑" panose="020B0503020204020204" pitchFamily="34" charset="-122"/>
              </a:rPr>
              <a:t>年</a:t>
            </a:r>
            <a:r>
              <a:rPr lang="en-US" altLang="zh-CN" dirty="0">
                <a:latin typeface="微软雅黑" panose="020B0503020204020204" pitchFamily="34" charset="-122"/>
                <a:ea typeface="微软雅黑" panose="020B0503020204020204" pitchFamily="34" charset="-122"/>
              </a:rPr>
              <a:t>Linus Torvalds</a:t>
            </a:r>
            <a:r>
              <a:rPr lang="zh-CN" altLang="en-US" dirty="0">
                <a:latin typeface="微软雅黑" panose="020B0503020204020204" pitchFamily="34" charset="-122"/>
                <a:ea typeface="微软雅黑" panose="020B0503020204020204" pitchFamily="34" charset="-122"/>
              </a:rPr>
              <a:t>编写出了与</a:t>
            </a:r>
            <a:r>
              <a:rPr lang="en-US" altLang="zh-CN" dirty="0">
                <a:latin typeface="微软雅黑" panose="020B0503020204020204" pitchFamily="34" charset="-122"/>
                <a:ea typeface="微软雅黑" panose="020B0503020204020204" pitchFamily="34" charset="-122"/>
              </a:rPr>
              <a:t>UNIX</a:t>
            </a:r>
            <a:r>
              <a:rPr lang="zh-CN" altLang="en-US" dirty="0">
                <a:latin typeface="微软雅黑" panose="020B0503020204020204" pitchFamily="34" charset="-122"/>
                <a:ea typeface="微软雅黑" panose="020B0503020204020204" pitchFamily="34" charset="-122"/>
              </a:rPr>
              <a:t>兼容的</a:t>
            </a:r>
            <a:r>
              <a:rPr lang="en-US" altLang="zh-CN" dirty="0">
                <a:latin typeface="微软雅黑" panose="020B0503020204020204" pitchFamily="34" charset="-122"/>
                <a:ea typeface="微软雅黑" panose="020B0503020204020204" pitchFamily="34" charset="-122"/>
              </a:rPr>
              <a:t>Linux</a:t>
            </a:r>
            <a:r>
              <a:rPr lang="zh-CN" altLang="en-US" dirty="0">
                <a:latin typeface="微软雅黑" panose="020B0503020204020204" pitchFamily="34" charset="-122"/>
                <a:ea typeface="微软雅黑" panose="020B0503020204020204" pitchFamily="34" charset="-122"/>
              </a:rPr>
              <a:t>操作系统内核并在</a:t>
            </a:r>
            <a:r>
              <a:rPr lang="en-US" altLang="zh-CN" dirty="0">
                <a:latin typeface="微软雅黑" panose="020B0503020204020204" pitchFamily="34" charset="-122"/>
                <a:ea typeface="微软雅黑" panose="020B0503020204020204" pitchFamily="34" charset="-122"/>
              </a:rPr>
              <a:t>GPL</a:t>
            </a:r>
            <a:r>
              <a:rPr lang="zh-CN" altLang="en-US" dirty="0">
                <a:latin typeface="微软雅黑" panose="020B0503020204020204" pitchFamily="34" charset="-122"/>
                <a:ea typeface="微软雅黑" panose="020B0503020204020204" pitchFamily="34" charset="-122"/>
              </a:rPr>
              <a:t>条款下发布。</a:t>
            </a:r>
            <a:r>
              <a:rPr lang="en-US" altLang="zh-CN" dirty="0">
                <a:latin typeface="微软雅黑" panose="020B0503020204020204" pitchFamily="34" charset="-122"/>
                <a:ea typeface="微软雅黑" panose="020B0503020204020204" pitchFamily="34" charset="-122"/>
              </a:rPr>
              <a:t>Linux</a:t>
            </a:r>
            <a:r>
              <a:rPr lang="zh-CN" altLang="en-US" dirty="0">
                <a:latin typeface="微软雅黑" panose="020B0503020204020204" pitchFamily="34" charset="-122"/>
                <a:ea typeface="微软雅黑" panose="020B0503020204020204" pitchFamily="34" charset="-122"/>
              </a:rPr>
              <a:t>之后在网上广泛流传，许多程序员参与了开发与修改。</a:t>
            </a:r>
            <a:r>
              <a:rPr lang="en-US" altLang="zh-CN" dirty="0">
                <a:latin typeface="微软雅黑" panose="020B0503020204020204" pitchFamily="34" charset="-122"/>
                <a:ea typeface="微软雅黑" panose="020B0503020204020204" pitchFamily="34" charset="-122"/>
              </a:rPr>
              <a:t>1992</a:t>
            </a:r>
            <a:r>
              <a:rPr lang="zh-CN" altLang="en-US" dirty="0">
                <a:latin typeface="微软雅黑" panose="020B0503020204020204" pitchFamily="34" charset="-122"/>
                <a:ea typeface="微软雅黑" panose="020B0503020204020204" pitchFamily="34" charset="-122"/>
              </a:rPr>
              <a:t>年</a:t>
            </a:r>
            <a:r>
              <a:rPr lang="en-US" altLang="zh-CN" dirty="0">
                <a:latin typeface="微软雅黑" panose="020B0503020204020204" pitchFamily="34" charset="-122"/>
                <a:ea typeface="微软雅黑" panose="020B0503020204020204" pitchFamily="34" charset="-122"/>
              </a:rPr>
              <a:t>Linux</a:t>
            </a:r>
            <a:r>
              <a:rPr lang="zh-CN" altLang="en-US" dirty="0">
                <a:latin typeface="微软雅黑" panose="020B0503020204020204" pitchFamily="34" charset="-122"/>
                <a:ea typeface="微软雅黑" panose="020B0503020204020204" pitchFamily="34" charset="-122"/>
              </a:rPr>
              <a:t>与其他</a:t>
            </a:r>
            <a:r>
              <a:rPr lang="en-US" altLang="zh-CN" dirty="0">
                <a:latin typeface="微软雅黑" panose="020B0503020204020204" pitchFamily="34" charset="-122"/>
                <a:ea typeface="微软雅黑" panose="020B0503020204020204" pitchFamily="34" charset="-122"/>
              </a:rPr>
              <a:t>GNU</a:t>
            </a:r>
            <a:r>
              <a:rPr lang="zh-CN" altLang="en-US" dirty="0">
                <a:latin typeface="微软雅黑" panose="020B0503020204020204" pitchFamily="34" charset="-122"/>
                <a:ea typeface="微软雅黑" panose="020B0503020204020204" pitchFamily="34" charset="-122"/>
              </a:rPr>
              <a:t>软件结合，完全自由的操作系统正式诞生。该操作系统往往被称为“</a:t>
            </a:r>
            <a:r>
              <a:rPr lang="en-US" altLang="zh-CN" dirty="0">
                <a:latin typeface="微软雅黑" panose="020B0503020204020204" pitchFamily="34" charset="-122"/>
                <a:ea typeface="微软雅黑" panose="020B0503020204020204" pitchFamily="34" charset="-122"/>
              </a:rPr>
              <a:t>GNU/Linux”</a:t>
            </a:r>
            <a:r>
              <a:rPr lang="zh-CN" altLang="en-US" dirty="0">
                <a:latin typeface="微软雅黑" panose="020B0503020204020204" pitchFamily="34" charset="-122"/>
                <a:ea typeface="微软雅黑" panose="020B0503020204020204" pitchFamily="34" charset="-122"/>
              </a:rPr>
              <a:t>或简称</a:t>
            </a:r>
            <a:r>
              <a:rPr lang="en-US" altLang="zh-CN" dirty="0">
                <a:latin typeface="微软雅黑" panose="020B0503020204020204" pitchFamily="34" charset="-122"/>
                <a:ea typeface="微软雅黑" panose="020B0503020204020204" pitchFamily="34" charset="-122"/>
              </a:rPr>
              <a:t>Linux</a:t>
            </a:r>
            <a:r>
              <a:rPr lang="zh-CN" altLang="en-US" dirty="0">
                <a:latin typeface="微软雅黑" panose="020B0503020204020204" pitchFamily="34" charset="-122"/>
                <a:ea typeface="微软雅黑" panose="020B0503020204020204" pitchFamily="34" charset="-122"/>
              </a:rPr>
              <a:t>。（尽管如此</a:t>
            </a:r>
            <a:r>
              <a:rPr lang="en-US" altLang="zh-CN" dirty="0">
                <a:latin typeface="微软雅黑" panose="020B0503020204020204" pitchFamily="34" charset="-122"/>
                <a:ea typeface="微软雅黑" panose="020B0503020204020204" pitchFamily="34" charset="-122"/>
              </a:rPr>
              <a:t>GNU</a:t>
            </a:r>
            <a:r>
              <a:rPr lang="zh-CN" altLang="en-US" dirty="0">
                <a:latin typeface="微软雅黑" panose="020B0503020204020204" pitchFamily="34" charset="-122"/>
                <a:ea typeface="微软雅黑" panose="020B0503020204020204" pitchFamily="34" charset="-122"/>
              </a:rPr>
              <a:t>计划自己的内核</a:t>
            </a:r>
            <a:r>
              <a:rPr lang="en-US" altLang="zh-CN" dirty="0">
                <a:latin typeface="微软雅黑" panose="020B0503020204020204" pitchFamily="34" charset="-122"/>
                <a:ea typeface="微软雅黑" panose="020B0503020204020204" pitchFamily="34" charset="-122"/>
              </a:rPr>
              <a:t>Hurd</a:t>
            </a:r>
            <a:r>
              <a:rPr lang="zh-CN" altLang="en-US" dirty="0">
                <a:latin typeface="微软雅黑" panose="020B0503020204020204" pitchFamily="34" charset="-122"/>
                <a:ea typeface="微软雅黑" panose="020B0503020204020204" pitchFamily="34" charset="-122"/>
              </a:rPr>
              <a:t>依然在开发中，已经发布</a:t>
            </a:r>
            <a:r>
              <a:rPr lang="en-US" altLang="zh-CN" dirty="0">
                <a:latin typeface="微软雅黑" panose="020B0503020204020204" pitchFamily="34" charset="-122"/>
                <a:ea typeface="微软雅黑" panose="020B0503020204020204" pitchFamily="34" charset="-122"/>
              </a:rPr>
              <a:t>Beta</a:t>
            </a:r>
            <a:r>
              <a:rPr lang="zh-CN" altLang="en-US" dirty="0">
                <a:latin typeface="微软雅黑" panose="020B0503020204020204" pitchFamily="34" charset="-122"/>
                <a:ea typeface="微软雅黑" panose="020B0503020204020204" pitchFamily="34" charset="-122"/>
              </a:rPr>
              <a:t>版本。）</a:t>
            </a:r>
          </a:p>
        </p:txBody>
      </p:sp>
      <p:sp>
        <p:nvSpPr>
          <p:cNvPr id="4" name="灯片编号占位符 3"/>
          <p:cNvSpPr>
            <a:spLocks noGrp="1"/>
          </p:cNvSpPr>
          <p:nvPr>
            <p:ph type="sldNum" sz="quarter" idx="12"/>
          </p:nvPr>
        </p:nvSpPr>
        <p:spPr/>
        <p:txBody>
          <a:bodyPr/>
          <a:lstStyle/>
          <a:p>
            <a:fld id="{B1C307C6-FA7C-4D4E-9E80-039A033D7CBB}" type="slidenum">
              <a:rPr lang="zh-CN" altLang="en-US" smtClean="0"/>
              <a:t>5</a:t>
            </a:fld>
            <a:endParaRPr lang="zh-CN" altLang="en-US"/>
          </a:p>
        </p:txBody>
      </p:sp>
    </p:spTree>
    <p:extLst>
      <p:ext uri="{BB962C8B-B14F-4D97-AF65-F5344CB8AC3E}">
        <p14:creationId xmlns:p14="http://schemas.microsoft.com/office/powerpoint/2010/main" val="24695954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FFCE15-69A3-4BB3-A2DB-8EEC49B5FCB1}"/>
              </a:ext>
            </a:extLst>
          </p:cNvPr>
          <p:cNvSpPr>
            <a:spLocks noGrp="1"/>
          </p:cNvSpPr>
          <p:nvPr>
            <p:ph type="title"/>
          </p:nvPr>
        </p:nvSpPr>
        <p:spPr/>
        <p:txBody>
          <a:bodyPr/>
          <a:lstStyle/>
          <a:p>
            <a:r>
              <a:rPr lang="en-US" altLang="zh-CN" dirty="0">
                <a:latin typeface="微软雅黑" panose="020B0503020204020204" pitchFamily="34" charset="-122"/>
                <a:ea typeface="微软雅黑" panose="020B0503020204020204" pitchFamily="34" charset="-122"/>
              </a:rPr>
              <a:t>GNU</a:t>
            </a:r>
            <a:r>
              <a:rPr lang="zh-CN" altLang="en-US" dirty="0">
                <a:latin typeface="微软雅黑" panose="020B0503020204020204" pitchFamily="34" charset="-122"/>
                <a:ea typeface="微软雅黑" panose="020B0503020204020204" pitchFamily="34" charset="-122"/>
              </a:rPr>
              <a:t>项目和</a:t>
            </a:r>
            <a:r>
              <a:rPr lang="en-US" altLang="zh-CN" dirty="0">
                <a:latin typeface="微软雅黑" panose="020B0503020204020204" pitchFamily="34" charset="-122"/>
                <a:ea typeface="微软雅黑" panose="020B0503020204020204" pitchFamily="34" charset="-122"/>
              </a:rPr>
              <a:t>LLVM</a:t>
            </a:r>
            <a:r>
              <a:rPr lang="zh-CN" altLang="en-US" dirty="0">
                <a:latin typeface="微软雅黑" panose="020B0503020204020204" pitchFamily="34" charset="-122"/>
                <a:ea typeface="微软雅黑" panose="020B0503020204020204" pitchFamily="34" charset="-122"/>
              </a:rPr>
              <a:t>项目介绍</a:t>
            </a:r>
            <a:r>
              <a:rPr lang="en-US" altLang="zh-CN" dirty="0">
                <a:latin typeface="微软雅黑" panose="020B0503020204020204" pitchFamily="34" charset="-122"/>
                <a:ea typeface="微软雅黑" panose="020B0503020204020204" pitchFamily="34" charset="-122"/>
              </a:rPr>
              <a:t>-LLVM</a:t>
            </a:r>
            <a:endParaRPr lang="zh-CN" altLang="en-US" dirty="0">
              <a:latin typeface="微软雅黑" panose="020B0503020204020204" pitchFamily="34" charset="-122"/>
              <a:ea typeface="微软雅黑" panose="020B0503020204020204" pitchFamily="34" charset="-122"/>
            </a:endParaRPr>
          </a:p>
        </p:txBody>
      </p:sp>
      <p:sp>
        <p:nvSpPr>
          <p:cNvPr id="3" name="内容占位符 2">
            <a:extLst>
              <a:ext uri="{FF2B5EF4-FFF2-40B4-BE49-F238E27FC236}">
                <a16:creationId xmlns:a16="http://schemas.microsoft.com/office/drawing/2014/main" id="{7AED653E-C635-4BD2-8FF8-0D6B8436D9F0}"/>
              </a:ext>
            </a:extLst>
          </p:cNvPr>
          <p:cNvSpPr>
            <a:spLocks noGrp="1"/>
          </p:cNvSpPr>
          <p:nvPr>
            <p:ph idx="1"/>
          </p:nvPr>
        </p:nvSpPr>
        <p:spPr>
          <a:xfrm>
            <a:off x="838200" y="1456347"/>
            <a:ext cx="10515600" cy="5331315"/>
          </a:xfrm>
        </p:spPr>
        <p:txBody>
          <a:bodyPr>
            <a:normAutofit fontScale="92500" lnSpcReduction="20000"/>
          </a:bodyPr>
          <a:lstStyle/>
          <a:p>
            <a:pPr>
              <a:lnSpc>
                <a:spcPct val="130000"/>
              </a:lnSpc>
            </a:pPr>
            <a:r>
              <a:rPr lang="en-US" altLang="zh-CN" dirty="0">
                <a:latin typeface="微软雅黑" panose="020B0503020204020204" pitchFamily="34" charset="-122"/>
                <a:ea typeface="微软雅黑" panose="020B0503020204020204" pitchFamily="34" charset="-122"/>
              </a:rPr>
              <a:t>LLVM</a:t>
            </a:r>
            <a:r>
              <a:rPr lang="zh-CN" altLang="en-US" dirty="0">
                <a:latin typeface="微软雅黑" panose="020B0503020204020204" pitchFamily="34" charset="-122"/>
                <a:ea typeface="微软雅黑" panose="020B0503020204020204" pitchFamily="34" charset="-122"/>
              </a:rPr>
              <a:t>是底层虚拟机</a:t>
            </a:r>
            <a:r>
              <a:rPr lang="en-US" altLang="zh-CN" dirty="0">
                <a:latin typeface="微软雅黑" panose="020B0503020204020204" pitchFamily="34" charset="-122"/>
                <a:ea typeface="微软雅黑" panose="020B0503020204020204" pitchFamily="34" charset="-122"/>
              </a:rPr>
              <a:t>(Low Level Virtual Machine)</a:t>
            </a:r>
            <a:r>
              <a:rPr lang="zh-CN" altLang="en-US" dirty="0">
                <a:latin typeface="微软雅黑" panose="020B0503020204020204" pitchFamily="34" charset="-122"/>
                <a:ea typeface="微软雅黑" panose="020B0503020204020204" pitchFamily="34" charset="-122"/>
              </a:rPr>
              <a:t>的缩写</a:t>
            </a:r>
            <a:endParaRPr lang="en-US" altLang="zh-CN" dirty="0">
              <a:latin typeface="微软雅黑" panose="020B0503020204020204" pitchFamily="34" charset="-122"/>
              <a:ea typeface="微软雅黑" panose="020B0503020204020204" pitchFamily="34" charset="-122"/>
            </a:endParaRPr>
          </a:p>
          <a:p>
            <a:pPr>
              <a:lnSpc>
                <a:spcPct val="130000"/>
              </a:lnSpc>
            </a:pPr>
            <a:r>
              <a:rPr lang="zh-CN" altLang="en-US" dirty="0">
                <a:latin typeface="微软雅黑" panose="020B0503020204020204" pitchFamily="34" charset="-122"/>
                <a:ea typeface="微软雅黑" panose="020B0503020204020204" pitchFamily="34" charset="-122"/>
              </a:rPr>
              <a:t>一个承载及开发了一套严密的工具组件（比如，汇编器，编译器，调试器等）的综合项目。</a:t>
            </a:r>
            <a:r>
              <a:rPr lang="en-US" altLang="zh-CN" dirty="0">
                <a:latin typeface="微软雅黑" panose="020B0503020204020204" pitchFamily="34" charset="-122"/>
                <a:ea typeface="微软雅黑" panose="020B0503020204020204" pitchFamily="34" charset="-122"/>
              </a:rPr>
              <a:t>LLVM</a:t>
            </a:r>
            <a:r>
              <a:rPr lang="zh-CN" altLang="en-US" dirty="0">
                <a:latin typeface="微软雅黑" panose="020B0503020204020204" pitchFamily="34" charset="-122"/>
                <a:ea typeface="微软雅黑" panose="020B0503020204020204" pitchFamily="34" charset="-122"/>
              </a:rPr>
              <a:t>被设计为一组带有良好定义接口可重用的库</a:t>
            </a:r>
            <a:endParaRPr lang="en-US" altLang="zh-CN" dirty="0">
              <a:latin typeface="微软雅黑" panose="020B0503020204020204" pitchFamily="34" charset="-122"/>
              <a:ea typeface="微软雅黑" panose="020B0503020204020204" pitchFamily="34" charset="-122"/>
            </a:endParaRPr>
          </a:p>
          <a:p>
            <a:pPr>
              <a:lnSpc>
                <a:spcPct val="130000"/>
              </a:lnSpc>
            </a:pPr>
            <a:r>
              <a:rPr lang="zh-CN" altLang="en-US" dirty="0">
                <a:latin typeface="微软雅黑" panose="020B0503020204020204" pitchFamily="34" charset="-122"/>
                <a:ea typeface="微软雅黑" panose="020B0503020204020204" pitchFamily="34" charset="-122"/>
              </a:rPr>
              <a:t>在</a:t>
            </a:r>
            <a:r>
              <a:rPr lang="en-US" altLang="zh-CN" dirty="0">
                <a:latin typeface="微软雅黑" panose="020B0503020204020204" pitchFamily="34" charset="-122"/>
                <a:ea typeface="微软雅黑" panose="020B0503020204020204" pitchFamily="34" charset="-122"/>
              </a:rPr>
              <a:t>LLVM</a:t>
            </a:r>
            <a:r>
              <a:rPr lang="zh-CN" altLang="en-US" dirty="0">
                <a:latin typeface="微软雅黑" panose="020B0503020204020204" pitchFamily="34" charset="-122"/>
                <a:ea typeface="微软雅黑" panose="020B0503020204020204" pitchFamily="34" charset="-122"/>
              </a:rPr>
              <a:t>出现以前，开源编程语言的编译实现被设计为专用工具，通常有单一可执行文件。例如，重用来自一个静态编译器（比如</a:t>
            </a:r>
            <a:r>
              <a:rPr lang="en-US" altLang="zh-CN" dirty="0">
                <a:latin typeface="微软雅黑" panose="020B0503020204020204" pitchFamily="34" charset="-122"/>
                <a:ea typeface="微软雅黑" panose="020B0503020204020204" pitchFamily="34" charset="-122"/>
              </a:rPr>
              <a:t>GCC</a:t>
            </a:r>
            <a:r>
              <a:rPr lang="zh-CN" altLang="en-US" dirty="0">
                <a:latin typeface="微软雅黑" panose="020B0503020204020204" pitchFamily="34" charset="-122"/>
                <a:ea typeface="微软雅黑" panose="020B0503020204020204" pitchFamily="34" charset="-122"/>
              </a:rPr>
              <a:t>）的解析器进行静态分析或重构非常困难。在语言实现项目间的共享非常有限</a:t>
            </a:r>
            <a:endParaRPr lang="en-US" altLang="zh-CN" dirty="0">
              <a:latin typeface="微软雅黑" panose="020B0503020204020204" pitchFamily="34" charset="-122"/>
              <a:ea typeface="微软雅黑" panose="020B0503020204020204" pitchFamily="34" charset="-122"/>
            </a:endParaRPr>
          </a:p>
          <a:p>
            <a:pPr>
              <a:lnSpc>
                <a:spcPct val="130000"/>
              </a:lnSpc>
            </a:pPr>
            <a:r>
              <a:rPr lang="en-US" altLang="zh-CN" dirty="0">
                <a:latin typeface="微软雅黑" panose="020B0503020204020204" pitchFamily="34" charset="-122"/>
                <a:ea typeface="微软雅黑" panose="020B0503020204020204" pitchFamily="34" charset="-122"/>
              </a:rPr>
              <a:t>LLVM</a:t>
            </a:r>
            <a:r>
              <a:rPr lang="zh-CN" altLang="en-US" dirty="0">
                <a:latin typeface="微软雅黑" panose="020B0503020204020204" pitchFamily="34" charset="-122"/>
                <a:ea typeface="微软雅黑" panose="020B0503020204020204" pitchFamily="34" charset="-122"/>
              </a:rPr>
              <a:t>现在被用作一个通用的基础框架来实现各种静态及运行时编译的语言（比如由</a:t>
            </a:r>
            <a:r>
              <a:rPr lang="en-US" altLang="zh-CN" dirty="0">
                <a:latin typeface="微软雅黑" panose="020B0503020204020204" pitchFamily="34" charset="-122"/>
                <a:ea typeface="微软雅黑" panose="020B0503020204020204" pitchFamily="34" charset="-122"/>
              </a:rPr>
              <a:t>C++</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Java</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.NET</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Python</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Ruby</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Scheme</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Haskell</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D</a:t>
            </a:r>
            <a:r>
              <a:rPr lang="zh-CN" altLang="en-US" dirty="0">
                <a:latin typeface="微软雅黑" panose="020B0503020204020204" pitchFamily="34" charset="-122"/>
                <a:ea typeface="微软雅黑" panose="020B0503020204020204" pitchFamily="34" charset="-122"/>
              </a:rPr>
              <a:t>的语言家族等等</a:t>
            </a:r>
          </a:p>
        </p:txBody>
      </p:sp>
      <p:sp>
        <p:nvSpPr>
          <p:cNvPr id="4" name="灯片编号占位符 3"/>
          <p:cNvSpPr>
            <a:spLocks noGrp="1"/>
          </p:cNvSpPr>
          <p:nvPr>
            <p:ph type="sldNum" sz="quarter" idx="12"/>
          </p:nvPr>
        </p:nvSpPr>
        <p:spPr/>
        <p:txBody>
          <a:bodyPr/>
          <a:lstStyle/>
          <a:p>
            <a:fld id="{B1C307C6-FA7C-4D4E-9E80-039A033D7CBB}" type="slidenum">
              <a:rPr lang="zh-CN" altLang="en-US" smtClean="0"/>
              <a:t>6</a:t>
            </a:fld>
            <a:endParaRPr lang="zh-CN" altLang="en-US"/>
          </a:p>
        </p:txBody>
      </p:sp>
    </p:spTree>
    <p:extLst>
      <p:ext uri="{BB962C8B-B14F-4D97-AF65-F5344CB8AC3E}">
        <p14:creationId xmlns:p14="http://schemas.microsoft.com/office/powerpoint/2010/main" val="25724964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BE2400-82C8-495E-B865-83C05284EEA7}"/>
              </a:ext>
            </a:extLst>
          </p:cNvPr>
          <p:cNvSpPr>
            <a:spLocks noGrp="1"/>
          </p:cNvSpPr>
          <p:nvPr>
            <p:ph type="title"/>
          </p:nvPr>
        </p:nvSpPr>
        <p:spPr/>
        <p:txBody>
          <a:bodyPr/>
          <a:lstStyle/>
          <a:p>
            <a:r>
              <a:rPr lang="en-US" altLang="zh-CN" dirty="0">
                <a:latin typeface="微软雅黑" panose="020B0503020204020204" pitchFamily="34" charset="-122"/>
                <a:ea typeface="微软雅黑" panose="020B0503020204020204" pitchFamily="34" charset="-122"/>
              </a:rPr>
              <a:t>GNU</a:t>
            </a:r>
            <a:r>
              <a:rPr lang="zh-CN" altLang="en-US" dirty="0">
                <a:latin typeface="微软雅黑" panose="020B0503020204020204" pitchFamily="34" charset="-122"/>
                <a:ea typeface="微软雅黑" panose="020B0503020204020204" pitchFamily="34" charset="-122"/>
              </a:rPr>
              <a:t>项目和</a:t>
            </a:r>
            <a:r>
              <a:rPr lang="en-US" altLang="zh-CN" dirty="0">
                <a:latin typeface="微软雅黑" panose="020B0503020204020204" pitchFamily="34" charset="-122"/>
                <a:ea typeface="微软雅黑" panose="020B0503020204020204" pitchFamily="34" charset="-122"/>
              </a:rPr>
              <a:t>LLVM</a:t>
            </a:r>
            <a:r>
              <a:rPr lang="zh-CN" altLang="en-US" dirty="0">
                <a:latin typeface="微软雅黑" panose="020B0503020204020204" pitchFamily="34" charset="-122"/>
                <a:ea typeface="微软雅黑" panose="020B0503020204020204" pitchFamily="34" charset="-122"/>
              </a:rPr>
              <a:t>项目介绍</a:t>
            </a:r>
            <a:r>
              <a:rPr lang="en-US" altLang="zh-CN" dirty="0">
                <a:latin typeface="微软雅黑" panose="020B0503020204020204" pitchFamily="34" charset="-122"/>
                <a:ea typeface="微软雅黑" panose="020B0503020204020204" pitchFamily="34" charset="-122"/>
              </a:rPr>
              <a:t>-LLVM</a:t>
            </a:r>
            <a:endParaRPr lang="zh-CN" altLang="en-US" dirty="0">
              <a:latin typeface="微软雅黑" panose="020B0503020204020204" pitchFamily="34" charset="-122"/>
              <a:ea typeface="微软雅黑" panose="020B0503020204020204" pitchFamily="34" charset="-122"/>
            </a:endParaRPr>
          </a:p>
        </p:txBody>
      </p:sp>
      <p:sp>
        <p:nvSpPr>
          <p:cNvPr id="3" name="内容占位符 2">
            <a:extLst>
              <a:ext uri="{FF2B5EF4-FFF2-40B4-BE49-F238E27FC236}">
                <a16:creationId xmlns:a16="http://schemas.microsoft.com/office/drawing/2014/main" id="{05171FBA-CE20-4698-9F63-CC31BA79BDD9}"/>
              </a:ext>
            </a:extLst>
          </p:cNvPr>
          <p:cNvSpPr>
            <a:spLocks noGrp="1"/>
          </p:cNvSpPr>
          <p:nvPr>
            <p:ph idx="1"/>
          </p:nvPr>
        </p:nvSpPr>
        <p:spPr/>
        <p:txBody>
          <a:bodyPr>
            <a:normAutofit/>
          </a:bodyPr>
          <a:lstStyle/>
          <a:p>
            <a:pPr>
              <a:lnSpc>
                <a:spcPct val="130000"/>
              </a:lnSpc>
            </a:pPr>
            <a:r>
              <a:rPr lang="zh-CN" altLang="en-US" sz="2400" dirty="0">
                <a:latin typeface="微软雅黑" panose="020B0503020204020204" pitchFamily="34" charset="-122"/>
                <a:ea typeface="微软雅黑" panose="020B0503020204020204" pitchFamily="34" charset="-122"/>
              </a:rPr>
              <a:t>经典编译器设计的简要介绍</a:t>
            </a:r>
            <a:endParaRPr lang="en-US" altLang="zh-CN" sz="2400" dirty="0">
              <a:latin typeface="微软雅黑" panose="020B0503020204020204" pitchFamily="34" charset="-122"/>
              <a:ea typeface="微软雅黑" panose="020B0503020204020204" pitchFamily="34" charset="-122"/>
            </a:endParaRPr>
          </a:p>
          <a:p>
            <a:pPr>
              <a:lnSpc>
                <a:spcPct val="130000"/>
              </a:lnSpc>
            </a:pPr>
            <a:r>
              <a:rPr lang="zh-CN" altLang="en-US" sz="2400" dirty="0">
                <a:latin typeface="微软雅黑" panose="020B0503020204020204" pitchFamily="34" charset="-122"/>
                <a:ea typeface="微软雅黑" panose="020B0503020204020204" pitchFamily="34" charset="-122"/>
              </a:rPr>
              <a:t>一个传统静态编译器（像大多数</a:t>
            </a:r>
            <a:r>
              <a:rPr lang="en-US" altLang="zh-CN" sz="2400" dirty="0">
                <a:latin typeface="微软雅黑" panose="020B0503020204020204" pitchFamily="34" charset="-122"/>
                <a:ea typeface="微软雅黑" panose="020B0503020204020204" pitchFamily="34" charset="-122"/>
              </a:rPr>
              <a:t>C</a:t>
            </a:r>
            <a:r>
              <a:rPr lang="zh-CN" altLang="en-US" sz="2400" dirty="0">
                <a:latin typeface="微软雅黑" panose="020B0503020204020204" pitchFamily="34" charset="-122"/>
                <a:ea typeface="微软雅黑" panose="020B0503020204020204" pitchFamily="34" charset="-122"/>
              </a:rPr>
              <a:t>编译器）最流行的设计是</a:t>
            </a:r>
            <a:r>
              <a:rPr lang="en-US" altLang="zh-CN" sz="2400" dirty="0">
                <a:latin typeface="微软雅黑" panose="020B0503020204020204" pitchFamily="34" charset="-122"/>
                <a:ea typeface="微软雅黑" panose="020B0503020204020204" pitchFamily="34" charset="-122"/>
              </a:rPr>
              <a:t>3</a:t>
            </a:r>
            <a:r>
              <a:rPr lang="zh-CN" altLang="en-US" sz="2400" dirty="0">
                <a:latin typeface="微软雅黑" panose="020B0503020204020204" pitchFamily="34" charset="-122"/>
                <a:ea typeface="微软雅黑" panose="020B0503020204020204" pitchFamily="34" charset="-122"/>
              </a:rPr>
              <a:t>阶段的设计，其中主要组件是前端，优化器及后端（如下图）。前端解析源代码，检查错误，并构建一个特定于语言的抽象语法树（</a:t>
            </a:r>
            <a:r>
              <a:rPr lang="en-US" altLang="zh-CN" sz="2400" dirty="0">
                <a:latin typeface="微软雅黑" panose="020B0503020204020204" pitchFamily="34" charset="-122"/>
                <a:ea typeface="微软雅黑" panose="020B0503020204020204" pitchFamily="34" charset="-122"/>
              </a:rPr>
              <a:t>AST</a:t>
            </a:r>
            <a:r>
              <a:rPr lang="zh-CN" altLang="en-US" sz="2400" dirty="0">
                <a:latin typeface="微软雅黑" panose="020B0503020204020204" pitchFamily="34" charset="-122"/>
                <a:ea typeface="微软雅黑" panose="020B0503020204020204" pitchFamily="34" charset="-122"/>
              </a:rPr>
              <a:t>）来代表输入的代码。</a:t>
            </a:r>
            <a:r>
              <a:rPr lang="en-US" altLang="zh-CN" sz="2400" dirty="0">
                <a:latin typeface="微软雅黑" panose="020B0503020204020204" pitchFamily="34" charset="-122"/>
                <a:ea typeface="微软雅黑" panose="020B0503020204020204" pitchFamily="34" charset="-122"/>
              </a:rPr>
              <a:t>AST</a:t>
            </a:r>
            <a:r>
              <a:rPr lang="zh-CN" altLang="en-US" sz="2400" dirty="0">
                <a:latin typeface="微软雅黑" panose="020B0503020204020204" pitchFamily="34" charset="-122"/>
                <a:ea typeface="微软雅黑" panose="020B0503020204020204" pitchFamily="34" charset="-122"/>
              </a:rPr>
              <a:t>被转换到中间表示（</a:t>
            </a:r>
            <a:r>
              <a:rPr lang="en-US" altLang="zh-CN" sz="2400" dirty="0">
                <a:latin typeface="微软雅黑" panose="020B0503020204020204" pitchFamily="34" charset="-122"/>
                <a:ea typeface="微软雅黑" panose="020B0503020204020204" pitchFamily="34" charset="-122"/>
              </a:rPr>
              <a:t>IR</a:t>
            </a:r>
            <a:r>
              <a:rPr lang="zh-CN" altLang="en-US" sz="2400" dirty="0">
                <a:latin typeface="微软雅黑" panose="020B0503020204020204" pitchFamily="34" charset="-122"/>
                <a:ea typeface="微软雅黑" panose="020B0503020204020204" pitchFamily="34" charset="-122"/>
              </a:rPr>
              <a:t>）进而在优化器中进行优化，后端可以生成可以在特定机器上运行的代码</a:t>
            </a:r>
          </a:p>
        </p:txBody>
      </p:sp>
      <p:pic>
        <p:nvPicPr>
          <p:cNvPr id="5" name="图片 4">
            <a:extLst>
              <a:ext uri="{FF2B5EF4-FFF2-40B4-BE49-F238E27FC236}">
                <a16:creationId xmlns:a16="http://schemas.microsoft.com/office/drawing/2014/main" id="{FB5D5F2D-15CB-4857-9A3B-9054515A34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35432" y="5280728"/>
            <a:ext cx="8121136" cy="1302123"/>
          </a:xfrm>
          <a:prstGeom prst="rect">
            <a:avLst/>
          </a:prstGeom>
        </p:spPr>
      </p:pic>
      <p:sp>
        <p:nvSpPr>
          <p:cNvPr id="4" name="灯片编号占位符 3"/>
          <p:cNvSpPr>
            <a:spLocks noGrp="1"/>
          </p:cNvSpPr>
          <p:nvPr>
            <p:ph type="sldNum" sz="quarter" idx="12"/>
          </p:nvPr>
        </p:nvSpPr>
        <p:spPr/>
        <p:txBody>
          <a:bodyPr/>
          <a:lstStyle/>
          <a:p>
            <a:fld id="{B1C307C6-FA7C-4D4E-9E80-039A033D7CBB}" type="slidenum">
              <a:rPr lang="zh-CN" altLang="en-US" smtClean="0"/>
              <a:t>7</a:t>
            </a:fld>
            <a:endParaRPr lang="zh-CN" altLang="en-US"/>
          </a:p>
        </p:txBody>
      </p:sp>
    </p:spTree>
    <p:extLst>
      <p:ext uri="{BB962C8B-B14F-4D97-AF65-F5344CB8AC3E}">
        <p14:creationId xmlns:p14="http://schemas.microsoft.com/office/powerpoint/2010/main" val="359674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817A1F-2F9C-4574-A452-A79E69AF1517}"/>
              </a:ext>
            </a:extLst>
          </p:cNvPr>
          <p:cNvSpPr>
            <a:spLocks noGrp="1"/>
          </p:cNvSpPr>
          <p:nvPr>
            <p:ph type="title"/>
          </p:nvPr>
        </p:nvSpPr>
        <p:spPr/>
        <p:txBody>
          <a:bodyPr/>
          <a:lstStyle/>
          <a:p>
            <a:r>
              <a:rPr lang="en-US" altLang="zh-CN" dirty="0">
                <a:latin typeface="微软雅黑" panose="020B0503020204020204" pitchFamily="34" charset="-122"/>
                <a:ea typeface="微软雅黑" panose="020B0503020204020204" pitchFamily="34" charset="-122"/>
              </a:rPr>
              <a:t>GNU</a:t>
            </a:r>
            <a:r>
              <a:rPr lang="zh-CN" altLang="en-US" dirty="0">
                <a:latin typeface="微软雅黑" panose="020B0503020204020204" pitchFamily="34" charset="-122"/>
                <a:ea typeface="微软雅黑" panose="020B0503020204020204" pitchFamily="34" charset="-122"/>
              </a:rPr>
              <a:t>项目和</a:t>
            </a:r>
            <a:r>
              <a:rPr lang="en-US" altLang="zh-CN" dirty="0">
                <a:latin typeface="微软雅黑" panose="020B0503020204020204" pitchFamily="34" charset="-122"/>
                <a:ea typeface="微软雅黑" panose="020B0503020204020204" pitchFamily="34" charset="-122"/>
              </a:rPr>
              <a:t>LLVM</a:t>
            </a:r>
            <a:r>
              <a:rPr lang="zh-CN" altLang="en-US" dirty="0">
                <a:latin typeface="微软雅黑" panose="020B0503020204020204" pitchFamily="34" charset="-122"/>
                <a:ea typeface="微软雅黑" panose="020B0503020204020204" pitchFamily="34" charset="-122"/>
              </a:rPr>
              <a:t>项目介绍</a:t>
            </a:r>
            <a:r>
              <a:rPr lang="en-US" altLang="zh-CN" dirty="0">
                <a:latin typeface="微软雅黑" panose="020B0503020204020204" pitchFamily="34" charset="-122"/>
                <a:ea typeface="微软雅黑" panose="020B0503020204020204" pitchFamily="34" charset="-122"/>
              </a:rPr>
              <a:t>-LLVM</a:t>
            </a:r>
            <a:endParaRPr lang="zh-CN" altLang="en-US" dirty="0">
              <a:latin typeface="微软雅黑" panose="020B0503020204020204" pitchFamily="34" charset="-122"/>
              <a:ea typeface="微软雅黑" panose="020B0503020204020204" pitchFamily="34" charset="-122"/>
            </a:endParaRPr>
          </a:p>
        </p:txBody>
      </p:sp>
      <p:sp>
        <p:nvSpPr>
          <p:cNvPr id="3" name="内容占位符 2">
            <a:extLst>
              <a:ext uri="{FF2B5EF4-FFF2-40B4-BE49-F238E27FC236}">
                <a16:creationId xmlns:a16="http://schemas.microsoft.com/office/drawing/2014/main" id="{CE7EB8D8-9053-489F-804B-F2BA176165CD}"/>
              </a:ext>
            </a:extLst>
          </p:cNvPr>
          <p:cNvSpPr>
            <a:spLocks noGrp="1"/>
          </p:cNvSpPr>
          <p:nvPr>
            <p:ph idx="1"/>
          </p:nvPr>
        </p:nvSpPr>
        <p:spPr>
          <a:xfrm>
            <a:off x="838200" y="1544271"/>
            <a:ext cx="10515600" cy="4351338"/>
          </a:xfrm>
        </p:spPr>
        <p:txBody>
          <a:bodyPr/>
          <a:lstStyle/>
          <a:p>
            <a:pPr>
              <a:lnSpc>
                <a:spcPct val="130000"/>
              </a:lnSpc>
            </a:pPr>
            <a:r>
              <a:rPr lang="zh-CN" altLang="en-US" dirty="0">
                <a:latin typeface="微软雅黑" panose="020B0503020204020204" pitchFamily="34" charset="-122"/>
                <a:ea typeface="微软雅黑" panose="020B0503020204020204" pitchFamily="34" charset="-122"/>
              </a:rPr>
              <a:t>当一个编译器决定支持多个源语言或目标架构时，如果编译器在其优化器中使用一个通用的代码表示，</a:t>
            </a:r>
            <a:r>
              <a:rPr lang="zh-CN" altLang="en-US">
                <a:latin typeface="微软雅黑" panose="020B0503020204020204" pitchFamily="34" charset="-122"/>
                <a:ea typeface="微软雅黑" panose="020B0503020204020204" pitchFamily="34" charset="-122"/>
              </a:rPr>
              <a:t>那么可以为任何</a:t>
            </a:r>
            <a:r>
              <a:rPr lang="zh-CN" altLang="en-US" dirty="0">
                <a:latin typeface="微软雅黑" panose="020B0503020204020204" pitchFamily="34" charset="-122"/>
                <a:ea typeface="微软雅黑" panose="020B0503020204020204" pitchFamily="34" charset="-122"/>
              </a:rPr>
              <a:t>可以编译到这个表示的语言编写一个前端，且可以为任何可以从这个表示编译得到的目标编写一个后端，如下图所示。</a:t>
            </a:r>
          </a:p>
        </p:txBody>
      </p:sp>
      <p:pic>
        <p:nvPicPr>
          <p:cNvPr id="5" name="图片 4">
            <a:extLst>
              <a:ext uri="{FF2B5EF4-FFF2-40B4-BE49-F238E27FC236}">
                <a16:creationId xmlns:a16="http://schemas.microsoft.com/office/drawing/2014/main" id="{CAC7588B-CA1A-4397-80AA-C1BA08A0D1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88779" y="4176863"/>
            <a:ext cx="6739346" cy="2492469"/>
          </a:xfrm>
          <a:prstGeom prst="rect">
            <a:avLst/>
          </a:prstGeom>
        </p:spPr>
      </p:pic>
      <p:sp>
        <p:nvSpPr>
          <p:cNvPr id="4" name="灯片编号占位符 3"/>
          <p:cNvSpPr>
            <a:spLocks noGrp="1"/>
          </p:cNvSpPr>
          <p:nvPr>
            <p:ph type="sldNum" sz="quarter" idx="12"/>
          </p:nvPr>
        </p:nvSpPr>
        <p:spPr/>
        <p:txBody>
          <a:bodyPr/>
          <a:lstStyle/>
          <a:p>
            <a:fld id="{B1C307C6-FA7C-4D4E-9E80-039A033D7CBB}" type="slidenum">
              <a:rPr lang="zh-CN" altLang="en-US" smtClean="0"/>
              <a:t>8</a:t>
            </a:fld>
            <a:endParaRPr lang="zh-CN" altLang="en-US"/>
          </a:p>
        </p:txBody>
      </p:sp>
    </p:spTree>
    <p:extLst>
      <p:ext uri="{BB962C8B-B14F-4D97-AF65-F5344CB8AC3E}">
        <p14:creationId xmlns:p14="http://schemas.microsoft.com/office/powerpoint/2010/main" val="7961977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D0F559-10E9-4FD8-BC45-51A2B77136EB}"/>
              </a:ext>
            </a:extLst>
          </p:cNvPr>
          <p:cNvSpPr>
            <a:spLocks noGrp="1"/>
          </p:cNvSpPr>
          <p:nvPr>
            <p:ph type="title"/>
          </p:nvPr>
        </p:nvSpPr>
        <p:spPr/>
        <p:txBody>
          <a:bodyPr/>
          <a:lstStyle/>
          <a:p>
            <a:r>
              <a:rPr lang="en-US" altLang="zh-CN" dirty="0">
                <a:latin typeface="微软雅黑" panose="020B0503020204020204" pitchFamily="34" charset="-122"/>
                <a:ea typeface="微软雅黑" panose="020B0503020204020204" pitchFamily="34" charset="-122"/>
              </a:rPr>
              <a:t>GNU</a:t>
            </a:r>
            <a:r>
              <a:rPr lang="zh-CN" altLang="en-US" dirty="0">
                <a:latin typeface="微软雅黑" panose="020B0503020204020204" pitchFamily="34" charset="-122"/>
                <a:ea typeface="微软雅黑" panose="020B0503020204020204" pitchFamily="34" charset="-122"/>
              </a:rPr>
              <a:t>项目和</a:t>
            </a:r>
            <a:r>
              <a:rPr lang="en-US" altLang="zh-CN" dirty="0">
                <a:latin typeface="微软雅黑" panose="020B0503020204020204" pitchFamily="34" charset="-122"/>
                <a:ea typeface="微软雅黑" panose="020B0503020204020204" pitchFamily="34" charset="-122"/>
              </a:rPr>
              <a:t>LLVM</a:t>
            </a:r>
            <a:r>
              <a:rPr lang="zh-CN" altLang="en-US" dirty="0">
                <a:latin typeface="微软雅黑" panose="020B0503020204020204" pitchFamily="34" charset="-122"/>
                <a:ea typeface="微软雅黑" panose="020B0503020204020204" pitchFamily="34" charset="-122"/>
              </a:rPr>
              <a:t>项目介绍</a:t>
            </a:r>
            <a:r>
              <a:rPr lang="en-US" altLang="zh-CN" dirty="0">
                <a:latin typeface="微软雅黑" panose="020B0503020204020204" pitchFamily="34" charset="-122"/>
                <a:ea typeface="微软雅黑" panose="020B0503020204020204" pitchFamily="34" charset="-122"/>
              </a:rPr>
              <a:t>-LLVM</a:t>
            </a:r>
            <a:endParaRPr lang="zh-CN" altLang="en-US" dirty="0">
              <a:latin typeface="微软雅黑" panose="020B0503020204020204" pitchFamily="34" charset="-122"/>
              <a:ea typeface="微软雅黑" panose="020B0503020204020204" pitchFamily="34" charset="-122"/>
            </a:endParaRPr>
          </a:p>
        </p:txBody>
      </p:sp>
      <p:sp>
        <p:nvSpPr>
          <p:cNvPr id="3" name="内容占位符 2">
            <a:extLst>
              <a:ext uri="{FF2B5EF4-FFF2-40B4-BE49-F238E27FC236}">
                <a16:creationId xmlns:a16="http://schemas.microsoft.com/office/drawing/2014/main" id="{0F7F6FE3-586B-4568-B212-57696AE97464}"/>
              </a:ext>
            </a:extLst>
          </p:cNvPr>
          <p:cNvSpPr>
            <a:spLocks noGrp="1"/>
          </p:cNvSpPr>
          <p:nvPr>
            <p:ph idx="1"/>
          </p:nvPr>
        </p:nvSpPr>
        <p:spPr/>
        <p:txBody>
          <a:bodyPr>
            <a:normAutofit lnSpcReduction="10000"/>
          </a:bodyPr>
          <a:lstStyle/>
          <a:p>
            <a:pPr>
              <a:lnSpc>
                <a:spcPct val="130000"/>
              </a:lnSpc>
            </a:pPr>
            <a:r>
              <a:rPr lang="zh-CN" altLang="en-US" dirty="0">
                <a:latin typeface="微软雅黑" panose="020B0503020204020204" pitchFamily="34" charset="-122"/>
                <a:ea typeface="微软雅黑" panose="020B0503020204020204" pitchFamily="34" charset="-122"/>
              </a:rPr>
              <a:t>三段式设计的其他优点：</a:t>
            </a:r>
            <a:endParaRPr lang="en-US" altLang="zh-CN" dirty="0">
              <a:latin typeface="微软雅黑" panose="020B0503020204020204" pitchFamily="34" charset="-122"/>
              <a:ea typeface="微软雅黑" panose="020B0503020204020204" pitchFamily="34" charset="-122"/>
            </a:endParaRPr>
          </a:p>
          <a:p>
            <a:pPr lvl="1">
              <a:lnSpc>
                <a:spcPct val="130000"/>
              </a:lnSpc>
            </a:pPr>
            <a:r>
              <a:rPr lang="zh-CN" altLang="en-US" dirty="0">
                <a:latin typeface="微软雅黑" panose="020B0503020204020204" pitchFamily="34" charset="-122"/>
                <a:ea typeface="微软雅黑" panose="020B0503020204020204" pitchFamily="34" charset="-122"/>
              </a:rPr>
              <a:t>编译器提供了一个非常宽泛的语法集，即对于开源编译器项目来说，这意味着会有更多的人参与进来，自然而然地就提升了项目的质量。</a:t>
            </a:r>
            <a:endParaRPr lang="en-US" altLang="zh-CN" dirty="0">
              <a:latin typeface="微软雅黑" panose="020B0503020204020204" pitchFamily="34" charset="-122"/>
              <a:ea typeface="微软雅黑" panose="020B0503020204020204" pitchFamily="34" charset="-122"/>
            </a:endParaRPr>
          </a:p>
          <a:p>
            <a:pPr lvl="1">
              <a:lnSpc>
                <a:spcPct val="130000"/>
              </a:lnSpc>
            </a:pPr>
            <a:r>
              <a:rPr lang="zh-CN" altLang="en-US" dirty="0">
                <a:latin typeface="微软雅黑" panose="020B0503020204020204" pitchFamily="34" charset="-122"/>
                <a:ea typeface="微软雅黑" panose="020B0503020204020204" pitchFamily="34" charset="-122"/>
              </a:rPr>
              <a:t>要求实现一个前端的技能与实现优化器与后端要求的技能不同。将它们分离开来对于专注于设计前端来提升编译器的多用性（支持多种语言）来说相对容易点。它降低了开源编译器项目的参与要求。</a:t>
            </a:r>
            <a:endParaRPr lang="en-US" altLang="zh-CN" dirty="0">
              <a:latin typeface="微软雅黑" panose="020B0503020204020204" pitchFamily="34" charset="-122"/>
              <a:ea typeface="微软雅黑" panose="020B0503020204020204" pitchFamily="34" charset="-122"/>
            </a:endParaRPr>
          </a:p>
          <a:p>
            <a:pPr>
              <a:lnSpc>
                <a:spcPct val="140000"/>
              </a:lnSpc>
            </a:pPr>
            <a:r>
              <a:rPr lang="zh-CN" altLang="en-US" dirty="0">
                <a:latin typeface="微软雅黑" panose="020B0503020204020204" pitchFamily="34" charset="-122"/>
                <a:ea typeface="微软雅黑" panose="020B0503020204020204" pitchFamily="34" charset="-122"/>
              </a:rPr>
              <a:t>这个模型成功的案例之一是</a:t>
            </a:r>
            <a:r>
              <a:rPr lang="en-US" altLang="zh-CN" dirty="0">
                <a:latin typeface="微软雅黑" panose="020B0503020204020204" pitchFamily="34" charset="-122"/>
                <a:ea typeface="微软雅黑" panose="020B0503020204020204" pitchFamily="34" charset="-122"/>
              </a:rPr>
              <a:t>GCC</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GCC</a:t>
            </a:r>
            <a:r>
              <a:rPr lang="zh-CN" altLang="en-US" dirty="0">
                <a:latin typeface="微软雅黑" panose="020B0503020204020204" pitchFamily="34" charset="-122"/>
                <a:ea typeface="微软雅黑" panose="020B0503020204020204" pitchFamily="34" charset="-122"/>
              </a:rPr>
              <a:t>支持许多前端与后端，并有一个活跃和广泛的贡献者社区。</a:t>
            </a:r>
          </a:p>
        </p:txBody>
      </p:sp>
      <p:sp>
        <p:nvSpPr>
          <p:cNvPr id="4" name="灯片编号占位符 3"/>
          <p:cNvSpPr>
            <a:spLocks noGrp="1"/>
          </p:cNvSpPr>
          <p:nvPr>
            <p:ph type="sldNum" sz="quarter" idx="12"/>
          </p:nvPr>
        </p:nvSpPr>
        <p:spPr/>
        <p:txBody>
          <a:bodyPr/>
          <a:lstStyle/>
          <a:p>
            <a:fld id="{B1C307C6-FA7C-4D4E-9E80-039A033D7CBB}" type="slidenum">
              <a:rPr lang="zh-CN" altLang="en-US" smtClean="0"/>
              <a:t>9</a:t>
            </a:fld>
            <a:endParaRPr lang="zh-CN" altLang="en-US"/>
          </a:p>
        </p:txBody>
      </p:sp>
    </p:spTree>
    <p:extLst>
      <p:ext uri="{BB962C8B-B14F-4D97-AF65-F5344CB8AC3E}">
        <p14:creationId xmlns:p14="http://schemas.microsoft.com/office/powerpoint/2010/main" val="13376529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0FEC417-25AD-4CA5-9714-99714C8DB440}"/>
              </a:ext>
            </a:extLst>
          </p:cNvPr>
          <p:cNvSpPr>
            <a:spLocks noGrp="1"/>
          </p:cNvSpPr>
          <p:nvPr>
            <p:ph type="title"/>
          </p:nvPr>
        </p:nvSpPr>
        <p:spPr/>
        <p:txBody>
          <a:bodyPr/>
          <a:lstStyle/>
          <a:p>
            <a:r>
              <a:rPr lang="en-US" altLang="zh-CN" dirty="0">
                <a:latin typeface="微软雅黑" panose="020B0503020204020204" pitchFamily="34" charset="-122"/>
                <a:ea typeface="微软雅黑" panose="020B0503020204020204" pitchFamily="34" charset="-122"/>
              </a:rPr>
              <a:t>GNU</a:t>
            </a:r>
            <a:r>
              <a:rPr lang="zh-CN" altLang="en-US" dirty="0">
                <a:latin typeface="微软雅黑" panose="020B0503020204020204" pitchFamily="34" charset="-122"/>
                <a:ea typeface="微软雅黑" panose="020B0503020204020204" pitchFamily="34" charset="-122"/>
              </a:rPr>
              <a:t>项目和</a:t>
            </a:r>
            <a:r>
              <a:rPr lang="en-US" altLang="zh-CN" dirty="0">
                <a:latin typeface="微软雅黑" panose="020B0503020204020204" pitchFamily="34" charset="-122"/>
                <a:ea typeface="微软雅黑" panose="020B0503020204020204" pitchFamily="34" charset="-122"/>
              </a:rPr>
              <a:t>LLVM</a:t>
            </a:r>
            <a:r>
              <a:rPr lang="zh-CN" altLang="en-US" dirty="0">
                <a:latin typeface="微软雅黑" panose="020B0503020204020204" pitchFamily="34" charset="-122"/>
                <a:ea typeface="微软雅黑" panose="020B0503020204020204" pitchFamily="34" charset="-122"/>
              </a:rPr>
              <a:t>项目介绍</a:t>
            </a:r>
            <a:r>
              <a:rPr lang="en-US" altLang="zh-CN" dirty="0">
                <a:latin typeface="微软雅黑" panose="020B0503020204020204" pitchFamily="34" charset="-122"/>
                <a:ea typeface="微软雅黑" panose="020B0503020204020204" pitchFamily="34" charset="-122"/>
              </a:rPr>
              <a:t>-LLVM</a:t>
            </a:r>
            <a:endParaRPr lang="zh-CN" altLang="en-US" dirty="0">
              <a:latin typeface="微软雅黑" panose="020B0503020204020204" pitchFamily="34" charset="-122"/>
              <a:ea typeface="微软雅黑" panose="020B0503020204020204" pitchFamily="34" charset="-122"/>
            </a:endParaRPr>
          </a:p>
        </p:txBody>
      </p:sp>
      <p:sp>
        <p:nvSpPr>
          <p:cNvPr id="3" name="内容占位符 2">
            <a:extLst>
              <a:ext uri="{FF2B5EF4-FFF2-40B4-BE49-F238E27FC236}">
                <a16:creationId xmlns:a16="http://schemas.microsoft.com/office/drawing/2014/main" id="{4AB8DA1C-C50D-49DF-B9C4-BF6D66C73305}"/>
              </a:ext>
            </a:extLst>
          </p:cNvPr>
          <p:cNvSpPr>
            <a:spLocks noGrp="1"/>
          </p:cNvSpPr>
          <p:nvPr>
            <p:ph idx="1"/>
          </p:nvPr>
        </p:nvSpPr>
        <p:spPr/>
        <p:txBody>
          <a:bodyPr>
            <a:normAutofit/>
          </a:bodyPr>
          <a:lstStyle/>
          <a:p>
            <a:pPr>
              <a:lnSpc>
                <a:spcPct val="130000"/>
              </a:lnSpc>
            </a:pPr>
            <a:r>
              <a:rPr lang="en-US" altLang="zh-CN" dirty="0">
                <a:latin typeface="微软雅黑" panose="020B0503020204020204" pitchFamily="34" charset="-122"/>
                <a:ea typeface="微软雅黑" panose="020B0503020204020204" pitchFamily="34" charset="-122"/>
              </a:rPr>
              <a:t>LLVM</a:t>
            </a:r>
            <a:r>
              <a:rPr lang="zh-CN" altLang="en-US" dirty="0">
                <a:latin typeface="微软雅黑" panose="020B0503020204020204" pitchFamily="34" charset="-122"/>
                <a:ea typeface="微软雅黑" panose="020B0503020204020204" pitchFamily="34" charset="-122"/>
              </a:rPr>
              <a:t>中最重要的设计模块：</a:t>
            </a:r>
            <a:r>
              <a:rPr lang="en-US" altLang="zh-CN" dirty="0">
                <a:latin typeface="微软雅黑" panose="020B0503020204020204" pitchFamily="34" charset="-122"/>
                <a:ea typeface="微软雅黑" panose="020B0503020204020204" pitchFamily="34" charset="-122"/>
              </a:rPr>
              <a:t>LLVM IR</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LLVM Intermediate Representation</a:t>
            </a:r>
            <a:r>
              <a:rPr lang="zh-CN" altLang="en-US" dirty="0">
                <a:latin typeface="微软雅黑" panose="020B0503020204020204" pitchFamily="34" charset="-122"/>
                <a:ea typeface="微软雅黑" panose="020B0503020204020204" pitchFamily="34" charset="-122"/>
              </a:rPr>
              <a:t>），它是在编译器中用来表示中间代码的形式。</a:t>
            </a:r>
            <a:endParaRPr lang="en-US" altLang="zh-CN" dirty="0">
              <a:latin typeface="微软雅黑" panose="020B0503020204020204" pitchFamily="34" charset="-122"/>
              <a:ea typeface="微软雅黑" panose="020B0503020204020204" pitchFamily="34" charset="-122"/>
            </a:endParaRPr>
          </a:p>
          <a:p>
            <a:pPr>
              <a:lnSpc>
                <a:spcPct val="130000"/>
              </a:lnSpc>
            </a:pPr>
            <a:r>
              <a:rPr lang="en-US" altLang="zh-CN" dirty="0">
                <a:latin typeface="微软雅黑" panose="020B0503020204020204" pitchFamily="34" charset="-122"/>
                <a:ea typeface="微软雅黑" panose="020B0503020204020204" pitchFamily="34" charset="-122"/>
              </a:rPr>
              <a:t>LLVM IR</a:t>
            </a:r>
            <a:r>
              <a:rPr lang="zh-CN" altLang="en-US" dirty="0">
                <a:latin typeface="微软雅黑" panose="020B0503020204020204" pitchFamily="34" charset="-122"/>
                <a:ea typeface="微软雅黑" panose="020B0503020204020204" pitchFamily="34" charset="-122"/>
              </a:rPr>
              <a:t>的设计考虑了许多特殊的目标，包括支持轻量级的运行时优化、跨函数</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过程间优化、整个程序分析、以及重构变换等</a:t>
            </a:r>
          </a:p>
        </p:txBody>
      </p:sp>
      <p:sp>
        <p:nvSpPr>
          <p:cNvPr id="4" name="灯片编号占位符 3"/>
          <p:cNvSpPr>
            <a:spLocks noGrp="1"/>
          </p:cNvSpPr>
          <p:nvPr>
            <p:ph type="sldNum" sz="quarter" idx="12"/>
          </p:nvPr>
        </p:nvSpPr>
        <p:spPr/>
        <p:txBody>
          <a:bodyPr/>
          <a:lstStyle/>
          <a:p>
            <a:fld id="{B1C307C6-FA7C-4D4E-9E80-039A033D7CBB}" type="slidenum">
              <a:rPr lang="zh-CN" altLang="en-US" smtClean="0"/>
              <a:t>10</a:t>
            </a:fld>
            <a:endParaRPr lang="zh-CN" altLang="en-US"/>
          </a:p>
        </p:txBody>
      </p:sp>
    </p:spTree>
    <p:extLst>
      <p:ext uri="{BB962C8B-B14F-4D97-AF65-F5344CB8AC3E}">
        <p14:creationId xmlns:p14="http://schemas.microsoft.com/office/powerpoint/2010/main" val="38541722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428D9F-A805-4C6D-BBDA-6491143E53DA}"/>
              </a:ext>
            </a:extLst>
          </p:cNvPr>
          <p:cNvSpPr>
            <a:spLocks noGrp="1"/>
          </p:cNvSpPr>
          <p:nvPr>
            <p:ph type="title"/>
          </p:nvPr>
        </p:nvSpPr>
        <p:spPr/>
        <p:txBody>
          <a:bodyPr/>
          <a:lstStyle/>
          <a:p>
            <a:r>
              <a:rPr lang="en-US" altLang="zh-CN" dirty="0">
                <a:latin typeface="微软雅黑" panose="020B0503020204020204" pitchFamily="34" charset="-122"/>
                <a:ea typeface="微软雅黑" panose="020B0503020204020204" pitchFamily="34" charset="-122"/>
              </a:rPr>
              <a:t>GNU</a:t>
            </a:r>
            <a:r>
              <a:rPr lang="zh-CN" altLang="en-US" dirty="0">
                <a:latin typeface="微软雅黑" panose="020B0503020204020204" pitchFamily="34" charset="-122"/>
                <a:ea typeface="微软雅黑" panose="020B0503020204020204" pitchFamily="34" charset="-122"/>
              </a:rPr>
              <a:t>项目和</a:t>
            </a:r>
            <a:r>
              <a:rPr lang="en-US" altLang="zh-CN" dirty="0">
                <a:latin typeface="微软雅黑" panose="020B0503020204020204" pitchFamily="34" charset="-122"/>
                <a:ea typeface="微软雅黑" panose="020B0503020204020204" pitchFamily="34" charset="-122"/>
              </a:rPr>
              <a:t>LLVM</a:t>
            </a:r>
            <a:r>
              <a:rPr lang="zh-CN" altLang="en-US" dirty="0">
                <a:latin typeface="微软雅黑" panose="020B0503020204020204" pitchFamily="34" charset="-122"/>
                <a:ea typeface="微软雅黑" panose="020B0503020204020204" pitchFamily="34" charset="-122"/>
              </a:rPr>
              <a:t>项目介绍</a:t>
            </a:r>
            <a:r>
              <a:rPr lang="en-US" altLang="zh-CN" dirty="0">
                <a:latin typeface="微软雅黑" panose="020B0503020204020204" pitchFamily="34" charset="-122"/>
                <a:ea typeface="微软雅黑" panose="020B0503020204020204" pitchFamily="34" charset="-122"/>
              </a:rPr>
              <a:t>-LLVM</a:t>
            </a:r>
            <a:endParaRPr lang="zh-CN" altLang="en-US" dirty="0">
              <a:latin typeface="微软雅黑" panose="020B0503020204020204" pitchFamily="34" charset="-122"/>
              <a:ea typeface="微软雅黑" panose="020B0503020204020204" pitchFamily="34" charset="-122"/>
            </a:endParaRPr>
          </a:p>
        </p:txBody>
      </p:sp>
      <p:sp>
        <p:nvSpPr>
          <p:cNvPr id="3" name="内容占位符 2">
            <a:extLst>
              <a:ext uri="{FF2B5EF4-FFF2-40B4-BE49-F238E27FC236}">
                <a16:creationId xmlns:a16="http://schemas.microsoft.com/office/drawing/2014/main" id="{DF966AAD-D52D-4672-BB79-99E2788B86D9}"/>
              </a:ext>
            </a:extLst>
          </p:cNvPr>
          <p:cNvSpPr>
            <a:spLocks noGrp="1"/>
          </p:cNvSpPr>
          <p:nvPr>
            <p:ph idx="1"/>
          </p:nvPr>
        </p:nvSpPr>
        <p:spPr>
          <a:xfrm>
            <a:off x="838200" y="1825625"/>
            <a:ext cx="10515600" cy="4351338"/>
          </a:xfrm>
        </p:spPr>
        <p:txBody>
          <a:bodyPr/>
          <a:lstStyle/>
          <a:p>
            <a:pPr>
              <a:lnSpc>
                <a:spcPct val="130000"/>
              </a:lnSpc>
            </a:pPr>
            <a:r>
              <a:rPr lang="zh-CN" altLang="en-US" sz="2400" dirty="0">
                <a:latin typeface="微软雅黑" panose="020B0503020204020204" pitchFamily="34" charset="-122"/>
                <a:ea typeface="微软雅黑" panose="020B0503020204020204" pitchFamily="34" charset="-122"/>
              </a:rPr>
              <a:t>在一个基于</a:t>
            </a:r>
            <a:r>
              <a:rPr lang="en-US" altLang="zh-CN" sz="2400" dirty="0">
                <a:latin typeface="微软雅黑" panose="020B0503020204020204" pitchFamily="34" charset="-122"/>
                <a:ea typeface="微软雅黑" panose="020B0503020204020204" pitchFamily="34" charset="-122"/>
              </a:rPr>
              <a:t>LLVM</a:t>
            </a:r>
            <a:r>
              <a:rPr lang="zh-CN" altLang="en-US" sz="2400" dirty="0">
                <a:latin typeface="微软雅黑" panose="020B0503020204020204" pitchFamily="34" charset="-122"/>
                <a:ea typeface="微软雅黑" panose="020B0503020204020204" pitchFamily="34" charset="-122"/>
              </a:rPr>
              <a:t>的编译器中，一个前端负责对输入代码解析，验证及诊断错误，然后把解析的代码转换到</a:t>
            </a:r>
            <a:r>
              <a:rPr lang="en-US" altLang="zh-CN" sz="2400" dirty="0">
                <a:latin typeface="微软雅黑" panose="020B0503020204020204" pitchFamily="34" charset="-122"/>
                <a:ea typeface="微软雅黑" panose="020B0503020204020204" pitchFamily="34" charset="-122"/>
              </a:rPr>
              <a:t>LLVM IR</a:t>
            </a:r>
            <a:r>
              <a:rPr lang="zh-CN" altLang="en-US" sz="2400" dirty="0">
                <a:latin typeface="微软雅黑" panose="020B0503020204020204" pitchFamily="34" charset="-122"/>
                <a:ea typeface="微软雅黑" panose="020B0503020204020204" pitchFamily="34" charset="-122"/>
              </a:rPr>
              <a:t>（通常通过构建一棵</a:t>
            </a:r>
            <a:r>
              <a:rPr lang="en-US" altLang="zh-CN" sz="2400" dirty="0">
                <a:latin typeface="微软雅黑" panose="020B0503020204020204" pitchFamily="34" charset="-122"/>
                <a:ea typeface="微软雅黑" panose="020B0503020204020204" pitchFamily="34" charset="-122"/>
              </a:rPr>
              <a:t>AST</a:t>
            </a:r>
            <a:r>
              <a:rPr lang="zh-CN" altLang="en-US" sz="2400" dirty="0">
                <a:latin typeface="微软雅黑" panose="020B0503020204020204" pitchFamily="34" charset="-122"/>
                <a:ea typeface="微软雅黑" panose="020B0503020204020204" pitchFamily="34" charset="-122"/>
              </a:rPr>
              <a:t>，然后将其转换为</a:t>
            </a:r>
            <a:r>
              <a:rPr lang="en-US" altLang="zh-CN" sz="2400" dirty="0">
                <a:latin typeface="微软雅黑" panose="020B0503020204020204" pitchFamily="34" charset="-122"/>
                <a:ea typeface="微软雅黑" panose="020B0503020204020204" pitchFamily="34" charset="-122"/>
              </a:rPr>
              <a:t>LLVM IR</a:t>
            </a:r>
            <a:r>
              <a:rPr lang="zh-CN" altLang="en-US" sz="2400" dirty="0">
                <a:latin typeface="微软雅黑" panose="020B0503020204020204" pitchFamily="34" charset="-122"/>
                <a:ea typeface="微软雅黑" panose="020B0503020204020204" pitchFamily="34" charset="-122"/>
              </a:rPr>
              <a:t>）。这个</a:t>
            </a:r>
            <a:r>
              <a:rPr lang="en-US" altLang="zh-CN" sz="2400" dirty="0">
                <a:latin typeface="微软雅黑" panose="020B0503020204020204" pitchFamily="34" charset="-122"/>
                <a:ea typeface="微软雅黑" panose="020B0503020204020204" pitchFamily="34" charset="-122"/>
              </a:rPr>
              <a:t>IR</a:t>
            </a:r>
            <a:r>
              <a:rPr lang="zh-CN" altLang="en-US" sz="2400" dirty="0">
                <a:latin typeface="微软雅黑" panose="020B0503020204020204" pitchFamily="34" charset="-122"/>
                <a:ea typeface="微软雅黑" panose="020B0503020204020204" pitchFamily="34" charset="-122"/>
              </a:rPr>
              <a:t>通过一系列改进代码的分析及优化，然后发送到一个代码生成器来产生本地机器码</a:t>
            </a:r>
          </a:p>
        </p:txBody>
      </p:sp>
      <p:pic>
        <p:nvPicPr>
          <p:cNvPr id="1026" name="Picture 2" descr="https://upload-images.jianshu.io/upload_images/1460317-4dae971dc8972594.png?imageMogr2/auto-orient/strip|imageView2/2/w/1200">
            <a:extLst>
              <a:ext uri="{FF2B5EF4-FFF2-40B4-BE49-F238E27FC236}">
                <a16:creationId xmlns:a16="http://schemas.microsoft.com/office/drawing/2014/main" id="{3F99CB55-D1EB-4F00-8513-16D14EAA75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20789" y="4001294"/>
            <a:ext cx="7337612" cy="2580394"/>
          </a:xfrm>
          <a:prstGeom prst="rect">
            <a:avLst/>
          </a:prstGeom>
          <a:noFill/>
          <a:extLst>
            <a:ext uri="{909E8E84-426E-40DD-AFC4-6F175D3DCCD1}">
              <a14:hiddenFill xmlns:a14="http://schemas.microsoft.com/office/drawing/2010/main">
                <a:solidFill>
                  <a:srgbClr val="FFFFFF"/>
                </a:solidFill>
              </a14:hiddenFill>
            </a:ext>
          </a:extLst>
        </p:spPr>
      </p:pic>
      <p:sp>
        <p:nvSpPr>
          <p:cNvPr id="4" name="灯片编号占位符 3"/>
          <p:cNvSpPr>
            <a:spLocks noGrp="1"/>
          </p:cNvSpPr>
          <p:nvPr>
            <p:ph type="sldNum" sz="quarter" idx="12"/>
          </p:nvPr>
        </p:nvSpPr>
        <p:spPr/>
        <p:txBody>
          <a:bodyPr/>
          <a:lstStyle/>
          <a:p>
            <a:fld id="{B1C307C6-FA7C-4D4E-9E80-039A033D7CBB}" type="slidenum">
              <a:rPr lang="zh-CN" altLang="en-US" smtClean="0"/>
              <a:t>11</a:t>
            </a:fld>
            <a:endParaRPr lang="zh-CN" altLang="en-US"/>
          </a:p>
        </p:txBody>
      </p:sp>
    </p:spTree>
    <p:extLst>
      <p:ext uri="{BB962C8B-B14F-4D97-AF65-F5344CB8AC3E}">
        <p14:creationId xmlns:p14="http://schemas.microsoft.com/office/powerpoint/2010/main" val="38413810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D2EF29-12CF-4B47-90E0-D54A650CB39F}"/>
              </a:ext>
            </a:extLst>
          </p:cNvPr>
          <p:cNvSpPr>
            <a:spLocks noGrp="1"/>
          </p:cNvSpPr>
          <p:nvPr>
            <p:ph type="title"/>
          </p:nvPr>
        </p:nvSpPr>
        <p:spPr/>
        <p:txBody>
          <a:bodyPr/>
          <a:lstStyle/>
          <a:p>
            <a:r>
              <a:rPr lang="en-US" altLang="zh-CN" dirty="0"/>
              <a:t>GNU</a:t>
            </a:r>
            <a:r>
              <a:rPr lang="zh-CN" altLang="en-US" dirty="0"/>
              <a:t>项目和</a:t>
            </a:r>
            <a:r>
              <a:rPr lang="en-US" altLang="zh-CN" dirty="0"/>
              <a:t>LLVM</a:t>
            </a:r>
            <a:r>
              <a:rPr lang="zh-CN" altLang="en-US" dirty="0"/>
              <a:t>项目介绍</a:t>
            </a:r>
            <a:r>
              <a:rPr lang="en-US" altLang="zh-CN" dirty="0"/>
              <a:t>-LLVM</a:t>
            </a:r>
            <a:endParaRPr lang="zh-CN" altLang="en-US" dirty="0"/>
          </a:p>
        </p:txBody>
      </p:sp>
      <p:sp>
        <p:nvSpPr>
          <p:cNvPr id="3" name="内容占位符 2">
            <a:extLst>
              <a:ext uri="{FF2B5EF4-FFF2-40B4-BE49-F238E27FC236}">
                <a16:creationId xmlns:a16="http://schemas.microsoft.com/office/drawing/2014/main" id="{FEE5017F-A59A-4099-9F8F-D19F6EE6606F}"/>
              </a:ext>
            </a:extLst>
          </p:cNvPr>
          <p:cNvSpPr>
            <a:spLocks noGrp="1"/>
          </p:cNvSpPr>
          <p:nvPr>
            <p:ph idx="1"/>
          </p:nvPr>
        </p:nvSpPr>
        <p:spPr/>
        <p:txBody>
          <a:bodyPr/>
          <a:lstStyle/>
          <a:p>
            <a:r>
              <a:rPr lang="zh-CN" altLang="en-US" dirty="0"/>
              <a:t>下面一图展示了</a:t>
            </a:r>
            <a:r>
              <a:rPr lang="en-US" altLang="zh-CN" dirty="0"/>
              <a:t>GCC 4.2</a:t>
            </a:r>
            <a:r>
              <a:rPr lang="zh-CN" altLang="en-US" dirty="0"/>
              <a:t>和</a:t>
            </a:r>
            <a:r>
              <a:rPr lang="en-US" altLang="zh-CN" dirty="0"/>
              <a:t>LLVM-GCC</a:t>
            </a:r>
            <a:r>
              <a:rPr lang="zh-CN" altLang="en-US" dirty="0"/>
              <a:t>、</a:t>
            </a:r>
            <a:r>
              <a:rPr lang="en-US" altLang="zh-CN" dirty="0"/>
              <a:t>LLVM Complier</a:t>
            </a:r>
            <a:r>
              <a:rPr lang="zh-CN" altLang="en-US" dirty="0"/>
              <a:t>的区别：</a:t>
            </a:r>
          </a:p>
        </p:txBody>
      </p:sp>
      <p:sp>
        <p:nvSpPr>
          <p:cNvPr id="4" name="灯片编号占位符 3"/>
          <p:cNvSpPr>
            <a:spLocks noGrp="1"/>
          </p:cNvSpPr>
          <p:nvPr>
            <p:ph type="sldNum" sz="quarter" idx="12"/>
          </p:nvPr>
        </p:nvSpPr>
        <p:spPr/>
        <p:txBody>
          <a:bodyPr/>
          <a:lstStyle/>
          <a:p>
            <a:fld id="{B1C307C6-FA7C-4D4E-9E80-039A033D7CBB}" type="slidenum">
              <a:rPr lang="zh-CN" altLang="en-US" smtClean="0"/>
              <a:t>12</a:t>
            </a:fld>
            <a:endParaRPr lang="zh-CN" altLang="en-US"/>
          </a:p>
        </p:txBody>
      </p:sp>
      <p:pic>
        <p:nvPicPr>
          <p:cNvPr id="7" name="图片 6">
            <a:extLst>
              <a:ext uri="{FF2B5EF4-FFF2-40B4-BE49-F238E27FC236}">
                <a16:creationId xmlns:a16="http://schemas.microsoft.com/office/drawing/2014/main" id="{23F31743-11E5-4466-87C8-8B3A54A713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5319" y="2310869"/>
            <a:ext cx="5786716" cy="4410606"/>
          </a:xfrm>
          <a:prstGeom prst="rect">
            <a:avLst/>
          </a:prstGeom>
        </p:spPr>
      </p:pic>
      <p:sp>
        <p:nvSpPr>
          <p:cNvPr id="8" name="文本框 7">
            <a:extLst>
              <a:ext uri="{FF2B5EF4-FFF2-40B4-BE49-F238E27FC236}">
                <a16:creationId xmlns:a16="http://schemas.microsoft.com/office/drawing/2014/main" id="{304759B7-7720-443B-BE7D-4C72CD45668A}"/>
              </a:ext>
            </a:extLst>
          </p:cNvPr>
          <p:cNvSpPr txBox="1"/>
          <p:nvPr/>
        </p:nvSpPr>
        <p:spPr>
          <a:xfrm>
            <a:off x="8610599" y="3119718"/>
            <a:ext cx="2577353" cy="2862322"/>
          </a:xfrm>
          <a:prstGeom prst="rect">
            <a:avLst/>
          </a:prstGeom>
          <a:noFill/>
        </p:spPr>
        <p:txBody>
          <a:bodyPr wrap="square" rtlCol="0">
            <a:spAutoFit/>
          </a:bodyPr>
          <a:lstStyle/>
          <a:p>
            <a:r>
              <a:rPr lang="zh-CN" altLang="en-US" dirty="0"/>
              <a:t>注：</a:t>
            </a:r>
            <a:endParaRPr lang="en-US" altLang="zh-CN" dirty="0"/>
          </a:p>
          <a:p>
            <a:r>
              <a:rPr lang="en-US" altLang="zh-CN" dirty="0"/>
              <a:t>Clang</a:t>
            </a:r>
            <a:r>
              <a:rPr lang="zh-CN" altLang="en-US" dirty="0"/>
              <a:t>是一个</a:t>
            </a:r>
            <a:r>
              <a:rPr lang="en-US" altLang="zh-CN" dirty="0"/>
              <a:t>C</a:t>
            </a:r>
            <a:r>
              <a:rPr lang="zh-CN" altLang="en-US" dirty="0"/>
              <a:t>、</a:t>
            </a:r>
            <a:r>
              <a:rPr lang="en-US" altLang="zh-CN" dirty="0"/>
              <a:t>C++</a:t>
            </a:r>
            <a:r>
              <a:rPr lang="zh-CN" altLang="en-US" dirty="0"/>
              <a:t>、</a:t>
            </a:r>
            <a:r>
              <a:rPr lang="en-US" altLang="zh-CN" dirty="0"/>
              <a:t>Objective-C</a:t>
            </a:r>
            <a:r>
              <a:rPr lang="zh-CN" altLang="en-US" dirty="0"/>
              <a:t>的轻量级编译器，采用</a:t>
            </a:r>
            <a:r>
              <a:rPr lang="en-US" altLang="zh-CN" dirty="0"/>
              <a:t>LLVM</a:t>
            </a:r>
            <a:r>
              <a:rPr lang="zh-CN" altLang="en-US" dirty="0"/>
              <a:t>作为后端。源码发布采用</a:t>
            </a:r>
            <a:r>
              <a:rPr lang="en-US" altLang="zh-CN" dirty="0"/>
              <a:t>BSD</a:t>
            </a:r>
            <a:r>
              <a:rPr lang="zh-CN" altLang="en-US" dirty="0"/>
              <a:t>协议的许可证，较</a:t>
            </a:r>
            <a:r>
              <a:rPr lang="en-US" altLang="zh-CN" dirty="0"/>
              <a:t>GPL</a:t>
            </a:r>
            <a:r>
              <a:rPr lang="zh-CN" altLang="en-US" dirty="0"/>
              <a:t>而言更为宽松。</a:t>
            </a:r>
            <a:endParaRPr lang="en-US" altLang="zh-CN" dirty="0"/>
          </a:p>
          <a:p>
            <a:r>
              <a:rPr lang="en-US" altLang="zh-CN" dirty="0"/>
              <a:t>Clang</a:t>
            </a:r>
            <a:r>
              <a:rPr lang="zh-CN" altLang="en-US" dirty="0"/>
              <a:t>与</a:t>
            </a:r>
            <a:r>
              <a:rPr lang="en-US" altLang="zh-CN" dirty="0"/>
              <a:t>GNU C</a:t>
            </a:r>
            <a:r>
              <a:rPr lang="zh-CN" altLang="en-US" dirty="0"/>
              <a:t>语言规范几乎完全</a:t>
            </a:r>
            <a:r>
              <a:rPr lang="zh-CN" altLang="en-US"/>
              <a:t>兼容。</a:t>
            </a:r>
            <a:r>
              <a:rPr lang="en-US" altLang="zh-CN"/>
              <a:t>Clang</a:t>
            </a:r>
            <a:r>
              <a:rPr lang="zh-CN" altLang="en-US" dirty="0"/>
              <a:t>编译速度快，占用内存小。</a:t>
            </a:r>
            <a:endParaRPr lang="en-US" altLang="zh-CN" dirty="0"/>
          </a:p>
        </p:txBody>
      </p:sp>
    </p:spTree>
    <p:extLst>
      <p:ext uri="{BB962C8B-B14F-4D97-AF65-F5344CB8AC3E}">
        <p14:creationId xmlns:p14="http://schemas.microsoft.com/office/powerpoint/2010/main" val="9861734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A4ECD7-FA34-4AE6-AB75-A31FA51728DB}"/>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环境配置及</a:t>
            </a:r>
            <a:r>
              <a:rPr lang="en-US" altLang="zh-CN" dirty="0" err="1">
                <a:latin typeface="微软雅黑" panose="020B0503020204020204" pitchFamily="34" charset="-122"/>
                <a:ea typeface="微软雅黑" panose="020B0503020204020204" pitchFamily="34" charset="-122"/>
              </a:rPr>
              <a:t>riscv</a:t>
            </a:r>
            <a:r>
              <a:rPr lang="en-US" altLang="zh-CN" dirty="0">
                <a:latin typeface="微软雅黑" panose="020B0503020204020204" pitchFamily="34" charset="-122"/>
                <a:ea typeface="微软雅黑" panose="020B0503020204020204" pitchFamily="34" charset="-122"/>
              </a:rPr>
              <a:t>-gnu-toolchain</a:t>
            </a:r>
            <a:r>
              <a:rPr lang="zh-CN" altLang="en-US" dirty="0">
                <a:latin typeface="微软雅黑" panose="020B0503020204020204" pitchFamily="34" charset="-122"/>
                <a:ea typeface="微软雅黑" panose="020B0503020204020204" pitchFamily="34" charset="-122"/>
              </a:rPr>
              <a:t>安装</a:t>
            </a:r>
          </a:p>
        </p:txBody>
      </p:sp>
      <p:sp>
        <p:nvSpPr>
          <p:cNvPr id="3" name="内容占位符 2">
            <a:extLst>
              <a:ext uri="{FF2B5EF4-FFF2-40B4-BE49-F238E27FC236}">
                <a16:creationId xmlns:a16="http://schemas.microsoft.com/office/drawing/2014/main" id="{A4C1D5B2-144E-47B1-9DE8-FFAAC72254BA}"/>
              </a:ext>
            </a:extLst>
          </p:cNvPr>
          <p:cNvSpPr>
            <a:spLocks noGrp="1"/>
          </p:cNvSpPr>
          <p:nvPr>
            <p:ph idx="1"/>
          </p:nvPr>
        </p:nvSpPr>
        <p:spPr/>
        <p:txBody>
          <a:bodyPr>
            <a:normAutofit fontScale="92500" lnSpcReduction="10000"/>
          </a:bodyPr>
          <a:lstStyle/>
          <a:p>
            <a:pPr>
              <a:lnSpc>
                <a:spcPct val="130000"/>
              </a:lnSpc>
            </a:pPr>
            <a:r>
              <a:rPr lang="en-US" altLang="zh-CN" dirty="0" err="1">
                <a:latin typeface="微软雅黑" panose="020B0503020204020204" pitchFamily="34" charset="-122"/>
                <a:ea typeface="微软雅黑" panose="020B0503020204020204" pitchFamily="34" charset="-122"/>
              </a:rPr>
              <a:t>riscv</a:t>
            </a:r>
            <a:r>
              <a:rPr lang="en-US" altLang="zh-CN" dirty="0">
                <a:latin typeface="微软雅黑" panose="020B0503020204020204" pitchFamily="34" charset="-122"/>
                <a:ea typeface="微软雅黑" panose="020B0503020204020204" pitchFamily="34" charset="-122"/>
              </a:rPr>
              <a:t>-gnu-toolchain</a:t>
            </a:r>
            <a:r>
              <a:rPr lang="zh-CN" altLang="zh-CN" dirty="0">
                <a:latin typeface="微软雅黑" panose="020B0503020204020204" pitchFamily="34" charset="-122"/>
                <a:ea typeface="微软雅黑" panose="020B0503020204020204" pitchFamily="34" charset="-122"/>
              </a:rPr>
              <a:t>是一个用来支持</a:t>
            </a:r>
            <a:r>
              <a:rPr lang="en-US" altLang="zh-CN" dirty="0">
                <a:latin typeface="微软雅黑" panose="020B0503020204020204" pitchFamily="34" charset="-122"/>
                <a:ea typeface="微软雅黑" panose="020B0503020204020204" pitchFamily="34" charset="-122"/>
              </a:rPr>
              <a:t> RISC-V </a:t>
            </a:r>
            <a:r>
              <a:rPr lang="zh-CN" altLang="zh-CN" dirty="0">
                <a:latin typeface="微软雅黑" panose="020B0503020204020204" pitchFamily="34" charset="-122"/>
                <a:ea typeface="微软雅黑" panose="020B0503020204020204" pitchFamily="34" charset="-122"/>
              </a:rPr>
              <a:t>为后端的</a:t>
            </a:r>
            <a:r>
              <a:rPr lang="en-US" altLang="zh-CN" dirty="0">
                <a:latin typeface="微软雅黑" panose="020B0503020204020204" pitchFamily="34" charset="-122"/>
                <a:ea typeface="微软雅黑" panose="020B0503020204020204" pitchFamily="34" charset="-122"/>
              </a:rPr>
              <a:t>C</a:t>
            </a:r>
            <a:r>
              <a:rPr lang="zh-CN" altLang="zh-CN" dirty="0">
                <a:latin typeface="微软雅黑" panose="020B0503020204020204" pitchFamily="34" charset="-122"/>
                <a:ea typeface="微软雅黑" panose="020B0503020204020204" pitchFamily="34" charset="-122"/>
              </a:rPr>
              <a:t>和</a:t>
            </a:r>
            <a:r>
              <a:rPr lang="en-US" altLang="zh-CN" dirty="0">
                <a:latin typeface="微软雅黑" panose="020B0503020204020204" pitchFamily="34" charset="-122"/>
                <a:ea typeface="微软雅黑" panose="020B0503020204020204" pitchFamily="34" charset="-122"/>
              </a:rPr>
              <a:t>C++</a:t>
            </a:r>
            <a:r>
              <a:rPr lang="zh-CN" altLang="zh-CN" dirty="0">
                <a:latin typeface="微软雅黑" panose="020B0503020204020204" pitchFamily="34" charset="-122"/>
                <a:ea typeface="微软雅黑" panose="020B0503020204020204" pitchFamily="34" charset="-122"/>
              </a:rPr>
              <a:t>交叉编译工具链</a:t>
            </a:r>
            <a:r>
              <a:rPr lang="en-US" altLang="zh-CN" dirty="0">
                <a:latin typeface="微软雅黑" panose="020B0503020204020204" pitchFamily="34" charset="-122"/>
                <a:ea typeface="微软雅黑" panose="020B0503020204020204" pitchFamily="34" charset="-122"/>
              </a:rPr>
              <a:t>, </a:t>
            </a:r>
            <a:r>
              <a:rPr lang="zh-CN" altLang="zh-CN" dirty="0">
                <a:latin typeface="微软雅黑" panose="020B0503020204020204" pitchFamily="34" charset="-122"/>
                <a:ea typeface="微软雅黑" panose="020B0503020204020204" pitchFamily="34" charset="-122"/>
              </a:rPr>
              <a:t>支持通用的</a:t>
            </a:r>
            <a:r>
              <a:rPr lang="en-US" altLang="zh-CN" dirty="0">
                <a:latin typeface="微软雅黑" panose="020B0503020204020204" pitchFamily="34" charset="-122"/>
                <a:ea typeface="微软雅黑" panose="020B0503020204020204" pitchFamily="34" charset="-122"/>
              </a:rPr>
              <a:t>ELF/</a:t>
            </a:r>
            <a:r>
              <a:rPr lang="en-US" altLang="zh-CN" dirty="0" err="1">
                <a:latin typeface="微软雅黑" panose="020B0503020204020204" pitchFamily="34" charset="-122"/>
                <a:ea typeface="微软雅黑" panose="020B0503020204020204" pitchFamily="34" charset="-122"/>
              </a:rPr>
              <a:t>Newlib</a:t>
            </a:r>
            <a:r>
              <a:rPr lang="zh-CN" altLang="zh-CN" dirty="0">
                <a:latin typeface="微软雅黑" panose="020B0503020204020204" pitchFamily="34" charset="-122"/>
                <a:ea typeface="微软雅黑" panose="020B0503020204020204" pitchFamily="34" charset="-122"/>
              </a:rPr>
              <a:t>和更复杂的</a:t>
            </a:r>
            <a:r>
              <a:rPr lang="en-US" altLang="zh-CN" dirty="0">
                <a:latin typeface="微软雅黑" panose="020B0503020204020204" pitchFamily="34" charset="-122"/>
                <a:ea typeface="微软雅黑" panose="020B0503020204020204" pitchFamily="34" charset="-122"/>
              </a:rPr>
              <a:t>Linux-ELF/</a:t>
            </a:r>
            <a:r>
              <a:rPr lang="en-US" altLang="zh-CN" dirty="0" err="1">
                <a:latin typeface="微软雅黑" panose="020B0503020204020204" pitchFamily="34" charset="-122"/>
                <a:ea typeface="微软雅黑" panose="020B0503020204020204" pitchFamily="34" charset="-122"/>
              </a:rPr>
              <a:t>glibc</a:t>
            </a:r>
            <a:r>
              <a:rPr lang="zh-CN" altLang="zh-CN" dirty="0">
                <a:latin typeface="微软雅黑" panose="020B0503020204020204" pitchFamily="34" charset="-122"/>
                <a:ea typeface="微软雅黑" panose="020B0503020204020204" pitchFamily="34" charset="-122"/>
              </a:rPr>
              <a:t>两种运行库。</a:t>
            </a:r>
          </a:p>
          <a:p>
            <a:pPr>
              <a:lnSpc>
                <a:spcPct val="130000"/>
              </a:lnSpc>
            </a:pPr>
            <a:r>
              <a:rPr lang="zh-CN" altLang="en-US" dirty="0">
                <a:latin typeface="微软雅黑" panose="020B0503020204020204" pitchFamily="34" charset="-122"/>
                <a:ea typeface="微软雅黑" panose="020B0503020204020204" pitchFamily="34" charset="-122"/>
              </a:rPr>
              <a:t>安装步骤</a:t>
            </a:r>
            <a:endParaRPr lang="en-US" altLang="zh-CN" dirty="0">
              <a:latin typeface="微软雅黑" panose="020B0503020204020204" pitchFamily="34" charset="-122"/>
              <a:ea typeface="微软雅黑" panose="020B0503020204020204" pitchFamily="34" charset="-122"/>
            </a:endParaRPr>
          </a:p>
          <a:p>
            <a:pPr lvl="1">
              <a:lnSpc>
                <a:spcPct val="130000"/>
              </a:lnSpc>
            </a:pP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、准备好虚拟机（教程采用系统为</a:t>
            </a:r>
            <a:r>
              <a:rPr lang="en-US" altLang="zh-CN" dirty="0">
                <a:latin typeface="微软雅黑" panose="020B0503020204020204" pitchFamily="34" charset="-122"/>
                <a:ea typeface="微软雅黑" panose="020B0503020204020204" pitchFamily="34" charset="-122"/>
              </a:rPr>
              <a:t>Ubuntu 16.04.3</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lvl="1">
              <a:lnSpc>
                <a:spcPct val="130000"/>
              </a:lnSpc>
            </a:pP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、新建目录并下载</a:t>
            </a:r>
            <a:r>
              <a:rPr lang="en-US" altLang="zh-CN" dirty="0" err="1">
                <a:latin typeface="微软雅黑" panose="020B0503020204020204" pitchFamily="34" charset="-122"/>
                <a:ea typeface="微软雅黑" panose="020B0503020204020204" pitchFamily="34" charset="-122"/>
              </a:rPr>
              <a:t>riscv</a:t>
            </a:r>
            <a:r>
              <a:rPr lang="en-US" altLang="zh-CN" dirty="0">
                <a:latin typeface="微软雅黑" panose="020B0503020204020204" pitchFamily="34" charset="-122"/>
                <a:ea typeface="微软雅黑" panose="020B0503020204020204" pitchFamily="34" charset="-122"/>
              </a:rPr>
              <a:t>-gnu-toolchain</a:t>
            </a:r>
            <a:r>
              <a:rPr lang="zh-CN" altLang="en-US" dirty="0">
                <a:latin typeface="微软雅黑" panose="020B0503020204020204" pitchFamily="34" charset="-122"/>
                <a:ea typeface="微软雅黑" panose="020B0503020204020204" pitchFamily="34" charset="-122"/>
              </a:rPr>
              <a:t>源码</a:t>
            </a:r>
            <a:endParaRPr lang="en-US" altLang="zh-CN" dirty="0">
              <a:latin typeface="微软雅黑" panose="020B0503020204020204" pitchFamily="34" charset="-122"/>
              <a:ea typeface="微软雅黑" panose="020B0503020204020204" pitchFamily="34" charset="-122"/>
            </a:endParaRPr>
          </a:p>
          <a:p>
            <a:pPr lvl="2">
              <a:lnSpc>
                <a:spcPct val="130000"/>
              </a:lnSpc>
            </a:pP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mkdir</a:t>
            </a: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riscv</a:t>
            </a:r>
            <a:r>
              <a:rPr lang="en-US" altLang="zh-CN" dirty="0">
                <a:latin typeface="微软雅黑" panose="020B0503020204020204" pitchFamily="34" charset="-122"/>
                <a:ea typeface="微软雅黑" panose="020B0503020204020204" pitchFamily="34" charset="-122"/>
              </a:rPr>
              <a:t> &amp;&amp; cd ~/</a:t>
            </a:r>
            <a:r>
              <a:rPr lang="en-US" altLang="zh-CN" dirty="0" err="1">
                <a:latin typeface="微软雅黑" panose="020B0503020204020204" pitchFamily="34" charset="-122"/>
                <a:ea typeface="微软雅黑" panose="020B0503020204020204" pitchFamily="34" charset="-122"/>
              </a:rPr>
              <a:t>riscv</a:t>
            </a:r>
            <a:endParaRPr lang="en-US" altLang="zh-CN" dirty="0">
              <a:latin typeface="微软雅黑" panose="020B0503020204020204" pitchFamily="34" charset="-122"/>
              <a:ea typeface="微软雅黑" panose="020B0503020204020204" pitchFamily="34" charset="-122"/>
            </a:endParaRPr>
          </a:p>
          <a:p>
            <a:pPr lvl="2">
              <a:lnSpc>
                <a:spcPct val="130000"/>
              </a:lnSpc>
            </a:pP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sudo</a:t>
            </a:r>
            <a:r>
              <a:rPr lang="en-US" altLang="zh-CN" dirty="0">
                <a:latin typeface="微软雅黑" panose="020B0503020204020204" pitchFamily="34" charset="-122"/>
                <a:ea typeface="微软雅黑" panose="020B0503020204020204" pitchFamily="34" charset="-122"/>
              </a:rPr>
              <a:t> apt install git</a:t>
            </a:r>
          </a:p>
          <a:p>
            <a:pPr lvl="2">
              <a:lnSpc>
                <a:spcPct val="130000"/>
              </a:lnSpc>
            </a:pPr>
            <a:r>
              <a:rPr lang="en-US" altLang="zh-CN" dirty="0">
                <a:latin typeface="微软雅黑" panose="020B0503020204020204" pitchFamily="34" charset="-122"/>
                <a:ea typeface="微软雅黑" panose="020B0503020204020204" pitchFamily="34" charset="-122"/>
              </a:rPr>
              <a:t>$ git clone --recursive </a:t>
            </a:r>
            <a:r>
              <a:rPr lang="en-US" altLang="zh-CN" u="sng" dirty="0">
                <a:latin typeface="微软雅黑" panose="020B0503020204020204" pitchFamily="34" charset="-122"/>
                <a:ea typeface="微软雅黑" panose="020B0503020204020204" pitchFamily="34" charset="-122"/>
                <a:hlinkClick r:id="rId2"/>
              </a:rPr>
              <a:t>https://github.com/riscv/riscv-gnu-toolchain</a:t>
            </a:r>
            <a:endParaRPr lang="en-US" altLang="zh-CN"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p>
            <a:fld id="{B1C307C6-FA7C-4D4E-9E80-039A033D7CBB}" type="slidenum">
              <a:rPr lang="zh-CN" altLang="en-US" smtClean="0"/>
              <a:t>13</a:t>
            </a:fld>
            <a:endParaRPr lang="zh-CN" altLang="en-US"/>
          </a:p>
        </p:txBody>
      </p:sp>
    </p:spTree>
    <p:extLst>
      <p:ext uri="{BB962C8B-B14F-4D97-AF65-F5344CB8AC3E}">
        <p14:creationId xmlns:p14="http://schemas.microsoft.com/office/powerpoint/2010/main" val="18885146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1228A7-B615-4779-A02D-4310A92364A9}"/>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环境配置及</a:t>
            </a:r>
            <a:r>
              <a:rPr lang="en-US" altLang="zh-CN" dirty="0" err="1">
                <a:latin typeface="微软雅黑" panose="020B0503020204020204" pitchFamily="34" charset="-122"/>
                <a:ea typeface="微软雅黑" panose="020B0503020204020204" pitchFamily="34" charset="-122"/>
              </a:rPr>
              <a:t>riscv</a:t>
            </a:r>
            <a:r>
              <a:rPr lang="en-US" altLang="zh-CN" dirty="0">
                <a:latin typeface="微软雅黑" panose="020B0503020204020204" pitchFamily="34" charset="-122"/>
                <a:ea typeface="微软雅黑" panose="020B0503020204020204" pitchFamily="34" charset="-122"/>
              </a:rPr>
              <a:t>-gnu-toolchain</a:t>
            </a:r>
            <a:r>
              <a:rPr lang="zh-CN" altLang="en-US" dirty="0">
                <a:latin typeface="微软雅黑" panose="020B0503020204020204" pitchFamily="34" charset="-122"/>
                <a:ea typeface="微软雅黑" panose="020B0503020204020204" pitchFamily="34" charset="-122"/>
              </a:rPr>
              <a:t>安装</a:t>
            </a:r>
          </a:p>
        </p:txBody>
      </p:sp>
      <p:sp>
        <p:nvSpPr>
          <p:cNvPr id="3" name="内容占位符 2">
            <a:extLst>
              <a:ext uri="{FF2B5EF4-FFF2-40B4-BE49-F238E27FC236}">
                <a16:creationId xmlns:a16="http://schemas.microsoft.com/office/drawing/2014/main" id="{900C4458-2E8B-4B30-B53A-069B29197294}"/>
              </a:ext>
            </a:extLst>
          </p:cNvPr>
          <p:cNvSpPr>
            <a:spLocks noGrp="1"/>
          </p:cNvSpPr>
          <p:nvPr>
            <p:ph idx="1"/>
          </p:nvPr>
        </p:nvSpPr>
        <p:spPr/>
        <p:txBody>
          <a:bodyPr>
            <a:normAutofit fontScale="92500" lnSpcReduction="10000"/>
          </a:bodyPr>
          <a:lstStyle/>
          <a:p>
            <a:r>
              <a:rPr lang="zh-CN" altLang="en-US" dirty="0">
                <a:latin typeface="微软雅黑" panose="020B0503020204020204" pitchFamily="34" charset="-122"/>
                <a:ea typeface="微软雅黑" panose="020B0503020204020204" pitchFamily="34" charset="-122"/>
              </a:rPr>
              <a:t>安装步骤</a:t>
            </a:r>
            <a:endParaRPr lang="en-US" altLang="zh-CN" dirty="0">
              <a:latin typeface="微软雅黑" panose="020B0503020204020204" pitchFamily="34" charset="-122"/>
              <a:ea typeface="微软雅黑" panose="020B0503020204020204" pitchFamily="34" charset="-122"/>
            </a:endParaRPr>
          </a:p>
          <a:p>
            <a:pPr lvl="1"/>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、安装依赖库</a:t>
            </a:r>
            <a:endParaRPr lang="en-US" altLang="zh-CN" dirty="0">
              <a:latin typeface="微软雅黑" panose="020B0503020204020204" pitchFamily="34" charset="-122"/>
              <a:ea typeface="微软雅黑" panose="020B0503020204020204" pitchFamily="34" charset="-122"/>
            </a:endParaRPr>
          </a:p>
          <a:p>
            <a:pPr lvl="2"/>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sudo</a:t>
            </a:r>
            <a:r>
              <a:rPr lang="en-US" altLang="zh-CN" dirty="0">
                <a:latin typeface="微软雅黑" panose="020B0503020204020204" pitchFamily="34" charset="-122"/>
                <a:ea typeface="微软雅黑" panose="020B0503020204020204" pitchFamily="34" charset="-122"/>
              </a:rPr>
              <a:t> apt-get install </a:t>
            </a:r>
            <a:r>
              <a:rPr lang="en-US" altLang="zh-CN" dirty="0" err="1">
                <a:latin typeface="微软雅黑" panose="020B0503020204020204" pitchFamily="34" charset="-122"/>
                <a:ea typeface="微软雅黑" panose="020B0503020204020204" pitchFamily="34" charset="-122"/>
              </a:rPr>
              <a:t>autoconf</a:t>
            </a: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automake</a:t>
            </a: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autotools</a:t>
            </a:r>
            <a:r>
              <a:rPr lang="en-US" altLang="zh-CN" dirty="0">
                <a:latin typeface="微软雅黑" panose="020B0503020204020204" pitchFamily="34" charset="-122"/>
                <a:ea typeface="微软雅黑" panose="020B0503020204020204" pitchFamily="34" charset="-122"/>
              </a:rPr>
              <a:t>-dev curl python3 </a:t>
            </a:r>
            <a:r>
              <a:rPr lang="en-US" altLang="zh-CN" dirty="0" err="1">
                <a:latin typeface="微软雅黑" panose="020B0503020204020204" pitchFamily="34" charset="-122"/>
                <a:ea typeface="微软雅黑" panose="020B0503020204020204" pitchFamily="34" charset="-122"/>
              </a:rPr>
              <a:t>libmpc</a:t>
            </a:r>
            <a:r>
              <a:rPr lang="en-US" altLang="zh-CN" dirty="0">
                <a:latin typeface="微软雅黑" panose="020B0503020204020204" pitchFamily="34" charset="-122"/>
                <a:ea typeface="微软雅黑" panose="020B0503020204020204" pitchFamily="34" charset="-122"/>
              </a:rPr>
              <a:t>-dev </a:t>
            </a:r>
            <a:r>
              <a:rPr lang="en-US" altLang="zh-CN" dirty="0" err="1">
                <a:latin typeface="微软雅黑" panose="020B0503020204020204" pitchFamily="34" charset="-122"/>
                <a:ea typeface="微软雅黑" panose="020B0503020204020204" pitchFamily="34" charset="-122"/>
              </a:rPr>
              <a:t>libmpfr</a:t>
            </a:r>
            <a:r>
              <a:rPr lang="en-US" altLang="zh-CN" dirty="0">
                <a:latin typeface="微软雅黑" panose="020B0503020204020204" pitchFamily="34" charset="-122"/>
                <a:ea typeface="微软雅黑" panose="020B0503020204020204" pitchFamily="34" charset="-122"/>
              </a:rPr>
              <a:t>-dev </a:t>
            </a:r>
            <a:r>
              <a:rPr lang="en-US" altLang="zh-CN" dirty="0" err="1">
                <a:latin typeface="微软雅黑" panose="020B0503020204020204" pitchFamily="34" charset="-122"/>
                <a:ea typeface="微软雅黑" panose="020B0503020204020204" pitchFamily="34" charset="-122"/>
              </a:rPr>
              <a:t>libgmp</a:t>
            </a:r>
            <a:r>
              <a:rPr lang="en-US" altLang="zh-CN" dirty="0">
                <a:latin typeface="微软雅黑" panose="020B0503020204020204" pitchFamily="34" charset="-122"/>
                <a:ea typeface="微软雅黑" panose="020B0503020204020204" pitchFamily="34" charset="-122"/>
              </a:rPr>
              <a:t>-dev gawk build-essential bison flex </a:t>
            </a:r>
            <a:r>
              <a:rPr lang="en-US" altLang="zh-CN" dirty="0" err="1">
                <a:latin typeface="微软雅黑" panose="020B0503020204020204" pitchFamily="34" charset="-122"/>
                <a:ea typeface="微软雅黑" panose="020B0503020204020204" pitchFamily="34" charset="-122"/>
              </a:rPr>
              <a:t>texinfo</a:t>
            </a: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gperf</a:t>
            </a: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libtool</a:t>
            </a: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patchutils</a:t>
            </a: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bc</a:t>
            </a:r>
            <a:r>
              <a:rPr lang="en-US" altLang="zh-CN" dirty="0">
                <a:latin typeface="微软雅黑" panose="020B0503020204020204" pitchFamily="34" charset="-122"/>
                <a:ea typeface="微软雅黑" panose="020B0503020204020204" pitchFamily="34" charset="-122"/>
              </a:rPr>
              <a:t> zlib1g-dev </a:t>
            </a:r>
            <a:r>
              <a:rPr lang="en-US" altLang="zh-CN" dirty="0" err="1">
                <a:latin typeface="微软雅黑" panose="020B0503020204020204" pitchFamily="34" charset="-122"/>
                <a:ea typeface="微软雅黑" panose="020B0503020204020204" pitchFamily="34" charset="-122"/>
              </a:rPr>
              <a:t>libexpat</a:t>
            </a:r>
            <a:r>
              <a:rPr lang="en-US" altLang="zh-CN" dirty="0">
                <a:latin typeface="微软雅黑" panose="020B0503020204020204" pitchFamily="34" charset="-122"/>
                <a:ea typeface="微软雅黑" panose="020B0503020204020204" pitchFamily="34" charset="-122"/>
              </a:rPr>
              <a:t>-dev</a:t>
            </a:r>
          </a:p>
          <a:p>
            <a:pPr lvl="1"/>
            <a:r>
              <a:rPr lang="en-US" altLang="zh-CN" dirty="0">
                <a:latin typeface="微软雅黑" panose="020B0503020204020204" pitchFamily="34" charset="-122"/>
                <a:ea typeface="微软雅黑" panose="020B0503020204020204" pitchFamily="34" charset="-122"/>
              </a:rPr>
              <a:t>4</a:t>
            </a:r>
            <a:r>
              <a:rPr lang="zh-CN" altLang="en-US" dirty="0">
                <a:latin typeface="微软雅黑" panose="020B0503020204020204" pitchFamily="34" charset="-122"/>
                <a:ea typeface="微软雅黑" panose="020B0503020204020204" pitchFamily="34" charset="-122"/>
              </a:rPr>
              <a:t>、编译工具链</a:t>
            </a:r>
            <a:endParaRPr lang="en-US" altLang="zh-CN" dirty="0">
              <a:latin typeface="微软雅黑" panose="020B0503020204020204" pitchFamily="34" charset="-122"/>
              <a:ea typeface="微软雅黑" panose="020B0503020204020204" pitchFamily="34" charset="-122"/>
            </a:endParaRPr>
          </a:p>
          <a:p>
            <a:pPr lvl="2"/>
            <a:r>
              <a:rPr lang="en-US" altLang="zh-CN" dirty="0">
                <a:latin typeface="微软雅黑" panose="020B0503020204020204" pitchFamily="34" charset="-122"/>
                <a:ea typeface="微软雅黑" panose="020B0503020204020204" pitchFamily="34" charset="-122"/>
              </a:rPr>
              <a:t>$ cd ~/</a:t>
            </a:r>
            <a:r>
              <a:rPr lang="en-US" altLang="zh-CN" dirty="0" err="1">
                <a:latin typeface="微软雅黑" panose="020B0503020204020204" pitchFamily="34" charset="-122"/>
                <a:ea typeface="微软雅黑" panose="020B0503020204020204" pitchFamily="34" charset="-122"/>
              </a:rPr>
              <a:t>riscv</a:t>
            </a:r>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riscv</a:t>
            </a:r>
            <a:r>
              <a:rPr lang="en-US" altLang="zh-CN" dirty="0">
                <a:latin typeface="微软雅黑" panose="020B0503020204020204" pitchFamily="34" charset="-122"/>
                <a:ea typeface="微软雅黑" panose="020B0503020204020204" pitchFamily="34" charset="-122"/>
              </a:rPr>
              <a:t>-gnu-toolchain</a:t>
            </a:r>
          </a:p>
          <a:p>
            <a:pPr lvl="2"/>
            <a:r>
              <a:rPr lang="en-US" altLang="zh-CN" dirty="0">
                <a:latin typeface="微软雅黑" panose="020B0503020204020204" pitchFamily="34" charset="-122"/>
                <a:ea typeface="微软雅黑" panose="020B0503020204020204" pitchFamily="34" charset="-122"/>
              </a:rPr>
              <a:t>$ ./configure --prefix=/opt/</a:t>
            </a:r>
            <a:r>
              <a:rPr lang="en-US" altLang="zh-CN" dirty="0" err="1">
                <a:latin typeface="微软雅黑" panose="020B0503020204020204" pitchFamily="34" charset="-122"/>
                <a:ea typeface="微软雅黑" panose="020B0503020204020204" pitchFamily="34" charset="-122"/>
              </a:rPr>
              <a:t>riscv-newlib</a:t>
            </a:r>
            <a:r>
              <a:rPr lang="en-US" altLang="zh-CN" dirty="0">
                <a:latin typeface="微软雅黑" panose="020B0503020204020204" pitchFamily="34" charset="-122"/>
                <a:ea typeface="微软雅黑" panose="020B0503020204020204" pitchFamily="34" charset="-122"/>
              </a:rPr>
              <a:t> --enable-</a:t>
            </a:r>
            <a:r>
              <a:rPr lang="en-US" altLang="zh-CN" dirty="0" err="1">
                <a:latin typeface="微软雅黑" panose="020B0503020204020204" pitchFamily="34" charset="-122"/>
                <a:ea typeface="微软雅黑" panose="020B0503020204020204" pitchFamily="34" charset="-122"/>
              </a:rPr>
              <a:t>multilib</a:t>
            </a:r>
            <a:endParaRPr lang="en-US" altLang="zh-CN" dirty="0">
              <a:latin typeface="微软雅黑" panose="020B0503020204020204" pitchFamily="34" charset="-122"/>
              <a:ea typeface="微软雅黑" panose="020B0503020204020204" pitchFamily="34" charset="-122"/>
            </a:endParaRPr>
          </a:p>
          <a:p>
            <a:pPr lvl="2"/>
            <a:r>
              <a:rPr lang="en-US" altLang="zh-CN" dirty="0">
                <a:latin typeface="微软雅黑" panose="020B0503020204020204" pitchFamily="34" charset="-122"/>
                <a:ea typeface="微软雅黑" panose="020B0503020204020204" pitchFamily="34" charset="-122"/>
              </a:rPr>
              <a:t>$ make   </a:t>
            </a:r>
          </a:p>
          <a:p>
            <a:pPr lvl="2"/>
            <a:r>
              <a:rPr lang="zh-CN" altLang="en-US" dirty="0">
                <a:latin typeface="微软雅黑" panose="020B0503020204020204" pitchFamily="34" charset="-122"/>
                <a:ea typeface="微软雅黑" panose="020B0503020204020204" pitchFamily="34" charset="-122"/>
              </a:rPr>
              <a:t>上述指令</a:t>
            </a:r>
            <a:r>
              <a:rPr lang="zh-CN" altLang="zh-CN" dirty="0">
                <a:latin typeface="微软雅黑" panose="020B0503020204020204" pitchFamily="34" charset="-122"/>
                <a:ea typeface="微软雅黑" panose="020B0503020204020204" pitchFamily="34" charset="-122"/>
              </a:rPr>
              <a:t>得到基于</a:t>
            </a:r>
            <a:r>
              <a:rPr lang="en-US" altLang="zh-CN" dirty="0" err="1">
                <a:latin typeface="微软雅黑" panose="020B0503020204020204" pitchFamily="34" charset="-122"/>
                <a:ea typeface="微软雅黑" panose="020B0503020204020204" pitchFamily="34" charset="-122"/>
              </a:rPr>
              <a:t>newlib</a:t>
            </a:r>
            <a:r>
              <a:rPr lang="zh-CN" altLang="zh-CN" dirty="0">
                <a:latin typeface="微软雅黑" panose="020B0503020204020204" pitchFamily="34" charset="-122"/>
                <a:ea typeface="微软雅黑" panose="020B0503020204020204" pitchFamily="34" charset="-122"/>
              </a:rPr>
              <a:t>（裸机）运行库的工具，同时支持</a:t>
            </a:r>
            <a:r>
              <a:rPr lang="en-US" altLang="zh-CN" dirty="0">
                <a:latin typeface="微软雅黑" panose="020B0503020204020204" pitchFamily="34" charset="-122"/>
                <a:ea typeface="微软雅黑" panose="020B0503020204020204" pitchFamily="34" charset="-122"/>
              </a:rPr>
              <a:t>32</a:t>
            </a:r>
            <a:r>
              <a:rPr lang="zh-CN" altLang="zh-CN" dirty="0">
                <a:latin typeface="微软雅黑" panose="020B0503020204020204" pitchFamily="34" charset="-122"/>
                <a:ea typeface="微软雅黑" panose="020B0503020204020204" pitchFamily="34" charset="-122"/>
              </a:rPr>
              <a:t>位和</a:t>
            </a:r>
            <a:r>
              <a:rPr lang="en-US" altLang="zh-CN" dirty="0">
                <a:latin typeface="微软雅黑" panose="020B0503020204020204" pitchFamily="34" charset="-122"/>
                <a:ea typeface="微软雅黑" panose="020B0503020204020204" pitchFamily="34" charset="-122"/>
              </a:rPr>
              <a:t>64</a:t>
            </a:r>
            <a:r>
              <a:rPr lang="zh-CN" altLang="zh-CN" dirty="0">
                <a:latin typeface="微软雅黑" panose="020B0503020204020204" pitchFamily="34" charset="-122"/>
                <a:ea typeface="微软雅黑" panose="020B0503020204020204" pitchFamily="34" charset="-122"/>
              </a:rPr>
              <a:t>位</a:t>
            </a:r>
            <a:endParaRPr lang="en-US" altLang="zh-CN" dirty="0">
              <a:latin typeface="微软雅黑" panose="020B0503020204020204" pitchFamily="34" charset="-122"/>
              <a:ea typeface="微软雅黑" panose="020B0503020204020204" pitchFamily="34" charset="-122"/>
            </a:endParaRPr>
          </a:p>
          <a:p>
            <a:pPr lvl="2"/>
            <a:r>
              <a:rPr lang="en-US" altLang="zh-CN" dirty="0">
                <a:latin typeface="微软雅黑" panose="020B0503020204020204" pitchFamily="34" charset="-122"/>
                <a:ea typeface="微软雅黑" panose="020B0503020204020204" pitchFamily="34" charset="-122"/>
              </a:rPr>
              <a:t>$ make clean</a:t>
            </a:r>
          </a:p>
          <a:p>
            <a:pPr lvl="2"/>
            <a:r>
              <a:rPr lang="en-US" altLang="zh-CN" dirty="0">
                <a:latin typeface="微软雅黑" panose="020B0503020204020204" pitchFamily="34" charset="-122"/>
                <a:ea typeface="微软雅黑" panose="020B0503020204020204" pitchFamily="34" charset="-122"/>
              </a:rPr>
              <a:t>$ ./configure --prefix=/opt/</a:t>
            </a:r>
            <a:r>
              <a:rPr lang="en-US" altLang="zh-CN" dirty="0" err="1">
                <a:latin typeface="微软雅黑" panose="020B0503020204020204" pitchFamily="34" charset="-122"/>
                <a:ea typeface="微软雅黑" panose="020B0503020204020204" pitchFamily="34" charset="-122"/>
              </a:rPr>
              <a:t>riscv-linux</a:t>
            </a:r>
            <a:r>
              <a:rPr lang="en-US" altLang="zh-CN" dirty="0">
                <a:latin typeface="微软雅黑" panose="020B0503020204020204" pitchFamily="34" charset="-122"/>
                <a:ea typeface="微软雅黑" panose="020B0503020204020204" pitchFamily="34" charset="-122"/>
              </a:rPr>
              <a:t> --enable-</a:t>
            </a:r>
            <a:r>
              <a:rPr lang="en-US" altLang="zh-CN" dirty="0" err="1">
                <a:latin typeface="微软雅黑" panose="020B0503020204020204" pitchFamily="34" charset="-122"/>
                <a:ea typeface="微软雅黑" panose="020B0503020204020204" pitchFamily="34" charset="-122"/>
              </a:rPr>
              <a:t>multilib</a:t>
            </a:r>
            <a:endParaRPr lang="en-US" altLang="zh-CN" dirty="0">
              <a:latin typeface="微软雅黑" panose="020B0503020204020204" pitchFamily="34" charset="-122"/>
              <a:ea typeface="微软雅黑" panose="020B0503020204020204" pitchFamily="34" charset="-122"/>
            </a:endParaRPr>
          </a:p>
          <a:p>
            <a:pPr lvl="2"/>
            <a:r>
              <a:rPr lang="en-US" altLang="zh-CN" dirty="0">
                <a:latin typeface="微软雅黑" panose="020B0503020204020204" pitchFamily="34" charset="-122"/>
                <a:ea typeface="微软雅黑" panose="020B0503020204020204" pitchFamily="34" charset="-122"/>
              </a:rPr>
              <a:t>$ make </a:t>
            </a:r>
            <a:r>
              <a:rPr lang="en-US" altLang="zh-CN" dirty="0" err="1">
                <a:latin typeface="微软雅黑" panose="020B0503020204020204" pitchFamily="34" charset="-122"/>
                <a:ea typeface="微软雅黑" panose="020B0503020204020204" pitchFamily="34" charset="-122"/>
              </a:rPr>
              <a:t>linux</a:t>
            </a:r>
            <a:endParaRPr lang="en-US" altLang="zh-CN" dirty="0">
              <a:latin typeface="微软雅黑" panose="020B0503020204020204" pitchFamily="34" charset="-122"/>
              <a:ea typeface="微软雅黑" panose="020B0503020204020204" pitchFamily="34" charset="-122"/>
            </a:endParaRPr>
          </a:p>
          <a:p>
            <a:pPr lvl="2"/>
            <a:r>
              <a:rPr lang="zh-CN" altLang="en-US" dirty="0">
                <a:latin typeface="微软雅黑" panose="020B0503020204020204" pitchFamily="34" charset="-122"/>
                <a:ea typeface="微软雅黑" panose="020B0503020204020204" pitchFamily="34" charset="-122"/>
              </a:rPr>
              <a:t>上述指令</a:t>
            </a:r>
            <a:r>
              <a:rPr lang="zh-CN" altLang="zh-CN" dirty="0">
                <a:latin typeface="微软雅黑" panose="020B0503020204020204" pitchFamily="34" charset="-122"/>
                <a:ea typeface="微软雅黑" panose="020B0503020204020204" pitchFamily="34" charset="-122"/>
              </a:rPr>
              <a:t>得到基于</a:t>
            </a:r>
            <a:r>
              <a:rPr lang="en-US" altLang="zh-CN" dirty="0" err="1">
                <a:latin typeface="微软雅黑" panose="020B0503020204020204" pitchFamily="34" charset="-122"/>
                <a:ea typeface="微软雅黑" panose="020B0503020204020204" pitchFamily="34" charset="-122"/>
              </a:rPr>
              <a:t>glibc</a:t>
            </a:r>
            <a:r>
              <a:rPr lang="zh-CN" altLang="zh-CN"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Linux</a:t>
            </a:r>
            <a:r>
              <a:rPr lang="zh-CN" altLang="zh-CN" dirty="0">
                <a:latin typeface="微软雅黑" panose="020B0503020204020204" pitchFamily="34" charset="-122"/>
                <a:ea typeface="微软雅黑" panose="020B0503020204020204" pitchFamily="34" charset="-122"/>
              </a:rPr>
              <a:t>）运行库的工具，同时支持</a:t>
            </a:r>
            <a:r>
              <a:rPr lang="en-US" altLang="zh-CN" dirty="0">
                <a:latin typeface="微软雅黑" panose="020B0503020204020204" pitchFamily="34" charset="-122"/>
                <a:ea typeface="微软雅黑" panose="020B0503020204020204" pitchFamily="34" charset="-122"/>
              </a:rPr>
              <a:t>32</a:t>
            </a:r>
            <a:r>
              <a:rPr lang="zh-CN" altLang="zh-CN" dirty="0">
                <a:latin typeface="微软雅黑" panose="020B0503020204020204" pitchFamily="34" charset="-122"/>
                <a:ea typeface="微软雅黑" panose="020B0503020204020204" pitchFamily="34" charset="-122"/>
              </a:rPr>
              <a:t>位和</a:t>
            </a:r>
            <a:r>
              <a:rPr lang="en-US" altLang="zh-CN" dirty="0">
                <a:latin typeface="微软雅黑" panose="020B0503020204020204" pitchFamily="34" charset="-122"/>
                <a:ea typeface="微软雅黑" panose="020B0503020204020204" pitchFamily="34" charset="-122"/>
              </a:rPr>
              <a:t>64</a:t>
            </a:r>
            <a:r>
              <a:rPr lang="zh-CN" altLang="zh-CN" dirty="0">
                <a:latin typeface="微软雅黑" panose="020B0503020204020204" pitchFamily="34" charset="-122"/>
                <a:ea typeface="微软雅黑" panose="020B0503020204020204" pitchFamily="34" charset="-122"/>
              </a:rPr>
              <a:t>位</a:t>
            </a:r>
            <a:endParaRPr lang="en-US" altLang="zh-CN" dirty="0">
              <a:latin typeface="微软雅黑" panose="020B0503020204020204" pitchFamily="34" charset="-122"/>
              <a:ea typeface="微软雅黑" panose="020B0503020204020204" pitchFamily="34" charset="-122"/>
            </a:endParaRPr>
          </a:p>
          <a:p>
            <a:pPr lvl="2"/>
            <a:endParaRPr lang="en-US" altLang="zh-CN" dirty="0">
              <a:latin typeface="微软雅黑" panose="020B0503020204020204" pitchFamily="34" charset="-122"/>
              <a:ea typeface="微软雅黑" panose="020B0503020204020204" pitchFamily="34" charset="-122"/>
            </a:endParaRPr>
          </a:p>
          <a:p>
            <a:pPr lvl="1"/>
            <a:endParaRPr lang="en-US" altLang="zh-CN" dirty="0">
              <a:latin typeface="微软雅黑" panose="020B0503020204020204" pitchFamily="34" charset="-122"/>
              <a:ea typeface="微软雅黑" panose="020B0503020204020204" pitchFamily="34" charset="-122"/>
            </a:endParaRPr>
          </a:p>
          <a:p>
            <a:pPr lvl="2"/>
            <a:endParaRPr lang="en-US" altLang="zh-CN"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p>
            <a:fld id="{B1C307C6-FA7C-4D4E-9E80-039A033D7CBB}" type="slidenum">
              <a:rPr lang="zh-CN" altLang="en-US" smtClean="0"/>
              <a:t>14</a:t>
            </a:fld>
            <a:endParaRPr lang="zh-CN" altLang="en-US"/>
          </a:p>
        </p:txBody>
      </p:sp>
    </p:spTree>
    <p:extLst>
      <p:ext uri="{BB962C8B-B14F-4D97-AF65-F5344CB8AC3E}">
        <p14:creationId xmlns:p14="http://schemas.microsoft.com/office/powerpoint/2010/main" val="2076143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DFC3EF-FCD7-4F8F-AF35-398CD85F534F}"/>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环境配置及</a:t>
            </a:r>
            <a:r>
              <a:rPr lang="en-US" altLang="zh-CN" dirty="0" err="1">
                <a:latin typeface="微软雅黑" panose="020B0503020204020204" pitchFamily="34" charset="-122"/>
                <a:ea typeface="微软雅黑" panose="020B0503020204020204" pitchFamily="34" charset="-122"/>
              </a:rPr>
              <a:t>riscv</a:t>
            </a:r>
            <a:r>
              <a:rPr lang="en-US" altLang="zh-CN" dirty="0">
                <a:latin typeface="微软雅黑" panose="020B0503020204020204" pitchFamily="34" charset="-122"/>
                <a:ea typeface="微软雅黑" panose="020B0503020204020204" pitchFamily="34" charset="-122"/>
              </a:rPr>
              <a:t>-gnu-toolchain</a:t>
            </a:r>
            <a:r>
              <a:rPr lang="zh-CN" altLang="en-US" dirty="0">
                <a:latin typeface="微软雅黑" panose="020B0503020204020204" pitchFamily="34" charset="-122"/>
                <a:ea typeface="微软雅黑" panose="020B0503020204020204" pitchFamily="34" charset="-122"/>
              </a:rPr>
              <a:t>安装</a:t>
            </a:r>
          </a:p>
        </p:txBody>
      </p:sp>
      <p:sp>
        <p:nvSpPr>
          <p:cNvPr id="3" name="内容占位符 2">
            <a:extLst>
              <a:ext uri="{FF2B5EF4-FFF2-40B4-BE49-F238E27FC236}">
                <a16:creationId xmlns:a16="http://schemas.microsoft.com/office/drawing/2014/main" id="{A4726D9D-BC98-4A98-982D-51D5C7B4E566}"/>
              </a:ext>
            </a:extLst>
          </p:cNvPr>
          <p:cNvSpPr>
            <a:spLocks noGrp="1"/>
          </p:cNvSpPr>
          <p:nvPr>
            <p:ph idx="1"/>
          </p:nvPr>
        </p:nvSpPr>
        <p:spPr/>
        <p:txBody>
          <a:bodyPr/>
          <a:lstStyle/>
          <a:p>
            <a:r>
              <a:rPr lang="zh-CN" altLang="en-US" dirty="0">
                <a:latin typeface="微软雅黑" panose="020B0503020204020204" pitchFamily="34" charset="-122"/>
                <a:ea typeface="微软雅黑" panose="020B0503020204020204" pitchFamily="34" charset="-122"/>
              </a:rPr>
              <a:t>安装步骤</a:t>
            </a:r>
            <a:endParaRPr lang="en-US" altLang="zh-CN" dirty="0">
              <a:latin typeface="微软雅黑" panose="020B0503020204020204" pitchFamily="34" charset="-122"/>
              <a:ea typeface="微软雅黑" panose="020B0503020204020204" pitchFamily="34" charset="-122"/>
            </a:endParaRPr>
          </a:p>
          <a:p>
            <a:pPr lvl="1"/>
            <a:r>
              <a:rPr lang="en-US" altLang="zh-CN" dirty="0">
                <a:latin typeface="微软雅黑" panose="020B0503020204020204" pitchFamily="34" charset="-122"/>
                <a:ea typeface="微软雅黑" panose="020B0503020204020204" pitchFamily="34" charset="-122"/>
              </a:rPr>
              <a:t>5</a:t>
            </a:r>
            <a:r>
              <a:rPr lang="zh-CN" altLang="en-US" dirty="0">
                <a:latin typeface="微软雅黑" panose="020B0503020204020204" pitchFamily="34" charset="-122"/>
                <a:ea typeface="微软雅黑" panose="020B0503020204020204" pitchFamily="34" charset="-122"/>
              </a:rPr>
              <a:t>、</a:t>
            </a:r>
            <a:r>
              <a:rPr lang="zh-CN" altLang="zh-CN" dirty="0">
                <a:latin typeface="微软雅黑" panose="020B0503020204020204" pitchFamily="34" charset="-122"/>
                <a:ea typeface="微软雅黑" panose="020B0503020204020204" pitchFamily="34" charset="-122"/>
              </a:rPr>
              <a:t>将工具路径添加到环境变量</a:t>
            </a:r>
            <a:endParaRPr lang="en-US" altLang="zh-CN" dirty="0">
              <a:latin typeface="微软雅黑" panose="020B0503020204020204" pitchFamily="34" charset="-122"/>
              <a:ea typeface="微软雅黑" panose="020B0503020204020204" pitchFamily="34" charset="-122"/>
            </a:endParaRPr>
          </a:p>
          <a:p>
            <a:pPr lvl="2"/>
            <a:r>
              <a:rPr lang="en-US" altLang="zh-CN" dirty="0">
                <a:latin typeface="微软雅黑" panose="020B0503020204020204" pitchFamily="34" charset="-122"/>
                <a:ea typeface="微软雅黑" panose="020B0503020204020204" pitchFamily="34" charset="-122"/>
              </a:rPr>
              <a:t>$ vi ~/.</a:t>
            </a:r>
            <a:r>
              <a:rPr lang="en-US" altLang="zh-CN" dirty="0" err="1">
                <a:latin typeface="微软雅黑" panose="020B0503020204020204" pitchFamily="34" charset="-122"/>
                <a:ea typeface="微软雅黑" panose="020B0503020204020204" pitchFamily="34" charset="-122"/>
              </a:rPr>
              <a:t>bashrc</a:t>
            </a:r>
            <a:endParaRPr lang="zh-CN" altLang="zh-CN" dirty="0">
              <a:latin typeface="微软雅黑" panose="020B0503020204020204" pitchFamily="34" charset="-122"/>
              <a:ea typeface="微软雅黑" panose="020B0503020204020204" pitchFamily="34" charset="-122"/>
            </a:endParaRPr>
          </a:p>
          <a:p>
            <a:pPr lvl="2"/>
            <a:r>
              <a:rPr lang="zh-CN" altLang="en-US" dirty="0">
                <a:latin typeface="微软雅黑" panose="020B0503020204020204" pitchFamily="34" charset="-122"/>
                <a:ea typeface="微软雅黑" panose="020B0503020204020204" pitchFamily="34" charset="-122"/>
              </a:rPr>
              <a:t>在末尾加上</a:t>
            </a:r>
            <a:endParaRPr lang="en-US" altLang="zh-CN" dirty="0">
              <a:latin typeface="微软雅黑" panose="020B0503020204020204" pitchFamily="34" charset="-122"/>
              <a:ea typeface="微软雅黑" panose="020B0503020204020204" pitchFamily="34" charset="-122"/>
            </a:endParaRPr>
          </a:p>
          <a:p>
            <a:pPr lvl="2"/>
            <a:r>
              <a:rPr lang="en-US" altLang="zh-CN" dirty="0">
                <a:latin typeface="微软雅黑" panose="020B0503020204020204" pitchFamily="34" charset="-122"/>
                <a:ea typeface="微软雅黑" panose="020B0503020204020204" pitchFamily="34" charset="-122"/>
              </a:rPr>
              <a:t>export RISCV_NEWLIB_PATH=/opt/</a:t>
            </a:r>
            <a:r>
              <a:rPr lang="en-US" altLang="zh-CN" dirty="0" err="1">
                <a:latin typeface="微软雅黑" panose="020B0503020204020204" pitchFamily="34" charset="-122"/>
                <a:ea typeface="微软雅黑" panose="020B0503020204020204" pitchFamily="34" charset="-122"/>
              </a:rPr>
              <a:t>riscv-newlib</a:t>
            </a:r>
            <a:endParaRPr lang="en-US" altLang="zh-CN" dirty="0">
              <a:latin typeface="微软雅黑" panose="020B0503020204020204" pitchFamily="34" charset="-122"/>
              <a:ea typeface="微软雅黑" panose="020B0503020204020204" pitchFamily="34" charset="-122"/>
            </a:endParaRPr>
          </a:p>
          <a:p>
            <a:pPr lvl="2"/>
            <a:r>
              <a:rPr lang="en-US" altLang="zh-CN" dirty="0">
                <a:latin typeface="微软雅黑" panose="020B0503020204020204" pitchFamily="34" charset="-122"/>
                <a:ea typeface="微软雅黑" panose="020B0503020204020204" pitchFamily="34" charset="-122"/>
              </a:rPr>
              <a:t>export RISCV_LINUX_PATH=/opt/</a:t>
            </a:r>
            <a:r>
              <a:rPr lang="en-US" altLang="zh-CN" dirty="0" err="1">
                <a:latin typeface="微软雅黑" panose="020B0503020204020204" pitchFamily="34" charset="-122"/>
                <a:ea typeface="微软雅黑" panose="020B0503020204020204" pitchFamily="34" charset="-122"/>
              </a:rPr>
              <a:t>riscv-linux</a:t>
            </a:r>
            <a:endParaRPr lang="en-US" altLang="zh-CN" dirty="0">
              <a:latin typeface="微软雅黑" panose="020B0503020204020204" pitchFamily="34" charset="-122"/>
              <a:ea typeface="微软雅黑" panose="020B0503020204020204" pitchFamily="34" charset="-122"/>
            </a:endParaRPr>
          </a:p>
          <a:p>
            <a:pPr lvl="2"/>
            <a:r>
              <a:rPr lang="en-US" altLang="zh-CN" dirty="0">
                <a:latin typeface="微软雅黑" panose="020B0503020204020204" pitchFamily="34" charset="-122"/>
                <a:ea typeface="微软雅黑" panose="020B0503020204020204" pitchFamily="34" charset="-122"/>
              </a:rPr>
              <a:t>export PATH=$PATH:${RISCV_NEWLIB_PATH}/bin:${RISCV_LINUX_PATH}/bin</a:t>
            </a:r>
          </a:p>
          <a:p>
            <a:pPr lvl="2"/>
            <a:r>
              <a:rPr lang="zh-CN" altLang="en-US" dirty="0">
                <a:latin typeface="微软雅黑" panose="020B0503020204020204" pitchFamily="34" charset="-122"/>
                <a:ea typeface="微软雅黑" panose="020B0503020204020204" pitchFamily="34" charset="-122"/>
              </a:rPr>
              <a:t>保存退出</a:t>
            </a:r>
            <a:endParaRPr lang="en-US" altLang="zh-CN" dirty="0">
              <a:latin typeface="微软雅黑" panose="020B0503020204020204" pitchFamily="34" charset="-122"/>
              <a:ea typeface="微软雅黑" panose="020B0503020204020204" pitchFamily="34" charset="-122"/>
            </a:endParaRPr>
          </a:p>
          <a:p>
            <a:pPr lvl="2"/>
            <a:r>
              <a:rPr lang="en-US" altLang="zh-CN" dirty="0">
                <a:latin typeface="微软雅黑" panose="020B0503020204020204" pitchFamily="34" charset="-122"/>
                <a:ea typeface="微软雅黑" panose="020B0503020204020204" pitchFamily="34" charset="-122"/>
              </a:rPr>
              <a:t>$ source ~/.</a:t>
            </a:r>
            <a:r>
              <a:rPr lang="en-US" altLang="zh-CN" dirty="0" err="1">
                <a:latin typeface="微软雅黑" panose="020B0503020204020204" pitchFamily="34" charset="-122"/>
                <a:ea typeface="微软雅黑" panose="020B0503020204020204" pitchFamily="34" charset="-122"/>
              </a:rPr>
              <a:t>bashrc</a:t>
            </a:r>
            <a:endParaRPr lang="en-US" altLang="zh-CN" dirty="0">
              <a:latin typeface="微软雅黑" panose="020B0503020204020204" pitchFamily="34" charset="-122"/>
              <a:ea typeface="微软雅黑" panose="020B0503020204020204" pitchFamily="34" charset="-122"/>
            </a:endParaRPr>
          </a:p>
          <a:p>
            <a:pPr marL="914400" lvl="2" indent="0">
              <a:buNone/>
            </a:pPr>
            <a:endParaRPr lang="en-US" altLang="zh-CN"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p>
            <a:fld id="{B1C307C6-FA7C-4D4E-9E80-039A033D7CBB}" type="slidenum">
              <a:rPr lang="zh-CN" altLang="en-US" smtClean="0"/>
              <a:t>15</a:t>
            </a:fld>
            <a:endParaRPr lang="zh-CN" altLang="en-US"/>
          </a:p>
        </p:txBody>
      </p:sp>
    </p:spTree>
    <p:extLst>
      <p:ext uri="{BB962C8B-B14F-4D97-AF65-F5344CB8AC3E}">
        <p14:creationId xmlns:p14="http://schemas.microsoft.com/office/powerpoint/2010/main" val="13673995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2A1F37-90DF-427E-9DF1-AEE4A5A5DB51}"/>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环境配置及</a:t>
            </a:r>
            <a:r>
              <a:rPr lang="en-US" altLang="zh-CN" dirty="0" err="1">
                <a:latin typeface="微软雅黑" panose="020B0503020204020204" pitchFamily="34" charset="-122"/>
                <a:ea typeface="微软雅黑" panose="020B0503020204020204" pitchFamily="34" charset="-122"/>
              </a:rPr>
              <a:t>riscv</a:t>
            </a:r>
            <a:r>
              <a:rPr lang="en-US" altLang="zh-CN" dirty="0">
                <a:latin typeface="微软雅黑" panose="020B0503020204020204" pitchFamily="34" charset="-122"/>
                <a:ea typeface="微软雅黑" panose="020B0503020204020204" pitchFamily="34" charset="-122"/>
              </a:rPr>
              <a:t>-gnu-toolchain</a:t>
            </a:r>
            <a:r>
              <a:rPr lang="zh-CN" altLang="en-US" dirty="0">
                <a:latin typeface="微软雅黑" panose="020B0503020204020204" pitchFamily="34" charset="-122"/>
                <a:ea typeface="微软雅黑" panose="020B0503020204020204" pitchFamily="34" charset="-122"/>
              </a:rPr>
              <a:t>安装</a:t>
            </a:r>
          </a:p>
        </p:txBody>
      </p:sp>
      <p:sp>
        <p:nvSpPr>
          <p:cNvPr id="3" name="内容占位符 2">
            <a:extLst>
              <a:ext uri="{FF2B5EF4-FFF2-40B4-BE49-F238E27FC236}">
                <a16:creationId xmlns:a16="http://schemas.microsoft.com/office/drawing/2014/main" id="{A42AD7D7-423A-4552-ADF1-C85B61391A2D}"/>
              </a:ext>
            </a:extLst>
          </p:cNvPr>
          <p:cNvSpPr>
            <a:spLocks noGrp="1"/>
          </p:cNvSpPr>
          <p:nvPr>
            <p:ph idx="1"/>
          </p:nvPr>
        </p:nvSpPr>
        <p:spPr>
          <a:xfrm>
            <a:off x="838200" y="1825625"/>
            <a:ext cx="10515600" cy="4893830"/>
          </a:xfrm>
        </p:spPr>
        <p:txBody>
          <a:bodyPr>
            <a:normAutofit lnSpcReduction="10000"/>
          </a:bodyPr>
          <a:lstStyle/>
          <a:p>
            <a:r>
              <a:rPr lang="zh-CN" altLang="en-US" dirty="0">
                <a:latin typeface="微软雅黑" panose="020B0503020204020204" pitchFamily="34" charset="-122"/>
                <a:ea typeface="微软雅黑" panose="020B0503020204020204" pitchFamily="34" charset="-122"/>
              </a:rPr>
              <a:t>安装步骤</a:t>
            </a:r>
            <a:endParaRPr lang="en-US" altLang="zh-CN" dirty="0">
              <a:latin typeface="微软雅黑" panose="020B0503020204020204" pitchFamily="34" charset="-122"/>
              <a:ea typeface="微软雅黑" panose="020B0503020204020204" pitchFamily="34" charset="-122"/>
            </a:endParaRPr>
          </a:p>
          <a:p>
            <a:pPr lvl="1"/>
            <a:r>
              <a:rPr lang="en-US" altLang="zh-CN" dirty="0">
                <a:latin typeface="微软雅黑" panose="020B0503020204020204" pitchFamily="34" charset="-122"/>
                <a:ea typeface="微软雅黑" panose="020B0503020204020204" pitchFamily="34" charset="-122"/>
              </a:rPr>
              <a:t>6</a:t>
            </a:r>
            <a:r>
              <a:rPr lang="zh-CN" altLang="en-US" dirty="0">
                <a:latin typeface="微软雅黑" panose="020B0503020204020204" pitchFamily="34" charset="-122"/>
                <a:ea typeface="微软雅黑" panose="020B0503020204020204" pitchFamily="34" charset="-122"/>
              </a:rPr>
              <a:t>、编译测试</a:t>
            </a:r>
            <a:endParaRPr lang="en-US" altLang="zh-CN" dirty="0">
              <a:latin typeface="微软雅黑" panose="020B0503020204020204" pitchFamily="34" charset="-122"/>
              <a:ea typeface="微软雅黑" panose="020B0503020204020204" pitchFamily="34" charset="-122"/>
            </a:endParaRPr>
          </a:p>
          <a:p>
            <a:pPr lvl="2"/>
            <a:r>
              <a:rPr lang="zh-CN" altLang="en-US" dirty="0">
                <a:latin typeface="微软雅黑" panose="020B0503020204020204" pitchFamily="34" charset="-122"/>
                <a:ea typeface="微软雅黑" panose="020B0503020204020204" pitchFamily="34" charset="-122"/>
              </a:rPr>
              <a:t>编写一个简单的</a:t>
            </a:r>
            <a:r>
              <a:rPr lang="en-US" altLang="zh-CN" dirty="0" err="1">
                <a:latin typeface="微软雅黑" panose="020B0503020204020204" pitchFamily="34" charset="-122"/>
                <a:ea typeface="微软雅黑" panose="020B0503020204020204" pitchFamily="34" charset="-122"/>
              </a:rPr>
              <a:t>helloworld.c</a:t>
            </a:r>
            <a:endParaRPr lang="en-US" altLang="zh-CN" dirty="0">
              <a:latin typeface="微软雅黑" panose="020B0503020204020204" pitchFamily="34" charset="-122"/>
              <a:ea typeface="微软雅黑" panose="020B0503020204020204" pitchFamily="34" charset="-122"/>
            </a:endParaRPr>
          </a:p>
          <a:p>
            <a:pPr lvl="2"/>
            <a:endParaRPr lang="en-US" altLang="zh-CN" dirty="0">
              <a:latin typeface="微软雅黑" panose="020B0503020204020204" pitchFamily="34" charset="-122"/>
              <a:ea typeface="微软雅黑" panose="020B0503020204020204" pitchFamily="34" charset="-122"/>
            </a:endParaRPr>
          </a:p>
          <a:p>
            <a:pPr lvl="2"/>
            <a:endParaRPr lang="en-US" altLang="zh-CN" dirty="0">
              <a:latin typeface="微软雅黑" panose="020B0503020204020204" pitchFamily="34" charset="-122"/>
              <a:ea typeface="微软雅黑" panose="020B0503020204020204" pitchFamily="34" charset="-122"/>
            </a:endParaRPr>
          </a:p>
          <a:p>
            <a:pPr lvl="2"/>
            <a:endParaRPr lang="en-US" altLang="zh-CN" dirty="0">
              <a:latin typeface="微软雅黑" panose="020B0503020204020204" pitchFamily="34" charset="-122"/>
              <a:ea typeface="微软雅黑" panose="020B0503020204020204" pitchFamily="34" charset="-122"/>
            </a:endParaRPr>
          </a:p>
          <a:p>
            <a:pPr lvl="2"/>
            <a:endParaRPr lang="en-US" altLang="zh-CN" dirty="0">
              <a:latin typeface="微软雅黑" panose="020B0503020204020204" pitchFamily="34" charset="-122"/>
              <a:ea typeface="微软雅黑" panose="020B0503020204020204" pitchFamily="34" charset="-122"/>
            </a:endParaRPr>
          </a:p>
          <a:p>
            <a:pPr lvl="2"/>
            <a:endParaRPr lang="en-US" altLang="zh-CN" dirty="0">
              <a:latin typeface="微软雅黑" panose="020B0503020204020204" pitchFamily="34" charset="-122"/>
              <a:ea typeface="微软雅黑" panose="020B0503020204020204" pitchFamily="34" charset="-122"/>
            </a:endParaRPr>
          </a:p>
          <a:p>
            <a:pPr lvl="2"/>
            <a:endParaRPr lang="en-US" altLang="zh-CN" dirty="0">
              <a:latin typeface="微软雅黑" panose="020B0503020204020204" pitchFamily="34" charset="-122"/>
              <a:ea typeface="微软雅黑" panose="020B0503020204020204" pitchFamily="34" charset="-122"/>
            </a:endParaRPr>
          </a:p>
          <a:p>
            <a:pPr lvl="2"/>
            <a:r>
              <a:rPr lang="zh-CN" altLang="en-US" dirty="0">
                <a:latin typeface="微软雅黑" panose="020B0503020204020204" pitchFamily="34" charset="-122"/>
                <a:ea typeface="微软雅黑" panose="020B0503020204020204" pitchFamily="34" charset="-122"/>
              </a:rPr>
              <a:t>编译</a:t>
            </a:r>
            <a:endParaRPr lang="en-US" altLang="zh-CN" dirty="0">
              <a:latin typeface="微软雅黑" panose="020B0503020204020204" pitchFamily="34" charset="-122"/>
              <a:ea typeface="微软雅黑" panose="020B0503020204020204" pitchFamily="34" charset="-122"/>
            </a:endParaRPr>
          </a:p>
          <a:p>
            <a:pPr lvl="3"/>
            <a:r>
              <a:rPr lang="en-US" altLang="zh-CN" dirty="0">
                <a:latin typeface="微软雅黑" panose="020B0503020204020204" pitchFamily="34" charset="-122"/>
                <a:ea typeface="微软雅黑" panose="020B0503020204020204" pitchFamily="34" charset="-122"/>
              </a:rPr>
              <a:t>$ riscv64-unknown-elf-gcc -o helloworld1 </a:t>
            </a:r>
            <a:r>
              <a:rPr lang="en-US" altLang="zh-CN" dirty="0" err="1">
                <a:latin typeface="微软雅黑" panose="020B0503020204020204" pitchFamily="34" charset="-122"/>
                <a:ea typeface="微软雅黑" panose="020B0503020204020204" pitchFamily="34" charset="-122"/>
              </a:rPr>
              <a:t>helloworld.c</a:t>
            </a:r>
            <a:endParaRPr lang="en-US" altLang="zh-CN" dirty="0">
              <a:latin typeface="微软雅黑" panose="020B0503020204020204" pitchFamily="34" charset="-122"/>
              <a:ea typeface="微软雅黑" panose="020B0503020204020204" pitchFamily="34" charset="-122"/>
            </a:endParaRPr>
          </a:p>
          <a:p>
            <a:pPr marL="1371600" lvl="3" indent="0">
              <a:buNone/>
            </a:pPr>
            <a:r>
              <a:rPr lang="en-US" altLang="zh-CN" dirty="0">
                <a:latin typeface="微软雅黑" panose="020B0503020204020204" pitchFamily="34" charset="-122"/>
                <a:ea typeface="微软雅黑" panose="020B0503020204020204" pitchFamily="34" charset="-122"/>
              </a:rPr>
              <a:t>	</a:t>
            </a:r>
          </a:p>
          <a:p>
            <a:pPr lvl="3"/>
            <a:r>
              <a:rPr lang="en-US" altLang="zh-CN" dirty="0">
                <a:latin typeface="微软雅黑" panose="020B0503020204020204" pitchFamily="34" charset="-122"/>
                <a:ea typeface="微软雅黑" panose="020B0503020204020204" pitchFamily="34" charset="-122"/>
              </a:rPr>
              <a:t>$ riscv64-unknown-linux-gnu-gcc –o helloworld2 </a:t>
            </a:r>
            <a:r>
              <a:rPr lang="en-US" altLang="zh-CN" dirty="0" err="1">
                <a:latin typeface="微软雅黑" panose="020B0503020204020204" pitchFamily="34" charset="-122"/>
                <a:ea typeface="微软雅黑" panose="020B0503020204020204" pitchFamily="34" charset="-122"/>
              </a:rPr>
              <a:t>helloworld.c</a:t>
            </a:r>
            <a:endParaRPr lang="en-US" altLang="zh-CN" dirty="0">
              <a:latin typeface="微软雅黑" panose="020B0503020204020204" pitchFamily="34" charset="-122"/>
              <a:ea typeface="微软雅黑" panose="020B0503020204020204" pitchFamily="34" charset="-122"/>
            </a:endParaRPr>
          </a:p>
          <a:p>
            <a:pPr lvl="3"/>
            <a:endParaRPr lang="en-US" altLang="zh-CN" dirty="0">
              <a:latin typeface="微软雅黑" panose="020B0503020204020204" pitchFamily="34" charset="-122"/>
              <a:ea typeface="微软雅黑" panose="020B0503020204020204" pitchFamily="34" charset="-122"/>
            </a:endParaRPr>
          </a:p>
          <a:p>
            <a:pPr lvl="3"/>
            <a:r>
              <a:rPr lang="zh-CN" altLang="en-US" dirty="0">
                <a:latin typeface="微软雅黑" panose="020B0503020204020204" pitchFamily="34" charset="-122"/>
                <a:ea typeface="微软雅黑" panose="020B0503020204020204" pitchFamily="34" charset="-122"/>
              </a:rPr>
              <a:t>得到的</a:t>
            </a:r>
            <a:r>
              <a:rPr lang="en-US" altLang="zh-CN" dirty="0">
                <a:latin typeface="微软雅黑" panose="020B0503020204020204" pitchFamily="34" charset="-122"/>
                <a:ea typeface="微软雅黑" panose="020B0503020204020204" pitchFamily="34" charset="-122"/>
              </a:rPr>
              <a:t>helloworld1</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helloworld2</a:t>
            </a:r>
            <a:r>
              <a:rPr lang="zh-CN" altLang="en-US" dirty="0">
                <a:latin typeface="微软雅黑" panose="020B0503020204020204" pitchFamily="34" charset="-122"/>
                <a:ea typeface="微软雅黑" panose="020B0503020204020204" pitchFamily="34" charset="-122"/>
              </a:rPr>
              <a:t>还不能直接运行，必须通过模拟器运行</a:t>
            </a:r>
            <a:endParaRPr lang="en-US" altLang="zh-CN" dirty="0">
              <a:latin typeface="微软雅黑" panose="020B0503020204020204" pitchFamily="34" charset="-122"/>
              <a:ea typeface="微软雅黑" panose="020B0503020204020204" pitchFamily="34" charset="-122"/>
            </a:endParaRPr>
          </a:p>
          <a:p>
            <a:pPr lvl="3"/>
            <a:endParaRPr lang="en-US" altLang="zh-CN" dirty="0">
              <a:latin typeface="微软雅黑" panose="020B0503020204020204" pitchFamily="34" charset="-122"/>
              <a:ea typeface="微软雅黑" panose="020B0503020204020204" pitchFamily="34" charset="-122"/>
            </a:endParaRPr>
          </a:p>
          <a:p>
            <a:pPr marL="1371600" lvl="3" indent="0">
              <a:buNone/>
            </a:pPr>
            <a:endParaRPr lang="zh-CN" altLang="en-US" dirty="0">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BC986D38-2B96-4D62-9038-9D338A769105}"/>
              </a:ext>
            </a:extLst>
          </p:cNvPr>
          <p:cNvPicPr>
            <a:picLocks noChangeAspect="1"/>
          </p:cNvPicPr>
          <p:nvPr/>
        </p:nvPicPr>
        <p:blipFill rotWithShape="1">
          <a:blip r:embed="rId3"/>
          <a:srcRect r="55946"/>
          <a:stretch/>
        </p:blipFill>
        <p:spPr>
          <a:xfrm>
            <a:off x="2010461" y="3027217"/>
            <a:ext cx="4750558" cy="2071255"/>
          </a:xfrm>
          <a:prstGeom prst="rect">
            <a:avLst/>
          </a:prstGeom>
        </p:spPr>
      </p:pic>
      <p:sp>
        <p:nvSpPr>
          <p:cNvPr id="5" name="灯片编号占位符 4"/>
          <p:cNvSpPr>
            <a:spLocks noGrp="1"/>
          </p:cNvSpPr>
          <p:nvPr>
            <p:ph type="sldNum" sz="quarter" idx="12"/>
          </p:nvPr>
        </p:nvSpPr>
        <p:spPr/>
        <p:txBody>
          <a:bodyPr/>
          <a:lstStyle/>
          <a:p>
            <a:fld id="{B1C307C6-FA7C-4D4E-9E80-039A033D7CBB}" type="slidenum">
              <a:rPr lang="zh-CN" altLang="en-US" smtClean="0"/>
              <a:t>16</a:t>
            </a:fld>
            <a:endParaRPr lang="zh-CN" altLang="en-US"/>
          </a:p>
        </p:txBody>
      </p:sp>
    </p:spTree>
    <p:extLst>
      <p:ext uri="{BB962C8B-B14F-4D97-AF65-F5344CB8AC3E}">
        <p14:creationId xmlns:p14="http://schemas.microsoft.com/office/powerpoint/2010/main" val="28625991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B3B422-1398-4120-8DEB-A289A93CFDE3}"/>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常用</a:t>
            </a:r>
            <a:r>
              <a:rPr lang="en-US" altLang="zh-CN" dirty="0">
                <a:latin typeface="微软雅黑" panose="020B0503020204020204" pitchFamily="34" charset="-122"/>
                <a:ea typeface="微软雅黑" panose="020B0503020204020204" pitchFamily="34" charset="-122"/>
              </a:rPr>
              <a:t>GNU</a:t>
            </a:r>
            <a:r>
              <a:rPr lang="zh-CN" altLang="en-US" dirty="0">
                <a:latin typeface="微软雅黑" panose="020B0503020204020204" pitchFamily="34" charset="-122"/>
                <a:ea typeface="微软雅黑" panose="020B0503020204020204" pitchFamily="34" charset="-122"/>
              </a:rPr>
              <a:t>工具介绍</a:t>
            </a:r>
            <a:br>
              <a:rPr lang="zh-CN" altLang="en-US" dirty="0">
                <a:latin typeface="微软雅黑" panose="020B0503020204020204" pitchFamily="34" charset="-122"/>
                <a:ea typeface="微软雅黑" panose="020B0503020204020204" pitchFamily="34" charset="-122"/>
              </a:rPr>
            </a:br>
            <a:endParaRPr lang="zh-CN" altLang="en-US" dirty="0">
              <a:latin typeface="微软雅黑" panose="020B0503020204020204" pitchFamily="34" charset="-122"/>
              <a:ea typeface="微软雅黑" panose="020B0503020204020204" pitchFamily="34" charset="-122"/>
            </a:endParaRPr>
          </a:p>
        </p:txBody>
      </p:sp>
      <p:sp>
        <p:nvSpPr>
          <p:cNvPr id="3" name="内容占位符 2">
            <a:extLst>
              <a:ext uri="{FF2B5EF4-FFF2-40B4-BE49-F238E27FC236}">
                <a16:creationId xmlns:a16="http://schemas.microsoft.com/office/drawing/2014/main" id="{33525514-C381-4914-B3D5-E18BEB1A2429}"/>
              </a:ext>
            </a:extLst>
          </p:cNvPr>
          <p:cNvSpPr>
            <a:spLocks noGrp="1"/>
          </p:cNvSpPr>
          <p:nvPr>
            <p:ph idx="1"/>
          </p:nvPr>
        </p:nvSpPr>
        <p:spPr>
          <a:xfrm>
            <a:off x="838200" y="1415562"/>
            <a:ext cx="10515600" cy="4761401"/>
          </a:xfrm>
        </p:spPr>
        <p:txBody>
          <a:bodyPr>
            <a:normAutofit fontScale="85000" lnSpcReduction="20000"/>
          </a:bodyPr>
          <a:lstStyle/>
          <a:p>
            <a:pPr>
              <a:lnSpc>
                <a:spcPct val="140000"/>
              </a:lnSpc>
            </a:pPr>
            <a:r>
              <a:rPr lang="zh-CN" altLang="en-US" dirty="0">
                <a:latin typeface="微软雅黑" panose="020B0503020204020204" pitchFamily="34" charset="-122"/>
                <a:ea typeface="微软雅黑" panose="020B0503020204020204" pitchFamily="34" charset="-122"/>
              </a:rPr>
              <a:t>详细的工具介绍可自行通过命令</a:t>
            </a:r>
            <a:r>
              <a:rPr lang="en-US" altLang="zh-CN" dirty="0">
                <a:latin typeface="微软雅黑" panose="020B0503020204020204" pitchFamily="34" charset="-122"/>
                <a:ea typeface="微软雅黑" panose="020B0503020204020204" pitchFamily="34" charset="-122"/>
              </a:rPr>
              <a:t>$ man </a:t>
            </a:r>
            <a:r>
              <a:rPr lang="en-US" altLang="zh-CN" dirty="0" err="1">
                <a:latin typeface="微软雅黑" panose="020B0503020204020204" pitchFamily="34" charset="-122"/>
                <a:ea typeface="微软雅黑" panose="020B0503020204020204" pitchFamily="34" charset="-122"/>
              </a:rPr>
              <a:t>gcc</a:t>
            </a:r>
            <a:r>
              <a:rPr lang="en-US" altLang="zh-CN" dirty="0">
                <a:latin typeface="微软雅黑" panose="020B0503020204020204" pitchFamily="34" charset="-122"/>
                <a:ea typeface="微软雅黑" panose="020B0503020204020204" pitchFamily="34" charset="-122"/>
              </a:rPr>
              <a:t>/g++/as/…</a:t>
            </a:r>
            <a:r>
              <a:rPr lang="zh-CN" altLang="en-US" dirty="0">
                <a:latin typeface="微软雅黑" panose="020B0503020204020204" pitchFamily="34" charset="-122"/>
                <a:ea typeface="微软雅黑" panose="020B0503020204020204" pitchFamily="34" charset="-122"/>
              </a:rPr>
              <a:t>查看</a:t>
            </a:r>
            <a:endParaRPr lang="en-US" altLang="zh-CN" dirty="0">
              <a:latin typeface="微软雅黑" panose="020B0503020204020204" pitchFamily="34" charset="-122"/>
              <a:ea typeface="微软雅黑" panose="020B0503020204020204" pitchFamily="34" charset="-122"/>
            </a:endParaRPr>
          </a:p>
          <a:p>
            <a:pPr>
              <a:lnSpc>
                <a:spcPct val="140000"/>
              </a:lnSpc>
            </a:pPr>
            <a:r>
              <a:rPr lang="en-US" altLang="zh-CN" dirty="0" err="1">
                <a:latin typeface="微软雅黑" panose="020B0503020204020204" pitchFamily="34" charset="-122"/>
                <a:ea typeface="微软雅黑" panose="020B0503020204020204" pitchFamily="34" charset="-122"/>
              </a:rPr>
              <a:t>gcc</a:t>
            </a:r>
            <a:r>
              <a:rPr lang="en-US" altLang="zh-CN" dirty="0">
                <a:latin typeface="微软雅黑" panose="020B0503020204020204" pitchFamily="34" charset="-122"/>
                <a:ea typeface="微软雅黑" panose="020B0503020204020204" pitchFamily="34" charset="-122"/>
              </a:rPr>
              <a:t>/g++</a:t>
            </a:r>
          </a:p>
          <a:p>
            <a:pPr lvl="1">
              <a:lnSpc>
                <a:spcPct val="140000"/>
              </a:lnSpc>
            </a:pPr>
            <a:r>
              <a:rPr lang="en-US" altLang="zh-CN" dirty="0" err="1">
                <a:latin typeface="微软雅黑" panose="020B0503020204020204" pitchFamily="34" charset="-122"/>
                <a:ea typeface="微软雅黑" panose="020B0503020204020204" pitchFamily="34" charset="-122"/>
              </a:rPr>
              <a:t>gcc,g</a:t>
            </a:r>
            <a:r>
              <a:rPr lang="en-US" altLang="zh-CN" dirty="0">
                <a:latin typeface="微软雅黑" panose="020B0503020204020204" pitchFamily="34" charset="-122"/>
                <a:ea typeface="微软雅黑" panose="020B0503020204020204" pitchFamily="34" charset="-122"/>
              </a:rPr>
              <a:t>++</a:t>
            </a:r>
            <a:r>
              <a:rPr lang="zh-CN" altLang="zh-CN" dirty="0">
                <a:latin typeface="微软雅黑" panose="020B0503020204020204" pitchFamily="34" charset="-122"/>
                <a:ea typeface="微软雅黑" panose="020B0503020204020204" pitchFamily="34" charset="-122"/>
              </a:rPr>
              <a:t>分别是</a:t>
            </a:r>
            <a:r>
              <a:rPr lang="en-US" altLang="zh-CN" dirty="0">
                <a:latin typeface="微软雅黑" panose="020B0503020204020204" pitchFamily="34" charset="-122"/>
                <a:ea typeface="微软雅黑" panose="020B0503020204020204" pitchFamily="34" charset="-122"/>
              </a:rPr>
              <a:t> gnu </a:t>
            </a:r>
            <a:r>
              <a:rPr lang="zh-CN" altLang="zh-CN" dirty="0">
                <a:latin typeface="微软雅黑" panose="020B0503020204020204" pitchFamily="34" charset="-122"/>
                <a:ea typeface="微软雅黑" panose="020B0503020204020204" pitchFamily="34" charset="-122"/>
              </a:rPr>
              <a:t>的</a:t>
            </a:r>
            <a:r>
              <a:rPr lang="en-US" altLang="zh-CN" dirty="0">
                <a:latin typeface="微软雅黑" panose="020B0503020204020204" pitchFamily="34" charset="-122"/>
                <a:ea typeface="微软雅黑" panose="020B0503020204020204" pitchFamily="34" charset="-122"/>
              </a:rPr>
              <a:t> c &amp; </a:t>
            </a:r>
            <a:r>
              <a:rPr lang="en-US" altLang="zh-CN" dirty="0" err="1">
                <a:latin typeface="微软雅黑" panose="020B0503020204020204" pitchFamily="34" charset="-122"/>
                <a:ea typeface="微软雅黑" panose="020B0503020204020204" pitchFamily="34" charset="-122"/>
              </a:rPr>
              <a:t>c++</a:t>
            </a:r>
            <a:r>
              <a:rPr lang="en-US" altLang="zh-CN" dirty="0">
                <a:latin typeface="微软雅黑" panose="020B0503020204020204" pitchFamily="34" charset="-122"/>
                <a:ea typeface="微软雅黑" panose="020B0503020204020204" pitchFamily="34" charset="-122"/>
              </a:rPr>
              <a:t> </a:t>
            </a:r>
            <a:r>
              <a:rPr lang="zh-CN" altLang="zh-CN" dirty="0">
                <a:latin typeface="微软雅黑" panose="020B0503020204020204" pitchFamily="34" charset="-122"/>
                <a:ea typeface="微软雅黑" panose="020B0503020204020204" pitchFamily="34" charset="-122"/>
              </a:rPr>
              <a:t>编译器</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执行默认包括</a:t>
            </a:r>
            <a:r>
              <a:rPr lang="en-US" altLang="zh-CN" dirty="0">
                <a:latin typeface="微软雅黑" panose="020B0503020204020204" pitchFamily="34" charset="-122"/>
                <a:ea typeface="微软雅黑" panose="020B0503020204020204" pitchFamily="34" charset="-122"/>
              </a:rPr>
              <a:t>4</a:t>
            </a:r>
            <a:r>
              <a:rPr lang="zh-CN" altLang="en-US" dirty="0">
                <a:latin typeface="微软雅黑" panose="020B0503020204020204" pitchFamily="34" charset="-122"/>
                <a:ea typeface="微软雅黑" panose="020B0503020204020204" pitchFamily="34" charset="-122"/>
              </a:rPr>
              <a:t>个步骤：</a:t>
            </a:r>
            <a:endParaRPr lang="en-US" altLang="zh-CN" dirty="0">
              <a:latin typeface="微软雅黑" panose="020B0503020204020204" pitchFamily="34" charset="-122"/>
              <a:ea typeface="微软雅黑" panose="020B0503020204020204" pitchFamily="34" charset="-122"/>
            </a:endParaRPr>
          </a:p>
          <a:p>
            <a:pPr lvl="2">
              <a:lnSpc>
                <a:spcPct val="140000"/>
              </a:lnSpc>
            </a:pP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、预处理</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生成 </a:t>
            </a:r>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i</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的文件</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预处理器</a:t>
            </a:r>
            <a:r>
              <a:rPr lang="en-US" altLang="zh-CN" dirty="0" err="1">
                <a:latin typeface="微软雅黑" panose="020B0503020204020204" pitchFamily="34" charset="-122"/>
                <a:ea typeface="微软雅黑" panose="020B0503020204020204" pitchFamily="34" charset="-122"/>
              </a:rPr>
              <a:t>cpp</a:t>
            </a:r>
            <a:r>
              <a:rPr lang="en-US" altLang="zh-CN" dirty="0">
                <a:latin typeface="微软雅黑" panose="020B0503020204020204" pitchFamily="34" charset="-122"/>
                <a:ea typeface="微软雅黑" panose="020B0503020204020204" pitchFamily="34" charset="-122"/>
              </a:rPr>
              <a:t>]</a:t>
            </a:r>
          </a:p>
          <a:p>
            <a:pPr lvl="2">
              <a:lnSpc>
                <a:spcPct val="140000"/>
              </a:lnSpc>
            </a:pP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、编译， 将预处理后的文件转换成汇编语言</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生成文件 </a:t>
            </a:r>
            <a:r>
              <a:rPr lang="en-US" altLang="zh-CN" dirty="0">
                <a:latin typeface="微软雅黑" panose="020B0503020204020204" pitchFamily="34" charset="-122"/>
                <a:ea typeface="微软雅黑" panose="020B0503020204020204" pitchFamily="34" charset="-122"/>
              </a:rPr>
              <a:t>.s [</a:t>
            </a:r>
            <a:r>
              <a:rPr lang="zh-CN" altLang="en-US" dirty="0">
                <a:latin typeface="微软雅黑" panose="020B0503020204020204" pitchFamily="34" charset="-122"/>
                <a:ea typeface="微软雅黑" panose="020B0503020204020204" pitchFamily="34" charset="-122"/>
              </a:rPr>
              <a:t>编译器</a:t>
            </a:r>
            <a:r>
              <a:rPr lang="en-US" altLang="zh-CN" dirty="0" err="1">
                <a:latin typeface="微软雅黑" panose="020B0503020204020204" pitchFamily="34" charset="-122"/>
                <a:ea typeface="微软雅黑" panose="020B0503020204020204" pitchFamily="34" charset="-122"/>
              </a:rPr>
              <a:t>gcc</a:t>
            </a:r>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egcs</a:t>
            </a:r>
            <a:r>
              <a:rPr lang="en-US" altLang="zh-CN" dirty="0">
                <a:latin typeface="微软雅黑" panose="020B0503020204020204" pitchFamily="34" charset="-122"/>
                <a:ea typeface="微软雅黑" panose="020B0503020204020204" pitchFamily="34" charset="-122"/>
              </a:rPr>
              <a:t>]</a:t>
            </a:r>
          </a:p>
          <a:p>
            <a:pPr lvl="2">
              <a:lnSpc>
                <a:spcPct val="140000"/>
              </a:lnSpc>
            </a:pP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、汇编，有汇编变为目标代码</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机器代码</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生成 </a:t>
            </a:r>
            <a:r>
              <a:rPr lang="en-US" altLang="zh-CN" dirty="0">
                <a:latin typeface="微软雅黑" panose="020B0503020204020204" pitchFamily="34" charset="-122"/>
                <a:ea typeface="微软雅黑" panose="020B0503020204020204" pitchFamily="34" charset="-122"/>
              </a:rPr>
              <a:t>.o </a:t>
            </a:r>
            <a:r>
              <a:rPr lang="zh-CN" altLang="en-US" dirty="0">
                <a:latin typeface="微软雅黑" panose="020B0503020204020204" pitchFamily="34" charset="-122"/>
                <a:ea typeface="微软雅黑" panose="020B0503020204020204" pitchFamily="34" charset="-122"/>
              </a:rPr>
              <a:t>的文件</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汇编器</a:t>
            </a:r>
            <a:r>
              <a:rPr lang="en-US" altLang="zh-CN" dirty="0">
                <a:latin typeface="微软雅黑" panose="020B0503020204020204" pitchFamily="34" charset="-122"/>
                <a:ea typeface="微软雅黑" panose="020B0503020204020204" pitchFamily="34" charset="-122"/>
              </a:rPr>
              <a:t>as]</a:t>
            </a:r>
          </a:p>
          <a:p>
            <a:pPr lvl="2">
              <a:lnSpc>
                <a:spcPct val="140000"/>
              </a:lnSpc>
            </a:pPr>
            <a:r>
              <a:rPr lang="en-US" altLang="zh-CN" dirty="0">
                <a:latin typeface="微软雅黑" panose="020B0503020204020204" pitchFamily="34" charset="-122"/>
                <a:ea typeface="微软雅黑" panose="020B0503020204020204" pitchFamily="34" charset="-122"/>
              </a:rPr>
              <a:t>4</a:t>
            </a:r>
            <a:r>
              <a:rPr lang="zh-CN" altLang="en-US" dirty="0">
                <a:latin typeface="微软雅黑" panose="020B0503020204020204" pitchFamily="34" charset="-122"/>
                <a:ea typeface="微软雅黑" panose="020B0503020204020204" pitchFamily="34" charset="-122"/>
              </a:rPr>
              <a:t>、链接，连接目标代码</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生成可执行程序 </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链接器</a:t>
            </a:r>
            <a:r>
              <a:rPr lang="en-US" altLang="zh-CN" dirty="0" err="1">
                <a:latin typeface="微软雅黑" panose="020B0503020204020204" pitchFamily="34" charset="-122"/>
                <a:ea typeface="微软雅黑" panose="020B0503020204020204" pitchFamily="34" charset="-122"/>
              </a:rPr>
              <a:t>ld</a:t>
            </a:r>
            <a:r>
              <a:rPr lang="en-US" altLang="zh-CN" dirty="0">
                <a:latin typeface="微软雅黑" panose="020B0503020204020204" pitchFamily="34" charset="-122"/>
                <a:ea typeface="微软雅黑" panose="020B0503020204020204" pitchFamily="34" charset="-122"/>
              </a:rPr>
              <a:t>]</a:t>
            </a:r>
          </a:p>
          <a:p>
            <a:pPr lvl="1">
              <a:lnSpc>
                <a:spcPct val="140000"/>
              </a:lnSpc>
            </a:pPr>
            <a:r>
              <a:rPr lang="zh-CN" altLang="en-US" dirty="0">
                <a:latin typeface="微软雅黑" panose="020B0503020204020204" pitchFamily="34" charset="-122"/>
                <a:ea typeface="微软雅黑" panose="020B0503020204020204" pitchFamily="34" charset="-122"/>
              </a:rPr>
              <a:t>基本用法</a:t>
            </a:r>
            <a:endParaRPr lang="en-US" altLang="zh-CN" dirty="0">
              <a:latin typeface="微软雅黑" panose="020B0503020204020204" pitchFamily="34" charset="-122"/>
              <a:ea typeface="微软雅黑" panose="020B0503020204020204" pitchFamily="34" charset="-122"/>
            </a:endParaRPr>
          </a:p>
          <a:p>
            <a:pPr lvl="2">
              <a:lnSpc>
                <a:spcPct val="140000"/>
              </a:lnSpc>
            </a:pPr>
            <a:r>
              <a:rPr lang="en-US" altLang="zh-CN" dirty="0" err="1">
                <a:latin typeface="微软雅黑" panose="020B0503020204020204" pitchFamily="34" charset="-122"/>
                <a:ea typeface="微软雅黑" panose="020B0503020204020204" pitchFamily="34" charset="-122"/>
              </a:rPr>
              <a:t>gcc</a:t>
            </a:r>
            <a:r>
              <a:rPr lang="en-US" altLang="zh-CN" dirty="0">
                <a:latin typeface="微软雅黑" panose="020B0503020204020204" pitchFamily="34" charset="-122"/>
                <a:ea typeface="微软雅黑" panose="020B0503020204020204" pitchFamily="34" charset="-122"/>
              </a:rPr>
              <a:t>/g++ [options] [filenames]</a:t>
            </a:r>
          </a:p>
          <a:p>
            <a:pPr lvl="1">
              <a:lnSpc>
                <a:spcPct val="140000"/>
              </a:lnSpc>
            </a:pPr>
            <a:r>
              <a:rPr lang="zh-CN" altLang="en-US" dirty="0">
                <a:latin typeface="微软雅黑" panose="020B0503020204020204" pitchFamily="34" charset="-122"/>
                <a:ea typeface="微软雅黑" panose="020B0503020204020204" pitchFamily="34" charset="-122"/>
              </a:rPr>
              <a:t>常用</a:t>
            </a:r>
            <a:r>
              <a:rPr lang="en-US" altLang="zh-CN" dirty="0">
                <a:latin typeface="微软雅黑" panose="020B0503020204020204" pitchFamily="34" charset="-122"/>
                <a:ea typeface="微软雅黑" panose="020B0503020204020204" pitchFamily="34" charset="-122"/>
              </a:rPr>
              <a:t>options</a:t>
            </a:r>
          </a:p>
          <a:p>
            <a:pPr lvl="2">
              <a:lnSpc>
                <a:spcPct val="140000"/>
              </a:lnSpc>
            </a:pPr>
            <a:r>
              <a:rPr lang="en-US" altLang="zh-CN" dirty="0">
                <a:latin typeface="微软雅黑" panose="020B0503020204020204" pitchFamily="34" charset="-122"/>
                <a:ea typeface="微软雅黑" panose="020B0503020204020204" pitchFamily="34" charset="-122"/>
              </a:rPr>
              <a:t>-c    </a:t>
            </a:r>
            <a:r>
              <a:rPr lang="zh-CN" altLang="en-US" dirty="0">
                <a:latin typeface="微软雅黑" panose="020B0503020204020204" pitchFamily="34" charset="-122"/>
                <a:ea typeface="微软雅黑" panose="020B0503020204020204" pitchFamily="34" charset="-122"/>
              </a:rPr>
              <a:t>执行前</a:t>
            </a: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步，不做链接，得到目标文件（</a:t>
            </a:r>
            <a:r>
              <a:rPr lang="en-US" altLang="zh-CN" dirty="0">
                <a:latin typeface="微软雅黑" panose="020B0503020204020204" pitchFamily="34" charset="-122"/>
                <a:ea typeface="微软雅黑" panose="020B0503020204020204" pitchFamily="34" charset="-122"/>
              </a:rPr>
              <a:t>.o</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lvl="2">
              <a:lnSpc>
                <a:spcPct val="140000"/>
              </a:lnSpc>
            </a:pPr>
            <a:endParaRPr lang="en-US" altLang="zh-CN"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p>
            <a:fld id="{B1C307C6-FA7C-4D4E-9E80-039A033D7CBB}" type="slidenum">
              <a:rPr lang="zh-CN" altLang="en-US" smtClean="0"/>
              <a:t>17</a:t>
            </a:fld>
            <a:endParaRPr lang="zh-CN" altLang="en-US"/>
          </a:p>
        </p:txBody>
      </p:sp>
    </p:spTree>
    <p:extLst>
      <p:ext uri="{BB962C8B-B14F-4D97-AF65-F5344CB8AC3E}">
        <p14:creationId xmlns:p14="http://schemas.microsoft.com/office/powerpoint/2010/main" val="695691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E0F895-2DC7-4444-966B-105180D8DBD6}"/>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常用</a:t>
            </a:r>
            <a:r>
              <a:rPr lang="en-US" altLang="zh-CN" dirty="0">
                <a:latin typeface="微软雅黑" panose="020B0503020204020204" pitchFamily="34" charset="-122"/>
                <a:ea typeface="微软雅黑" panose="020B0503020204020204" pitchFamily="34" charset="-122"/>
              </a:rPr>
              <a:t>GNU</a:t>
            </a:r>
            <a:r>
              <a:rPr lang="zh-CN" altLang="en-US" dirty="0">
                <a:latin typeface="微软雅黑" panose="020B0503020204020204" pitchFamily="34" charset="-122"/>
                <a:ea typeface="微软雅黑" panose="020B0503020204020204" pitchFamily="34" charset="-122"/>
              </a:rPr>
              <a:t>工具介绍</a:t>
            </a:r>
          </a:p>
        </p:txBody>
      </p:sp>
      <p:sp>
        <p:nvSpPr>
          <p:cNvPr id="3" name="内容占位符 2">
            <a:extLst>
              <a:ext uri="{FF2B5EF4-FFF2-40B4-BE49-F238E27FC236}">
                <a16:creationId xmlns:a16="http://schemas.microsoft.com/office/drawing/2014/main" id="{8070AF0E-3679-4110-BE93-2502200A0DEC}"/>
              </a:ext>
            </a:extLst>
          </p:cNvPr>
          <p:cNvSpPr>
            <a:spLocks noGrp="1"/>
          </p:cNvSpPr>
          <p:nvPr>
            <p:ph idx="1"/>
          </p:nvPr>
        </p:nvSpPr>
        <p:spPr>
          <a:xfrm>
            <a:off x="934916" y="1438762"/>
            <a:ext cx="10515600" cy="5515953"/>
          </a:xfrm>
        </p:spPr>
        <p:txBody>
          <a:bodyPr>
            <a:normAutofit fontScale="62500" lnSpcReduction="20000"/>
          </a:bodyPr>
          <a:lstStyle/>
          <a:p>
            <a:pPr>
              <a:lnSpc>
                <a:spcPct val="150000"/>
              </a:lnSpc>
            </a:pPr>
            <a:r>
              <a:rPr lang="en-US" altLang="zh-CN" sz="3200" dirty="0" err="1">
                <a:latin typeface="微软雅黑" panose="020B0503020204020204" pitchFamily="34" charset="-122"/>
                <a:ea typeface="微软雅黑" panose="020B0503020204020204" pitchFamily="34" charset="-122"/>
              </a:rPr>
              <a:t>gcc</a:t>
            </a:r>
            <a:r>
              <a:rPr lang="en-US" altLang="zh-CN" sz="3200" dirty="0">
                <a:latin typeface="微软雅黑" panose="020B0503020204020204" pitchFamily="34" charset="-122"/>
                <a:ea typeface="微软雅黑" panose="020B0503020204020204" pitchFamily="34" charset="-122"/>
              </a:rPr>
              <a:t>/g++</a:t>
            </a:r>
          </a:p>
          <a:p>
            <a:pPr lvl="1">
              <a:lnSpc>
                <a:spcPct val="150000"/>
              </a:lnSpc>
            </a:pPr>
            <a:r>
              <a:rPr lang="zh-CN" altLang="en-US" dirty="0">
                <a:latin typeface="微软雅黑" panose="020B0503020204020204" pitchFamily="34" charset="-122"/>
                <a:ea typeface="微软雅黑" panose="020B0503020204020204" pitchFamily="34" charset="-122"/>
              </a:rPr>
              <a:t>常用</a:t>
            </a:r>
            <a:r>
              <a:rPr lang="en-US" altLang="zh-CN" dirty="0">
                <a:latin typeface="微软雅黑" panose="020B0503020204020204" pitchFamily="34" charset="-122"/>
                <a:ea typeface="微软雅黑" panose="020B0503020204020204" pitchFamily="34" charset="-122"/>
              </a:rPr>
              <a:t>options</a:t>
            </a:r>
          </a:p>
          <a:p>
            <a:pPr lvl="2">
              <a:lnSpc>
                <a:spcPct val="150000"/>
              </a:lnSpc>
            </a:pPr>
            <a:r>
              <a:rPr lang="en-US" altLang="zh-CN" dirty="0">
                <a:latin typeface="微软雅黑" panose="020B0503020204020204" pitchFamily="34" charset="-122"/>
                <a:ea typeface="微软雅黑" panose="020B0503020204020204" pitchFamily="34" charset="-122"/>
              </a:rPr>
              <a:t>-S    </a:t>
            </a:r>
            <a:r>
              <a:rPr lang="zh-CN" altLang="en-US" dirty="0">
                <a:latin typeface="微软雅黑" panose="020B0503020204020204" pitchFamily="34" charset="-122"/>
                <a:ea typeface="微软雅黑" panose="020B0503020204020204" pitchFamily="34" charset="-122"/>
              </a:rPr>
              <a:t>执行前</a:t>
            </a: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步，不进行汇编，得到汇编源文件（</a:t>
            </a:r>
            <a:r>
              <a:rPr lang="en-US" altLang="zh-CN" dirty="0">
                <a:latin typeface="微软雅黑" panose="020B0503020204020204" pitchFamily="34" charset="-122"/>
                <a:ea typeface="微软雅黑" panose="020B0503020204020204" pitchFamily="34" charset="-122"/>
              </a:rPr>
              <a:t>.s</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lvl="2">
              <a:lnSpc>
                <a:spcPct val="150000"/>
              </a:lnSpc>
            </a:pPr>
            <a:r>
              <a:rPr lang="en-US" altLang="zh-CN" dirty="0">
                <a:latin typeface="微软雅黑" panose="020B0503020204020204" pitchFamily="34" charset="-122"/>
                <a:ea typeface="微软雅黑" panose="020B0503020204020204" pitchFamily="34" charset="-122"/>
              </a:rPr>
              <a:t>-E    </a:t>
            </a:r>
            <a:r>
              <a:rPr lang="zh-CN" altLang="en-US" dirty="0">
                <a:latin typeface="微软雅黑" panose="020B0503020204020204" pitchFamily="34" charset="-122"/>
                <a:ea typeface="微软雅黑" panose="020B0503020204020204" pitchFamily="34" charset="-122"/>
              </a:rPr>
              <a:t>执行预处理，不进行编译，结果送往标准输出</a:t>
            </a:r>
            <a:endParaRPr lang="en-US" altLang="zh-CN" dirty="0">
              <a:latin typeface="微软雅黑" panose="020B0503020204020204" pitchFamily="34" charset="-122"/>
              <a:ea typeface="微软雅黑" panose="020B0503020204020204" pitchFamily="34" charset="-122"/>
            </a:endParaRPr>
          </a:p>
          <a:p>
            <a:pPr lvl="2">
              <a:lnSpc>
                <a:spcPct val="150000"/>
              </a:lnSpc>
            </a:pPr>
            <a:r>
              <a:rPr lang="en-US" altLang="zh-CN" dirty="0">
                <a:latin typeface="微软雅黑" panose="020B0503020204020204" pitchFamily="34" charset="-122"/>
                <a:ea typeface="微软雅黑" panose="020B0503020204020204" pitchFamily="34" charset="-122"/>
              </a:rPr>
              <a:t>-o    </a:t>
            </a:r>
            <a:r>
              <a:rPr lang="zh-CN" altLang="en-US" dirty="0">
                <a:latin typeface="微软雅黑" panose="020B0503020204020204" pitchFamily="34" charset="-122"/>
                <a:ea typeface="微软雅黑" panose="020B0503020204020204" pitchFamily="34" charset="-122"/>
              </a:rPr>
              <a:t>指定输出文件</a:t>
            </a:r>
            <a:endParaRPr lang="en-US" altLang="zh-CN" dirty="0">
              <a:latin typeface="微软雅黑" panose="020B0503020204020204" pitchFamily="34" charset="-122"/>
              <a:ea typeface="微软雅黑" panose="020B0503020204020204" pitchFamily="34" charset="-122"/>
            </a:endParaRPr>
          </a:p>
          <a:p>
            <a:pPr lvl="2">
              <a:lnSpc>
                <a:spcPct val="150000"/>
              </a:lnSpc>
            </a:pPr>
            <a:r>
              <a:rPr lang="en-US" altLang="zh-CN" dirty="0">
                <a:latin typeface="微软雅黑" panose="020B0503020204020204" pitchFamily="34" charset="-122"/>
                <a:ea typeface="微软雅黑" panose="020B0503020204020204" pitchFamily="34" charset="-122"/>
              </a:rPr>
              <a:t>-static    </a:t>
            </a:r>
            <a:r>
              <a:rPr lang="zh-CN" altLang="en-US" dirty="0">
                <a:latin typeface="微软雅黑" panose="020B0503020204020204" pitchFamily="34" charset="-122"/>
                <a:ea typeface="微软雅黑" panose="020B0503020204020204" pitchFamily="34" charset="-122"/>
              </a:rPr>
              <a:t>使用静态库链接，生成文件较大，便于移植</a:t>
            </a:r>
            <a:endParaRPr lang="en-US" altLang="zh-CN" dirty="0">
              <a:latin typeface="微软雅黑" panose="020B0503020204020204" pitchFamily="34" charset="-122"/>
              <a:ea typeface="微软雅黑" panose="020B0503020204020204" pitchFamily="34" charset="-122"/>
            </a:endParaRPr>
          </a:p>
          <a:p>
            <a:pPr lvl="2">
              <a:lnSpc>
                <a:spcPct val="120000"/>
              </a:lnSpc>
            </a:pPr>
            <a:r>
              <a:rPr lang="en-US" altLang="zh-CN" dirty="0">
                <a:latin typeface="微软雅黑" panose="020B0503020204020204" pitchFamily="34" charset="-122"/>
                <a:ea typeface="微软雅黑" panose="020B0503020204020204" pitchFamily="34" charset="-122"/>
              </a:rPr>
              <a:t>-shared    </a:t>
            </a:r>
            <a:r>
              <a:rPr lang="zh-CN" altLang="en-US" dirty="0">
                <a:latin typeface="微软雅黑" panose="020B0503020204020204" pitchFamily="34" charset="-122"/>
                <a:ea typeface="微软雅黑" panose="020B0503020204020204" pitchFamily="34" charset="-122"/>
              </a:rPr>
              <a:t>使用动态库链接，生成文件较小</a:t>
            </a:r>
            <a:endParaRPr lang="en-US" altLang="zh-CN" dirty="0">
              <a:latin typeface="微软雅黑" panose="020B0503020204020204" pitchFamily="34" charset="-122"/>
              <a:ea typeface="微软雅黑" panose="020B0503020204020204" pitchFamily="34" charset="-122"/>
            </a:endParaRPr>
          </a:p>
          <a:p>
            <a:pPr lvl="2">
              <a:lnSpc>
                <a:spcPct val="140000"/>
              </a:lnSpc>
            </a:pPr>
            <a:r>
              <a:rPr lang="en-US" altLang="zh-CN" dirty="0">
                <a:latin typeface="微软雅黑" panose="020B0503020204020204" pitchFamily="34" charset="-122"/>
                <a:ea typeface="微软雅黑" panose="020B0503020204020204" pitchFamily="34" charset="-122"/>
              </a:rPr>
              <a:t>-g    </a:t>
            </a:r>
            <a:r>
              <a:rPr lang="zh-CN" altLang="en-US" dirty="0">
                <a:latin typeface="微软雅黑" panose="020B0503020204020204" pitchFamily="34" charset="-122"/>
                <a:ea typeface="微软雅黑" panose="020B0503020204020204" pitchFamily="34" charset="-122"/>
              </a:rPr>
              <a:t>产生调试信息</a:t>
            </a:r>
            <a:endParaRPr lang="en-US" altLang="zh-CN" dirty="0">
              <a:latin typeface="微软雅黑" panose="020B0503020204020204" pitchFamily="34" charset="-122"/>
              <a:ea typeface="微软雅黑" panose="020B0503020204020204" pitchFamily="34" charset="-122"/>
            </a:endParaRPr>
          </a:p>
          <a:p>
            <a:pPr>
              <a:lnSpc>
                <a:spcPct val="150000"/>
              </a:lnSpc>
            </a:pPr>
            <a:r>
              <a:rPr lang="en-US" altLang="zh-CN" sz="3200" dirty="0">
                <a:latin typeface="微软雅黑" panose="020B0503020204020204" pitchFamily="34" charset="-122"/>
                <a:ea typeface="微软雅黑" panose="020B0503020204020204" pitchFamily="34" charset="-122"/>
              </a:rPr>
              <a:t>as</a:t>
            </a:r>
          </a:p>
          <a:p>
            <a:pPr lvl="1">
              <a:lnSpc>
                <a:spcPct val="150000"/>
              </a:lnSpc>
            </a:pPr>
            <a:r>
              <a:rPr lang="en-US" altLang="zh-CN" dirty="0">
                <a:latin typeface="微软雅黑" panose="020B0503020204020204" pitchFamily="34" charset="-122"/>
                <a:ea typeface="微软雅黑" panose="020B0503020204020204" pitchFamily="34" charset="-122"/>
              </a:rPr>
              <a:t>as</a:t>
            </a:r>
            <a:r>
              <a:rPr lang="zh-CN" altLang="en-US" dirty="0">
                <a:latin typeface="微软雅黑" panose="020B0503020204020204" pitchFamily="34" charset="-122"/>
                <a:ea typeface="微软雅黑" panose="020B0503020204020204" pitchFamily="34" charset="-122"/>
              </a:rPr>
              <a:t>是</a:t>
            </a:r>
            <a:r>
              <a:rPr lang="en-US" altLang="zh-CN" dirty="0">
                <a:latin typeface="微软雅黑" panose="020B0503020204020204" pitchFamily="34" charset="-122"/>
                <a:ea typeface="微软雅黑" panose="020B0503020204020204" pitchFamily="34" charset="-122"/>
              </a:rPr>
              <a:t>gnu</a:t>
            </a:r>
            <a:r>
              <a:rPr lang="zh-CN" altLang="en-US" dirty="0">
                <a:latin typeface="微软雅黑" panose="020B0503020204020204" pitchFamily="34" charset="-122"/>
                <a:ea typeface="微软雅黑" panose="020B0503020204020204" pitchFamily="34" charset="-122"/>
              </a:rPr>
              <a:t>的汇编器</a:t>
            </a:r>
            <a:endParaRPr lang="en-US" altLang="zh-CN" dirty="0">
              <a:latin typeface="微软雅黑" panose="020B0503020204020204" pitchFamily="34" charset="-122"/>
              <a:ea typeface="微软雅黑" panose="020B0503020204020204" pitchFamily="34" charset="-122"/>
            </a:endParaRPr>
          </a:p>
          <a:p>
            <a:pPr lvl="1">
              <a:lnSpc>
                <a:spcPct val="150000"/>
              </a:lnSpc>
            </a:pPr>
            <a:r>
              <a:rPr lang="zh-CN" altLang="en-US" dirty="0">
                <a:latin typeface="微软雅黑" panose="020B0503020204020204" pitchFamily="34" charset="-122"/>
                <a:ea typeface="微软雅黑" panose="020B0503020204020204" pitchFamily="34" charset="-122"/>
              </a:rPr>
              <a:t>基本用法</a:t>
            </a:r>
            <a:endParaRPr lang="en-US" altLang="zh-CN" dirty="0">
              <a:latin typeface="微软雅黑" panose="020B0503020204020204" pitchFamily="34" charset="-122"/>
              <a:ea typeface="微软雅黑" panose="020B0503020204020204" pitchFamily="34" charset="-122"/>
            </a:endParaRPr>
          </a:p>
          <a:p>
            <a:pPr lvl="2">
              <a:lnSpc>
                <a:spcPct val="150000"/>
              </a:lnSpc>
            </a:pPr>
            <a:r>
              <a:rPr lang="en-US" altLang="zh-CN" dirty="0">
                <a:latin typeface="微软雅黑" panose="020B0503020204020204" pitchFamily="34" charset="-122"/>
                <a:ea typeface="微软雅黑" panose="020B0503020204020204" pitchFamily="34" charset="-122"/>
              </a:rPr>
              <a:t>as [options] </a:t>
            </a:r>
            <a:r>
              <a:rPr lang="en-US" altLang="zh-CN" dirty="0" err="1">
                <a:latin typeface="微软雅黑" panose="020B0503020204020204" pitchFamily="34" charset="-122"/>
                <a:ea typeface="微软雅黑" panose="020B0503020204020204" pitchFamily="34" charset="-122"/>
              </a:rPr>
              <a:t>srcfile.s</a:t>
            </a:r>
            <a:endParaRPr lang="en-US" altLang="zh-CN" dirty="0">
              <a:latin typeface="微软雅黑" panose="020B0503020204020204" pitchFamily="34" charset="-122"/>
              <a:ea typeface="微软雅黑" panose="020B0503020204020204" pitchFamily="34" charset="-122"/>
            </a:endParaRPr>
          </a:p>
          <a:p>
            <a:pPr lvl="1">
              <a:lnSpc>
                <a:spcPct val="150000"/>
              </a:lnSpc>
            </a:pPr>
            <a:r>
              <a:rPr lang="zh-CN" altLang="en-US" dirty="0">
                <a:latin typeface="微软雅黑" panose="020B0503020204020204" pitchFamily="34" charset="-122"/>
                <a:ea typeface="微软雅黑" panose="020B0503020204020204" pitchFamily="34" charset="-122"/>
              </a:rPr>
              <a:t>常用</a:t>
            </a:r>
            <a:r>
              <a:rPr lang="en-US" altLang="zh-CN" dirty="0">
                <a:latin typeface="微软雅黑" panose="020B0503020204020204" pitchFamily="34" charset="-122"/>
                <a:ea typeface="微软雅黑" panose="020B0503020204020204" pitchFamily="34" charset="-122"/>
              </a:rPr>
              <a:t>options</a:t>
            </a:r>
          </a:p>
          <a:p>
            <a:pPr lvl="2">
              <a:lnSpc>
                <a:spcPct val="150000"/>
              </a:lnSpc>
            </a:pPr>
            <a:r>
              <a:rPr lang="en-US" altLang="zh-CN" dirty="0">
                <a:latin typeface="微软雅黑" panose="020B0503020204020204" pitchFamily="34" charset="-122"/>
                <a:ea typeface="微软雅黑" panose="020B0503020204020204" pitchFamily="34" charset="-122"/>
              </a:rPr>
              <a:t>-g    </a:t>
            </a:r>
            <a:r>
              <a:rPr lang="zh-CN" altLang="en-US" dirty="0">
                <a:latin typeface="微软雅黑" panose="020B0503020204020204" pitchFamily="34" charset="-122"/>
                <a:ea typeface="微软雅黑" panose="020B0503020204020204" pitchFamily="34" charset="-122"/>
              </a:rPr>
              <a:t>产生调试信息</a:t>
            </a:r>
            <a:endParaRPr lang="en-US" altLang="zh-CN" dirty="0">
              <a:latin typeface="微软雅黑" panose="020B0503020204020204" pitchFamily="34" charset="-122"/>
              <a:ea typeface="微软雅黑" panose="020B0503020204020204" pitchFamily="34" charset="-122"/>
            </a:endParaRPr>
          </a:p>
          <a:p>
            <a:pPr lvl="2">
              <a:lnSpc>
                <a:spcPct val="150000"/>
              </a:lnSpc>
            </a:pPr>
            <a:r>
              <a:rPr lang="en-US" altLang="zh-CN" dirty="0">
                <a:latin typeface="微软雅黑" panose="020B0503020204020204" pitchFamily="34" charset="-122"/>
                <a:ea typeface="微软雅黑" panose="020B0503020204020204" pitchFamily="34" charset="-122"/>
              </a:rPr>
              <a:t>-o    </a:t>
            </a:r>
            <a:r>
              <a:rPr lang="zh-CN" altLang="en-US" dirty="0">
                <a:latin typeface="微软雅黑" panose="020B0503020204020204" pitchFamily="34" charset="-122"/>
                <a:ea typeface="微软雅黑" panose="020B0503020204020204" pitchFamily="34" charset="-122"/>
              </a:rPr>
              <a:t>指定输出文件</a:t>
            </a:r>
            <a:endParaRPr lang="en-US" altLang="zh-CN"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p>
            <a:fld id="{B1C307C6-FA7C-4D4E-9E80-039A033D7CBB}" type="slidenum">
              <a:rPr lang="zh-CN" altLang="en-US" smtClean="0"/>
              <a:t>18</a:t>
            </a:fld>
            <a:endParaRPr lang="zh-CN" altLang="en-US"/>
          </a:p>
        </p:txBody>
      </p:sp>
    </p:spTree>
    <p:extLst>
      <p:ext uri="{BB962C8B-B14F-4D97-AF65-F5344CB8AC3E}">
        <p14:creationId xmlns:p14="http://schemas.microsoft.com/office/powerpoint/2010/main" val="40409955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311D82-0061-4049-93CA-8C81C595F466}"/>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常用</a:t>
            </a:r>
            <a:r>
              <a:rPr lang="en-US" altLang="zh-CN" dirty="0">
                <a:latin typeface="微软雅黑" panose="020B0503020204020204" pitchFamily="34" charset="-122"/>
                <a:ea typeface="微软雅黑" panose="020B0503020204020204" pitchFamily="34" charset="-122"/>
              </a:rPr>
              <a:t>GNU</a:t>
            </a:r>
            <a:r>
              <a:rPr lang="zh-CN" altLang="en-US" dirty="0">
                <a:latin typeface="微软雅黑" panose="020B0503020204020204" pitchFamily="34" charset="-122"/>
                <a:ea typeface="微软雅黑" panose="020B0503020204020204" pitchFamily="34" charset="-122"/>
              </a:rPr>
              <a:t>工具介绍</a:t>
            </a:r>
          </a:p>
        </p:txBody>
      </p:sp>
      <p:sp>
        <p:nvSpPr>
          <p:cNvPr id="3" name="内容占位符 2">
            <a:extLst>
              <a:ext uri="{FF2B5EF4-FFF2-40B4-BE49-F238E27FC236}">
                <a16:creationId xmlns:a16="http://schemas.microsoft.com/office/drawing/2014/main" id="{1962C7B6-AE02-4464-8F72-68D2BCB667F7}"/>
              </a:ext>
            </a:extLst>
          </p:cNvPr>
          <p:cNvSpPr>
            <a:spLocks noGrp="1"/>
          </p:cNvSpPr>
          <p:nvPr>
            <p:ph idx="1"/>
          </p:nvPr>
        </p:nvSpPr>
        <p:spPr/>
        <p:txBody>
          <a:bodyPr>
            <a:normAutofit/>
          </a:bodyPr>
          <a:lstStyle/>
          <a:p>
            <a:r>
              <a:rPr lang="en-US" altLang="zh-CN" dirty="0" err="1">
                <a:latin typeface="微软雅黑" panose="020B0503020204020204" pitchFamily="34" charset="-122"/>
                <a:ea typeface="微软雅黑" panose="020B0503020204020204" pitchFamily="34" charset="-122"/>
              </a:rPr>
              <a:t>readelf</a:t>
            </a:r>
            <a:endParaRPr lang="en-US" altLang="zh-CN" dirty="0">
              <a:latin typeface="微软雅黑" panose="020B0503020204020204" pitchFamily="34" charset="-122"/>
              <a:ea typeface="微软雅黑" panose="020B0503020204020204" pitchFamily="34" charset="-122"/>
            </a:endParaRPr>
          </a:p>
          <a:p>
            <a:pPr lvl="1"/>
            <a:r>
              <a:rPr lang="en-US" altLang="zh-CN" dirty="0" err="1">
                <a:latin typeface="微软雅黑" panose="020B0503020204020204" pitchFamily="34" charset="-122"/>
                <a:ea typeface="微软雅黑" panose="020B0503020204020204" pitchFamily="34" charset="-122"/>
              </a:rPr>
              <a:t>readelf</a:t>
            </a:r>
            <a:r>
              <a:rPr lang="zh-CN" altLang="zh-CN" dirty="0">
                <a:latin typeface="微软雅黑" panose="020B0503020204020204" pitchFamily="34" charset="-122"/>
                <a:ea typeface="微软雅黑" panose="020B0503020204020204" pitchFamily="34" charset="-122"/>
              </a:rPr>
              <a:t>用于解析</a:t>
            </a:r>
            <a:r>
              <a:rPr lang="en-US" altLang="zh-CN" dirty="0">
                <a:latin typeface="微软雅黑" panose="020B0503020204020204" pitchFamily="34" charset="-122"/>
                <a:ea typeface="微软雅黑" panose="020B0503020204020204" pitchFamily="34" charset="-122"/>
              </a:rPr>
              <a:t>ELF</a:t>
            </a:r>
            <a:r>
              <a:rPr lang="zh-CN" altLang="zh-CN" dirty="0">
                <a:latin typeface="微软雅黑" panose="020B0503020204020204" pitchFamily="34" charset="-122"/>
                <a:ea typeface="微软雅黑" panose="020B0503020204020204" pitchFamily="34" charset="-122"/>
              </a:rPr>
              <a:t>文件的信息</a:t>
            </a:r>
            <a:r>
              <a:rPr lang="en-US" altLang="zh-CN" dirty="0">
                <a:latin typeface="微软雅黑" panose="020B0503020204020204" pitchFamily="34" charset="-122"/>
                <a:ea typeface="微软雅黑" panose="020B0503020204020204" pitchFamily="34" charset="-122"/>
              </a:rPr>
              <a:t>.ELF</a:t>
            </a:r>
            <a:r>
              <a:rPr lang="zh-CN" altLang="zh-CN"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Executable and Linkable Format</a:t>
            </a:r>
            <a:r>
              <a:rPr lang="zh-CN" altLang="zh-CN" dirty="0">
                <a:latin typeface="微软雅黑" panose="020B0503020204020204" pitchFamily="34" charset="-122"/>
                <a:ea typeface="微软雅黑" panose="020B0503020204020204" pitchFamily="34" charset="-122"/>
              </a:rPr>
              <a:t>）文件主要包括目标文件（</a:t>
            </a:r>
            <a:r>
              <a:rPr lang="en-US" altLang="zh-CN" dirty="0">
                <a:latin typeface="微软雅黑" panose="020B0503020204020204" pitchFamily="34" charset="-122"/>
                <a:ea typeface="微软雅黑" panose="020B0503020204020204" pitchFamily="34" charset="-122"/>
              </a:rPr>
              <a:t>.o</a:t>
            </a:r>
            <a:r>
              <a:rPr lang="zh-CN" altLang="zh-CN" dirty="0">
                <a:latin typeface="微软雅黑" panose="020B0503020204020204" pitchFamily="34" charset="-122"/>
                <a:ea typeface="微软雅黑" panose="020B0503020204020204" pitchFamily="34" charset="-122"/>
              </a:rPr>
              <a:t>）、可执行文件、动态库（</a:t>
            </a:r>
            <a:r>
              <a:rPr lang="en-US" altLang="zh-CN" dirty="0">
                <a:latin typeface="微软雅黑" panose="020B0503020204020204" pitchFamily="34" charset="-122"/>
                <a:ea typeface="微软雅黑" panose="020B0503020204020204" pitchFamily="34" charset="-122"/>
              </a:rPr>
              <a:t>.so</a:t>
            </a:r>
            <a:r>
              <a:rPr lang="zh-CN" altLang="zh-CN"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rPr>
              <a:t>基本用法</a:t>
            </a:r>
            <a:endParaRPr lang="en-US" altLang="zh-CN" dirty="0">
              <a:latin typeface="微软雅黑" panose="020B0503020204020204" pitchFamily="34" charset="-122"/>
              <a:ea typeface="微软雅黑" panose="020B0503020204020204" pitchFamily="34" charset="-122"/>
            </a:endParaRPr>
          </a:p>
          <a:p>
            <a:pPr lvl="2"/>
            <a:r>
              <a:rPr lang="en-US" altLang="zh-CN" dirty="0" err="1">
                <a:latin typeface="微软雅黑" panose="020B0503020204020204" pitchFamily="34" charset="-122"/>
                <a:ea typeface="微软雅黑" panose="020B0503020204020204" pitchFamily="34" charset="-122"/>
              </a:rPr>
              <a:t>readelf</a:t>
            </a:r>
            <a:r>
              <a:rPr lang="en-US" altLang="zh-CN" dirty="0">
                <a:latin typeface="微软雅黑" panose="020B0503020204020204" pitchFamily="34" charset="-122"/>
                <a:ea typeface="微软雅黑" panose="020B0503020204020204" pitchFamily="34" charset="-122"/>
              </a:rPr>
              <a:t> [options] </a:t>
            </a:r>
            <a:r>
              <a:rPr lang="en-US" altLang="zh-CN" dirty="0" err="1">
                <a:latin typeface="微软雅黑" panose="020B0503020204020204" pitchFamily="34" charset="-122"/>
                <a:ea typeface="微软雅黑" panose="020B0503020204020204" pitchFamily="34" charset="-122"/>
              </a:rPr>
              <a:t>elffile</a:t>
            </a:r>
            <a:endParaRPr lang="en-US" altLang="zh-CN" dirty="0">
              <a:latin typeface="微软雅黑" panose="020B0503020204020204" pitchFamily="34" charset="-122"/>
              <a:ea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rPr>
              <a:t>常用</a:t>
            </a:r>
            <a:r>
              <a:rPr lang="en-US" altLang="zh-CN" dirty="0">
                <a:latin typeface="微软雅黑" panose="020B0503020204020204" pitchFamily="34" charset="-122"/>
                <a:ea typeface="微软雅黑" panose="020B0503020204020204" pitchFamily="34" charset="-122"/>
              </a:rPr>
              <a:t>options</a:t>
            </a:r>
          </a:p>
          <a:p>
            <a:pPr lvl="2"/>
            <a:r>
              <a:rPr lang="en-US" altLang="zh-CN" dirty="0">
                <a:latin typeface="微软雅黑" panose="020B0503020204020204" pitchFamily="34" charset="-122"/>
                <a:ea typeface="微软雅黑" panose="020B0503020204020204" pitchFamily="34" charset="-122"/>
              </a:rPr>
              <a:t>-a    </a:t>
            </a:r>
            <a:r>
              <a:rPr lang="zh-CN" altLang="en-US" dirty="0">
                <a:latin typeface="微软雅黑" panose="020B0503020204020204" pitchFamily="34" charset="-122"/>
                <a:ea typeface="微软雅黑" panose="020B0503020204020204" pitchFamily="34" charset="-122"/>
              </a:rPr>
              <a:t>输出全部信息</a:t>
            </a:r>
            <a:endParaRPr lang="en-US" altLang="zh-CN" dirty="0">
              <a:latin typeface="微软雅黑" panose="020B0503020204020204" pitchFamily="34" charset="-122"/>
              <a:ea typeface="微软雅黑" panose="020B0503020204020204" pitchFamily="34" charset="-122"/>
            </a:endParaRPr>
          </a:p>
          <a:p>
            <a:pPr lvl="2"/>
            <a:r>
              <a:rPr lang="en-US" altLang="zh-CN" dirty="0">
                <a:latin typeface="微软雅黑" panose="020B0503020204020204" pitchFamily="34" charset="-122"/>
                <a:ea typeface="微软雅黑" panose="020B0503020204020204" pitchFamily="34" charset="-122"/>
              </a:rPr>
              <a:t>-h    </a:t>
            </a:r>
            <a:r>
              <a:rPr lang="zh-CN" altLang="en-US" dirty="0">
                <a:latin typeface="微软雅黑" panose="020B0503020204020204" pitchFamily="34" charset="-122"/>
                <a:ea typeface="微软雅黑" panose="020B0503020204020204" pitchFamily="34" charset="-122"/>
              </a:rPr>
              <a:t>输出</a:t>
            </a:r>
            <a:r>
              <a:rPr lang="en-US" altLang="zh-CN" dirty="0">
                <a:latin typeface="微软雅黑" panose="020B0503020204020204" pitchFamily="34" charset="-122"/>
                <a:ea typeface="微软雅黑" panose="020B0503020204020204" pitchFamily="34" charset="-122"/>
              </a:rPr>
              <a:t>ELF header</a:t>
            </a:r>
            <a:r>
              <a:rPr lang="zh-CN" altLang="en-US" dirty="0">
                <a:latin typeface="微软雅黑" panose="020B0503020204020204" pitchFamily="34" charset="-122"/>
                <a:ea typeface="微软雅黑" panose="020B0503020204020204" pitchFamily="34" charset="-122"/>
              </a:rPr>
              <a:t>部分</a:t>
            </a:r>
            <a:endParaRPr lang="en-US" altLang="zh-CN" dirty="0">
              <a:latin typeface="微软雅黑" panose="020B0503020204020204" pitchFamily="34" charset="-122"/>
              <a:ea typeface="微软雅黑" panose="020B0503020204020204" pitchFamily="34" charset="-122"/>
            </a:endParaRPr>
          </a:p>
          <a:p>
            <a:pPr lvl="2"/>
            <a:r>
              <a:rPr lang="en-US" altLang="zh-CN" dirty="0">
                <a:latin typeface="微软雅黑" panose="020B0503020204020204" pitchFamily="34" charset="-122"/>
                <a:ea typeface="微软雅黑" panose="020B0503020204020204" pitchFamily="34" charset="-122"/>
              </a:rPr>
              <a:t>-l     </a:t>
            </a:r>
            <a:r>
              <a:rPr lang="zh-CN" altLang="en-US" dirty="0">
                <a:latin typeface="微软雅黑" panose="020B0503020204020204" pitchFamily="34" charset="-122"/>
                <a:ea typeface="微软雅黑" panose="020B0503020204020204" pitchFamily="34" charset="-122"/>
              </a:rPr>
              <a:t>输出</a:t>
            </a:r>
            <a:r>
              <a:rPr lang="en-US" altLang="zh-CN" dirty="0">
                <a:latin typeface="微软雅黑" panose="020B0503020204020204" pitchFamily="34" charset="-122"/>
                <a:ea typeface="微软雅黑" panose="020B0503020204020204" pitchFamily="34" charset="-122"/>
              </a:rPr>
              <a:t>segment header</a:t>
            </a:r>
            <a:r>
              <a:rPr lang="zh-CN" altLang="en-US" dirty="0">
                <a:latin typeface="微软雅黑" panose="020B0503020204020204" pitchFamily="34" charset="-122"/>
                <a:ea typeface="微软雅黑" panose="020B0503020204020204" pitchFamily="34" charset="-122"/>
              </a:rPr>
              <a:t>部分</a:t>
            </a:r>
            <a:endParaRPr lang="en-US" altLang="zh-CN" dirty="0">
              <a:latin typeface="微软雅黑" panose="020B0503020204020204" pitchFamily="34" charset="-122"/>
              <a:ea typeface="微软雅黑" panose="020B0503020204020204" pitchFamily="34" charset="-122"/>
            </a:endParaRPr>
          </a:p>
          <a:p>
            <a:pPr lvl="2"/>
            <a:r>
              <a:rPr lang="en-US" altLang="zh-CN" dirty="0">
                <a:latin typeface="微软雅黑" panose="020B0503020204020204" pitchFamily="34" charset="-122"/>
                <a:ea typeface="微软雅黑" panose="020B0503020204020204" pitchFamily="34" charset="-122"/>
              </a:rPr>
              <a:t>-s     </a:t>
            </a:r>
            <a:r>
              <a:rPr lang="zh-CN" altLang="en-US" dirty="0">
                <a:latin typeface="微软雅黑" panose="020B0503020204020204" pitchFamily="34" charset="-122"/>
                <a:ea typeface="微软雅黑" panose="020B0503020204020204" pitchFamily="34" charset="-122"/>
              </a:rPr>
              <a:t>输出</a:t>
            </a:r>
            <a:r>
              <a:rPr lang="en-US" altLang="zh-CN" dirty="0">
                <a:latin typeface="微软雅黑" panose="020B0503020204020204" pitchFamily="34" charset="-122"/>
                <a:ea typeface="微软雅黑" panose="020B0503020204020204" pitchFamily="34" charset="-122"/>
              </a:rPr>
              <a:t>section header</a:t>
            </a:r>
            <a:r>
              <a:rPr lang="zh-CN" altLang="en-US" dirty="0">
                <a:latin typeface="微软雅黑" panose="020B0503020204020204" pitchFamily="34" charset="-122"/>
                <a:ea typeface="微软雅黑" panose="020B0503020204020204" pitchFamily="34" charset="-122"/>
              </a:rPr>
              <a:t>部分</a:t>
            </a:r>
            <a:endParaRPr lang="en-US" altLang="zh-CN" dirty="0">
              <a:latin typeface="微软雅黑" panose="020B0503020204020204" pitchFamily="34" charset="-122"/>
              <a:ea typeface="微软雅黑" panose="020B0503020204020204" pitchFamily="34" charset="-122"/>
            </a:endParaRPr>
          </a:p>
          <a:p>
            <a:pPr lvl="2"/>
            <a:r>
              <a:rPr lang="en-US" altLang="zh-CN" dirty="0">
                <a:latin typeface="微软雅黑" panose="020B0503020204020204" pitchFamily="34" charset="-122"/>
                <a:ea typeface="微软雅黑" panose="020B0503020204020204" pitchFamily="34" charset="-122"/>
              </a:rPr>
              <a:t>-g     </a:t>
            </a:r>
            <a:r>
              <a:rPr lang="zh-CN" altLang="en-US" dirty="0">
                <a:latin typeface="微软雅黑" panose="020B0503020204020204" pitchFamily="34" charset="-122"/>
                <a:ea typeface="微软雅黑" panose="020B0503020204020204" pitchFamily="34" charset="-122"/>
              </a:rPr>
              <a:t>输出</a:t>
            </a:r>
            <a:r>
              <a:rPr lang="en-US" altLang="zh-CN" dirty="0">
                <a:latin typeface="微软雅黑" panose="020B0503020204020204" pitchFamily="34" charset="-122"/>
                <a:ea typeface="微软雅黑" panose="020B0503020204020204" pitchFamily="34" charset="-122"/>
              </a:rPr>
              <a:t>section group</a:t>
            </a:r>
            <a:r>
              <a:rPr lang="zh-CN" altLang="en-US" dirty="0">
                <a:latin typeface="微软雅黑" panose="020B0503020204020204" pitchFamily="34" charset="-122"/>
                <a:ea typeface="微软雅黑" panose="020B0503020204020204" pitchFamily="34" charset="-122"/>
              </a:rPr>
              <a:t>部分</a:t>
            </a:r>
            <a:endParaRPr lang="en-US" altLang="zh-CN" dirty="0">
              <a:latin typeface="微软雅黑" panose="020B0503020204020204" pitchFamily="34" charset="-122"/>
              <a:ea typeface="微软雅黑" panose="020B0503020204020204" pitchFamily="34" charset="-122"/>
            </a:endParaRPr>
          </a:p>
          <a:p>
            <a:pPr lvl="2"/>
            <a:r>
              <a:rPr lang="en-US" altLang="zh-CN" dirty="0">
                <a:latin typeface="微软雅黑" panose="020B0503020204020204" pitchFamily="34" charset="-122"/>
                <a:ea typeface="微软雅黑" panose="020B0503020204020204" pitchFamily="34" charset="-122"/>
              </a:rPr>
              <a:t>-e      </a:t>
            </a:r>
            <a:r>
              <a:rPr lang="zh-CN" altLang="en-US" dirty="0">
                <a:latin typeface="微软雅黑" panose="020B0503020204020204" pitchFamily="34" charset="-122"/>
                <a:ea typeface="微软雅黑" panose="020B0503020204020204" pitchFamily="34" charset="-122"/>
              </a:rPr>
              <a:t>输出所有头部信息等同于</a:t>
            </a:r>
            <a:r>
              <a:rPr lang="en-US" altLang="zh-CN" dirty="0">
                <a:latin typeface="微软雅黑" panose="020B0503020204020204" pitchFamily="34" charset="-122"/>
                <a:ea typeface="微软雅黑" panose="020B0503020204020204" pitchFamily="34" charset="-122"/>
              </a:rPr>
              <a:t>-h –l -s</a:t>
            </a:r>
          </a:p>
          <a:p>
            <a:pPr lvl="1"/>
            <a:endParaRPr lang="zh-CN" altLang="en-US"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p>
            <a:fld id="{B1C307C6-FA7C-4D4E-9E80-039A033D7CBB}" type="slidenum">
              <a:rPr lang="zh-CN" altLang="en-US" smtClean="0"/>
              <a:t>19</a:t>
            </a:fld>
            <a:endParaRPr lang="zh-CN" altLang="en-US"/>
          </a:p>
        </p:txBody>
      </p:sp>
    </p:spTree>
    <p:extLst>
      <p:ext uri="{BB962C8B-B14F-4D97-AF65-F5344CB8AC3E}">
        <p14:creationId xmlns:p14="http://schemas.microsoft.com/office/powerpoint/2010/main" val="5051090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4F14317-B1E7-4125-95D6-1B2E44366671}"/>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常用</a:t>
            </a:r>
            <a:r>
              <a:rPr lang="en-US" altLang="zh-CN" dirty="0">
                <a:latin typeface="微软雅黑" panose="020B0503020204020204" pitchFamily="34" charset="-122"/>
                <a:ea typeface="微软雅黑" panose="020B0503020204020204" pitchFamily="34" charset="-122"/>
              </a:rPr>
              <a:t>GNU</a:t>
            </a:r>
            <a:r>
              <a:rPr lang="zh-CN" altLang="en-US" dirty="0">
                <a:latin typeface="微软雅黑" panose="020B0503020204020204" pitchFamily="34" charset="-122"/>
                <a:ea typeface="微软雅黑" panose="020B0503020204020204" pitchFamily="34" charset="-122"/>
              </a:rPr>
              <a:t>工具介绍</a:t>
            </a:r>
          </a:p>
        </p:txBody>
      </p:sp>
      <p:sp>
        <p:nvSpPr>
          <p:cNvPr id="3" name="内容占位符 2">
            <a:extLst>
              <a:ext uri="{FF2B5EF4-FFF2-40B4-BE49-F238E27FC236}">
                <a16:creationId xmlns:a16="http://schemas.microsoft.com/office/drawing/2014/main" id="{A58AE510-90DB-4948-AFCA-C4D983CB7A32}"/>
              </a:ext>
            </a:extLst>
          </p:cNvPr>
          <p:cNvSpPr>
            <a:spLocks noGrp="1"/>
          </p:cNvSpPr>
          <p:nvPr>
            <p:ph idx="1"/>
          </p:nvPr>
        </p:nvSpPr>
        <p:spPr/>
        <p:txBody>
          <a:bodyPr/>
          <a:lstStyle/>
          <a:p>
            <a:r>
              <a:rPr lang="en-US" altLang="zh-CN" dirty="0" err="1">
                <a:latin typeface="微软雅黑" panose="020B0503020204020204" pitchFamily="34" charset="-122"/>
                <a:ea typeface="微软雅黑" panose="020B0503020204020204" pitchFamily="34" charset="-122"/>
              </a:rPr>
              <a:t>objdump</a:t>
            </a:r>
            <a:endParaRPr lang="en-US" altLang="zh-CN" dirty="0">
              <a:latin typeface="微软雅黑" panose="020B0503020204020204" pitchFamily="34" charset="-122"/>
              <a:ea typeface="微软雅黑" panose="020B0503020204020204" pitchFamily="34" charset="-122"/>
            </a:endParaRPr>
          </a:p>
          <a:p>
            <a:pPr lvl="1"/>
            <a:r>
              <a:rPr lang="en-US" altLang="zh-CN" dirty="0" err="1">
                <a:latin typeface="微软雅黑" panose="020B0503020204020204" pitchFamily="34" charset="-122"/>
                <a:ea typeface="微软雅黑" panose="020B0503020204020204" pitchFamily="34" charset="-122"/>
              </a:rPr>
              <a:t>objdump</a:t>
            </a:r>
            <a:r>
              <a:rPr lang="zh-CN" altLang="zh-CN" dirty="0">
                <a:latin typeface="微软雅黑" panose="020B0503020204020204" pitchFamily="34" charset="-122"/>
                <a:ea typeface="微软雅黑" panose="020B0503020204020204" pitchFamily="34" charset="-122"/>
              </a:rPr>
              <a:t>用于显示目标文件（</a:t>
            </a:r>
            <a:r>
              <a:rPr lang="en-US" altLang="zh-CN" dirty="0">
                <a:latin typeface="微软雅黑" panose="020B0503020204020204" pitchFamily="34" charset="-122"/>
                <a:ea typeface="微软雅黑" panose="020B0503020204020204" pitchFamily="34" charset="-122"/>
              </a:rPr>
              <a:t>.o</a:t>
            </a:r>
            <a:r>
              <a:rPr lang="zh-CN" altLang="zh-CN" dirty="0">
                <a:latin typeface="微软雅黑" panose="020B0503020204020204" pitchFamily="34" charset="-122"/>
                <a:ea typeface="微软雅黑" panose="020B0503020204020204" pitchFamily="34" charset="-122"/>
              </a:rPr>
              <a:t>）的相关信息</a:t>
            </a:r>
            <a:r>
              <a:rPr lang="en-US" altLang="zh-CN" dirty="0">
                <a:latin typeface="微软雅黑" panose="020B0503020204020204" pitchFamily="34" charset="-122"/>
                <a:ea typeface="微软雅黑" panose="020B0503020204020204" pitchFamily="34" charset="-122"/>
              </a:rPr>
              <a:t>.</a:t>
            </a:r>
            <a:r>
              <a:rPr lang="zh-CN" altLang="zh-CN" dirty="0">
                <a:latin typeface="微软雅黑" panose="020B0503020204020204" pitchFamily="34" charset="-122"/>
                <a:ea typeface="微软雅黑" panose="020B0503020204020204" pitchFamily="34" charset="-122"/>
              </a:rPr>
              <a:t>主要用于反汇编</a:t>
            </a:r>
            <a:endParaRPr lang="en-US" altLang="zh-CN" dirty="0">
              <a:latin typeface="微软雅黑" panose="020B0503020204020204" pitchFamily="34" charset="-122"/>
              <a:ea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rPr>
              <a:t>基本用法</a:t>
            </a:r>
            <a:endParaRPr lang="en-US" altLang="zh-CN" dirty="0">
              <a:latin typeface="微软雅黑" panose="020B0503020204020204" pitchFamily="34" charset="-122"/>
              <a:ea typeface="微软雅黑" panose="020B0503020204020204" pitchFamily="34" charset="-122"/>
            </a:endParaRPr>
          </a:p>
          <a:p>
            <a:pPr lvl="2"/>
            <a:r>
              <a:rPr lang="en-US" altLang="zh-CN" dirty="0" err="1">
                <a:latin typeface="微软雅黑" panose="020B0503020204020204" pitchFamily="34" charset="-122"/>
                <a:ea typeface="微软雅黑" panose="020B0503020204020204" pitchFamily="34" charset="-122"/>
              </a:rPr>
              <a:t>objdump</a:t>
            </a:r>
            <a:r>
              <a:rPr lang="en-US" altLang="zh-CN" dirty="0">
                <a:latin typeface="微软雅黑" panose="020B0503020204020204" pitchFamily="34" charset="-122"/>
                <a:ea typeface="微软雅黑" panose="020B0503020204020204" pitchFamily="34" charset="-122"/>
              </a:rPr>
              <a:t> [options] </a:t>
            </a:r>
            <a:r>
              <a:rPr lang="en-US" altLang="zh-CN" dirty="0" err="1">
                <a:latin typeface="微软雅黑" panose="020B0503020204020204" pitchFamily="34" charset="-122"/>
                <a:ea typeface="微软雅黑" panose="020B0503020204020204" pitchFamily="34" charset="-122"/>
              </a:rPr>
              <a:t>objfile</a:t>
            </a:r>
            <a:endParaRPr lang="en-US" altLang="zh-CN" dirty="0">
              <a:latin typeface="微软雅黑" panose="020B0503020204020204" pitchFamily="34" charset="-122"/>
              <a:ea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rPr>
              <a:t>常用</a:t>
            </a:r>
            <a:r>
              <a:rPr lang="en-US" altLang="zh-CN" dirty="0">
                <a:latin typeface="微软雅黑" panose="020B0503020204020204" pitchFamily="34" charset="-122"/>
                <a:ea typeface="微软雅黑" panose="020B0503020204020204" pitchFamily="34" charset="-122"/>
              </a:rPr>
              <a:t>options</a:t>
            </a:r>
          </a:p>
          <a:p>
            <a:pPr lvl="2"/>
            <a:r>
              <a:rPr lang="en-US" altLang="zh-CN" dirty="0">
                <a:latin typeface="微软雅黑" panose="020B0503020204020204" pitchFamily="34" charset="-122"/>
                <a:ea typeface="微软雅黑" panose="020B0503020204020204" pitchFamily="34" charset="-122"/>
              </a:rPr>
              <a:t>-d    </a:t>
            </a:r>
            <a:r>
              <a:rPr lang="zh-CN" altLang="en-US" dirty="0">
                <a:latin typeface="微软雅黑" panose="020B0503020204020204" pitchFamily="34" charset="-122"/>
                <a:ea typeface="微软雅黑" panose="020B0503020204020204" pitchFamily="34" charset="-122"/>
              </a:rPr>
              <a:t>根据目标文件反汇编得到汇编代码</a:t>
            </a:r>
            <a:endParaRPr lang="en-US" altLang="zh-CN" dirty="0">
              <a:latin typeface="微软雅黑" panose="020B0503020204020204" pitchFamily="34" charset="-122"/>
              <a:ea typeface="微软雅黑" panose="020B0503020204020204" pitchFamily="34" charset="-122"/>
            </a:endParaRPr>
          </a:p>
          <a:p>
            <a:r>
              <a:rPr lang="en-US" altLang="zh-CN" dirty="0" err="1">
                <a:latin typeface="微软雅黑" panose="020B0503020204020204" pitchFamily="34" charset="-122"/>
                <a:ea typeface="微软雅黑" panose="020B0503020204020204" pitchFamily="34" charset="-122"/>
              </a:rPr>
              <a:t>gdb</a:t>
            </a:r>
            <a:endParaRPr lang="en-US" altLang="zh-CN" dirty="0">
              <a:latin typeface="微软雅黑" panose="020B0503020204020204" pitchFamily="34" charset="-122"/>
              <a:ea typeface="微软雅黑" panose="020B0503020204020204" pitchFamily="34" charset="-122"/>
            </a:endParaRPr>
          </a:p>
          <a:p>
            <a:pPr lvl="1"/>
            <a:r>
              <a:rPr lang="en-US" altLang="zh-CN" dirty="0" err="1">
                <a:latin typeface="微软雅黑" panose="020B0503020204020204" pitchFamily="34" charset="-122"/>
                <a:ea typeface="微软雅黑" panose="020B0503020204020204" pitchFamily="34" charset="-122"/>
              </a:rPr>
              <a:t>gdb</a:t>
            </a:r>
            <a:r>
              <a:rPr lang="zh-CN" altLang="zh-CN" dirty="0">
                <a:latin typeface="微软雅黑" panose="020B0503020204020204" pitchFamily="34" charset="-122"/>
                <a:ea typeface="微软雅黑" panose="020B0503020204020204" pitchFamily="34" charset="-122"/>
              </a:rPr>
              <a:t>是</a:t>
            </a:r>
            <a:r>
              <a:rPr lang="en-US" altLang="zh-CN" dirty="0">
                <a:latin typeface="微软雅黑" panose="020B0503020204020204" pitchFamily="34" charset="-122"/>
                <a:ea typeface="微软雅黑" panose="020B0503020204020204" pitchFamily="34" charset="-122"/>
              </a:rPr>
              <a:t>gnu</a:t>
            </a:r>
            <a:r>
              <a:rPr lang="zh-CN" altLang="zh-CN" dirty="0">
                <a:latin typeface="微软雅黑" panose="020B0503020204020204" pitchFamily="34" charset="-122"/>
                <a:ea typeface="微软雅黑" panose="020B0503020204020204" pitchFamily="34" charset="-122"/>
              </a:rPr>
              <a:t>的调试工具</a:t>
            </a:r>
            <a:endParaRPr lang="en-US" altLang="zh-CN" dirty="0">
              <a:latin typeface="微软雅黑" panose="020B0503020204020204" pitchFamily="34" charset="-122"/>
              <a:ea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rPr>
              <a:t>基本用法</a:t>
            </a:r>
            <a:endParaRPr lang="en-US" altLang="zh-CN" dirty="0">
              <a:latin typeface="微软雅黑" panose="020B0503020204020204" pitchFamily="34" charset="-122"/>
              <a:ea typeface="微软雅黑" panose="020B0503020204020204" pitchFamily="34" charset="-122"/>
            </a:endParaRPr>
          </a:p>
          <a:p>
            <a:pPr lvl="2"/>
            <a:r>
              <a:rPr lang="en-US" altLang="zh-CN" dirty="0" err="1">
                <a:latin typeface="微软雅黑" panose="020B0503020204020204" pitchFamily="34" charset="-122"/>
                <a:ea typeface="微软雅黑" panose="020B0503020204020204" pitchFamily="34" charset="-122"/>
              </a:rPr>
              <a:t>gdb</a:t>
            </a:r>
            <a:r>
              <a:rPr lang="en-US" altLang="zh-CN" dirty="0">
                <a:latin typeface="微软雅黑" panose="020B0503020204020204" pitchFamily="34" charset="-122"/>
                <a:ea typeface="微软雅黑" panose="020B0503020204020204" pitchFamily="34" charset="-122"/>
              </a:rPr>
              <a:t> [options] </a:t>
            </a:r>
            <a:r>
              <a:rPr lang="en-US" altLang="zh-CN" dirty="0" err="1">
                <a:latin typeface="微软雅黑" panose="020B0503020204020204" pitchFamily="34" charset="-122"/>
                <a:ea typeface="微软雅黑" panose="020B0503020204020204" pitchFamily="34" charset="-122"/>
              </a:rPr>
              <a:t>programfile</a:t>
            </a:r>
            <a:endParaRPr lang="en-US" altLang="zh-CN" dirty="0">
              <a:latin typeface="微软雅黑" panose="020B0503020204020204" pitchFamily="34" charset="-122"/>
              <a:ea typeface="微软雅黑" panose="020B0503020204020204" pitchFamily="34" charset="-122"/>
            </a:endParaRPr>
          </a:p>
          <a:p>
            <a:pPr lvl="1"/>
            <a:endParaRPr lang="en-US" altLang="zh-CN"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p>
            <a:fld id="{B1C307C6-FA7C-4D4E-9E80-039A033D7CBB}" type="slidenum">
              <a:rPr lang="zh-CN" altLang="en-US" smtClean="0"/>
              <a:t>20</a:t>
            </a:fld>
            <a:endParaRPr lang="zh-CN" altLang="en-US"/>
          </a:p>
        </p:txBody>
      </p:sp>
    </p:spTree>
    <p:extLst>
      <p:ext uri="{BB962C8B-B14F-4D97-AF65-F5344CB8AC3E}">
        <p14:creationId xmlns:p14="http://schemas.microsoft.com/office/powerpoint/2010/main" val="13603393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34F29B-0C08-4129-B75E-B8D547BF2A42}"/>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常用</a:t>
            </a:r>
            <a:r>
              <a:rPr lang="en-US" altLang="zh-CN" dirty="0">
                <a:latin typeface="微软雅黑" panose="020B0503020204020204" pitchFamily="34" charset="-122"/>
                <a:ea typeface="微软雅黑" panose="020B0503020204020204" pitchFamily="34" charset="-122"/>
              </a:rPr>
              <a:t>GNU</a:t>
            </a:r>
            <a:r>
              <a:rPr lang="zh-CN" altLang="en-US" dirty="0">
                <a:latin typeface="微软雅黑" panose="020B0503020204020204" pitchFamily="34" charset="-122"/>
                <a:ea typeface="微软雅黑" panose="020B0503020204020204" pitchFamily="34" charset="-122"/>
              </a:rPr>
              <a:t>工具介绍</a:t>
            </a:r>
          </a:p>
        </p:txBody>
      </p:sp>
      <p:sp>
        <p:nvSpPr>
          <p:cNvPr id="3" name="内容占位符 2">
            <a:extLst>
              <a:ext uri="{FF2B5EF4-FFF2-40B4-BE49-F238E27FC236}">
                <a16:creationId xmlns:a16="http://schemas.microsoft.com/office/drawing/2014/main" id="{A5021B4E-D2B5-4B2F-B439-702EA0A81D4E}"/>
              </a:ext>
            </a:extLst>
          </p:cNvPr>
          <p:cNvSpPr>
            <a:spLocks noGrp="1"/>
          </p:cNvSpPr>
          <p:nvPr>
            <p:ph idx="1"/>
          </p:nvPr>
        </p:nvSpPr>
        <p:spPr>
          <a:xfrm>
            <a:off x="838200" y="1825625"/>
            <a:ext cx="10515600" cy="4436630"/>
          </a:xfrm>
        </p:spPr>
        <p:txBody>
          <a:bodyPr>
            <a:normAutofit/>
          </a:bodyPr>
          <a:lstStyle/>
          <a:p>
            <a:r>
              <a:rPr lang="en-US" altLang="zh-CN" dirty="0" err="1">
                <a:latin typeface="微软雅黑" panose="020B0503020204020204" pitchFamily="34" charset="-122"/>
                <a:ea typeface="微软雅黑" panose="020B0503020204020204" pitchFamily="34" charset="-122"/>
              </a:rPr>
              <a:t>gdb</a:t>
            </a:r>
            <a:endParaRPr lang="en-US" altLang="zh-CN" dirty="0">
              <a:latin typeface="微软雅黑" panose="020B0503020204020204" pitchFamily="34" charset="-122"/>
              <a:ea typeface="微软雅黑" panose="020B0503020204020204" pitchFamily="34" charset="-122"/>
            </a:endParaRPr>
          </a:p>
          <a:p>
            <a:pPr lvl="1"/>
            <a:r>
              <a:rPr lang="en-US" altLang="zh-CN" dirty="0" err="1">
                <a:latin typeface="微软雅黑" panose="020B0503020204020204" pitchFamily="34" charset="-122"/>
                <a:ea typeface="微软雅黑" panose="020B0503020204020204" pitchFamily="34" charset="-122"/>
              </a:rPr>
              <a:t>gdb</a:t>
            </a:r>
            <a:r>
              <a:rPr lang="zh-CN" altLang="en-US" dirty="0">
                <a:latin typeface="微软雅黑" panose="020B0503020204020204" pitchFamily="34" charset="-122"/>
                <a:ea typeface="微软雅黑" panose="020B0503020204020204" pitchFamily="34" charset="-122"/>
              </a:rPr>
              <a:t>模式下的常用命令</a:t>
            </a:r>
            <a:endParaRPr lang="en-US" altLang="zh-CN" dirty="0">
              <a:latin typeface="微软雅黑" panose="020B0503020204020204" pitchFamily="34" charset="-122"/>
              <a:ea typeface="微软雅黑" panose="020B0503020204020204" pitchFamily="34" charset="-122"/>
            </a:endParaRPr>
          </a:p>
          <a:p>
            <a:pPr lvl="2"/>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gdb</a:t>
            </a:r>
            <a:r>
              <a:rPr lang="en-US" altLang="zh-CN" dirty="0">
                <a:latin typeface="微软雅黑" panose="020B0503020204020204" pitchFamily="34" charset="-122"/>
                <a:ea typeface="微软雅黑" panose="020B0503020204020204" pitchFamily="34" charset="-122"/>
              </a:rPr>
              <a:t>) l </a:t>
            </a:r>
            <a:r>
              <a:rPr lang="zh-CN" altLang="en-US" dirty="0">
                <a:latin typeface="微软雅黑" panose="020B0503020204020204" pitchFamily="34" charset="-122"/>
                <a:ea typeface="微软雅黑" panose="020B0503020204020204" pitchFamily="34" charset="-122"/>
              </a:rPr>
              <a:t>：（字母</a:t>
            </a:r>
            <a:r>
              <a:rPr lang="en-US" altLang="zh-CN" dirty="0">
                <a:latin typeface="微软雅黑" panose="020B0503020204020204" pitchFamily="34" charset="-122"/>
                <a:ea typeface="微软雅黑" panose="020B0503020204020204" pitchFamily="34" charset="-122"/>
              </a:rPr>
              <a:t>l</a:t>
            </a:r>
            <a:r>
              <a:rPr lang="zh-CN" altLang="en-US" dirty="0">
                <a:latin typeface="微软雅黑" panose="020B0503020204020204" pitchFamily="34" charset="-122"/>
                <a:ea typeface="微软雅黑" panose="020B0503020204020204" pitchFamily="34" charset="-122"/>
              </a:rPr>
              <a:t>）从第一行开始列出源码</a:t>
            </a:r>
            <a:endParaRPr lang="en-US" altLang="zh-CN" dirty="0">
              <a:latin typeface="微软雅黑" panose="020B0503020204020204" pitchFamily="34" charset="-122"/>
              <a:ea typeface="微软雅黑" panose="020B0503020204020204" pitchFamily="34" charset="-122"/>
            </a:endParaRPr>
          </a:p>
          <a:p>
            <a:pPr lvl="2"/>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gdb</a:t>
            </a:r>
            <a:r>
              <a:rPr lang="en-US" altLang="zh-CN" dirty="0">
                <a:latin typeface="微软雅黑" panose="020B0503020204020204" pitchFamily="34" charset="-122"/>
                <a:ea typeface="微软雅黑" panose="020B0503020204020204" pitchFamily="34" charset="-122"/>
              </a:rPr>
              <a:t>) break n :</a:t>
            </a:r>
            <a:r>
              <a:rPr lang="zh-CN" altLang="en-US" dirty="0">
                <a:latin typeface="微软雅黑" panose="020B0503020204020204" pitchFamily="34" charset="-122"/>
                <a:ea typeface="微软雅黑" panose="020B0503020204020204" pitchFamily="34" charset="-122"/>
              </a:rPr>
              <a:t>在第</a:t>
            </a:r>
            <a:r>
              <a:rPr lang="en-US" altLang="zh-CN" dirty="0">
                <a:latin typeface="微软雅黑" panose="020B0503020204020204" pitchFamily="34" charset="-122"/>
                <a:ea typeface="微软雅黑" panose="020B0503020204020204" pitchFamily="34" charset="-122"/>
              </a:rPr>
              <a:t>n</a:t>
            </a:r>
            <a:r>
              <a:rPr lang="zh-CN" altLang="en-US" dirty="0">
                <a:latin typeface="微软雅黑" panose="020B0503020204020204" pitchFamily="34" charset="-122"/>
                <a:ea typeface="微软雅黑" panose="020B0503020204020204" pitchFamily="34" charset="-122"/>
              </a:rPr>
              <a:t>行处设置断点</a:t>
            </a:r>
            <a:endParaRPr lang="en-US" altLang="zh-CN" dirty="0">
              <a:latin typeface="微软雅黑" panose="020B0503020204020204" pitchFamily="34" charset="-122"/>
              <a:ea typeface="微软雅黑" panose="020B0503020204020204" pitchFamily="34" charset="-122"/>
            </a:endParaRPr>
          </a:p>
          <a:p>
            <a:pPr lvl="2"/>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gdb</a:t>
            </a:r>
            <a:r>
              <a:rPr lang="en-US" altLang="zh-CN" dirty="0">
                <a:latin typeface="微软雅黑" panose="020B0503020204020204" pitchFamily="34" charset="-122"/>
                <a:ea typeface="微软雅黑" panose="020B0503020204020204" pitchFamily="34" charset="-122"/>
              </a:rPr>
              <a:t>) break </a:t>
            </a:r>
            <a:r>
              <a:rPr lang="en-US" altLang="zh-CN" dirty="0" err="1">
                <a:latin typeface="微软雅黑" panose="020B0503020204020204" pitchFamily="34" charset="-122"/>
                <a:ea typeface="微软雅黑" panose="020B0503020204020204" pitchFamily="34" charset="-122"/>
              </a:rPr>
              <a:t>func</a:t>
            </a:r>
            <a:r>
              <a:rPr lang="zh-CN" altLang="en-US" dirty="0">
                <a:latin typeface="微软雅黑" panose="020B0503020204020204" pitchFamily="34" charset="-122"/>
                <a:ea typeface="微软雅黑" panose="020B0503020204020204" pitchFamily="34" charset="-122"/>
              </a:rPr>
              <a:t>：在函数</a:t>
            </a:r>
            <a:r>
              <a:rPr lang="en-US" altLang="zh-CN" dirty="0" err="1">
                <a:latin typeface="微软雅黑" panose="020B0503020204020204" pitchFamily="34" charset="-122"/>
                <a:ea typeface="微软雅黑" panose="020B0503020204020204" pitchFamily="34" charset="-122"/>
              </a:rPr>
              <a:t>func</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的入口处设置断点</a:t>
            </a:r>
            <a:endParaRPr lang="en-US" altLang="zh-CN" dirty="0">
              <a:latin typeface="微软雅黑" panose="020B0503020204020204" pitchFamily="34" charset="-122"/>
              <a:ea typeface="微软雅黑" panose="020B0503020204020204" pitchFamily="34" charset="-122"/>
            </a:endParaRPr>
          </a:p>
          <a:p>
            <a:pPr lvl="2"/>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gdb</a:t>
            </a:r>
            <a:r>
              <a:rPr lang="en-US" altLang="zh-CN" dirty="0">
                <a:latin typeface="微软雅黑" panose="020B0503020204020204" pitchFamily="34" charset="-122"/>
                <a:ea typeface="微软雅黑" panose="020B0503020204020204" pitchFamily="34" charset="-122"/>
              </a:rPr>
              <a:t>) info break</a:t>
            </a:r>
            <a:r>
              <a:rPr lang="zh-CN" altLang="en-US" dirty="0">
                <a:latin typeface="微软雅黑" panose="020B0503020204020204" pitchFamily="34" charset="-122"/>
                <a:ea typeface="微软雅黑" panose="020B0503020204020204" pitchFamily="34" charset="-122"/>
              </a:rPr>
              <a:t>： 查看断点信息</a:t>
            </a:r>
            <a:endParaRPr lang="en-US" altLang="zh-CN" dirty="0">
              <a:latin typeface="微软雅黑" panose="020B0503020204020204" pitchFamily="34" charset="-122"/>
              <a:ea typeface="微软雅黑" panose="020B0503020204020204" pitchFamily="34" charset="-122"/>
            </a:endParaRPr>
          </a:p>
          <a:p>
            <a:pPr lvl="2"/>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gdb</a:t>
            </a:r>
            <a:r>
              <a:rPr lang="en-US" altLang="zh-CN" dirty="0">
                <a:latin typeface="微软雅黑" panose="020B0503020204020204" pitchFamily="34" charset="-122"/>
                <a:ea typeface="微软雅黑" panose="020B0503020204020204" pitchFamily="34" charset="-122"/>
              </a:rPr>
              <a:t>) r</a:t>
            </a:r>
            <a:r>
              <a:rPr lang="zh-CN" altLang="en-US" dirty="0">
                <a:latin typeface="微软雅黑" panose="020B0503020204020204" pitchFamily="34" charset="-122"/>
                <a:ea typeface="微软雅黑" panose="020B0503020204020204" pitchFamily="34" charset="-122"/>
              </a:rPr>
              <a:t>：运行程序</a:t>
            </a:r>
            <a:endParaRPr lang="en-US" altLang="zh-CN" dirty="0">
              <a:latin typeface="微软雅黑" panose="020B0503020204020204" pitchFamily="34" charset="-122"/>
              <a:ea typeface="微软雅黑" panose="020B0503020204020204" pitchFamily="34" charset="-122"/>
            </a:endParaRPr>
          </a:p>
          <a:p>
            <a:pPr lvl="2"/>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gdb</a:t>
            </a:r>
            <a:r>
              <a:rPr lang="en-US" altLang="zh-CN" dirty="0">
                <a:latin typeface="微软雅黑" panose="020B0503020204020204" pitchFamily="34" charset="-122"/>
                <a:ea typeface="微软雅黑" panose="020B0503020204020204" pitchFamily="34" charset="-122"/>
              </a:rPr>
              <a:t>) n</a:t>
            </a:r>
            <a:r>
              <a:rPr lang="zh-CN" altLang="en-US" dirty="0">
                <a:latin typeface="微软雅黑" panose="020B0503020204020204" pitchFamily="34" charset="-122"/>
                <a:ea typeface="微软雅黑" panose="020B0503020204020204" pitchFamily="34" charset="-122"/>
              </a:rPr>
              <a:t>：单步执行</a:t>
            </a:r>
            <a:endParaRPr lang="en-US" altLang="zh-CN" dirty="0">
              <a:latin typeface="微软雅黑" panose="020B0503020204020204" pitchFamily="34" charset="-122"/>
              <a:ea typeface="微软雅黑" panose="020B0503020204020204" pitchFamily="34" charset="-122"/>
            </a:endParaRPr>
          </a:p>
          <a:p>
            <a:pPr lvl="2"/>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gdb</a:t>
            </a:r>
            <a:r>
              <a:rPr lang="en-US" altLang="zh-CN" dirty="0">
                <a:latin typeface="微软雅黑" panose="020B0503020204020204" pitchFamily="34" charset="-122"/>
                <a:ea typeface="微软雅黑" panose="020B0503020204020204" pitchFamily="34" charset="-122"/>
              </a:rPr>
              <a:t>) c</a:t>
            </a:r>
            <a:r>
              <a:rPr lang="zh-CN" altLang="en-US" dirty="0">
                <a:latin typeface="微软雅黑" panose="020B0503020204020204" pitchFamily="34" charset="-122"/>
                <a:ea typeface="微软雅黑" panose="020B0503020204020204" pitchFamily="34" charset="-122"/>
              </a:rPr>
              <a:t>：继续运行</a:t>
            </a:r>
            <a:endParaRPr lang="en-US" altLang="zh-CN" dirty="0">
              <a:latin typeface="微软雅黑" panose="020B0503020204020204" pitchFamily="34" charset="-122"/>
              <a:ea typeface="微软雅黑" panose="020B0503020204020204" pitchFamily="34" charset="-122"/>
            </a:endParaRPr>
          </a:p>
          <a:p>
            <a:pPr lvl="2"/>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gdb</a:t>
            </a:r>
            <a:r>
              <a:rPr lang="en-US" altLang="zh-CN" dirty="0">
                <a:latin typeface="微软雅黑" panose="020B0503020204020204" pitchFamily="34" charset="-122"/>
                <a:ea typeface="微软雅黑" panose="020B0503020204020204" pitchFamily="34" charset="-122"/>
              </a:rPr>
              <a:t>) p </a:t>
            </a:r>
            <a:r>
              <a:rPr lang="zh-CN" altLang="en-US" dirty="0">
                <a:latin typeface="微软雅黑" panose="020B0503020204020204" pitchFamily="34" charset="-122"/>
                <a:ea typeface="微软雅黑" panose="020B0503020204020204" pitchFamily="34" charset="-122"/>
              </a:rPr>
              <a:t>变量 ：打印变量的值</a:t>
            </a:r>
          </a:p>
          <a:p>
            <a:pPr lvl="2"/>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gdb</a:t>
            </a: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bt</a:t>
            </a:r>
            <a:r>
              <a:rPr lang="zh-CN" altLang="en-US" dirty="0">
                <a:latin typeface="微软雅黑" panose="020B0503020204020204" pitchFamily="34" charset="-122"/>
                <a:ea typeface="微软雅黑" panose="020B0503020204020204" pitchFamily="34" charset="-122"/>
              </a:rPr>
              <a:t>：查看函数堆栈</a:t>
            </a:r>
          </a:p>
          <a:p>
            <a:pPr lvl="2"/>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gdb</a:t>
            </a:r>
            <a:r>
              <a:rPr lang="en-US" altLang="zh-CN" dirty="0">
                <a:latin typeface="微软雅黑" panose="020B0503020204020204" pitchFamily="34" charset="-122"/>
                <a:ea typeface="微软雅黑" panose="020B0503020204020204" pitchFamily="34" charset="-122"/>
              </a:rPr>
              <a:t>) finish</a:t>
            </a:r>
            <a:r>
              <a:rPr lang="zh-CN" altLang="en-US" dirty="0">
                <a:latin typeface="微软雅黑" panose="020B0503020204020204" pitchFamily="34" charset="-122"/>
                <a:ea typeface="微软雅黑" panose="020B0503020204020204" pitchFamily="34" charset="-122"/>
              </a:rPr>
              <a:t>：退出函数</a:t>
            </a:r>
          </a:p>
        </p:txBody>
      </p:sp>
      <p:sp>
        <p:nvSpPr>
          <p:cNvPr id="4" name="灯片编号占位符 3"/>
          <p:cNvSpPr>
            <a:spLocks noGrp="1"/>
          </p:cNvSpPr>
          <p:nvPr>
            <p:ph type="sldNum" sz="quarter" idx="12"/>
          </p:nvPr>
        </p:nvSpPr>
        <p:spPr/>
        <p:txBody>
          <a:bodyPr/>
          <a:lstStyle/>
          <a:p>
            <a:fld id="{B1C307C6-FA7C-4D4E-9E80-039A033D7CBB}" type="slidenum">
              <a:rPr lang="zh-CN" altLang="en-US" smtClean="0"/>
              <a:t>21</a:t>
            </a:fld>
            <a:endParaRPr lang="zh-CN" altLang="en-US"/>
          </a:p>
        </p:txBody>
      </p:sp>
    </p:spTree>
    <p:extLst>
      <p:ext uri="{BB962C8B-B14F-4D97-AF65-F5344CB8AC3E}">
        <p14:creationId xmlns:p14="http://schemas.microsoft.com/office/powerpoint/2010/main" val="5517813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36706FB-44D2-4A19-9EF7-FA2048F3C9DB}"/>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常用</a:t>
            </a:r>
            <a:r>
              <a:rPr lang="en-US" altLang="zh-CN" dirty="0">
                <a:latin typeface="微软雅黑" panose="020B0503020204020204" pitchFamily="34" charset="-122"/>
                <a:ea typeface="微软雅黑" panose="020B0503020204020204" pitchFamily="34" charset="-122"/>
              </a:rPr>
              <a:t>GNU</a:t>
            </a:r>
            <a:r>
              <a:rPr lang="zh-CN" altLang="en-US" dirty="0">
                <a:latin typeface="微软雅黑" panose="020B0503020204020204" pitchFamily="34" charset="-122"/>
                <a:ea typeface="微软雅黑" panose="020B0503020204020204" pitchFamily="34" charset="-122"/>
              </a:rPr>
              <a:t>工具介绍</a:t>
            </a:r>
          </a:p>
        </p:txBody>
      </p:sp>
      <p:sp>
        <p:nvSpPr>
          <p:cNvPr id="3" name="内容占位符 2">
            <a:extLst>
              <a:ext uri="{FF2B5EF4-FFF2-40B4-BE49-F238E27FC236}">
                <a16:creationId xmlns:a16="http://schemas.microsoft.com/office/drawing/2014/main" id="{4FE5AB0A-4F54-45D1-B655-FC32EC9DBC7E}"/>
              </a:ext>
            </a:extLst>
          </p:cNvPr>
          <p:cNvSpPr>
            <a:spLocks noGrp="1"/>
          </p:cNvSpPr>
          <p:nvPr>
            <p:ph idx="1"/>
          </p:nvPr>
        </p:nvSpPr>
        <p:spPr>
          <a:xfrm>
            <a:off x="838200" y="1825625"/>
            <a:ext cx="10515600" cy="4667250"/>
          </a:xfrm>
        </p:spPr>
        <p:txBody>
          <a:bodyPr>
            <a:normAutofit/>
          </a:bodyPr>
          <a:lstStyle/>
          <a:p>
            <a:r>
              <a:rPr lang="en-US" altLang="zh-CN" dirty="0" err="1">
                <a:latin typeface="微软雅黑" panose="020B0503020204020204" pitchFamily="34" charset="-122"/>
                <a:ea typeface="微软雅黑" panose="020B0503020204020204" pitchFamily="34" charset="-122"/>
              </a:rPr>
              <a:t>gdb</a:t>
            </a:r>
            <a:endParaRPr lang="en-US" altLang="zh-CN" dirty="0">
              <a:latin typeface="微软雅黑" panose="020B0503020204020204" pitchFamily="34" charset="-122"/>
              <a:ea typeface="微软雅黑" panose="020B0503020204020204" pitchFamily="34" charset="-122"/>
            </a:endParaRPr>
          </a:p>
          <a:p>
            <a:pPr lvl="1"/>
            <a:r>
              <a:rPr lang="en-US" altLang="zh-CN" dirty="0" err="1">
                <a:latin typeface="微软雅黑" panose="020B0503020204020204" pitchFamily="34" charset="-122"/>
                <a:ea typeface="微软雅黑" panose="020B0503020204020204" pitchFamily="34" charset="-122"/>
              </a:rPr>
              <a:t>gdb</a:t>
            </a:r>
            <a:r>
              <a:rPr lang="zh-CN" altLang="en-US" dirty="0">
                <a:latin typeface="微软雅黑" panose="020B0503020204020204" pitchFamily="34" charset="-122"/>
                <a:ea typeface="微软雅黑" panose="020B0503020204020204" pitchFamily="34" charset="-122"/>
              </a:rPr>
              <a:t>模式下的常用命令</a:t>
            </a:r>
            <a:endParaRPr lang="en-US" altLang="zh-CN" dirty="0">
              <a:latin typeface="微软雅黑" panose="020B0503020204020204" pitchFamily="34" charset="-122"/>
              <a:ea typeface="微软雅黑" panose="020B0503020204020204" pitchFamily="34" charset="-122"/>
            </a:endParaRPr>
          </a:p>
          <a:p>
            <a:pPr lvl="2"/>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gdb</a:t>
            </a:r>
            <a:r>
              <a:rPr lang="en-US" altLang="zh-CN" dirty="0">
                <a:latin typeface="微软雅黑" panose="020B0503020204020204" pitchFamily="34" charset="-122"/>
                <a:ea typeface="微软雅黑" panose="020B0503020204020204" pitchFamily="34" charset="-122"/>
              </a:rPr>
              <a:t>) set </a:t>
            </a:r>
            <a:r>
              <a:rPr lang="en-US" altLang="zh-CN" dirty="0" err="1">
                <a:latin typeface="微软雅黑" panose="020B0503020204020204" pitchFamily="34" charset="-122"/>
                <a:ea typeface="微软雅黑" panose="020B0503020204020204" pitchFamily="34" charset="-122"/>
              </a:rPr>
              <a:t>args</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参数</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指定运行时的参数</a:t>
            </a:r>
          </a:p>
          <a:p>
            <a:pPr lvl="2"/>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gdb</a:t>
            </a:r>
            <a:r>
              <a:rPr lang="en-US" altLang="zh-CN" dirty="0">
                <a:latin typeface="微软雅黑" panose="020B0503020204020204" pitchFamily="34" charset="-122"/>
                <a:ea typeface="微软雅黑" panose="020B0503020204020204" pitchFamily="34" charset="-122"/>
              </a:rPr>
              <a:t>) show </a:t>
            </a:r>
            <a:r>
              <a:rPr lang="en-US" altLang="zh-CN" dirty="0" err="1">
                <a:latin typeface="微软雅黑" panose="020B0503020204020204" pitchFamily="34" charset="-122"/>
                <a:ea typeface="微软雅黑" panose="020B0503020204020204" pitchFamily="34" charset="-122"/>
              </a:rPr>
              <a:t>args</a:t>
            </a:r>
            <a:r>
              <a:rPr lang="zh-CN" altLang="en-US" dirty="0">
                <a:latin typeface="微软雅黑" panose="020B0503020204020204" pitchFamily="34" charset="-122"/>
                <a:ea typeface="微软雅黑" panose="020B0503020204020204" pitchFamily="34" charset="-122"/>
              </a:rPr>
              <a:t>：查看设置好的参数</a:t>
            </a:r>
          </a:p>
          <a:p>
            <a:pPr lvl="2"/>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gdb</a:t>
            </a:r>
            <a:r>
              <a:rPr lang="en-US" altLang="zh-CN" dirty="0">
                <a:latin typeface="微软雅黑" panose="020B0503020204020204" pitchFamily="34" charset="-122"/>
                <a:ea typeface="微软雅黑" panose="020B0503020204020204" pitchFamily="34" charset="-122"/>
              </a:rPr>
              <a:t>) show paths:</a:t>
            </a:r>
            <a:r>
              <a:rPr lang="zh-CN" altLang="en-US" dirty="0">
                <a:latin typeface="微软雅黑" panose="020B0503020204020204" pitchFamily="34" charset="-122"/>
                <a:ea typeface="微软雅黑" panose="020B0503020204020204" pitchFamily="34" charset="-122"/>
              </a:rPr>
              <a:t>查看程序运行路径</a:t>
            </a:r>
            <a:endParaRPr lang="en-US" altLang="zh-CN" dirty="0">
              <a:latin typeface="微软雅黑" panose="020B0503020204020204" pitchFamily="34" charset="-122"/>
              <a:ea typeface="微软雅黑" panose="020B0503020204020204" pitchFamily="34" charset="-122"/>
            </a:endParaRPr>
          </a:p>
          <a:p>
            <a:pPr lvl="2"/>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gdb</a:t>
            </a:r>
            <a:r>
              <a:rPr lang="en-US" altLang="zh-CN" dirty="0">
                <a:latin typeface="微软雅黑" panose="020B0503020204020204" pitchFamily="34" charset="-122"/>
                <a:ea typeface="微软雅黑" panose="020B0503020204020204" pitchFamily="34" charset="-122"/>
              </a:rPr>
              <a:t>)info program</a:t>
            </a:r>
            <a:r>
              <a:rPr lang="zh-CN" altLang="en-US" dirty="0">
                <a:latin typeface="微软雅黑" panose="020B0503020204020204" pitchFamily="34" charset="-122"/>
                <a:ea typeface="微软雅黑" panose="020B0503020204020204" pitchFamily="34" charset="-122"/>
              </a:rPr>
              <a:t>： 来查看程序的是否在运行，进程号，被暂停的原因。</a:t>
            </a:r>
            <a:endParaRPr lang="en-US" altLang="zh-CN" dirty="0">
              <a:latin typeface="微软雅黑" panose="020B0503020204020204" pitchFamily="34" charset="-122"/>
              <a:ea typeface="微软雅黑" panose="020B0503020204020204" pitchFamily="34" charset="-122"/>
            </a:endParaRPr>
          </a:p>
          <a:p>
            <a:pPr lvl="2"/>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gdb</a:t>
            </a:r>
            <a:r>
              <a:rPr lang="en-US" altLang="zh-CN" dirty="0">
                <a:latin typeface="微软雅黑" panose="020B0503020204020204" pitchFamily="34" charset="-122"/>
                <a:ea typeface="微软雅黑" panose="020B0503020204020204" pitchFamily="34" charset="-122"/>
              </a:rPr>
              <a:t>)clear </a:t>
            </a:r>
            <a:r>
              <a:rPr lang="zh-CN" altLang="en-US" dirty="0">
                <a:latin typeface="微软雅黑" panose="020B0503020204020204" pitchFamily="34" charset="-122"/>
                <a:ea typeface="微软雅黑" panose="020B0503020204020204" pitchFamily="34" charset="-122"/>
              </a:rPr>
              <a:t>行号</a:t>
            </a:r>
            <a:r>
              <a:rPr lang="en-US" altLang="zh-CN" dirty="0">
                <a:latin typeface="微软雅黑" panose="020B0503020204020204" pitchFamily="34" charset="-122"/>
                <a:ea typeface="微软雅黑" panose="020B0503020204020204" pitchFamily="34" charset="-122"/>
              </a:rPr>
              <a:t>n</a:t>
            </a:r>
            <a:r>
              <a:rPr lang="zh-CN" altLang="en-US" dirty="0">
                <a:latin typeface="微软雅黑" panose="020B0503020204020204" pitchFamily="34" charset="-122"/>
                <a:ea typeface="微软雅黑" panose="020B0503020204020204" pitchFamily="34" charset="-122"/>
              </a:rPr>
              <a:t>：清除第</a:t>
            </a:r>
            <a:r>
              <a:rPr lang="en-US" altLang="zh-CN" dirty="0">
                <a:latin typeface="微软雅黑" panose="020B0503020204020204" pitchFamily="34" charset="-122"/>
                <a:ea typeface="微软雅黑" panose="020B0503020204020204" pitchFamily="34" charset="-122"/>
              </a:rPr>
              <a:t>n</a:t>
            </a:r>
            <a:r>
              <a:rPr lang="zh-CN" altLang="en-US" dirty="0">
                <a:latin typeface="微软雅黑" panose="020B0503020204020204" pitchFamily="34" charset="-122"/>
                <a:ea typeface="微软雅黑" panose="020B0503020204020204" pitchFamily="34" charset="-122"/>
              </a:rPr>
              <a:t>行的断点</a:t>
            </a:r>
          </a:p>
          <a:p>
            <a:pPr lvl="2"/>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gdb</a:t>
            </a:r>
            <a:r>
              <a:rPr lang="en-US" altLang="zh-CN" dirty="0">
                <a:latin typeface="微软雅黑" panose="020B0503020204020204" pitchFamily="34" charset="-122"/>
                <a:ea typeface="微软雅黑" panose="020B0503020204020204" pitchFamily="34" charset="-122"/>
              </a:rPr>
              <a:t>)delete </a:t>
            </a:r>
            <a:r>
              <a:rPr lang="zh-CN" altLang="en-US" dirty="0">
                <a:latin typeface="微软雅黑" panose="020B0503020204020204" pitchFamily="34" charset="-122"/>
                <a:ea typeface="微软雅黑" panose="020B0503020204020204" pitchFamily="34" charset="-122"/>
              </a:rPr>
              <a:t>断点号</a:t>
            </a:r>
            <a:r>
              <a:rPr lang="en-US" altLang="zh-CN" dirty="0">
                <a:latin typeface="微软雅黑" panose="020B0503020204020204" pitchFamily="34" charset="-122"/>
                <a:ea typeface="微软雅黑" panose="020B0503020204020204" pitchFamily="34" charset="-122"/>
              </a:rPr>
              <a:t>n</a:t>
            </a:r>
            <a:r>
              <a:rPr lang="zh-CN" altLang="en-US" dirty="0">
                <a:latin typeface="微软雅黑" panose="020B0503020204020204" pitchFamily="34" charset="-122"/>
                <a:ea typeface="微软雅黑" panose="020B0503020204020204" pitchFamily="34" charset="-122"/>
              </a:rPr>
              <a:t>：删除第</a:t>
            </a:r>
            <a:r>
              <a:rPr lang="en-US" altLang="zh-CN" dirty="0">
                <a:latin typeface="微软雅黑" panose="020B0503020204020204" pitchFamily="34" charset="-122"/>
                <a:ea typeface="微软雅黑" panose="020B0503020204020204" pitchFamily="34" charset="-122"/>
              </a:rPr>
              <a:t>n</a:t>
            </a:r>
            <a:r>
              <a:rPr lang="zh-CN" altLang="en-US" dirty="0">
                <a:latin typeface="微软雅黑" panose="020B0503020204020204" pitchFamily="34" charset="-122"/>
                <a:ea typeface="微软雅黑" panose="020B0503020204020204" pitchFamily="34" charset="-122"/>
              </a:rPr>
              <a:t>个断点</a:t>
            </a:r>
          </a:p>
          <a:p>
            <a:pPr lvl="2"/>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gdb</a:t>
            </a:r>
            <a:r>
              <a:rPr lang="en-US" altLang="zh-CN" dirty="0">
                <a:latin typeface="微软雅黑" panose="020B0503020204020204" pitchFamily="34" charset="-122"/>
                <a:ea typeface="微软雅黑" panose="020B0503020204020204" pitchFamily="34" charset="-122"/>
              </a:rPr>
              <a:t>)disable </a:t>
            </a:r>
            <a:r>
              <a:rPr lang="zh-CN" altLang="en-US" dirty="0">
                <a:latin typeface="微软雅黑" panose="020B0503020204020204" pitchFamily="34" charset="-122"/>
                <a:ea typeface="微软雅黑" panose="020B0503020204020204" pitchFamily="34" charset="-122"/>
              </a:rPr>
              <a:t>断点号</a:t>
            </a:r>
            <a:r>
              <a:rPr lang="en-US" altLang="zh-CN" dirty="0">
                <a:latin typeface="微软雅黑" panose="020B0503020204020204" pitchFamily="34" charset="-122"/>
                <a:ea typeface="微软雅黑" panose="020B0503020204020204" pitchFamily="34" charset="-122"/>
              </a:rPr>
              <a:t>n</a:t>
            </a:r>
            <a:r>
              <a:rPr lang="zh-CN" altLang="en-US" dirty="0">
                <a:latin typeface="微软雅黑" panose="020B0503020204020204" pitchFamily="34" charset="-122"/>
                <a:ea typeface="微软雅黑" panose="020B0503020204020204" pitchFamily="34" charset="-122"/>
              </a:rPr>
              <a:t>：暂停第</a:t>
            </a:r>
            <a:r>
              <a:rPr lang="en-US" altLang="zh-CN" dirty="0">
                <a:latin typeface="微软雅黑" panose="020B0503020204020204" pitchFamily="34" charset="-122"/>
                <a:ea typeface="微软雅黑" panose="020B0503020204020204" pitchFamily="34" charset="-122"/>
              </a:rPr>
              <a:t>n</a:t>
            </a:r>
            <a:r>
              <a:rPr lang="zh-CN" altLang="en-US" dirty="0">
                <a:latin typeface="微软雅黑" panose="020B0503020204020204" pitchFamily="34" charset="-122"/>
                <a:ea typeface="微软雅黑" panose="020B0503020204020204" pitchFamily="34" charset="-122"/>
              </a:rPr>
              <a:t>个断点</a:t>
            </a:r>
            <a:endParaRPr lang="en-US" altLang="zh-CN" dirty="0">
              <a:latin typeface="微软雅黑" panose="020B0503020204020204" pitchFamily="34" charset="-122"/>
              <a:ea typeface="微软雅黑" panose="020B0503020204020204" pitchFamily="34" charset="-122"/>
            </a:endParaRPr>
          </a:p>
          <a:p>
            <a:pPr lvl="2"/>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gdb</a:t>
            </a:r>
            <a:r>
              <a:rPr lang="en-US" altLang="zh-CN" dirty="0">
                <a:latin typeface="微软雅黑" panose="020B0503020204020204" pitchFamily="34" charset="-122"/>
                <a:ea typeface="微软雅黑" panose="020B0503020204020204" pitchFamily="34" charset="-122"/>
              </a:rPr>
              <a:t>)enable </a:t>
            </a:r>
            <a:r>
              <a:rPr lang="zh-CN" altLang="en-US" dirty="0">
                <a:latin typeface="微软雅黑" panose="020B0503020204020204" pitchFamily="34" charset="-122"/>
                <a:ea typeface="微软雅黑" panose="020B0503020204020204" pitchFamily="34" charset="-122"/>
              </a:rPr>
              <a:t>断点号</a:t>
            </a:r>
            <a:r>
              <a:rPr lang="en-US" altLang="zh-CN" dirty="0">
                <a:latin typeface="微软雅黑" panose="020B0503020204020204" pitchFamily="34" charset="-122"/>
                <a:ea typeface="微软雅黑" panose="020B0503020204020204" pitchFamily="34" charset="-122"/>
              </a:rPr>
              <a:t>n</a:t>
            </a:r>
            <a:r>
              <a:rPr lang="zh-CN" altLang="en-US" dirty="0">
                <a:latin typeface="微软雅黑" panose="020B0503020204020204" pitchFamily="34" charset="-122"/>
                <a:ea typeface="微软雅黑" panose="020B0503020204020204" pitchFamily="34" charset="-122"/>
              </a:rPr>
              <a:t>：开启第</a:t>
            </a:r>
            <a:r>
              <a:rPr lang="en-US" altLang="zh-CN" dirty="0">
                <a:latin typeface="微软雅黑" panose="020B0503020204020204" pitchFamily="34" charset="-122"/>
                <a:ea typeface="微软雅黑" panose="020B0503020204020204" pitchFamily="34" charset="-122"/>
              </a:rPr>
              <a:t>n</a:t>
            </a:r>
            <a:r>
              <a:rPr lang="zh-CN" altLang="en-US" dirty="0">
                <a:latin typeface="微软雅黑" panose="020B0503020204020204" pitchFamily="34" charset="-122"/>
                <a:ea typeface="微软雅黑" panose="020B0503020204020204" pitchFamily="34" charset="-122"/>
              </a:rPr>
              <a:t>个断点</a:t>
            </a:r>
          </a:p>
          <a:p>
            <a:pPr lvl="2"/>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gdb</a:t>
            </a:r>
            <a:r>
              <a:rPr lang="en-US" altLang="zh-CN" dirty="0">
                <a:latin typeface="微软雅黑" panose="020B0503020204020204" pitchFamily="34" charset="-122"/>
                <a:ea typeface="微软雅黑" panose="020B0503020204020204" pitchFamily="34" charset="-122"/>
              </a:rPr>
              <a:t>)step</a:t>
            </a:r>
            <a:r>
              <a:rPr lang="zh-CN" altLang="en-US" dirty="0">
                <a:latin typeface="微软雅黑" panose="020B0503020204020204" pitchFamily="34" charset="-122"/>
                <a:ea typeface="微软雅黑" panose="020B0503020204020204" pitchFamily="34" charset="-122"/>
              </a:rPr>
              <a:t>：单步调试如果有函数调用，则进入函数；与命令</a:t>
            </a:r>
            <a:r>
              <a:rPr lang="en-US" altLang="zh-CN" dirty="0">
                <a:latin typeface="微软雅黑" panose="020B0503020204020204" pitchFamily="34" charset="-122"/>
                <a:ea typeface="微软雅黑" panose="020B0503020204020204" pitchFamily="34" charset="-122"/>
              </a:rPr>
              <a:t>n</a:t>
            </a:r>
            <a:r>
              <a:rPr lang="zh-CN" altLang="en-US" dirty="0">
                <a:latin typeface="微软雅黑" panose="020B0503020204020204" pitchFamily="34" charset="-122"/>
                <a:ea typeface="微软雅黑" panose="020B0503020204020204" pitchFamily="34" charset="-122"/>
              </a:rPr>
              <a:t>不同，</a:t>
            </a:r>
            <a:r>
              <a:rPr lang="en-US" altLang="zh-CN" dirty="0">
                <a:latin typeface="微软雅黑" panose="020B0503020204020204" pitchFamily="34" charset="-122"/>
                <a:ea typeface="微软雅黑" panose="020B0503020204020204" pitchFamily="34" charset="-122"/>
              </a:rPr>
              <a:t>n</a:t>
            </a:r>
            <a:r>
              <a:rPr lang="zh-CN" altLang="en-US" dirty="0">
                <a:latin typeface="微软雅黑" panose="020B0503020204020204" pitchFamily="34" charset="-122"/>
                <a:ea typeface="微软雅黑" panose="020B0503020204020204" pitchFamily="34" charset="-122"/>
              </a:rPr>
              <a:t>是不进入调用的函数的</a:t>
            </a:r>
          </a:p>
          <a:p>
            <a:pPr lvl="2"/>
            <a:endParaRPr lang="zh-CN" altLang="en-US" dirty="0">
              <a:latin typeface="微软雅黑" panose="020B0503020204020204" pitchFamily="34" charset="-122"/>
              <a:ea typeface="微软雅黑" panose="020B0503020204020204" pitchFamily="34" charset="-122"/>
            </a:endParaRPr>
          </a:p>
          <a:p>
            <a:pPr lvl="2"/>
            <a:endParaRPr lang="en-US" altLang="zh-CN"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p>
            <a:fld id="{B1C307C6-FA7C-4D4E-9E80-039A033D7CBB}" type="slidenum">
              <a:rPr lang="zh-CN" altLang="en-US" smtClean="0"/>
              <a:t>22</a:t>
            </a:fld>
            <a:endParaRPr lang="zh-CN" altLang="en-US"/>
          </a:p>
        </p:txBody>
      </p:sp>
    </p:spTree>
    <p:extLst>
      <p:ext uri="{BB962C8B-B14F-4D97-AF65-F5344CB8AC3E}">
        <p14:creationId xmlns:p14="http://schemas.microsoft.com/office/powerpoint/2010/main" val="3380724061"/>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2598</TotalTime>
  <Words>2136</Words>
  <Application>Microsoft Office PowerPoint</Application>
  <PresentationFormat>宽屏</PresentationFormat>
  <Paragraphs>195</Paragraphs>
  <Slides>22</Slides>
  <Notes>2</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22</vt:i4>
      </vt:variant>
    </vt:vector>
  </HeadingPairs>
  <TitlesOfParts>
    <vt:vector size="27" baseType="lpstr">
      <vt:lpstr>等线</vt:lpstr>
      <vt:lpstr>等线 Light</vt:lpstr>
      <vt:lpstr>微软雅黑</vt:lpstr>
      <vt:lpstr>Arial</vt:lpstr>
      <vt:lpstr>Office 主题​​</vt:lpstr>
      <vt:lpstr>RISCV-gnu-toolchain介绍与安装</vt:lpstr>
      <vt:lpstr>目录</vt:lpstr>
      <vt:lpstr>GNU项目和LLVM项目介绍-GNU</vt:lpstr>
      <vt:lpstr>GNU项目和LLVM项目介绍-GNU</vt:lpstr>
      <vt:lpstr>GNU项目和LLVM项目介绍-GNU</vt:lpstr>
      <vt:lpstr>GNU项目和LLVM项目介绍-LLVM</vt:lpstr>
      <vt:lpstr>GNU项目和LLVM项目介绍-LLVM</vt:lpstr>
      <vt:lpstr>GNU项目和LLVM项目介绍-LLVM</vt:lpstr>
      <vt:lpstr>GNU项目和LLVM项目介绍-LLVM</vt:lpstr>
      <vt:lpstr>GNU项目和LLVM项目介绍-LLVM</vt:lpstr>
      <vt:lpstr>GNU项目和LLVM项目介绍-LLVM</vt:lpstr>
      <vt:lpstr>GNU项目和LLVM项目介绍-LLVM</vt:lpstr>
      <vt:lpstr>环境配置及riscv-gnu-toolchain安装</vt:lpstr>
      <vt:lpstr>环境配置及riscv-gnu-toolchain安装</vt:lpstr>
      <vt:lpstr>环境配置及riscv-gnu-toolchain安装</vt:lpstr>
      <vt:lpstr>环境配置及riscv-gnu-toolchain安装</vt:lpstr>
      <vt:lpstr>常用GNU工具介绍 </vt:lpstr>
      <vt:lpstr>常用GNU工具介绍</vt:lpstr>
      <vt:lpstr>常用GNU工具介绍</vt:lpstr>
      <vt:lpstr>常用GNU工具介绍</vt:lpstr>
      <vt:lpstr>常用GNU工具介绍</vt:lpstr>
      <vt:lpstr>常用GNU工具介绍</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riscv-gnu-toolchain介绍与安装</dc:title>
  <dc:creator>刘 旭东</dc:creator>
  <cp:lastModifiedBy>DELL</cp:lastModifiedBy>
  <cp:revision>93</cp:revision>
  <dcterms:created xsi:type="dcterms:W3CDTF">2020-07-10T05:05:44Z</dcterms:created>
  <dcterms:modified xsi:type="dcterms:W3CDTF">2021-09-22T01:46:50Z</dcterms:modified>
</cp:coreProperties>
</file>